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6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7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8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9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10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11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12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13.xml" ContentType="application/vnd.openxmlformats-officedocument.themeOverride+xml"/>
  <Override PartName="/ppt/charts/chart9.xml" ContentType="application/vnd.openxmlformats-officedocument.drawingml.chart+xml"/>
  <Override PartName="/ppt/theme/themeOverride14.xml" ContentType="application/vnd.openxmlformats-officedocument.themeOverrid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15.xml" ContentType="application/vnd.openxmlformats-officedocument.themeOverrid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6.xml" ContentType="application/vnd.openxmlformats-officedocument.themeOverride+xml"/>
  <Override PartName="/ppt/charts/chart12.xml" ContentType="application/vnd.openxmlformats-officedocument.drawingml.chart+xml"/>
  <Override PartName="/ppt/theme/themeOverride17.xml" ContentType="application/vnd.openxmlformats-officedocument.themeOverride+xml"/>
  <Override PartName="/ppt/charts/chart1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8.xml" ContentType="application/vnd.openxmlformats-officedocument.themeOverride+xml"/>
  <Override PartName="/ppt/charts/chart14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9.xml" ContentType="application/vnd.openxmlformats-officedocument.themeOverride+xml"/>
  <Override PartName="/ppt/charts/chart15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20.xml" ContentType="application/vnd.openxmlformats-officedocument.themeOverride+xml"/>
  <Override PartName="/ppt/charts/chart16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21.xml" ContentType="application/vnd.openxmlformats-officedocument.themeOverride+xml"/>
  <Override PartName="/ppt/charts/chart17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22.xml" ContentType="application/vnd.openxmlformats-officedocument.themeOverride+xml"/>
  <Override PartName="/ppt/charts/chart18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23.xml" ContentType="application/vnd.openxmlformats-officedocument.themeOverride+xml"/>
  <Override PartName="/ppt/charts/chart19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24.xml" ContentType="application/vnd.openxmlformats-officedocument.themeOverride+xml"/>
  <Override PartName="/ppt/charts/chart20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25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29" r:id="rId2"/>
    <p:sldId id="1989" r:id="rId3"/>
    <p:sldId id="1990" r:id="rId4"/>
    <p:sldId id="1991" r:id="rId5"/>
    <p:sldId id="1992" r:id="rId6"/>
    <p:sldId id="1993" r:id="rId7"/>
    <p:sldId id="1994" r:id="rId8"/>
    <p:sldId id="1995" r:id="rId9"/>
    <p:sldId id="1996" r:id="rId10"/>
    <p:sldId id="1997" r:id="rId11"/>
    <p:sldId id="1998" r:id="rId12"/>
    <p:sldId id="1999" r:id="rId13"/>
    <p:sldId id="2004" r:id="rId14"/>
    <p:sldId id="2003" r:id="rId15"/>
    <p:sldId id="2005" r:id="rId16"/>
    <p:sldId id="2006" r:id="rId17"/>
    <p:sldId id="2014" r:id="rId18"/>
    <p:sldId id="2008" r:id="rId19"/>
    <p:sldId id="2009" r:id="rId20"/>
    <p:sldId id="2010" r:id="rId21"/>
    <p:sldId id="2011" r:id="rId22"/>
    <p:sldId id="2012" r:id="rId23"/>
    <p:sldId id="2013" r:id="rId24"/>
    <p:sldId id="2015" r:id="rId25"/>
    <p:sldId id="2021" r:id="rId26"/>
    <p:sldId id="2022" r:id="rId27"/>
    <p:sldId id="1983" r:id="rId28"/>
    <p:sldId id="1984" r:id="rId29"/>
    <p:sldId id="2025" r:id="rId30"/>
    <p:sldId id="2026" r:id="rId31"/>
    <p:sldId id="2020" r:id="rId32"/>
    <p:sldId id="2024" r:id="rId33"/>
    <p:sldId id="2023" r:id="rId34"/>
    <p:sldId id="367" r:id="rId35"/>
  </p:sldIdLst>
  <p:sldSz cx="12192000" cy="6858000"/>
  <p:notesSz cx="6858000" cy="9144000"/>
  <p:embeddedFontLst>
    <p:embeddedFont>
      <p:font typeface="굴림" panose="020B0600000101010101" pitchFamily="34" charset="-127"/>
      <p:regular r:id="rId38"/>
    </p:embeddedFont>
    <p:embeddedFont>
      <p:font typeface="Amazon Ember" panose="020B0603020204020204" pitchFamily="34" charset="0"/>
      <p:regular r:id="rId39"/>
      <p:bold r:id="rId40"/>
      <p:italic r:id="rId41"/>
      <p:boldItalic r:id="rId42"/>
    </p:embeddedFont>
    <p:embeddedFont>
      <p:font typeface="Amazon Ember Display" panose="020B0603020204020204" pitchFamily="34" charset="0"/>
      <p:regular r:id="rId43"/>
      <p:bold r:id="rId44"/>
      <p:italic r:id="rId45"/>
      <p:boldItalic r:id="rId46"/>
    </p:embeddedFont>
    <p:embeddedFont>
      <p:font typeface="Amazon Ember Light" panose="020B0403020204020204" pitchFamily="34" charset="0"/>
      <p:regular r:id="rId47"/>
      <p:italic r:id="rId48"/>
    </p:embeddedFont>
    <p:embeddedFont>
      <p:font typeface="Amazon Ember Mono" panose="020B0603020204020204" pitchFamily="34" charset="0"/>
      <p:regular r:id="rId49"/>
      <p:bold r:id="rId50"/>
      <p:italic r:id="rId51"/>
      <p:boldItalic r:id="rId52"/>
    </p:embeddedFont>
    <p:embeddedFont>
      <p:font typeface="NanumGothicOTF" panose="020D0604000000000000" pitchFamily="34" charset="-127"/>
      <p:regular r:id="rId53"/>
      <p:bold r:id="rId54"/>
    </p:embeddedFont>
    <p:embeddedFont>
      <p:font typeface="NanumSquareOTF" panose="020B0600000101010101" pitchFamily="34" charset="-127"/>
      <p:regular r:id="rId55"/>
    </p:embeddedFont>
    <p:embeddedFont>
      <p:font typeface="NanumSquareOTF Bold" panose="020B0600000101010101" pitchFamily="34" charset="-127"/>
      <p:bold r:id="rId56"/>
    </p:embeddedFont>
    <p:embeddedFont>
      <p:font typeface="NanumSquareOTF_ac" panose="020B0600000101010101" pitchFamily="34" charset="-127"/>
      <p:regular r:id="rId57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mazon Ember Display" panose="020B0603020204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F0E"/>
    <a:srgbClr val="FF6E16"/>
    <a:srgbClr val="FF0077"/>
    <a:srgbClr val="817C75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37" autoAdjust="0"/>
    <p:restoredTop sz="96534" autoAdjust="0"/>
  </p:normalViewPr>
  <p:slideViewPr>
    <p:cSldViewPr snapToGrid="0">
      <p:cViewPr varScale="1">
        <p:scale>
          <a:sx n="105" d="100"/>
          <a:sy n="105" d="100"/>
        </p:scale>
        <p:origin x="456" y="19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Relationship Id="rId1" Type="http://schemas.openxmlformats.org/officeDocument/2006/relationships/themeOverride" Target="../theme/themeOverride14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Relationship Id="rId1" Type="http://schemas.openxmlformats.org/officeDocument/2006/relationships/themeOverride" Target="../theme/themeOverride17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5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oleObject" Target="file:////Users/whchoi/Work/01.AWS/01.Account/04.DNB_ISV_Game/04.&#4355;&#4449;&#4540;&#4352;&#4467;&#4523;&#4358;&#4449;&#4367;&#4454;&#4538;/WADD/Daangn%20Production_CFM%20Report_240425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SP &amp; RI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4852351560649935E-2"/>
                  <c:y val="-0.1050069866853345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F5-9042-A166-F894246896AE}"/>
                </c:ext>
              </c:extLst>
            </c:dLbl>
            <c:dLbl>
              <c:idx val="6"/>
              <c:layout>
                <c:manualLayout>
                  <c:x val="4.2484720554241615E-2"/>
                  <c:y val="-5.82023675906552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4F5-9042-A166-F894246896AE}"/>
                </c:ext>
              </c:extLst>
            </c:dLbl>
            <c:dLbl>
              <c:idx val="11"/>
              <c:layout>
                <c:manualLayout>
                  <c:x val="5.4294951889207813E-2"/>
                  <c:y val="-6.6115510135210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F5-9042-A166-F894246896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NanumSquareOTF" panose="020B0600000101010101" pitchFamily="34" charset="-127"/>
                    <a:ea typeface="NanumSquareOTF" panose="020B0600000101010101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movingAvg"/>
            <c:period val="2"/>
            <c:dispRSqr val="0"/>
            <c:dispEq val="0"/>
          </c:trendline>
          <c:cat>
            <c:numLit>
              <c:formatCode>mmm</c:formatCode>
              <c:ptCount val="18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  <c:pt idx="12">
                <c:v>45383</c:v>
              </c:pt>
              <c:pt idx="13">
                <c:v>45413</c:v>
              </c:pt>
              <c:pt idx="14">
                <c:v>45444</c:v>
              </c:pt>
              <c:pt idx="15">
                <c:v>45474</c:v>
              </c:pt>
              <c:pt idx="16">
                <c:v>45505</c:v>
              </c:pt>
              <c:pt idx="17">
                <c:v>45536</c:v>
              </c:pt>
            </c:numLit>
          </c:cat>
          <c:val>
            <c:numLit>
              <c:formatCode>General</c:formatCode>
              <c:ptCount val="18"/>
              <c:pt idx="0">
                <c:v>1653486.3833096763</c:v>
              </c:pt>
              <c:pt idx="1">
                <c:v>1758337.7725468003</c:v>
              </c:pt>
              <c:pt idx="2">
                <c:v>1840831.6495925067</c:v>
              </c:pt>
              <c:pt idx="3">
                <c:v>1909368.7266849973</c:v>
              </c:pt>
              <c:pt idx="4">
                <c:v>1951652.9165037428</c:v>
              </c:pt>
              <c:pt idx="5">
                <c:v>1836812.6156798021</c:v>
              </c:pt>
              <c:pt idx="6">
                <c:v>1941579.6408721984</c:v>
              </c:pt>
              <c:pt idx="7">
                <c:v>1999416.7496495298</c:v>
              </c:pt>
              <c:pt idx="8">
                <c:v>1908095.7126360675</c:v>
              </c:pt>
              <c:pt idx="9">
                <c:v>1992301.1282547992</c:v>
              </c:pt>
              <c:pt idx="10">
                <c:v>1938870.7377404498</c:v>
              </c:pt>
              <c:pt idx="11">
                <c:v>2087150.0164220477</c:v>
              </c:pt>
            </c:numLit>
          </c:val>
          <c:extLst>
            <c:ext xmlns:c16="http://schemas.microsoft.com/office/drawing/2014/chart" uri="{C3380CC4-5D6E-409C-BE32-E72D297353CC}">
              <c16:uniqueId val="{00000003-14F5-9042-A166-F894246896AE}"/>
            </c:ext>
          </c:extLst>
        </c:ser>
        <c:ser>
          <c:idx val="1"/>
          <c:order val="1"/>
          <c:tx>
            <c:v>Usage</c:v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numLit>
              <c:formatCode>mmm</c:formatCode>
              <c:ptCount val="18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  <c:pt idx="12">
                <c:v>45383</c:v>
              </c:pt>
              <c:pt idx="13">
                <c:v>45413</c:v>
              </c:pt>
              <c:pt idx="14">
                <c:v>45444</c:v>
              </c:pt>
              <c:pt idx="15">
                <c:v>45474</c:v>
              </c:pt>
              <c:pt idx="16">
                <c:v>45505</c:v>
              </c:pt>
              <c:pt idx="17">
                <c:v>45536</c:v>
              </c:pt>
            </c:numLit>
          </c:cat>
          <c:val>
            <c:numLit>
              <c:formatCode>General</c:formatCode>
              <c:ptCount val="18"/>
              <c:pt idx="0">
                <c:v>1358422.4525147169</c:v>
              </c:pt>
              <c:pt idx="1">
                <c:v>1410487.2092084859</c:v>
              </c:pt>
              <c:pt idx="2">
                <c:v>1507176.7368681121</c:v>
              </c:pt>
              <c:pt idx="3">
                <c:v>1565098.333351288</c:v>
              </c:pt>
              <c:pt idx="4">
                <c:v>1612914.913950453</c:v>
              </c:pt>
              <c:pt idx="5">
                <c:v>1494483.0107105521</c:v>
              </c:pt>
              <c:pt idx="6">
                <c:v>1556166.221958478</c:v>
              </c:pt>
              <c:pt idx="7">
                <c:v>1629883.308493261</c:v>
              </c:pt>
              <c:pt idx="8">
                <c:v>1539691.767185325</c:v>
              </c:pt>
              <c:pt idx="9">
                <c:v>1578059.1791743131</c:v>
              </c:pt>
              <c:pt idx="10">
                <c:v>1558890.1785633061</c:v>
              </c:pt>
              <c:pt idx="11">
                <c:v>1684553.9435637351</c:v>
              </c:pt>
            </c:numLit>
          </c:val>
          <c:extLst>
            <c:ext xmlns:c16="http://schemas.microsoft.com/office/drawing/2014/chart" uri="{C3380CC4-5D6E-409C-BE32-E72D297353CC}">
              <c16:uniqueId val="{00000004-14F5-9042-A166-F894246896AE}"/>
            </c:ext>
          </c:extLst>
        </c:ser>
        <c:ser>
          <c:idx val="2"/>
          <c:order val="2"/>
          <c:tx>
            <c:v>3 month</c:v>
          </c:tx>
          <c:spPr>
            <a:noFill/>
            <a:ln>
              <a:solidFill>
                <a:schemeClr val="accent2"/>
              </a:solidFill>
              <a:prstDash val="sysDash"/>
            </a:ln>
            <a:effectLst/>
          </c:spPr>
          <c:invertIfNegative val="0"/>
          <c:cat>
            <c:numLit>
              <c:formatCode>mmm</c:formatCode>
              <c:ptCount val="18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  <c:pt idx="12">
                <c:v>45383</c:v>
              </c:pt>
              <c:pt idx="13">
                <c:v>45413</c:v>
              </c:pt>
              <c:pt idx="14">
                <c:v>45444</c:v>
              </c:pt>
              <c:pt idx="15">
                <c:v>45474</c:v>
              </c:pt>
              <c:pt idx="16">
                <c:v>45505</c:v>
              </c:pt>
              <c:pt idx="17">
                <c:v>45536</c:v>
              </c:pt>
            </c:numLit>
          </c:cat>
          <c:val>
            <c:numLit>
              <c:formatCode>General</c:formatCode>
              <c:ptCount val="18"/>
              <c:pt idx="12">
                <c:v>2099709.2704679817</c:v>
              </c:pt>
              <c:pt idx="13">
                <c:v>2145995.9620591849</c:v>
              </c:pt>
              <c:pt idx="14">
                <c:v>2193825.5433700979</c:v>
              </c:pt>
              <c:pt idx="15">
                <c:v>2240112.2349613011</c:v>
              </c:pt>
              <c:pt idx="16">
                <c:v>2287941.8162722141</c:v>
              </c:pt>
              <c:pt idx="17">
                <c:v>2335771.397583127</c:v>
              </c:pt>
            </c:numLit>
          </c:val>
          <c:extLst>
            <c:ext xmlns:c16="http://schemas.microsoft.com/office/drawing/2014/chart" uri="{C3380CC4-5D6E-409C-BE32-E72D297353CC}">
              <c16:uniqueId val="{00000005-14F5-9042-A166-F894246896AE}"/>
            </c:ext>
          </c:extLst>
        </c:ser>
        <c:ser>
          <c:idx val="3"/>
          <c:order val="3"/>
          <c:tx>
            <c:v>6 month</c:v>
          </c:tx>
          <c:spPr>
            <a:noFill/>
            <a:ln>
              <a:solidFill>
                <a:schemeClr val="accent4"/>
              </a:solidFill>
              <a:prstDash val="sysDash"/>
            </a:ln>
            <a:effectLst/>
          </c:spPr>
          <c:invertIfNegative val="0"/>
          <c:cat>
            <c:numLit>
              <c:formatCode>mmm</c:formatCode>
              <c:ptCount val="18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  <c:pt idx="12">
                <c:v>45383</c:v>
              </c:pt>
              <c:pt idx="13">
                <c:v>45413</c:v>
              </c:pt>
              <c:pt idx="14">
                <c:v>45444</c:v>
              </c:pt>
              <c:pt idx="15">
                <c:v>45474</c:v>
              </c:pt>
              <c:pt idx="16">
                <c:v>45505</c:v>
              </c:pt>
              <c:pt idx="17">
                <c:v>45536</c:v>
              </c:pt>
            </c:numLit>
          </c:cat>
          <c:val>
            <c:numLit>
              <c:formatCode>General</c:formatCode>
              <c:ptCount val="18"/>
              <c:pt idx="12">
                <c:v>2040354.6226904616</c:v>
              </c:pt>
              <c:pt idx="13">
                <c:v>2057946.8175527938</c:v>
              </c:pt>
              <c:pt idx="14">
                <c:v>2076125.4189105406</c:v>
              </c:pt>
              <c:pt idx="15">
                <c:v>2093717.6137728728</c:v>
              </c:pt>
              <c:pt idx="16">
                <c:v>2111896.215130616</c:v>
              </c:pt>
              <c:pt idx="17">
                <c:v>2130074.8164883591</c:v>
              </c:pt>
            </c:numLit>
          </c:val>
          <c:extLst>
            <c:ext xmlns:c16="http://schemas.microsoft.com/office/drawing/2014/chart" uri="{C3380CC4-5D6E-409C-BE32-E72D297353CC}">
              <c16:uniqueId val="{00000006-14F5-9042-A166-F894246896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58110592"/>
        <c:axId val="459788576"/>
      </c:barChart>
      <c:dateAx>
        <c:axId val="358110592"/>
        <c:scaling>
          <c:orientation val="minMax"/>
        </c:scaling>
        <c:delete val="0"/>
        <c:axPos val="b"/>
        <c:numFmt formatCode="[$-409]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  <a:cs typeface="+mn-cs"/>
              </a:defRPr>
            </a:pPr>
            <a:endParaRPr lang="ko-KR"/>
          </a:p>
        </c:txPr>
        <c:crossAx val="459788576"/>
        <c:crosses val="autoZero"/>
        <c:auto val="0"/>
        <c:lblOffset val="100"/>
        <c:baseTimeUnit val="months"/>
      </c:dateAx>
      <c:valAx>
        <c:axId val="459788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&quot;$&quot;#,##0,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NanumSquareOTF" panose="020B0600000101010101" pitchFamily="34" charset="-127"/>
                <a:ea typeface="NanumSquareOTF" panose="020B0600000101010101" pitchFamily="34" charset="-127"/>
                <a:cs typeface="+mn-cs"/>
              </a:defRPr>
            </a:pPr>
            <a:endParaRPr lang="ko-KR"/>
          </a:p>
        </c:txPr>
        <c:crossAx val="358110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3.0066317538291806E-2"/>
          <c:y val="0.86491693459536922"/>
          <c:w val="0.9627816562246625"/>
          <c:h val="8.53421295152138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solidFill>
            <a:schemeClr val="tx1"/>
          </a:solidFill>
          <a:latin typeface="NanumSquareOTF" panose="020B0600000101010101" pitchFamily="34" charset="-127"/>
          <a:ea typeface="NanumSquareOTF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6518382862868834E-2"/>
          <c:y val="0.12380943096405626"/>
          <c:w val="0.91259199760696685"/>
          <c:h val="0.72142878033087343"/>
        </c:manualLayout>
      </c:layout>
      <c:barChart>
        <c:barDir val="bar"/>
        <c:grouping val="stacked"/>
        <c:varyColors val="0"/>
        <c:ser>
          <c:idx val="0"/>
          <c:order val="0"/>
          <c:tx>
            <c:v>Graviton2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0554543901754102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1FF-ED4D-80FB-D6A67C738BD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EC2</c:v>
              </c:pt>
            </c:strLit>
          </c:cat>
          <c:val>
            <c:numLit>
              <c:formatCode>General</c:formatCode>
              <c:ptCount val="1"/>
              <c:pt idx="0">
                <c:v>1.8517200680432101E-2</c:v>
              </c:pt>
            </c:numLit>
          </c:val>
          <c:extLst>
            <c:ext xmlns:c16="http://schemas.microsoft.com/office/drawing/2014/chart" uri="{C3380CC4-5D6E-409C-BE32-E72D297353CC}">
              <c16:uniqueId val="{00000001-91FF-ED4D-80FB-D6A67C738BD4}"/>
            </c:ext>
          </c:extLst>
        </c:ser>
        <c:ser>
          <c:idx val="1"/>
          <c:order val="1"/>
          <c:tx>
            <c:v>Latest</c:v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EC2</c:v>
              </c:pt>
            </c:strLit>
          </c:cat>
          <c:val>
            <c:numLit>
              <c:formatCode>General</c:formatCode>
              <c:ptCount val="1"/>
              <c:pt idx="0">
                <c:v>0.77028277048411364</c:v>
              </c:pt>
            </c:numLit>
          </c:val>
          <c:extLst>
            <c:ext xmlns:c16="http://schemas.microsoft.com/office/drawing/2014/chart" uri="{C3380CC4-5D6E-409C-BE32-E72D297353CC}">
              <c16:uniqueId val="{00000002-91FF-ED4D-80FB-D6A67C738BD4}"/>
            </c:ext>
          </c:extLst>
        </c:ser>
        <c:ser>
          <c:idx val="2"/>
          <c:order val="2"/>
          <c:tx>
            <c:v>Preceding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EC2</c:v>
              </c:pt>
            </c:strLit>
          </c:cat>
          <c:val>
            <c:numLit>
              <c:formatCode>General</c:formatCode>
              <c:ptCount val="1"/>
              <c:pt idx="0">
                <c:v>0.2082949360502345</c:v>
              </c:pt>
            </c:numLit>
          </c:val>
          <c:extLst>
            <c:ext xmlns:c16="http://schemas.microsoft.com/office/drawing/2014/chart" uri="{C3380CC4-5D6E-409C-BE32-E72D297353CC}">
              <c16:uniqueId val="{00000003-91FF-ED4D-80FB-D6A67C738BD4}"/>
            </c:ext>
          </c:extLst>
        </c:ser>
        <c:ser>
          <c:idx val="3"/>
          <c:order val="3"/>
          <c:tx>
            <c:v>Previous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EC2</c:v>
              </c:pt>
            </c:strLit>
          </c:cat>
          <c:val>
            <c:numLit>
              <c:formatCode>General</c:formatCode>
              <c:ptCount val="1"/>
              <c:pt idx="0">
                <c:v>2.9050927852198359E-3</c:v>
              </c:pt>
            </c:numLit>
          </c:val>
          <c:extLst>
            <c:ext xmlns:c16="http://schemas.microsoft.com/office/drawing/2014/chart" uri="{C3380CC4-5D6E-409C-BE32-E72D297353CC}">
              <c16:uniqueId val="{00000004-91FF-ED4D-80FB-D6A67C738BD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342097808"/>
        <c:axId val="342112912"/>
      </c:barChart>
      <c:catAx>
        <c:axId val="3420978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2112912"/>
        <c:crosses val="autoZero"/>
        <c:auto val="1"/>
        <c:lblAlgn val="ctr"/>
        <c:lblOffset val="100"/>
        <c:noMultiLvlLbl val="0"/>
      </c:catAx>
      <c:valAx>
        <c:axId val="342112912"/>
        <c:scaling>
          <c:orientation val="minMax"/>
          <c:max val="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34209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1" i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6096418081571074E-2"/>
          <c:y val="0.12380943096405626"/>
          <c:w val="0.91301401205370603"/>
          <c:h val="0.52085078934418594"/>
        </c:manualLayout>
      </c:layout>
      <c:barChart>
        <c:barDir val="bar"/>
        <c:grouping val="stacked"/>
        <c:varyColors val="0"/>
        <c:ser>
          <c:idx val="0"/>
          <c:order val="0"/>
          <c:tx>
            <c:v>Graviton2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RDS</c:v>
              </c:pt>
            </c:strLit>
          </c:cat>
          <c:val>
            <c:numLit>
              <c:formatCode>General</c:formatCode>
              <c:ptCount val="1"/>
              <c:pt idx="0">
                <c:v>0.35651603654023584</c:v>
              </c:pt>
            </c:numLit>
          </c:val>
          <c:extLst>
            <c:ext xmlns:c16="http://schemas.microsoft.com/office/drawing/2014/chart" uri="{C3380CC4-5D6E-409C-BE32-E72D297353CC}">
              <c16:uniqueId val="{00000000-7835-4C44-8BA0-3A87083C86BF}"/>
            </c:ext>
          </c:extLst>
        </c:ser>
        <c:ser>
          <c:idx val="1"/>
          <c:order val="1"/>
          <c:tx>
            <c:v>Latest</c:v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RDS</c:v>
              </c:pt>
            </c:strLit>
          </c:cat>
          <c:val>
            <c:numLit>
              <c:formatCode>General</c:formatCode>
              <c:ptCount val="1"/>
              <c:pt idx="0">
                <c:v>0.14136034285929275</c:v>
              </c:pt>
            </c:numLit>
          </c:val>
          <c:extLst>
            <c:ext xmlns:c16="http://schemas.microsoft.com/office/drawing/2014/chart" uri="{C3380CC4-5D6E-409C-BE32-E72D297353CC}">
              <c16:uniqueId val="{00000001-7835-4C44-8BA0-3A87083C86BF}"/>
            </c:ext>
          </c:extLst>
        </c:ser>
        <c:ser>
          <c:idx val="2"/>
          <c:order val="2"/>
          <c:tx>
            <c:v>Preceding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RDS</c:v>
              </c:pt>
            </c:strLit>
          </c:cat>
          <c:val>
            <c:numLit>
              <c:formatCode>General</c:formatCode>
              <c:ptCount val="1"/>
              <c:pt idx="0">
                <c:v>0.50212362060047144</c:v>
              </c:pt>
            </c:numLit>
          </c:val>
          <c:extLst>
            <c:ext xmlns:c16="http://schemas.microsoft.com/office/drawing/2014/chart" uri="{C3380CC4-5D6E-409C-BE32-E72D297353CC}">
              <c16:uniqueId val="{00000002-7835-4C44-8BA0-3A87083C86BF}"/>
            </c:ext>
          </c:extLst>
        </c:ser>
        <c:ser>
          <c:idx val="3"/>
          <c:order val="3"/>
          <c:tx>
            <c:v>Previous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835-4C44-8BA0-3A87083C86BF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RDS</c:v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4-7835-4C44-8BA0-3A87083C86B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342097808"/>
        <c:axId val="342112912"/>
      </c:barChart>
      <c:catAx>
        <c:axId val="3420978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42112912"/>
        <c:crosses val="autoZero"/>
        <c:auto val="1"/>
        <c:lblAlgn val="ctr"/>
        <c:lblOffset val="100"/>
        <c:noMultiLvlLbl val="0"/>
      </c:catAx>
      <c:valAx>
        <c:axId val="342112912"/>
        <c:scaling>
          <c:orientation val="minMax"/>
          <c:max val="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342097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1" i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0285714285714288E-2"/>
          <c:y val="0.15789460597214591"/>
          <c:w val="0.89942857142857147"/>
          <c:h val="0.68421078805570823"/>
        </c:manualLayout>
      </c:layout>
      <c:barChart>
        <c:barDir val="bar"/>
        <c:grouping val="percentStacked"/>
        <c:varyColors val="0"/>
        <c:ser>
          <c:idx val="0"/>
          <c:order val="0"/>
          <c:tx>
            <c:v>On Demand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Percentage</c:v>
              </c:pt>
            </c:strLit>
          </c:cat>
          <c:val>
            <c:numLit>
              <c:formatCode>General</c:formatCode>
              <c:ptCount val="1"/>
              <c:pt idx="0">
                <c:v>0.24267142392427971</c:v>
              </c:pt>
            </c:numLit>
          </c:val>
          <c:extLst>
            <c:ext xmlns:c16="http://schemas.microsoft.com/office/drawing/2014/chart" uri="{C3380CC4-5D6E-409C-BE32-E72D297353CC}">
              <c16:uniqueId val="{00000000-146F-9D4C-A3F4-F9ACE52E4668}"/>
            </c:ext>
          </c:extLst>
        </c:ser>
        <c:ser>
          <c:idx val="1"/>
          <c:order val="1"/>
          <c:tx>
            <c:v>Reserved</c:v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Percentage</c:v>
              </c:pt>
            </c:strLit>
          </c:cat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146F-9D4C-A3F4-F9ACE52E4668}"/>
            </c:ext>
          </c:extLst>
        </c:ser>
        <c:ser>
          <c:idx val="2"/>
          <c:order val="2"/>
          <c:tx>
            <c:v>Savings Plans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Percentage</c:v>
              </c:pt>
            </c:strLit>
          </c:cat>
          <c:val>
            <c:numLit>
              <c:formatCode>General</c:formatCode>
              <c:ptCount val="1"/>
              <c:pt idx="0">
                <c:v>0.69577112627284021</c:v>
              </c:pt>
            </c:numLit>
          </c:val>
          <c:extLst>
            <c:ext xmlns:c16="http://schemas.microsoft.com/office/drawing/2014/chart" uri="{C3380CC4-5D6E-409C-BE32-E72D297353CC}">
              <c16:uniqueId val="{00000002-146F-9D4C-A3F4-F9ACE52E4668}"/>
            </c:ext>
          </c:extLst>
        </c:ser>
        <c:ser>
          <c:idx val="3"/>
          <c:order val="3"/>
          <c:tx>
            <c:v>Spot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Percentage</c:v>
              </c:pt>
            </c:strLit>
          </c:cat>
          <c:val>
            <c:numLit>
              <c:formatCode>General</c:formatCode>
              <c:ptCount val="1"/>
              <c:pt idx="0">
                <c:v>6.1557449802880158E-2</c:v>
              </c:pt>
            </c:numLit>
          </c:val>
          <c:extLst>
            <c:ext xmlns:c16="http://schemas.microsoft.com/office/drawing/2014/chart" uri="{C3380CC4-5D6E-409C-BE32-E72D297353CC}">
              <c16:uniqueId val="{00000003-146F-9D4C-A3F4-F9ACE52E466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77834432"/>
        <c:axId val="398845520"/>
      </c:barChart>
      <c:catAx>
        <c:axId val="4778344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98845520"/>
        <c:crosses val="autoZero"/>
        <c:auto val="1"/>
        <c:lblAlgn val="ctr"/>
        <c:lblOffset val="100"/>
        <c:noMultiLvlLbl val="0"/>
      </c:catAx>
      <c:valAx>
        <c:axId val="398845520"/>
        <c:scaling>
          <c:orientation val="minMax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477834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1" i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0285714285714288E-2"/>
          <c:y val="0.15789424075514899"/>
          <c:w val="0.89942857142857147"/>
          <c:h val="0.53185784745524534"/>
        </c:manualLayout>
      </c:layout>
      <c:barChart>
        <c:barDir val="bar"/>
        <c:grouping val="percentStacked"/>
        <c:varyColors val="0"/>
        <c:ser>
          <c:idx val="0"/>
          <c:order val="0"/>
          <c:tx>
            <c:v>On Demand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Percentage</c:v>
              </c:pt>
            </c:strLit>
          </c:cat>
          <c:val>
            <c:numLit>
              <c:formatCode>General</c:formatCode>
              <c:ptCount val="1"/>
              <c:pt idx="0">
                <c:v>0.36359262047157859</c:v>
              </c:pt>
            </c:numLit>
          </c:val>
          <c:extLst>
            <c:ext xmlns:c16="http://schemas.microsoft.com/office/drawing/2014/chart" uri="{C3380CC4-5D6E-409C-BE32-E72D297353CC}">
              <c16:uniqueId val="{00000000-EAA5-4645-B3E1-BE9EFC695C2A}"/>
            </c:ext>
          </c:extLst>
        </c:ser>
        <c:ser>
          <c:idx val="1"/>
          <c:order val="1"/>
          <c:tx>
            <c:v>Reserved</c:v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Percentage</c:v>
              </c:pt>
            </c:strLit>
          </c:cat>
          <c:val>
            <c:numLit>
              <c:formatCode>General</c:formatCode>
              <c:ptCount val="1"/>
              <c:pt idx="0">
                <c:v>0.63640737952842141</c:v>
              </c:pt>
            </c:numLit>
          </c:val>
          <c:extLst>
            <c:ext xmlns:c16="http://schemas.microsoft.com/office/drawing/2014/chart" uri="{C3380CC4-5D6E-409C-BE32-E72D297353CC}">
              <c16:uniqueId val="{00000001-EAA5-4645-B3E1-BE9EFC695C2A}"/>
            </c:ext>
          </c:extLst>
        </c:ser>
        <c:ser>
          <c:idx val="2"/>
          <c:order val="2"/>
          <c:tx>
            <c:v>Savings Plans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Percentage</c:v>
              </c:pt>
            </c:strLit>
          </c:cat>
          <c:val>
            <c:numLit>
              <c:formatCode>General</c:formatCode>
              <c:ptCount val="1"/>
            </c:numLit>
          </c:val>
          <c:extLst>
            <c:ext xmlns:c16="http://schemas.microsoft.com/office/drawing/2014/chart" uri="{C3380CC4-5D6E-409C-BE32-E72D297353CC}">
              <c16:uniqueId val="{00000002-EAA5-4645-B3E1-BE9EFC695C2A}"/>
            </c:ext>
          </c:extLst>
        </c:ser>
        <c:ser>
          <c:idx val="3"/>
          <c:order val="3"/>
          <c:tx>
            <c:v>Spot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Percentage</c:v>
              </c:pt>
            </c:strLit>
          </c:cat>
          <c:val>
            <c:numLit>
              <c:formatCode>General</c:formatCode>
              <c:ptCount val="1"/>
            </c:numLit>
          </c:val>
          <c:extLst>
            <c:ext xmlns:c16="http://schemas.microsoft.com/office/drawing/2014/chart" uri="{C3380CC4-5D6E-409C-BE32-E72D297353CC}">
              <c16:uniqueId val="{00000003-EAA5-4645-B3E1-BE9EFC695C2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77834432"/>
        <c:axId val="398845520"/>
      </c:barChart>
      <c:catAx>
        <c:axId val="4778344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98845520"/>
        <c:crosses val="autoZero"/>
        <c:auto val="1"/>
        <c:lblAlgn val="ctr"/>
        <c:lblOffset val="100"/>
        <c:noMultiLvlLbl val="0"/>
      </c:catAx>
      <c:valAx>
        <c:axId val="398845520"/>
        <c:scaling>
          <c:orientation val="minMax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477834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0049752029255217"/>
          <c:w val="1"/>
          <c:h val="0.173638901075691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1" i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499978695874322E-2"/>
          <c:y val="0.26685713377647019"/>
          <c:w val="0.89825003905756373"/>
          <c:h val="0.65750199774799312"/>
        </c:manualLayout>
      </c:layout>
      <c:lineChart>
        <c:grouping val="standard"/>
        <c:varyColors val="0"/>
        <c:ser>
          <c:idx val="0"/>
          <c:order val="0"/>
          <c:tx>
            <c:v>EC2 vCPU Unit Cost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numFmt formatCode="[$$-409]#,##0.000;\-[$$-409]#,##0.000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highlight>
                        <a:srgbClr val="FFFF00"/>
                      </a:highlight>
                      <a:latin typeface="NanumSquareOTF Bold" panose="020B0600000101010101" pitchFamily="34" charset="-127"/>
                      <a:ea typeface="NanumSquareOTF Bold" panose="020B0600000101010101" pitchFamily="34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BEF-434D-A0CB-DE2B553CB28B}"/>
                </c:ext>
              </c:extLst>
            </c:dLbl>
            <c:dLbl>
              <c:idx val="11"/>
              <c:numFmt formatCode="[$$-409]#,##0.000;\-[$$-409]#,##0.000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highlight>
                        <a:srgbClr val="FFFF00"/>
                      </a:highlight>
                      <a:latin typeface="NanumSquareOTF Bold" panose="020B0600000101010101" pitchFamily="34" charset="-127"/>
                      <a:ea typeface="NanumSquareOTF Bold" panose="020B0600000101010101" pitchFamily="34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BEF-434D-A0CB-DE2B553CB28B}"/>
                </c:ext>
              </c:extLst>
            </c:dLbl>
            <c:numFmt formatCode="[$$-409]#,##0.000;\-[$$-409]#,##0.000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mmm\-yyyy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3.3267837479086133E-2</c:v>
              </c:pt>
              <c:pt idx="1">
                <c:v>3.352917170628103E-2</c:v>
              </c:pt>
              <c:pt idx="2">
                <c:v>3.3986063792660164E-2</c:v>
              </c:pt>
              <c:pt idx="3">
                <c:v>3.4556196675877185E-2</c:v>
              </c:pt>
              <c:pt idx="4">
                <c:v>3.5232717873348134E-2</c:v>
              </c:pt>
              <c:pt idx="5">
                <c:v>3.4915732878834121E-2</c:v>
              </c:pt>
              <c:pt idx="6">
                <c:v>3.1637158977081463E-2</c:v>
              </c:pt>
              <c:pt idx="7">
                <c:v>3.2442648604997876E-2</c:v>
              </c:pt>
              <c:pt idx="8">
                <c:v>3.2773087988978628E-2</c:v>
              </c:pt>
              <c:pt idx="9">
                <c:v>3.2839583842237285E-2</c:v>
              </c:pt>
              <c:pt idx="10">
                <c:v>3.3803935376851758E-2</c:v>
              </c:pt>
              <c:pt idx="11">
                <c:v>3.4137040404465843E-2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DBEF-434D-A0CB-DE2B553CB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8339343"/>
        <c:axId val="338363215"/>
      </c:lineChart>
      <c:dateAx>
        <c:axId val="338339343"/>
        <c:scaling>
          <c:orientation val="minMax"/>
        </c:scaling>
        <c:delete val="1"/>
        <c:axPos val="b"/>
        <c:numFmt formatCode="[$-409]mmm;@" sourceLinked="0"/>
        <c:majorTickMark val="out"/>
        <c:minorTickMark val="none"/>
        <c:tickLblPos val="nextTo"/>
        <c:crossAx val="338363215"/>
        <c:crosses val="autoZero"/>
        <c:auto val="0"/>
        <c:lblOffset val="100"/>
        <c:baseTimeUnit val="months"/>
      </c:dateAx>
      <c:valAx>
        <c:axId val="3383632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38339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49990804260678E-2"/>
          <c:y val="3.1402558628120879E-2"/>
          <c:w val="0.89825003905756373"/>
          <c:h val="0.65750199774799312"/>
        </c:manualLayout>
      </c:layout>
      <c:lineChart>
        <c:grouping val="standard"/>
        <c:varyColors val="0"/>
        <c:ser>
          <c:idx val="0"/>
          <c:order val="0"/>
          <c:tx>
            <c:v>RDS vCPU Unit Cost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numFmt formatCode="[$$-409]#,##0.000;\-[$$-409]#,##0.000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highlight>
                        <a:srgbClr val="FFFF00"/>
                      </a:highlight>
                      <a:latin typeface="NanumSquareOTF Bold" panose="020B0600000101010101" pitchFamily="34" charset="-127"/>
                      <a:ea typeface="NanumSquareOTF Bold" panose="020B0600000101010101" pitchFamily="34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60B-C744-BF1E-C06C02FA555F}"/>
                </c:ext>
              </c:extLst>
            </c:dLbl>
            <c:dLbl>
              <c:idx val="8"/>
              <c:numFmt formatCode="[$$-409]#,##0.000;\-[$$-409]#,##0.000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highlight>
                        <a:srgbClr val="FFFF00"/>
                      </a:highlight>
                      <a:latin typeface="NanumSquareOTF Bold" panose="020B0600000101010101" pitchFamily="34" charset="-127"/>
                      <a:ea typeface="NanumSquareOTF Bold" panose="020B0600000101010101" pitchFamily="34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60B-C744-BF1E-C06C02FA555F}"/>
                </c:ext>
              </c:extLst>
            </c:dLbl>
            <c:dLbl>
              <c:idx val="11"/>
              <c:numFmt formatCode="[$$-409]#,##0.000;\-[$$-409]#,##0.000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highlight>
                        <a:srgbClr val="FFFF00"/>
                      </a:highlight>
                      <a:latin typeface="NanumSquareOTF Bold" panose="020B0600000101010101" pitchFamily="34" charset="-127"/>
                      <a:ea typeface="NanumSquareOTF Bold" panose="020B0600000101010101" pitchFamily="34" charset="-127"/>
                      <a:cs typeface="+mn-cs"/>
                    </a:defRPr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060B-C744-BF1E-C06C02FA555F}"/>
                </c:ext>
              </c:extLst>
            </c:dLbl>
            <c:numFmt formatCode="[$$-409]#,##0.000;\-[$$-409]#,##0.000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mmm\-yyyy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0.12072594466668522</c:v>
              </c:pt>
              <c:pt idx="1">
                <c:v>0.11368749548679372</c:v>
              </c:pt>
              <c:pt idx="2">
                <c:v>0.11387062091670094</c:v>
              </c:pt>
              <c:pt idx="3">
                <c:v>0.11216174771484064</c:v>
              </c:pt>
              <c:pt idx="4">
                <c:v>0.11807565033203239</c:v>
              </c:pt>
              <c:pt idx="5">
                <c:v>0.11191551375061014</c:v>
              </c:pt>
              <c:pt idx="6">
                <c:v>0.11233101870032666</c:v>
              </c:pt>
              <c:pt idx="7">
                <c:v>0.1171737047490929</c:v>
              </c:pt>
              <c:pt idx="8">
                <c:v>0.12409667313590406</c:v>
              </c:pt>
              <c:pt idx="9">
                <c:v>0.11008426965164031</c:v>
              </c:pt>
              <c:pt idx="10">
                <c:v>0.11095145145341362</c:v>
              </c:pt>
              <c:pt idx="11">
                <c:v>0.1157337683399746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3-060B-C744-BF1E-C06C02FA555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8339343"/>
        <c:axId val="338363215"/>
      </c:lineChart>
      <c:dateAx>
        <c:axId val="338339343"/>
        <c:scaling>
          <c:orientation val="minMax"/>
        </c:scaling>
        <c:delete val="0"/>
        <c:axPos val="b"/>
        <c:numFmt formatCode="[$-409]mmm;@" sourceLinked="0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338363215"/>
        <c:crosses val="autoZero"/>
        <c:auto val="0"/>
        <c:lblOffset val="100"/>
        <c:baseTimeUnit val="months"/>
      </c:dateAx>
      <c:valAx>
        <c:axId val="3383632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38339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Weekday On Demand Spend</c:v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numLit>
              <c:formatCode>d\-mmm</c:formatCode>
              <c:ptCount val="31"/>
              <c:pt idx="0">
                <c:v>45352</c:v>
              </c:pt>
              <c:pt idx="1">
                <c:v>45353</c:v>
              </c:pt>
              <c:pt idx="2">
                <c:v>45354</c:v>
              </c:pt>
              <c:pt idx="3">
                <c:v>45355</c:v>
              </c:pt>
              <c:pt idx="4">
                <c:v>45356</c:v>
              </c:pt>
              <c:pt idx="5">
                <c:v>45357</c:v>
              </c:pt>
              <c:pt idx="6">
                <c:v>45358</c:v>
              </c:pt>
              <c:pt idx="7">
                <c:v>45359</c:v>
              </c:pt>
              <c:pt idx="8">
                <c:v>45360</c:v>
              </c:pt>
              <c:pt idx="9">
                <c:v>45361</c:v>
              </c:pt>
              <c:pt idx="10">
                <c:v>45362</c:v>
              </c:pt>
              <c:pt idx="11">
                <c:v>45363</c:v>
              </c:pt>
              <c:pt idx="12">
                <c:v>45364</c:v>
              </c:pt>
              <c:pt idx="13">
                <c:v>45365</c:v>
              </c:pt>
              <c:pt idx="14">
                <c:v>45366</c:v>
              </c:pt>
              <c:pt idx="15">
                <c:v>45367</c:v>
              </c:pt>
              <c:pt idx="16">
                <c:v>45368</c:v>
              </c:pt>
              <c:pt idx="17">
                <c:v>45369</c:v>
              </c:pt>
              <c:pt idx="18">
                <c:v>45370</c:v>
              </c:pt>
              <c:pt idx="19">
                <c:v>45371</c:v>
              </c:pt>
              <c:pt idx="20">
                <c:v>45372</c:v>
              </c:pt>
              <c:pt idx="21">
                <c:v>45373</c:v>
              </c:pt>
              <c:pt idx="22">
                <c:v>45374</c:v>
              </c:pt>
              <c:pt idx="23">
                <c:v>45375</c:v>
              </c:pt>
              <c:pt idx="24">
                <c:v>45376</c:v>
              </c:pt>
              <c:pt idx="25">
                <c:v>45377</c:v>
              </c:pt>
              <c:pt idx="26">
                <c:v>45378</c:v>
              </c:pt>
              <c:pt idx="27">
                <c:v>45379</c:v>
              </c:pt>
              <c:pt idx="28">
                <c:v>45380</c:v>
              </c:pt>
              <c:pt idx="29">
                <c:v>45381</c:v>
              </c:pt>
              <c:pt idx="30">
                <c:v>45382</c:v>
              </c:pt>
            </c:numLit>
          </c:cat>
          <c:val>
            <c:numLit>
              <c:formatCode>General</c:formatCode>
              <c:ptCount val="31"/>
              <c:pt idx="0">
                <c:v>5600.0745991927997</c:v>
              </c:pt>
              <c:pt idx="1">
                <c:v>0</c:v>
              </c:pt>
              <c:pt idx="2">
                <c:v>0</c:v>
              </c:pt>
              <c:pt idx="3">
                <c:v>5664.5960281265998</c:v>
              </c:pt>
              <c:pt idx="4">
                <c:v>5365.5653631286004</c:v>
              </c:pt>
              <c:pt idx="5">
                <c:v>4889.2153820083004</c:v>
              </c:pt>
              <c:pt idx="6">
                <c:v>5049.3578820476996</c:v>
              </c:pt>
              <c:pt idx="7">
                <c:v>4851.1948533450004</c:v>
              </c:pt>
              <c:pt idx="8">
                <c:v>0</c:v>
              </c:pt>
              <c:pt idx="9">
                <c:v>0</c:v>
              </c:pt>
              <c:pt idx="10">
                <c:v>5508.7665209340003</c:v>
              </c:pt>
              <c:pt idx="11">
                <c:v>4817.9668432377002</c:v>
              </c:pt>
              <c:pt idx="12">
                <c:v>4740.1343506179001</c:v>
              </c:pt>
              <c:pt idx="13">
                <c:v>4714.9193646364001</c:v>
              </c:pt>
              <c:pt idx="14">
                <c:v>4693.8431055540996</c:v>
              </c:pt>
              <c:pt idx="15">
                <c:v>0</c:v>
              </c:pt>
              <c:pt idx="16">
                <c:v>0</c:v>
              </c:pt>
              <c:pt idx="17">
                <c:v>5148.2540474858997</c:v>
              </c:pt>
              <c:pt idx="18">
                <c:v>6024.9484524091004</c:v>
              </c:pt>
              <c:pt idx="19">
                <c:v>4795.8669783657997</c:v>
              </c:pt>
              <c:pt idx="20">
                <c:v>4530.2871601870002</c:v>
              </c:pt>
              <c:pt idx="21">
                <c:v>4407.5735534040996</c:v>
              </c:pt>
              <c:pt idx="22">
                <c:v>0</c:v>
              </c:pt>
              <c:pt idx="23">
                <c:v>0</c:v>
              </c:pt>
              <c:pt idx="24">
                <c:v>4783.9957587822</c:v>
              </c:pt>
              <c:pt idx="25">
                <c:v>4923.3767626167</c:v>
              </c:pt>
              <c:pt idx="26">
                <c:v>4552.2504414278001</c:v>
              </c:pt>
              <c:pt idx="27">
                <c:v>4760.4489577231998</c:v>
              </c:pt>
              <c:pt idx="28">
                <c:v>4556.9934884004997</c:v>
              </c:pt>
              <c:pt idx="29">
                <c:v>0</c:v>
              </c:pt>
              <c:pt idx="3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F29-5A4C-A368-00FB501B7841}"/>
            </c:ext>
          </c:extLst>
        </c:ser>
        <c:ser>
          <c:idx val="1"/>
          <c:order val="1"/>
          <c:tx>
            <c:v>Weekend On Demand Spend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Lit>
              <c:formatCode>d\-mmm</c:formatCode>
              <c:ptCount val="31"/>
              <c:pt idx="0">
                <c:v>45352</c:v>
              </c:pt>
              <c:pt idx="1">
                <c:v>45353</c:v>
              </c:pt>
              <c:pt idx="2">
                <c:v>45354</c:v>
              </c:pt>
              <c:pt idx="3">
                <c:v>45355</c:v>
              </c:pt>
              <c:pt idx="4">
                <c:v>45356</c:v>
              </c:pt>
              <c:pt idx="5">
                <c:v>45357</c:v>
              </c:pt>
              <c:pt idx="6">
                <c:v>45358</c:v>
              </c:pt>
              <c:pt idx="7">
                <c:v>45359</c:v>
              </c:pt>
              <c:pt idx="8">
                <c:v>45360</c:v>
              </c:pt>
              <c:pt idx="9">
                <c:v>45361</c:v>
              </c:pt>
              <c:pt idx="10">
                <c:v>45362</c:v>
              </c:pt>
              <c:pt idx="11">
                <c:v>45363</c:v>
              </c:pt>
              <c:pt idx="12">
                <c:v>45364</c:v>
              </c:pt>
              <c:pt idx="13">
                <c:v>45365</c:v>
              </c:pt>
              <c:pt idx="14">
                <c:v>45366</c:v>
              </c:pt>
              <c:pt idx="15">
                <c:v>45367</c:v>
              </c:pt>
              <c:pt idx="16">
                <c:v>45368</c:v>
              </c:pt>
              <c:pt idx="17">
                <c:v>45369</c:v>
              </c:pt>
              <c:pt idx="18">
                <c:v>45370</c:v>
              </c:pt>
              <c:pt idx="19">
                <c:v>45371</c:v>
              </c:pt>
              <c:pt idx="20">
                <c:v>45372</c:v>
              </c:pt>
              <c:pt idx="21">
                <c:v>45373</c:v>
              </c:pt>
              <c:pt idx="22">
                <c:v>45374</c:v>
              </c:pt>
              <c:pt idx="23">
                <c:v>45375</c:v>
              </c:pt>
              <c:pt idx="24">
                <c:v>45376</c:v>
              </c:pt>
              <c:pt idx="25">
                <c:v>45377</c:v>
              </c:pt>
              <c:pt idx="26">
                <c:v>45378</c:v>
              </c:pt>
              <c:pt idx="27">
                <c:v>45379</c:v>
              </c:pt>
              <c:pt idx="28">
                <c:v>45380</c:v>
              </c:pt>
              <c:pt idx="29">
                <c:v>45381</c:v>
              </c:pt>
              <c:pt idx="30">
                <c:v>45382</c:v>
              </c:pt>
            </c:numLit>
          </c:cat>
          <c:val>
            <c:numLit>
              <c:formatCode>General</c:formatCode>
              <c:ptCount val="31"/>
              <c:pt idx="0">
                <c:v>0</c:v>
              </c:pt>
              <c:pt idx="1">
                <c:v>3920.0522194349596</c:v>
              </c:pt>
              <c:pt idx="2">
                <c:v>3920.0522194349596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3614.7901312118679</c:v>
              </c:pt>
              <c:pt idx="9">
                <c:v>3614.7901312118679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3426.5882258972138</c:v>
              </c:pt>
              <c:pt idx="16">
                <c:v>3426.5882258972138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3486.9702268592655</c:v>
              </c:pt>
              <c:pt idx="23">
                <c:v>3486.9702268592655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3300.7891572530548</c:v>
              </c:pt>
              <c:pt idx="30">
                <c:v>3300.7891572530548</c:v>
              </c:pt>
            </c:numLit>
          </c:val>
          <c:extLst>
            <c:ext xmlns:c16="http://schemas.microsoft.com/office/drawing/2014/chart" uri="{C3380CC4-5D6E-409C-BE32-E72D297353CC}">
              <c16:uniqueId val="{00000001-2F29-5A4C-A368-00FB501B7841}"/>
            </c:ext>
          </c:extLst>
        </c:ser>
        <c:ser>
          <c:idx val="3"/>
          <c:order val="2"/>
          <c:tx>
            <c:v>Proposed Reduction in Weekend Spend</c:v>
          </c:tx>
          <c:spPr>
            <a:pattFill prst="pct70">
              <a:fgClr>
                <a:schemeClr val="accent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val>
            <c:numLit>
              <c:formatCode>General</c:formatCode>
              <c:ptCount val="31"/>
              <c:pt idx="0">
                <c:v>0</c:v>
              </c:pt>
              <c:pt idx="1">
                <c:v>1561.1986181726406</c:v>
              </c:pt>
              <c:pt idx="2">
                <c:v>1828.5475954651401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1192.1581877087324</c:v>
              </c:pt>
              <c:pt idx="9">
                <c:v>1646.5381881146318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1111.5786803541864</c:v>
              </c:pt>
              <c:pt idx="16">
                <c:v>1639.5891502856862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502.30528203213453</c:v>
              </c:pt>
              <c:pt idx="23">
                <c:v>1221.6780123050348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1034.6382893834448</c:v>
              </c:pt>
              <c:pt idx="30">
                <c:v>1093.0419160175456</c:v>
              </c:pt>
            </c:numLit>
          </c:val>
          <c:extLst>
            <c:ext xmlns:c16="http://schemas.microsoft.com/office/drawing/2014/chart" uri="{C3380CC4-5D6E-409C-BE32-E72D297353CC}">
              <c16:uniqueId val="{00000002-2F29-5A4C-A368-00FB501B7841}"/>
            </c:ext>
          </c:extLst>
        </c:ser>
        <c:ser>
          <c:idx val="2"/>
          <c:order val="3"/>
          <c:tx>
            <c:v>Savings Plans, Reserved Instances &amp; Spot Spend</c:v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numLit>
              <c:formatCode>d\-mmm</c:formatCode>
              <c:ptCount val="31"/>
              <c:pt idx="0">
                <c:v>45352</c:v>
              </c:pt>
              <c:pt idx="1">
                <c:v>45353</c:v>
              </c:pt>
              <c:pt idx="2">
                <c:v>45354</c:v>
              </c:pt>
              <c:pt idx="3">
                <c:v>45355</c:v>
              </c:pt>
              <c:pt idx="4">
                <c:v>45356</c:v>
              </c:pt>
              <c:pt idx="5">
                <c:v>45357</c:v>
              </c:pt>
              <c:pt idx="6">
                <c:v>45358</c:v>
              </c:pt>
              <c:pt idx="7">
                <c:v>45359</c:v>
              </c:pt>
              <c:pt idx="8">
                <c:v>45360</c:v>
              </c:pt>
              <c:pt idx="9">
                <c:v>45361</c:v>
              </c:pt>
              <c:pt idx="10">
                <c:v>45362</c:v>
              </c:pt>
              <c:pt idx="11">
                <c:v>45363</c:v>
              </c:pt>
              <c:pt idx="12">
                <c:v>45364</c:v>
              </c:pt>
              <c:pt idx="13">
                <c:v>45365</c:v>
              </c:pt>
              <c:pt idx="14">
                <c:v>45366</c:v>
              </c:pt>
              <c:pt idx="15">
                <c:v>45367</c:v>
              </c:pt>
              <c:pt idx="16">
                <c:v>45368</c:v>
              </c:pt>
              <c:pt idx="17">
                <c:v>45369</c:v>
              </c:pt>
              <c:pt idx="18">
                <c:v>45370</c:v>
              </c:pt>
              <c:pt idx="19">
                <c:v>45371</c:v>
              </c:pt>
              <c:pt idx="20">
                <c:v>45372</c:v>
              </c:pt>
              <c:pt idx="21">
                <c:v>45373</c:v>
              </c:pt>
              <c:pt idx="22">
                <c:v>45374</c:v>
              </c:pt>
              <c:pt idx="23">
                <c:v>45375</c:v>
              </c:pt>
              <c:pt idx="24">
                <c:v>45376</c:v>
              </c:pt>
              <c:pt idx="25">
                <c:v>45377</c:v>
              </c:pt>
              <c:pt idx="26">
                <c:v>45378</c:v>
              </c:pt>
              <c:pt idx="27">
                <c:v>45379</c:v>
              </c:pt>
              <c:pt idx="28">
                <c:v>45380</c:v>
              </c:pt>
              <c:pt idx="29">
                <c:v>45381</c:v>
              </c:pt>
              <c:pt idx="30">
                <c:v>45382</c:v>
              </c:pt>
            </c:numLit>
          </c:cat>
          <c:val>
            <c:numLit>
              <c:formatCode>General</c:formatCode>
              <c:ptCount val="31"/>
              <c:pt idx="0">
                <c:v>9523.8002606956998</c:v>
              </c:pt>
              <c:pt idx="1">
                <c:v>9545.5491085592002</c:v>
              </c:pt>
              <c:pt idx="2">
                <c:v>9565.460832164601</c:v>
              </c:pt>
              <c:pt idx="3">
                <c:v>9562.9374910176011</c:v>
              </c:pt>
              <c:pt idx="4">
                <c:v>9520.8535444165991</c:v>
              </c:pt>
              <c:pt idx="5">
                <c:v>9397.3839007820989</c:v>
              </c:pt>
              <c:pt idx="6">
                <c:v>9434.2800077881002</c:v>
              </c:pt>
              <c:pt idx="7">
                <c:v>9409.8557507205987</c:v>
              </c:pt>
              <c:pt idx="8">
                <c:v>9367.9216510319002</c:v>
              </c:pt>
              <c:pt idx="9">
                <c:v>9378.6005359951996</c:v>
              </c:pt>
              <c:pt idx="10">
                <c:v>9483.7191811765006</c:v>
              </c:pt>
              <c:pt idx="11">
                <c:v>9535.6641044594999</c:v>
              </c:pt>
              <c:pt idx="12">
                <c:v>9428.3723946321006</c:v>
              </c:pt>
              <c:pt idx="13">
                <c:v>9456.1209387956005</c:v>
              </c:pt>
              <c:pt idx="14">
                <c:v>9443.3801081398997</c:v>
              </c:pt>
              <c:pt idx="15">
                <c:v>9458.3097248634986</c:v>
              </c:pt>
              <c:pt idx="16">
                <c:v>9505.0772245584012</c:v>
              </c:pt>
              <c:pt idx="17">
                <c:v>9496.1371201303009</c:v>
              </c:pt>
              <c:pt idx="18">
                <c:v>9488.4982708069001</c:v>
              </c:pt>
              <c:pt idx="19">
                <c:v>9495.6391515700998</c:v>
              </c:pt>
              <c:pt idx="20">
                <c:v>9494.7704866880013</c:v>
              </c:pt>
              <c:pt idx="21">
                <c:v>9518.4892496376997</c:v>
              </c:pt>
              <c:pt idx="22">
                <c:v>9478.2903319965008</c:v>
              </c:pt>
              <c:pt idx="23">
                <c:v>9524.7279404240999</c:v>
              </c:pt>
              <c:pt idx="24">
                <c:v>9577.2412541236008</c:v>
              </c:pt>
              <c:pt idx="25">
                <c:v>9673.3655339184006</c:v>
              </c:pt>
              <c:pt idx="26">
                <c:v>9650.4073304140984</c:v>
              </c:pt>
              <c:pt idx="27">
                <c:v>9557.9754115903997</c:v>
              </c:pt>
              <c:pt idx="28">
                <c:v>9528.1020801228005</c:v>
              </c:pt>
              <c:pt idx="29">
                <c:v>9483.0876662523006</c:v>
              </c:pt>
              <c:pt idx="30">
                <c:v>9476.3688208386011</c:v>
              </c:pt>
            </c:numLit>
          </c:val>
          <c:extLst>
            <c:ext xmlns:c16="http://schemas.microsoft.com/office/drawing/2014/chart" uri="{C3380CC4-5D6E-409C-BE32-E72D297353CC}">
              <c16:uniqueId val="{00000003-2F29-5A4C-A368-00FB501B78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734542800"/>
        <c:axId val="1734544432"/>
      </c:barChart>
      <c:dateAx>
        <c:axId val="1734542800"/>
        <c:scaling>
          <c:orientation val="minMax"/>
        </c:scaling>
        <c:delete val="0"/>
        <c:axPos val="b"/>
        <c:numFmt formatCode="[$-409]dd\-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734544432"/>
        <c:crosses val="autoZero"/>
        <c:auto val="1"/>
        <c:lblOffset val="100"/>
        <c:baseTimeUnit val="days"/>
      </c:dateAx>
      <c:valAx>
        <c:axId val="1734544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734542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3835086560686824E-3"/>
          <c:y val="0.8426756138894983"/>
          <c:w val="0.99461649134393126"/>
          <c:h val="0.147229349688882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b="1" i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923-3540-A86A-32FE2D214622}"/>
              </c:ext>
            </c:extLst>
          </c:dPt>
          <c:dLbls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2"/>
              <c:pt idx="0">
                <c:v>Current Savings</c:v>
              </c:pt>
              <c:pt idx="1">
                <c:v>Potential Savings</c:v>
              </c:pt>
            </c:strLit>
          </c:cat>
          <c:val>
            <c:numLit>
              <c:formatCode>0</c:formatCode>
              <c:ptCount val="2"/>
              <c:pt idx="0">
                <c:v>2412.0189291312363</c:v>
              </c:pt>
              <c:pt idx="1">
                <c:v>15213.591394848314</c:v>
              </c:pt>
            </c:numLit>
          </c:val>
          <c:extLst>
            <c:ext xmlns:c16="http://schemas.microsoft.com/office/drawing/2014/chart" uri="{C3380CC4-5D6E-409C-BE32-E72D297353CC}">
              <c16:uniqueId val="{00000002-D923-3540-A86A-32FE2D2146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8342784"/>
        <c:axId val="1770599392"/>
      </c:barChart>
      <c:catAx>
        <c:axId val="172834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70599392"/>
        <c:crosses val="autoZero"/>
        <c:auto val="1"/>
        <c:lblAlgn val="ctr"/>
        <c:lblOffset val="100"/>
        <c:noMultiLvlLbl val="0"/>
      </c:catAx>
      <c:valAx>
        <c:axId val="1770599392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172834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ko-KR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EC2 vCPU Unit Cost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numFmt formatCode="[$$-409]#,##0.000;\-[$$-409]#,##0.000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mmm\-yyyy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3.3267837479086133E-2</c:v>
              </c:pt>
              <c:pt idx="1">
                <c:v>3.352917170628103E-2</c:v>
              </c:pt>
              <c:pt idx="2">
                <c:v>3.3986063792660164E-2</c:v>
              </c:pt>
              <c:pt idx="3">
                <c:v>3.4556196675877185E-2</c:v>
              </c:pt>
              <c:pt idx="4">
                <c:v>3.5232717873348134E-2</c:v>
              </c:pt>
              <c:pt idx="5">
                <c:v>3.4915732878834121E-2</c:v>
              </c:pt>
              <c:pt idx="6">
                <c:v>3.1637158977081463E-2</c:v>
              </c:pt>
              <c:pt idx="7">
                <c:v>3.2442648604997876E-2</c:v>
              </c:pt>
              <c:pt idx="8">
                <c:v>3.2773087988978628E-2</c:v>
              </c:pt>
              <c:pt idx="9">
                <c:v>3.2839583842237285E-2</c:v>
              </c:pt>
              <c:pt idx="10">
                <c:v>3.3803935376851758E-2</c:v>
              </c:pt>
              <c:pt idx="11">
                <c:v>3.4137040404465843E-2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2DA-5E41-A3E5-4E67AE804D70}"/>
            </c:ext>
          </c:extLst>
        </c:ser>
        <c:ser>
          <c:idx val="1"/>
          <c:order val="1"/>
          <c:tx>
            <c:v>EC2 Instance Unit Cost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numFmt formatCode="[$$-409]#,##0.000;\-[$$-409]#,##0.000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mmm\-yyyy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0.60013582588641534</c:v>
              </c:pt>
              <c:pt idx="1">
                <c:v>0.5990860636108829</c:v>
              </c:pt>
              <c:pt idx="2">
                <c:v>0.62790170416107005</c:v>
              </c:pt>
              <c:pt idx="3">
                <c:v>0.65810403965409159</c:v>
              </c:pt>
              <c:pt idx="4">
                <c:v>0.67130636026203394</c:v>
              </c:pt>
              <c:pt idx="5">
                <c:v>0.67490701122439012</c:v>
              </c:pt>
              <c:pt idx="6">
                <c:v>0.61210450445435727</c:v>
              </c:pt>
              <c:pt idx="7">
                <c:v>0.6229510662570904</c:v>
              </c:pt>
              <c:pt idx="8">
                <c:v>0.61005947061717458</c:v>
              </c:pt>
              <c:pt idx="9">
                <c:v>0.63308724105883696</c:v>
              </c:pt>
              <c:pt idx="10">
                <c:v>0.65961564335367229</c:v>
              </c:pt>
              <c:pt idx="11">
                <c:v>0.64522721778108116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F2DA-5E41-A3E5-4E67AE804D7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45025679"/>
        <c:axId val="621431567"/>
      </c:lineChart>
      <c:dateAx>
        <c:axId val="445025679"/>
        <c:scaling>
          <c:orientation val="minMax"/>
        </c:scaling>
        <c:delete val="1"/>
        <c:axPos val="b"/>
        <c:numFmt formatCode="mmm\-yyyy" sourceLinked="1"/>
        <c:majorTickMark val="out"/>
        <c:minorTickMark val="none"/>
        <c:tickLblPos val="nextTo"/>
        <c:crossAx val="621431567"/>
        <c:crosses val="autoZero"/>
        <c:auto val="1"/>
        <c:lblOffset val="100"/>
        <c:baseTimeUnit val="months"/>
      </c:dateAx>
      <c:valAx>
        <c:axId val="62143156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5025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600"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Spot Spend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E0-1A47-A68F-7FF725B43C16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4E0-1A47-A68F-7FF725B43C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movingAvg"/>
            <c:period val="2"/>
            <c:dispRSqr val="0"/>
            <c:dispEq val="0"/>
          </c:trendline>
          <c:cat>
            <c:numLit>
              <c:formatCode>mmm\-yyyy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19871.686977775396</c:v>
              </c:pt>
              <c:pt idx="1">
                <c:v>30652.251687104595</c:v>
              </c:pt>
              <c:pt idx="2">
                <c:v>40897.853527559702</c:v>
              </c:pt>
              <c:pt idx="3">
                <c:v>40198.604921631195</c:v>
              </c:pt>
              <c:pt idx="4">
                <c:v>38000.834035828608</c:v>
              </c:pt>
              <c:pt idx="5">
                <c:v>27220.749532642698</c:v>
              </c:pt>
              <c:pt idx="6">
                <c:v>23336.363240651503</c:v>
              </c:pt>
              <c:pt idx="7">
                <c:v>18711.408907932098</c:v>
              </c:pt>
              <c:pt idx="8">
                <c:v>14944.5385447806</c:v>
              </c:pt>
              <c:pt idx="9">
                <c:v>16571.160445418198</c:v>
              </c:pt>
              <c:pt idx="10">
                <c:v>15973.0837087988</c:v>
              </c:pt>
              <c:pt idx="11">
                <c:v>15633.4188457118</c:v>
              </c:pt>
            </c:numLit>
          </c:val>
          <c:extLst>
            <c:ext xmlns:c16="http://schemas.microsoft.com/office/drawing/2014/chart" uri="{C3380CC4-5D6E-409C-BE32-E72D297353CC}">
              <c16:uniqueId val="{00000000-E4E0-1A47-A68F-7FF725B43C16}"/>
            </c:ext>
          </c:extLst>
        </c:ser>
        <c:ser>
          <c:idx val="1"/>
          <c:order val="1"/>
          <c:tx>
            <c:v>Equivalent On Demand Spend</c:v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numLit>
              <c:formatCode>mmm\-yyyy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60985.973706796198</c:v>
              </c:pt>
              <c:pt idx="1">
                <c:v>92211.314120942261</c:v>
              </c:pt>
              <c:pt idx="2">
                <c:v>121729.19218944455</c:v>
              </c:pt>
              <c:pt idx="3">
                <c:v>118659.63551704999</c:v>
              </c:pt>
              <c:pt idx="4">
                <c:v>109931.22581089177</c:v>
              </c:pt>
              <c:pt idx="5">
                <c:v>78649.550445662375</c:v>
              </c:pt>
              <c:pt idx="6">
                <c:v>66727.455442286606</c:v>
              </c:pt>
              <c:pt idx="7">
                <c:v>50760.089259762215</c:v>
              </c:pt>
              <c:pt idx="8">
                <c:v>42827.16461526214</c:v>
              </c:pt>
              <c:pt idx="9">
                <c:v>45968.227976484501</c:v>
              </c:pt>
              <c:pt idx="10">
                <c:v>44153.719511491094</c:v>
              </c:pt>
              <c:pt idx="11">
                <c:v>42639.68742425472</c:v>
              </c:pt>
            </c:numLit>
          </c:val>
          <c:extLst>
            <c:ext xmlns:c16="http://schemas.microsoft.com/office/drawing/2014/chart" uri="{C3380CC4-5D6E-409C-BE32-E72D297353CC}">
              <c16:uniqueId val="{00000001-E4E0-1A47-A68F-7FF725B43C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05221152"/>
        <c:axId val="1805635648"/>
      </c:barChart>
      <c:dateAx>
        <c:axId val="1805221152"/>
        <c:scaling>
          <c:orientation val="minMax"/>
        </c:scaling>
        <c:delete val="0"/>
        <c:axPos val="b"/>
        <c:numFmt formatCode="[$-409]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805635648"/>
        <c:crosses val="autoZero"/>
        <c:auto val="0"/>
        <c:lblOffset val="100"/>
        <c:baseTimeUnit val="months"/>
      </c:dateAx>
      <c:valAx>
        <c:axId val="1805635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805221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b="1" i="0"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v>Mar-2024</c:v>
          </c:tx>
          <c:spPr>
            <a:ln w="127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2"/>
              </a:solidFill>
              <a:ln w="127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423F-5949-AF87-A6A212DE3917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27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423F-5949-AF87-A6A212DE3917}"/>
              </c:ext>
            </c:extLst>
          </c:dPt>
          <c:dPt>
            <c:idx val="2"/>
            <c:bubble3D val="0"/>
            <c:spPr>
              <a:solidFill>
                <a:schemeClr val="bg1">
                  <a:lumMod val="95000"/>
                </a:schemeClr>
              </a:solidFill>
              <a:ln w="127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423F-5949-AF87-A6A212DE3917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423F-5949-AF87-A6A212DE3917}"/>
              </c:ext>
            </c:extLst>
          </c:dPt>
          <c:dLbls>
            <c:dLbl>
              <c:idx val="0"/>
              <c:layout>
                <c:manualLayout>
                  <c:x val="-0.1565767151931195"/>
                  <c:y val="0.13765617065463095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7226060612038244"/>
                      <c:h val="0.2888026460334157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23F-5949-AF87-A6A212DE391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3F-5949-AF87-A6A212DE3917}"/>
                </c:ext>
              </c:extLst>
            </c:dLbl>
            <c:dLbl>
              <c:idx val="2"/>
              <c:layout>
                <c:manualLayout>
                  <c:x val="0.29227653502715639"/>
                  <c:y val="-0.17207021331828876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517357412448546"/>
                      <c:h val="0.3369823057625366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423F-5949-AF87-A6A212DE3917}"/>
                </c:ext>
              </c:extLst>
            </c:dLbl>
            <c:dLbl>
              <c:idx val="3"/>
              <c:layout>
                <c:manualLayout>
                  <c:x val="-0.1774536105522021"/>
                  <c:y val="5.5062468261852383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23F-5949-AF87-A6A212DE391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ko-KR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</c:ext>
            </c:extLst>
          </c:dLbls>
          <c:cat>
            <c:strLit>
              <c:ptCount val="4"/>
              <c:pt idx="0">
                <c:v>On Demand</c:v>
              </c:pt>
              <c:pt idx="1">
                <c:v>Reserved</c:v>
              </c:pt>
              <c:pt idx="2">
                <c:v>Savings Plans</c:v>
              </c:pt>
              <c:pt idx="3">
                <c:v>Spot</c:v>
              </c:pt>
            </c:strLit>
          </c:cat>
          <c:val>
            <c:numLit>
              <c:formatCode>General</c:formatCode>
              <c:ptCount val="4"/>
              <c:pt idx="0">
                <c:v>3178813.9670670014</c:v>
              </c:pt>
              <c:pt idx="1">
                <c:v>0</c:v>
              </c:pt>
              <c:pt idx="2">
                <c:v>9114080.8353610002</c:v>
              </c:pt>
              <c:pt idx="3">
                <c:v>806356.5048</c:v>
              </c:pt>
            </c:numLit>
          </c:val>
          <c:extLst>
            <c:ext xmlns:c16="http://schemas.microsoft.com/office/drawing/2014/chart" uri="{C3380CC4-5D6E-409C-BE32-E72D297353CC}">
              <c16:uniqueId val="{00000008-423F-5949-AF87-A6A212DE391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 i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14388937512923128"/>
                  <c:y val="-8.947651092551012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43-A148-84FD-7FD3ECBFA555}"/>
                </c:ext>
              </c:extLst>
            </c:dLbl>
            <c:numFmt formatCode="[$$-4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6"/>
              <c:pt idx="0">
                <c:v>karrot-production</c:v>
              </c:pt>
              <c:pt idx="5">
                <c:v>Other Accounts</c:v>
              </c:pt>
            </c:strLit>
          </c:cat>
          <c:val>
            <c:numLit>
              <c:formatCode>General</c:formatCode>
              <c:ptCount val="6"/>
              <c:pt idx="0">
                <c:v>15633.4188457118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D443-A148-84FD-7FD3ECBFA55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744659168"/>
        <c:axId val="1776345968"/>
      </c:barChart>
      <c:catAx>
        <c:axId val="17446591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1776345968"/>
        <c:crosses val="autoZero"/>
        <c:auto val="1"/>
        <c:lblAlgn val="ctr"/>
        <c:lblOffset val="100"/>
        <c:noMultiLvlLbl val="0"/>
      </c:catAx>
      <c:valAx>
        <c:axId val="1776345968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744659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b="1" i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CloudFront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mmm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#,##0" GB"</c:formatCode>
              <c:ptCount val="12"/>
              <c:pt idx="0">
                <c:v>594403.90046936646</c:v>
              </c:pt>
              <c:pt idx="1">
                <c:v>625009.19169559772</c:v>
              </c:pt>
              <c:pt idx="2">
                <c:v>661873.16804014274</c:v>
              </c:pt>
              <c:pt idx="3">
                <c:v>693713.56486910221</c:v>
              </c:pt>
              <c:pt idx="4">
                <c:v>760066.60149464582</c:v>
              </c:pt>
              <c:pt idx="5">
                <c:v>768634.96764061693</c:v>
              </c:pt>
              <c:pt idx="6">
                <c:v>1013422.0966471044</c:v>
              </c:pt>
              <c:pt idx="7">
                <c:v>960800.13724985742</c:v>
              </c:pt>
              <c:pt idx="8">
                <c:v>1108864.3688131906</c:v>
              </c:pt>
              <c:pt idx="9">
                <c:v>1192780.028091321</c:v>
              </c:pt>
              <c:pt idx="10">
                <c:v>1104650.841055827</c:v>
              </c:pt>
              <c:pt idx="11">
                <c:v>1165804.4720927491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576-E749-B4BF-CA76D0B9203F}"/>
            </c:ext>
          </c:extLst>
        </c:ser>
        <c:ser>
          <c:idx val="1"/>
          <c:order val="1"/>
          <c:tx>
            <c:v>Data Transfer In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mmm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#,##0" GB"</c:formatCode>
              <c:ptCount val="12"/>
              <c:pt idx="0">
                <c:v>260445.96452817906</c:v>
              </c:pt>
              <c:pt idx="1">
                <c:v>264581.55897543649</c:v>
              </c:pt>
              <c:pt idx="2">
                <c:v>207575.75246684748</c:v>
              </c:pt>
              <c:pt idx="3">
                <c:v>150989.5695300143</c:v>
              </c:pt>
              <c:pt idx="4">
                <c:v>170968.17175054268</c:v>
              </c:pt>
              <c:pt idx="5">
                <c:v>215113.83463352331</c:v>
              </c:pt>
              <c:pt idx="6">
                <c:v>238450.25080008447</c:v>
              </c:pt>
              <c:pt idx="7">
                <c:v>307029.24914537714</c:v>
              </c:pt>
              <c:pt idx="8">
                <c:v>307917.69235611951</c:v>
              </c:pt>
              <c:pt idx="9">
                <c:v>346203.82805572823</c:v>
              </c:pt>
              <c:pt idx="10">
                <c:v>355586.51813363115</c:v>
              </c:pt>
              <c:pt idx="11">
                <c:v>376703.14514824533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9576-E749-B4BF-CA76D0B9203F}"/>
            </c:ext>
          </c:extLst>
        </c:ser>
        <c:ser>
          <c:idx val="2"/>
          <c:order val="2"/>
          <c:tx>
            <c:v>Data Transfer Out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Lit>
              <c:formatCode>mmm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#,##0" GB"</c:formatCode>
              <c:ptCount val="12"/>
              <c:pt idx="0">
                <c:v>859847.7717039705</c:v>
              </c:pt>
              <c:pt idx="1">
                <c:v>954656.74066241377</c:v>
              </c:pt>
              <c:pt idx="2">
                <c:v>820504.20357075369</c:v>
              </c:pt>
              <c:pt idx="3">
                <c:v>448968.43052926922</c:v>
              </c:pt>
              <c:pt idx="4">
                <c:v>482680.26367595937</c:v>
              </c:pt>
              <c:pt idx="5">
                <c:v>497041.94810949435</c:v>
              </c:pt>
              <c:pt idx="6">
                <c:v>568074.8710547511</c:v>
              </c:pt>
              <c:pt idx="7">
                <c:v>655979.17397844885</c:v>
              </c:pt>
              <c:pt idx="8">
                <c:v>704316.32595342444</c:v>
              </c:pt>
              <c:pt idx="9">
                <c:v>769439.67747809342</c:v>
              </c:pt>
              <c:pt idx="10">
                <c:v>650956.18794913031</c:v>
              </c:pt>
              <c:pt idx="11">
                <c:v>691853.36914685683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9576-E749-B4BF-CA76D0B9203F}"/>
            </c:ext>
          </c:extLst>
        </c:ser>
        <c:ser>
          <c:idx val="3"/>
          <c:order val="3"/>
          <c:tx>
            <c:v>Region-Region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Lit>
              <c:formatCode>mmm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#,##0" GB"</c:formatCode>
              <c:ptCount val="12"/>
              <c:pt idx="0">
                <c:v>917886.26842423482</c:v>
              </c:pt>
              <c:pt idx="1">
                <c:v>974189.30095910421</c:v>
              </c:pt>
              <c:pt idx="2">
                <c:v>1132129.231095273</c:v>
              </c:pt>
              <c:pt idx="3">
                <c:v>1193907.1899957613</c:v>
              </c:pt>
              <c:pt idx="4">
                <c:v>1072733.175199715</c:v>
              </c:pt>
              <c:pt idx="5">
                <c:v>674120.81436403666</c:v>
              </c:pt>
              <c:pt idx="6">
                <c:v>729853.24943369511</c:v>
              </c:pt>
              <c:pt idx="7">
                <c:v>718008.33032621595</c:v>
              </c:pt>
              <c:pt idx="8">
                <c:v>819848.14296580001</c:v>
              </c:pt>
              <c:pt idx="9">
                <c:v>900650.20370485412</c:v>
              </c:pt>
              <c:pt idx="10">
                <c:v>905559.19882130146</c:v>
              </c:pt>
              <c:pt idx="11">
                <c:v>985596.35901602195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3-9576-E749-B4BF-CA76D0B9203F}"/>
            </c:ext>
          </c:extLst>
        </c:ser>
        <c:ser>
          <c:idx val="4"/>
          <c:order val="4"/>
          <c:tx>
            <c:v>Inter AZ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8204450968949109E-2"/>
                  <c:y val="-0.281160684438088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highlight>
                        <a:srgbClr val="FFFF00"/>
                      </a:highlight>
                      <a:latin typeface="NanumSquareOTF Bold" panose="020B0600000101010101" pitchFamily="34" charset="-127"/>
                      <a:ea typeface="NanumSquareOTF Bold" panose="020B0600000101010101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576-E749-B4BF-CA76D0B9203F}"/>
                </c:ext>
              </c:extLst>
            </c:dLbl>
            <c:dLbl>
              <c:idx val="3"/>
              <c:layout>
                <c:manualLayout>
                  <c:x val="-0.13371557839132192"/>
                  <c:y val="0.2474214023055176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highlight>
                        <a:srgbClr val="FFFF00"/>
                      </a:highlight>
                      <a:latin typeface="NanumSquareOTF Bold" panose="020B0600000101010101" pitchFamily="34" charset="-127"/>
                      <a:ea typeface="NanumSquareOTF Bold" panose="020B0600000101010101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576-E749-B4BF-CA76D0B9203F}"/>
                </c:ext>
              </c:extLst>
            </c:dLbl>
            <c:dLbl>
              <c:idx val="7"/>
              <c:layout>
                <c:manualLayout>
                  <c:x val="-0.14326669113355925"/>
                  <c:y val="0.2642910433718028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highlight>
                        <a:srgbClr val="FFFF00"/>
                      </a:highlight>
                      <a:latin typeface="NanumSquareOTF Bold" panose="020B0600000101010101" pitchFamily="34" charset="-127"/>
                      <a:ea typeface="NanumSquareOTF Bold" panose="020B0600000101010101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576-E749-B4BF-CA76D0B9203F}"/>
                </c:ext>
              </c:extLst>
            </c:dLbl>
            <c:dLbl>
              <c:idx val="11"/>
              <c:layout>
                <c:manualLayout>
                  <c:x val="-2.3877781855593193E-3"/>
                  <c:y val="-0.2417981886167558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/>
                      </a:solidFill>
                      <a:highlight>
                        <a:srgbClr val="FFFF00"/>
                      </a:highlight>
                      <a:latin typeface="NanumSquareOTF Bold" panose="020B0600000101010101" pitchFamily="34" charset="-127"/>
                      <a:ea typeface="NanumSquareOTF Bold" panose="020B0600000101010101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576-E749-B4BF-CA76D0B920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mmm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#,##0" GB"</c:formatCode>
              <c:ptCount val="12"/>
              <c:pt idx="0">
                <c:v>9621462.0895807911</c:v>
              </c:pt>
              <c:pt idx="1">
                <c:v>12006200.479598198</c:v>
              </c:pt>
              <c:pt idx="2">
                <c:v>13702743.969049249</c:v>
              </c:pt>
              <c:pt idx="3">
                <c:v>15964812.288725415</c:v>
              </c:pt>
              <c:pt idx="4">
                <c:v>14135596.53458784</c:v>
              </c:pt>
              <c:pt idx="5">
                <c:v>14849895.183651062</c:v>
              </c:pt>
              <c:pt idx="6">
                <c:v>16582332.545566067</c:v>
              </c:pt>
              <c:pt idx="7">
                <c:v>16899843.321807444</c:v>
              </c:pt>
              <c:pt idx="8">
                <c:v>9189679.599840099</c:v>
              </c:pt>
              <c:pt idx="9">
                <c:v>9787526.3549609017</c:v>
              </c:pt>
              <c:pt idx="10">
                <c:v>9898636.5800482333</c:v>
              </c:pt>
              <c:pt idx="11">
                <c:v>10881318.426213183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4-9576-E749-B4BF-CA76D0B920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8993360"/>
        <c:axId val="398951904"/>
      </c:lineChart>
      <c:dateAx>
        <c:axId val="778993360"/>
        <c:scaling>
          <c:orientation val="minMax"/>
        </c:scaling>
        <c:delete val="0"/>
        <c:axPos val="b"/>
        <c:numFmt formatCode="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398951904"/>
        <c:crosses val="autoZero"/>
        <c:auto val="0"/>
        <c:lblOffset val="100"/>
        <c:baseTimeUnit val="months"/>
      </c:dateAx>
      <c:valAx>
        <c:axId val="398951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&quot; GB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778993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1881351113945522E-2"/>
          <c:y val="0.79649014055820355"/>
          <c:w val="0.9481761886999055"/>
          <c:h val="0.169770577309225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1" i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CloudFront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Lit>
              <c:formatCode>mmm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0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43EC-034C-9D41-3C98C35A25EC}"/>
            </c:ext>
          </c:extLst>
        </c:ser>
        <c:ser>
          <c:idx val="1"/>
          <c:order val="1"/>
          <c:tx>
            <c:v>Data Transfer In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Lit>
              <c:formatCode>mmm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0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43EC-034C-9D41-3C98C35A25EC}"/>
            </c:ext>
          </c:extLst>
        </c:ser>
        <c:ser>
          <c:idx val="2"/>
          <c:order val="2"/>
          <c:tx>
            <c:v>Data Transfer Out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3EC-034C-9D41-3C98C35A25EC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43EC-034C-9D41-3C98C35A25EC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3EC-034C-9D41-3C98C35A25EC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3EC-034C-9D41-3C98C35A25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mmm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0</c:formatCode>
              <c:ptCount val="12"/>
              <c:pt idx="0">
                <c:v>94518.255763502108</c:v>
              </c:pt>
              <c:pt idx="1">
                <c:v>104756.16371077449</c:v>
              </c:pt>
              <c:pt idx="2">
                <c:v>90268.813375312107</c:v>
              </c:pt>
              <c:pt idx="3">
                <c:v>49243.803851797806</c:v>
              </c:pt>
              <c:pt idx="4">
                <c:v>52933.597216113201</c:v>
              </c:pt>
              <c:pt idx="5">
                <c:v>54592.915203942393</c:v>
              </c:pt>
              <c:pt idx="6">
                <c:v>62337.795785067094</c:v>
              </c:pt>
              <c:pt idx="7">
                <c:v>71748.87762722699</c:v>
              </c:pt>
              <c:pt idx="8">
                <c:v>77659.374441360211</c:v>
              </c:pt>
              <c:pt idx="9">
                <c:v>84718.191618222685</c:v>
              </c:pt>
              <c:pt idx="10">
                <c:v>71929.8180266954</c:v>
              </c:pt>
              <c:pt idx="11">
                <c:v>76347.499035139786</c:v>
              </c:pt>
            </c:numLit>
          </c:val>
          <c:extLst>
            <c:ext xmlns:c16="http://schemas.microsoft.com/office/drawing/2014/chart" uri="{C3380CC4-5D6E-409C-BE32-E72D297353CC}">
              <c16:uniqueId val="{00000004-43EC-034C-9D41-3C98C35A25EC}"/>
            </c:ext>
          </c:extLst>
        </c:ser>
        <c:ser>
          <c:idx val="3"/>
          <c:order val="3"/>
          <c:tx>
            <c:v>Region-Region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3EC-034C-9D41-3C98C35A25EC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3EC-034C-9D41-3C98C35A25EC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3EC-034C-9D41-3C98C35A25EC}"/>
                </c:ext>
              </c:extLst>
            </c:dLbl>
            <c:dLbl>
              <c:idx val="1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3EC-034C-9D41-3C98C35A25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mmm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0</c:formatCode>
              <c:ptCount val="12"/>
              <c:pt idx="0">
                <c:v>28063.157233489208</c:v>
              </c:pt>
              <c:pt idx="1">
                <c:v>32967.664194040575</c:v>
              </c:pt>
              <c:pt idx="2">
                <c:v>43881.649400205679</c:v>
              </c:pt>
              <c:pt idx="3">
                <c:v>46482.374728318027</c:v>
              </c:pt>
              <c:pt idx="4">
                <c:v>48380.360644414795</c:v>
              </c:pt>
              <c:pt idx="5">
                <c:v>48894.516255323564</c:v>
              </c:pt>
              <c:pt idx="6">
                <c:v>52924.429072197388</c:v>
              </c:pt>
              <c:pt idx="7">
                <c:v>52055.482652224593</c:v>
              </c:pt>
              <c:pt idx="8">
                <c:v>60041.278480877059</c:v>
              </c:pt>
              <c:pt idx="9">
                <c:v>66822.917644344794</c:v>
              </c:pt>
              <c:pt idx="10">
                <c:v>67507.062932401619</c:v>
              </c:pt>
              <c:pt idx="11">
                <c:v>73190.406588223603</c:v>
              </c:pt>
            </c:numLit>
          </c:val>
          <c:extLst>
            <c:ext xmlns:c16="http://schemas.microsoft.com/office/drawing/2014/chart" uri="{C3380CC4-5D6E-409C-BE32-E72D297353CC}">
              <c16:uniqueId val="{00000007-43EC-034C-9D41-3C98C35A25EC}"/>
            </c:ext>
          </c:extLst>
        </c:ser>
        <c:ser>
          <c:idx val="4"/>
          <c:order val="4"/>
          <c:tx>
            <c:v>Inter AZ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2891296981232722E-2"/>
                  <c:y val="-0.1878232425825478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3EC-034C-9D41-3C98C35A25EC}"/>
                </c:ext>
              </c:extLst>
            </c:dLbl>
            <c:dLbl>
              <c:idx val="3"/>
              <c:layout>
                <c:manualLayout>
                  <c:x val="4.8071723660588712E-2"/>
                  <c:y val="-0.27621065085668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3EC-034C-9D41-3C98C35A25EC}"/>
                </c:ext>
              </c:extLst>
            </c:dLbl>
            <c:dLbl>
              <c:idx val="7"/>
              <c:layout>
                <c:manualLayout>
                  <c:x val="4.8071723660588754E-2"/>
                  <c:y val="-0.265162224822420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3EC-034C-9D41-3C98C35A25EC}"/>
                </c:ext>
              </c:extLst>
            </c:dLbl>
            <c:dLbl>
              <c:idx val="11"/>
              <c:layout>
                <c:manualLayout>
                  <c:x val="1.602390788686292E-2"/>
                  <c:y val="-0.2209685206853503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3EC-034C-9D41-3C98C35A25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mmm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0</c:formatCode>
              <c:ptCount val="12"/>
              <c:pt idx="0">
                <c:v>96214.610896584403</c:v>
              </c:pt>
              <c:pt idx="1">
                <c:v>120061.9949625227</c:v>
              </c:pt>
              <c:pt idx="2">
                <c:v>137027.42969142209</c:v>
              </c:pt>
              <c:pt idx="3">
                <c:v>159648.12288817723</c:v>
              </c:pt>
              <c:pt idx="4">
                <c:v>141355.95534684628</c:v>
              </c:pt>
              <c:pt idx="5">
                <c:v>148498.95183720949</c:v>
              </c:pt>
              <c:pt idx="6">
                <c:v>165823.31545609352</c:v>
              </c:pt>
              <c:pt idx="7">
                <c:v>168998.4232185625</c:v>
              </c:pt>
              <c:pt idx="8">
                <c:v>91896.7859989032</c:v>
              </c:pt>
              <c:pt idx="9">
                <c:v>97875.2635502263</c:v>
              </c:pt>
              <c:pt idx="10">
                <c:v>98986.355801044992</c:v>
              </c:pt>
              <c:pt idx="11">
                <c:v>108813.17426270161</c:v>
              </c:pt>
            </c:numLit>
          </c:val>
          <c:extLst>
            <c:ext xmlns:c16="http://schemas.microsoft.com/office/drawing/2014/chart" uri="{C3380CC4-5D6E-409C-BE32-E72D297353CC}">
              <c16:uniqueId val="{0000000A-43EC-034C-9D41-3C98C35A25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06186128"/>
        <c:axId val="806187760"/>
      </c:barChart>
      <c:dateAx>
        <c:axId val="806186128"/>
        <c:scaling>
          <c:orientation val="minMax"/>
        </c:scaling>
        <c:delete val="0"/>
        <c:axPos val="b"/>
        <c:numFmt formatCode="[$-409]mm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806187760"/>
        <c:crosses val="autoZero"/>
        <c:auto val="0"/>
        <c:lblOffset val="100"/>
        <c:baseTimeUnit val="months"/>
        <c:majorUnit val="1"/>
        <c:majorTimeUnit val="months"/>
      </c:dateAx>
      <c:valAx>
        <c:axId val="806187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806186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ko-KR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044131111518037"/>
          <c:y val="0.19871047369078865"/>
          <c:w val="0.84758194469877313"/>
          <c:h val="0.52624671916010501"/>
        </c:manualLayout>
      </c:layout>
      <c:barChart>
        <c:barDir val="col"/>
        <c:grouping val="stacked"/>
        <c:varyColors val="0"/>
        <c:ser>
          <c:idx val="0"/>
          <c:order val="0"/>
          <c:tx>
            <c:v>S3 Standard/INT FA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104532561967811"/>
                  <c:y val="-0.232300006513501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B34-B64E-9DAA-3B58BB6EDF80}"/>
                </c:ext>
              </c:extLst>
            </c:dLbl>
            <c:dLbl>
              <c:idx val="11"/>
              <c:layout>
                <c:manualLayout>
                  <c:x val="-0.11280332547756378"/>
                  <c:y val="-0.2379658603309036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B34-B64E-9DAA-3B58BB6EDF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18106.973229031501</c:v>
              </c:pt>
              <c:pt idx="1">
                <c:v>19153.609116134703</c:v>
              </c:pt>
              <c:pt idx="2">
                <c:v>17304.748427959697</c:v>
              </c:pt>
              <c:pt idx="3">
                <c:v>18181.3354177605</c:v>
              </c:pt>
              <c:pt idx="4">
                <c:v>19934.739089999202</c:v>
              </c:pt>
              <c:pt idx="5">
                <c:v>21005.156632876202</c:v>
              </c:pt>
              <c:pt idx="6">
                <c:v>20664.983514740805</c:v>
              </c:pt>
              <c:pt idx="7">
                <c:v>20767.865270977698</c:v>
              </c:pt>
              <c:pt idx="8">
                <c:v>21025.659364159899</c:v>
              </c:pt>
              <c:pt idx="9">
                <c:v>21364.8371104996</c:v>
              </c:pt>
              <c:pt idx="10">
                <c:v>21286.526455005303</c:v>
              </c:pt>
              <c:pt idx="11">
                <c:v>21287.428141950597</c:v>
              </c:pt>
            </c:numLit>
          </c:val>
          <c:extLst>
            <c:ext xmlns:c16="http://schemas.microsoft.com/office/drawing/2014/chart" uri="{C3380CC4-5D6E-409C-BE32-E72D297353CC}">
              <c16:uniqueId val="{00000000-5B34-B64E-9DAA-3B58BB6EDF80}"/>
            </c:ext>
          </c:extLst>
        </c:ser>
        <c:ser>
          <c:idx val="1"/>
          <c:order val="1"/>
          <c:tx>
            <c:v>S3 IA/INT IA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8152009142694703E-2"/>
                  <c:y val="-0.226634152696098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B34-B64E-9DAA-3B58BB6EDF80}"/>
                </c:ext>
              </c:extLst>
            </c:dLbl>
            <c:dLbl>
              <c:idx val="11"/>
              <c:layout>
                <c:manualLayout>
                  <c:x val="-8.4602494108172929E-2"/>
                  <c:y val="-0.209636591243891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B34-B64E-9DAA-3B58BB6EDF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eparator>, </c:separator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0</c:formatCode>
              <c:ptCount val="12"/>
              <c:pt idx="0">
                <c:v>2177.7427737811004</c:v>
              </c:pt>
              <c:pt idx="1">
                <c:v>2996.7589276187</c:v>
              </c:pt>
              <c:pt idx="2">
                <c:v>5765.7146543302006</c:v>
              </c:pt>
              <c:pt idx="3">
                <c:v>5763.2150972417994</c:v>
              </c:pt>
              <c:pt idx="4">
                <c:v>5024.0554821074002</c:v>
              </c:pt>
              <c:pt idx="5">
                <c:v>6103.0106047726003</c:v>
              </c:pt>
              <c:pt idx="6">
                <c:v>6941.6415498472998</c:v>
              </c:pt>
              <c:pt idx="7">
                <c:v>6393.9298426776013</c:v>
              </c:pt>
              <c:pt idx="8">
                <c:v>6134.7384289873999</c:v>
              </c:pt>
              <c:pt idx="9">
                <c:v>5542.2152388872009</c:v>
              </c:pt>
              <c:pt idx="10">
                <c:v>3979.1508672472</c:v>
              </c:pt>
              <c:pt idx="11">
                <c:v>3871.6374065396003</c:v>
              </c:pt>
            </c:numLit>
          </c:val>
          <c:extLst>
            <c:ext xmlns:c16="http://schemas.microsoft.com/office/drawing/2014/chart" uri="{C3380CC4-5D6E-409C-BE32-E72D297353CC}">
              <c16:uniqueId val="{00000001-5B34-B64E-9DAA-3B58BB6EDF80}"/>
            </c:ext>
          </c:extLst>
        </c:ser>
        <c:ser>
          <c:idx val="2"/>
          <c:order val="2"/>
          <c:tx>
            <c:v>S3 Glacier IR/INT AIA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0575311763521593"/>
                  <c:y val="-0.2946243985049283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B34-B64E-9DAA-3B58BB6EDF80}"/>
                </c:ext>
              </c:extLst>
            </c:dLbl>
            <c:dLbl>
              <c:idx val="11"/>
              <c:layout>
                <c:manualLayout>
                  <c:x val="-0.1104532561967811"/>
                  <c:y val="-0.243631714148306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B34-B64E-9DAA-3B58BB6EDF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2553.3227344269999</c:v>
              </c:pt>
              <c:pt idx="1">
                <c:v>2578.8954914790997</c:v>
              </c:pt>
              <c:pt idx="2">
                <c:v>2665.3388565362002</c:v>
              </c:pt>
              <c:pt idx="3">
                <c:v>2871.5037875589001</c:v>
              </c:pt>
              <c:pt idx="4">
                <c:v>3380.7359209235001</c:v>
              </c:pt>
              <c:pt idx="5">
                <c:v>3752.4655293928004</c:v>
              </c:pt>
              <c:pt idx="6">
                <c:v>4279.3771590653005</c:v>
              </c:pt>
              <c:pt idx="7">
                <c:v>4270.7544015586991</c:v>
              </c:pt>
              <c:pt idx="8">
                <c:v>5192.6310226459</c:v>
              </c:pt>
              <c:pt idx="9">
                <c:v>5350.5418142195003</c:v>
              </c:pt>
              <c:pt idx="10">
                <c:v>3987.3061683559004</c:v>
              </c:pt>
              <c:pt idx="11">
                <c:v>4408.5246086936995</c:v>
              </c:pt>
            </c:numLit>
          </c:val>
          <c:extLst>
            <c:ext xmlns:c16="http://schemas.microsoft.com/office/drawing/2014/chart" uri="{C3380CC4-5D6E-409C-BE32-E72D297353CC}">
              <c16:uniqueId val="{00000002-5B34-B64E-9DAA-3B58BB6EDF80}"/>
            </c:ext>
          </c:extLst>
        </c:ser>
        <c:ser>
          <c:idx val="3"/>
          <c:order val="3"/>
          <c:tx>
            <c:v>S3 Glacier FR/INT AA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0.29632403099999999</c:v>
              </c:pt>
              <c:pt idx="1">
                <c:v>0.29632403070000002</c:v>
              </c:pt>
              <c:pt idx="2">
                <c:v>0.29632403099999999</c:v>
              </c:pt>
              <c:pt idx="3">
                <c:v>0.29632403070000002</c:v>
              </c:pt>
              <c:pt idx="4">
                <c:v>0.29632403070000002</c:v>
              </c:pt>
              <c:pt idx="5">
                <c:v>0.29632403099999999</c:v>
              </c:pt>
              <c:pt idx="6">
                <c:v>0.26946467800000001</c:v>
              </c:pt>
              <c:pt idx="7">
                <c:v>8.9779617000000006E-2</c:v>
              </c:pt>
              <c:pt idx="8">
                <c:v>8.9779617699999995E-2</c:v>
              </c:pt>
              <c:pt idx="9">
                <c:v>8.9779617699999995E-2</c:v>
              </c:pt>
              <c:pt idx="10">
                <c:v>8.97796181E-2</c:v>
              </c:pt>
              <c:pt idx="11">
                <c:v>8.9779617699999995E-2</c:v>
              </c:pt>
            </c:numLit>
          </c:val>
          <c:extLst>
            <c:ext xmlns:c16="http://schemas.microsoft.com/office/drawing/2014/chart" uri="{C3380CC4-5D6E-409C-BE32-E72D297353CC}">
              <c16:uniqueId val="{00000003-5B34-B64E-9DAA-3B58BB6EDF80}"/>
            </c:ext>
          </c:extLst>
        </c:ser>
        <c:ser>
          <c:idx val="4"/>
          <c:order val="4"/>
          <c:tx>
            <c:v>S3 Glacier DA/INT DAA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4-5B34-B64E-9DAA-3B58BB6EDF80}"/>
            </c:ext>
          </c:extLst>
        </c:ser>
        <c:ser>
          <c:idx val="5"/>
          <c:order val="5"/>
          <c:tx>
            <c:v>Savings</c:v>
          </c:tx>
          <c:spPr>
            <a:pattFill prst="lt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11282.867935535798</c:v>
              </c:pt>
              <c:pt idx="1">
                <c:v>11982.53457094461</c:v>
              </c:pt>
              <c:pt idx="2">
                <c:v>14347.85307704827</c:v>
              </c:pt>
              <c:pt idx="3">
                <c:v>15127.532723963261</c:v>
              </c:pt>
              <c:pt idx="4">
                <c:v>16513.922346815132</c:v>
              </c:pt>
              <c:pt idx="5">
                <c:v>18716.948432795194</c:v>
              </c:pt>
              <c:pt idx="6">
                <c:v>21331.226558710216</c:v>
              </c:pt>
              <c:pt idx="7">
                <c:v>20894.73450889063</c:v>
              </c:pt>
              <c:pt idx="8">
                <c:v>24198.687548974445</c:v>
              </c:pt>
              <c:pt idx="9">
                <c:v>24361.318462605159</c:v>
              </c:pt>
              <c:pt idx="10">
                <c:v>18043.429787427067</c:v>
              </c:pt>
              <c:pt idx="11">
                <c:v>19561.084631588848</c:v>
              </c:pt>
            </c:numLit>
          </c:val>
          <c:extLst>
            <c:ext xmlns:c16="http://schemas.microsoft.com/office/drawing/2014/chart" uri="{C3380CC4-5D6E-409C-BE32-E72D297353CC}">
              <c16:uniqueId val="{00000005-5B34-B64E-9DAA-3B58BB6EDF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222463"/>
        <c:axId val="34648831"/>
      </c:barChart>
      <c:dateAx>
        <c:axId val="19222463"/>
        <c:scaling>
          <c:orientation val="minMax"/>
        </c:scaling>
        <c:delete val="0"/>
        <c:axPos val="b"/>
        <c:numFmt formatCode="[$-409]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34648831"/>
        <c:crosses val="autoZero"/>
        <c:auto val="0"/>
        <c:lblOffset val="100"/>
        <c:baseTimeUnit val="months"/>
        <c:majorUnit val="1"/>
        <c:majorTimeUnit val="months"/>
      </c:dateAx>
      <c:valAx>
        <c:axId val="34648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&quot;$&quot;#,##0,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19222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7620399194286765E-3"/>
          <c:y val="0.81208283896019851"/>
          <c:w val="0.98066173777696397"/>
          <c:h val="0.153453005874265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044131111518037"/>
          <c:y val="0.19871047369078865"/>
          <c:w val="0.84758194469877313"/>
          <c:h val="0.52624671916010501"/>
        </c:manualLayout>
      </c:layout>
      <c:barChart>
        <c:barDir val="col"/>
        <c:grouping val="stacked"/>
        <c:varyColors val="0"/>
        <c:ser>
          <c:idx val="0"/>
          <c:order val="0"/>
          <c:tx>
            <c:v>S3 Standard/INT FA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1328862608955154"/>
                  <c:y val="-0.2846938355260997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675-5348-9AF7-CC0D3782EBAA}"/>
                </c:ext>
              </c:extLst>
            </c:dLbl>
            <c:dLbl>
              <c:idx val="11"/>
              <c:layout>
                <c:manualLayout>
                  <c:x val="-7.7242245061057868E-2"/>
                  <c:y val="-0.4303511467254995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675-5348-9AF7-CC0D3782EB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754046.93645606039</c:v>
              </c:pt>
              <c:pt idx="1">
                <c:v>793761.83882097248</c:v>
              </c:pt>
              <c:pt idx="2">
                <c:v>717450.1512723926</c:v>
              </c:pt>
              <c:pt idx="3">
                <c:v>754356.34087102429</c:v>
              </c:pt>
              <c:pt idx="4">
                <c:v>827923.00552883919</c:v>
              </c:pt>
              <c:pt idx="5">
                <c:v>873341.65409284318</c:v>
              </c:pt>
              <c:pt idx="6">
                <c:v>859650.51293179533</c:v>
              </c:pt>
              <c:pt idx="7">
                <c:v>864482.76577017549</c:v>
              </c:pt>
              <c:pt idx="8">
                <c:v>876027.60165853263</c:v>
              </c:pt>
              <c:pt idx="9">
                <c:v>891139.64565478731</c:v>
              </c:pt>
              <c:pt idx="10">
                <c:v>888985.34505642008</c:v>
              </c:pt>
              <c:pt idx="11">
                <c:v>890280.9532558627</c:v>
              </c:pt>
            </c:numLit>
          </c:val>
          <c:extLst>
            <c:ext xmlns:c16="http://schemas.microsoft.com/office/drawing/2014/chart" uri="{C3380CC4-5D6E-409C-BE32-E72D297353CC}">
              <c16:uniqueId val="{00000000-A675-5348-9AF7-CC0D3782EBAA}"/>
            </c:ext>
          </c:extLst>
        </c:ser>
        <c:ser>
          <c:idx val="1"/>
          <c:order val="1"/>
          <c:tx>
            <c:v>S3 IA/INT IA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4966469567163652E-2"/>
                  <c:y val="-0.2913146223987996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675-5348-9AF7-CC0D3782EBAA}"/>
                </c:ext>
              </c:extLst>
            </c:dLbl>
            <c:dLbl>
              <c:idx val="11"/>
              <c:layout>
                <c:manualLayout>
                  <c:x val="-8.4966469567163749E-2"/>
                  <c:y val="-0.3773848517438996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675-5348-9AF7-CC0D3782EB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#,##0</c:formatCode>
              <c:ptCount val="12"/>
              <c:pt idx="0">
                <c:v>157808.09910363008</c:v>
              </c:pt>
              <c:pt idx="1">
                <c:v>217160.8555180488</c:v>
              </c:pt>
              <c:pt idx="2">
                <c:v>417819.01731246791</c:v>
              </c:pt>
              <c:pt idx="3">
                <c:v>417637.27182334638</c:v>
              </c:pt>
              <c:pt idx="4">
                <c:v>364069.12462061265</c:v>
              </c:pt>
              <c:pt idx="5">
                <c:v>442252.94485504326</c:v>
              </c:pt>
              <c:pt idx="6">
                <c:v>503019.16378337145</c:v>
              </c:pt>
              <c:pt idx="7">
                <c:v>463329.08391274419</c:v>
              </c:pt>
              <c:pt idx="8">
                <c:v>444547.135444841</c:v>
              </c:pt>
              <c:pt idx="9">
                <c:v>401610.69438105269</c:v>
              </c:pt>
              <c:pt idx="10">
                <c:v>288345.03893087088</c:v>
              </c:pt>
              <c:pt idx="11">
                <c:v>280554.26552657306</c:v>
              </c:pt>
            </c:numLit>
          </c:val>
          <c:extLst>
            <c:ext xmlns:c16="http://schemas.microsoft.com/office/drawing/2014/chart" uri="{C3380CC4-5D6E-409C-BE32-E72D297353CC}">
              <c16:uniqueId val="{00000001-A675-5348-9AF7-CC0D3782EBAA}"/>
            </c:ext>
          </c:extLst>
        </c:ser>
        <c:ser>
          <c:idx val="2"/>
          <c:order val="2"/>
          <c:tx>
            <c:v>S3 Glacier IR/INT AIA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2391728065128386E-2"/>
                  <c:y val="-0.3177977698895996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75-5348-9AF7-CC0D3782EBAA}"/>
                </c:ext>
              </c:extLst>
            </c:dLbl>
            <c:dLbl>
              <c:idx val="11"/>
              <c:layout>
                <c:manualLayout>
                  <c:x val="-8.4966469567163652E-2"/>
                  <c:y val="-0.337660130507699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675-5348-9AF7-CC0D3782EB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 formatCode="#,##0">
                <c:v>510664.54688569752</c:v>
              </c:pt>
              <c:pt idx="1">
                <c:v>515779.09829589771</c:v>
              </c:pt>
              <c:pt idx="2">
                <c:v>533067.7713075747</c:v>
              </c:pt>
              <c:pt idx="3">
                <c:v>574300.7575119012</c:v>
              </c:pt>
              <c:pt idx="4">
                <c:v>676147.184184229</c:v>
              </c:pt>
              <c:pt idx="5">
                <c:v>750493.10587866197</c:v>
              </c:pt>
              <c:pt idx="6">
                <c:v>855875.4318133397</c:v>
              </c:pt>
              <c:pt idx="7">
                <c:v>854150.88031208608</c:v>
              </c:pt>
              <c:pt idx="8">
                <c:v>1038526.2045281207</c:v>
              </c:pt>
              <c:pt idx="9">
                <c:v>1070108.36284291</c:v>
              </c:pt>
              <c:pt idx="10">
                <c:v>797461.23367107089</c:v>
              </c:pt>
              <c:pt idx="11">
                <c:v>881704.92173772654</c:v>
              </c:pt>
            </c:numLit>
          </c:val>
          <c:extLst>
            <c:ext xmlns:c16="http://schemas.microsoft.com/office/drawing/2014/chart" uri="{C3380CC4-5D6E-409C-BE32-E72D297353CC}">
              <c16:uniqueId val="{00000002-A675-5348-9AF7-CC0D3782EBAA}"/>
            </c:ext>
          </c:extLst>
        </c:ser>
        <c:ser>
          <c:idx val="3"/>
          <c:order val="3"/>
          <c:tx>
            <c:v>S3 Glacier FR/INT AA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 formatCode="#,##0">
                <c:v>65.849784966000001</c:v>
              </c:pt>
              <c:pt idx="1">
                <c:v>65.849784965799998</c:v>
              </c:pt>
              <c:pt idx="2">
                <c:v>65.849784966000001</c:v>
              </c:pt>
              <c:pt idx="3">
                <c:v>65.849784965799998</c:v>
              </c:pt>
              <c:pt idx="4">
                <c:v>65.849784965799998</c:v>
              </c:pt>
              <c:pt idx="5">
                <c:v>65.849784966000001</c:v>
              </c:pt>
              <c:pt idx="6">
                <c:v>59.881039771600001</c:v>
              </c:pt>
              <c:pt idx="7">
                <c:v>19.951026366000001</c:v>
              </c:pt>
              <c:pt idx="8">
                <c:v>19.951026366699999</c:v>
              </c:pt>
              <c:pt idx="9">
                <c:v>19.951026366699999</c:v>
              </c:pt>
              <c:pt idx="10">
                <c:v>19.951026365600001</c:v>
              </c:pt>
              <c:pt idx="11">
                <c:v>19.951026366699999</c:v>
              </c:pt>
            </c:numLit>
          </c:val>
          <c:extLst>
            <c:ext xmlns:c16="http://schemas.microsoft.com/office/drawing/2014/chart" uri="{C3380CC4-5D6E-409C-BE32-E72D297353CC}">
              <c16:uniqueId val="{00000003-A675-5348-9AF7-CC0D3782EBAA}"/>
            </c:ext>
          </c:extLst>
        </c:ser>
        <c:ser>
          <c:idx val="4"/>
          <c:order val="4"/>
          <c:tx>
            <c:v>S3 Glacier DA/INT DAA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 formatCode="#,##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4-A675-5348-9AF7-CC0D3782EB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222463"/>
        <c:axId val="34648831"/>
      </c:barChart>
      <c:dateAx>
        <c:axId val="19222463"/>
        <c:scaling>
          <c:orientation val="minMax"/>
        </c:scaling>
        <c:delete val="0"/>
        <c:axPos val="b"/>
        <c:numFmt formatCode="[$-409]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34648831"/>
        <c:crosses val="autoZero"/>
        <c:auto val="0"/>
        <c:lblOffset val="100"/>
        <c:baseTimeUnit val="months"/>
        <c:majorUnit val="1"/>
        <c:majorTimeUnit val="months"/>
      </c:dateAx>
      <c:valAx>
        <c:axId val="34648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#,##0&quot; GB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19222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io2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196.94999988000001</c:v>
              </c:pt>
              <c:pt idx="1">
                <c:v>196.95000019679998</c:v>
              </c:pt>
              <c:pt idx="2">
                <c:v>196.94999988000001</c:v>
              </c:pt>
              <c:pt idx="3">
                <c:v>196.95000019679998</c:v>
              </c:pt>
              <c:pt idx="4">
                <c:v>196.95000019679998</c:v>
              </c:pt>
              <c:pt idx="5">
                <c:v>196.94999988000001</c:v>
              </c:pt>
              <c:pt idx="6">
                <c:v>196.95000019679998</c:v>
              </c:pt>
              <c:pt idx="7">
                <c:v>196.94999988000001</c:v>
              </c:pt>
              <c:pt idx="8">
                <c:v>196.95000019679998</c:v>
              </c:pt>
              <c:pt idx="9">
                <c:v>196.95000019679998</c:v>
              </c:pt>
              <c:pt idx="10">
                <c:v>196.95000011760001</c:v>
              </c:pt>
              <c:pt idx="11">
                <c:v>196.95000019679998</c:v>
              </c:pt>
            </c:numLit>
          </c:val>
          <c:extLst>
            <c:ext xmlns:c16="http://schemas.microsoft.com/office/drawing/2014/chart" uri="{C3380CC4-5D6E-409C-BE32-E72D297353CC}">
              <c16:uniqueId val="{00000000-D6B2-A14C-AEA3-E7B8459F5C57}"/>
            </c:ext>
          </c:extLst>
        </c:ser>
        <c:ser>
          <c:idx val="1"/>
          <c:order val="1"/>
          <c:tx>
            <c:v>io1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D6B2-A14C-AEA3-E7B8459F5C57}"/>
            </c:ext>
          </c:extLst>
        </c:ser>
        <c:ser>
          <c:idx val="2"/>
          <c:order val="2"/>
          <c:tx>
            <c:v>gp3</c:v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4879337673906201"/>
                  <c:y val="-0.385339932878823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6B2-A14C-AEA3-E7B8459F5C57}"/>
                </c:ext>
              </c:extLst>
            </c:dLbl>
            <c:dLbl>
              <c:idx val="5"/>
              <c:layout>
                <c:manualLayout>
                  <c:x val="0.13276947462870142"/>
                  <c:y val="-0.4188477531291555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6B2-A14C-AEA3-E7B8459F5C57}"/>
                </c:ext>
              </c:extLst>
            </c:dLbl>
            <c:dLbl>
              <c:idx val="11"/>
              <c:layout>
                <c:manualLayout>
                  <c:x val="-0.10758905702670656"/>
                  <c:y val="-0.363001386045268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6B2-A14C-AEA3-E7B8459F5C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16197.6264770247</c:v>
              </c:pt>
              <c:pt idx="1">
                <c:v>17881.0670738708</c:v>
              </c:pt>
              <c:pt idx="2">
                <c:v>23076.200422510599</c:v>
              </c:pt>
              <c:pt idx="3">
                <c:v>24323.1831099138</c:v>
              </c:pt>
              <c:pt idx="4">
                <c:v>27672.9922545544</c:v>
              </c:pt>
              <c:pt idx="5">
                <c:v>27941.675565332698</c:v>
              </c:pt>
              <c:pt idx="6">
                <c:v>27684.728488582401</c:v>
              </c:pt>
              <c:pt idx="7">
                <c:v>25467.1670789362</c:v>
              </c:pt>
              <c:pt idx="8">
                <c:v>17449.786389711502</c:v>
              </c:pt>
              <c:pt idx="9">
                <c:v>17828.461486661901</c:v>
              </c:pt>
              <c:pt idx="10">
                <c:v>18191.547436229099</c:v>
              </c:pt>
              <c:pt idx="11">
                <c:v>19516.298169992497</c:v>
              </c:pt>
            </c:numLit>
          </c:val>
          <c:extLst>
            <c:ext xmlns:c16="http://schemas.microsoft.com/office/drawing/2014/chart" uri="{C3380CC4-5D6E-409C-BE32-E72D297353CC}">
              <c16:uniqueId val="{00000002-D6B2-A14C-AEA3-E7B8459F5C57}"/>
            </c:ext>
          </c:extLst>
        </c:ser>
        <c:ser>
          <c:idx val="3"/>
          <c:order val="3"/>
          <c:tx>
            <c:v>gp2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3963686124742744"/>
                  <c:y val="-0.3350782025033243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6B2-A14C-AEA3-E7B8459F5C57}"/>
                </c:ext>
              </c:extLst>
            </c:dLbl>
            <c:dLbl>
              <c:idx val="5"/>
              <c:layout>
                <c:manualLayout>
                  <c:x val="0.13048034575579293"/>
                  <c:y val="-0.2624779252942707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6B2-A14C-AEA3-E7B8459F5C57}"/>
                </c:ext>
              </c:extLst>
            </c:dLbl>
            <c:dLbl>
              <c:idx val="11"/>
              <c:layout>
                <c:manualLayout>
                  <c:x val="-0.10758905702670656"/>
                  <c:y val="-0.3015703822529919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6B2-A14C-AEA3-E7B8459F5C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7759.7615773997995</c:v>
              </c:pt>
              <c:pt idx="1">
                <c:v>8049.4179921836003</c:v>
              </c:pt>
              <c:pt idx="2">
                <c:v>7769.8545587261005</c:v>
              </c:pt>
              <c:pt idx="3">
                <c:v>7774.7477177695</c:v>
              </c:pt>
              <c:pt idx="4">
                <c:v>7775.1569136653006</c:v>
              </c:pt>
              <c:pt idx="5">
                <c:v>7423.4467604442007</c:v>
              </c:pt>
              <c:pt idx="6">
                <c:v>5958.6972386923999</c:v>
              </c:pt>
              <c:pt idx="7">
                <c:v>5863.8121582241001</c:v>
              </c:pt>
              <c:pt idx="8">
                <c:v>4898.5908537455998</c:v>
              </c:pt>
              <c:pt idx="9">
                <c:v>4606.5558111894998</c:v>
              </c:pt>
              <c:pt idx="10">
                <c:v>4674.6000540506002</c:v>
              </c:pt>
              <c:pt idx="11">
                <c:v>4677.0065561395995</c:v>
              </c:pt>
            </c:numLit>
          </c:val>
          <c:extLst>
            <c:ext xmlns:c16="http://schemas.microsoft.com/office/drawing/2014/chart" uri="{C3380CC4-5D6E-409C-BE32-E72D297353CC}">
              <c16:uniqueId val="{00000003-D6B2-A14C-AEA3-E7B8459F5C57}"/>
            </c:ext>
          </c:extLst>
        </c:ser>
        <c:ser>
          <c:idx val="4"/>
          <c:order val="4"/>
          <c:tx>
            <c:v>st1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4-D6B2-A14C-AEA3-E7B8459F5C57}"/>
            </c:ext>
          </c:extLst>
        </c:ser>
        <c:ser>
          <c:idx val="5"/>
          <c:order val="5"/>
          <c:tx>
            <c:v>sc1</c:v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5-D6B2-A14C-AEA3-E7B8459F5C57}"/>
            </c:ext>
          </c:extLst>
        </c:ser>
        <c:ser>
          <c:idx val="6"/>
          <c:order val="6"/>
          <c:tx>
            <c:v>Magnetic</c:v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6-D6B2-A14C-AEA3-E7B8459F5C57}"/>
            </c:ext>
          </c:extLst>
        </c:ser>
        <c:ser>
          <c:idx val="7"/>
          <c:order val="7"/>
          <c:tx>
            <c:v>Snapshots</c:v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0</c:formatCode>
              <c:ptCount val="12"/>
              <c:pt idx="0">
                <c:v>150.85995656700001</c:v>
              </c:pt>
              <c:pt idx="1">
                <c:v>150.85995653790002</c:v>
              </c:pt>
              <c:pt idx="2">
                <c:v>150.85995656700001</c:v>
              </c:pt>
              <c:pt idx="3">
                <c:v>150.85995653790002</c:v>
              </c:pt>
              <c:pt idx="4">
                <c:v>150.8720789731</c:v>
              </c:pt>
              <c:pt idx="5">
                <c:v>151.02595940910001</c:v>
              </c:pt>
              <c:pt idx="6">
                <c:v>151.1281075718</c:v>
              </c:pt>
              <c:pt idx="7">
                <c:v>151.12750424309999</c:v>
              </c:pt>
              <c:pt idx="8">
                <c:v>151.12565477890001</c:v>
              </c:pt>
              <c:pt idx="9">
                <c:v>158.93380198840001</c:v>
              </c:pt>
              <c:pt idx="10">
                <c:v>175.93473685020001</c:v>
              </c:pt>
              <c:pt idx="11">
                <c:v>175.93473681170002</c:v>
              </c:pt>
            </c:numLit>
          </c:val>
          <c:extLst>
            <c:ext xmlns:c16="http://schemas.microsoft.com/office/drawing/2014/chart" uri="{C3380CC4-5D6E-409C-BE32-E72D297353CC}">
              <c16:uniqueId val="{00000007-D6B2-A14C-AEA3-E7B8459F5C57}"/>
            </c:ext>
          </c:extLst>
        </c:ser>
        <c:ser>
          <c:idx val="8"/>
          <c:order val="8"/>
          <c:tx>
            <c:v>Savings</c:v>
          </c:tx>
          <c:spPr>
            <a:pattFill prst="dk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3998.1066193281749</c:v>
              </c:pt>
              <c:pt idx="1">
                <c:v>4418.9667685445002</c:v>
              </c:pt>
              <c:pt idx="2">
                <c:v>5717.7501056996498</c:v>
              </c:pt>
              <c:pt idx="3">
                <c:v>6029.4957775552502</c:v>
              </c:pt>
              <c:pt idx="4">
                <c:v>6833.1486707704498</c:v>
              </c:pt>
              <c:pt idx="5">
                <c:v>6899.9188914771748</c:v>
              </c:pt>
              <c:pt idx="6">
                <c:v>6835.6821223232</c:v>
              </c:pt>
              <c:pt idx="7">
                <c:v>6286.3197774822002</c:v>
              </c:pt>
              <c:pt idx="8">
                <c:v>4294.0465976294754</c:v>
              </c:pt>
              <c:pt idx="9">
                <c:v>4388.7153718670752</c:v>
              </c:pt>
              <c:pt idx="10">
                <c:v>4478.5778075228245</c:v>
              </c:pt>
              <c:pt idx="11">
                <c:v>4776.4745428005244</c:v>
              </c:pt>
            </c:numLit>
          </c:val>
          <c:extLst>
            <c:ext xmlns:c16="http://schemas.microsoft.com/office/drawing/2014/chart" uri="{C3380CC4-5D6E-409C-BE32-E72D297353CC}">
              <c16:uniqueId val="{00000008-D6B2-A14C-AEA3-E7B8459F5C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525567"/>
        <c:axId val="76535295"/>
      </c:barChart>
      <c:dateAx>
        <c:axId val="20525567"/>
        <c:scaling>
          <c:orientation val="minMax"/>
        </c:scaling>
        <c:delete val="0"/>
        <c:axPos val="b"/>
        <c:numFmt formatCode="[$-409]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76535295"/>
        <c:crosses val="autoZero"/>
        <c:auto val="0"/>
        <c:lblOffset val="100"/>
        <c:baseTimeUnit val="months"/>
        <c:majorUnit val="1"/>
        <c:majorTimeUnit val="months"/>
      </c:dateAx>
      <c:valAx>
        <c:axId val="76535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&quot;$&quot;#,##0,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+mn-cs"/>
              </a:defRPr>
            </a:pPr>
            <a:endParaRPr lang="ko-KR"/>
          </a:p>
        </c:txPr>
        <c:crossAx val="20525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76655251141552516"/>
          <c:w val="0.99027899078117421"/>
          <c:h val="0.233447446575309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b="1" i="0">
          <a:solidFill>
            <a:schemeClr val="tx1"/>
          </a:solidFill>
          <a:latin typeface="NanumSquareOTF Bold" panose="020B0600000101010101" pitchFamily="34" charset="-127"/>
          <a:ea typeface="NanumSquareOTF Bold" panose="020B0600000101010101" pitchFamily="34" charset="-127"/>
        </a:defRPr>
      </a:pPr>
      <a:endParaRPr lang="ko-KR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Provisioned IOPS (io2)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449.99999971199998</c:v>
              </c:pt>
              <c:pt idx="1">
                <c:v>450.0000001656</c:v>
              </c:pt>
              <c:pt idx="2">
                <c:v>449.99999971199998</c:v>
              </c:pt>
              <c:pt idx="3">
                <c:v>450.0000001656</c:v>
              </c:pt>
              <c:pt idx="4">
                <c:v>450.0000001656</c:v>
              </c:pt>
              <c:pt idx="5">
                <c:v>449.99999971199998</c:v>
              </c:pt>
              <c:pt idx="6">
                <c:v>450.0000001656</c:v>
              </c:pt>
              <c:pt idx="7">
                <c:v>449.99999971199998</c:v>
              </c:pt>
              <c:pt idx="8">
                <c:v>450.0000001656</c:v>
              </c:pt>
              <c:pt idx="9">
                <c:v>450.0000001656</c:v>
              </c:pt>
              <c:pt idx="10">
                <c:v>450.00000025199995</c:v>
              </c:pt>
              <c:pt idx="11">
                <c:v>450.0000001656</c:v>
              </c:pt>
            </c:numLit>
          </c:val>
          <c:extLst>
            <c:ext xmlns:c16="http://schemas.microsoft.com/office/drawing/2014/chart" uri="{C3380CC4-5D6E-409C-BE32-E72D297353CC}">
              <c16:uniqueId val="{00000000-470F-FC47-8D90-6B3E364FFBFA}"/>
            </c:ext>
          </c:extLst>
        </c:ser>
        <c:ser>
          <c:idx val="1"/>
          <c:order val="1"/>
          <c:tx>
            <c:v>Provisioned IOPS (io1)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470F-FC47-8D90-6B3E364FFBFA}"/>
            </c:ext>
          </c:extLst>
        </c:ser>
        <c:ser>
          <c:idx val="2"/>
          <c:order val="2"/>
          <c:tx>
            <c:v>General Purpose (gp3)</c:v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1216731477252367"/>
                  <c:y val="-0.472964355496150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70F-FC47-8D90-6B3E364FFBFA}"/>
                </c:ext>
              </c:extLst>
            </c:dLbl>
            <c:dLbl>
              <c:idx val="5"/>
              <c:layout>
                <c:manualLayout>
                  <c:x val="0.10758905702670639"/>
                  <c:y val="-0.4276116090787117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70F-FC47-8D90-6B3E364FFBFA}"/>
                </c:ext>
              </c:extLst>
            </c:dLbl>
            <c:dLbl>
              <c:idx val="11"/>
              <c:layout>
                <c:manualLayout>
                  <c:x val="-0.13048034575579284"/>
                  <c:y val="-0.3757798988873527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70F-FC47-8D90-6B3E364FFB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175119.06171971239</c:v>
              </c:pt>
              <c:pt idx="1">
                <c:v>193563.07313909708</c:v>
              </c:pt>
              <c:pt idx="2">
                <c:v>250515.8698678971</c:v>
              </c:pt>
              <c:pt idx="3">
                <c:v>264205.79928077105</c:v>
              </c:pt>
              <c:pt idx="4">
                <c:v>299443.72251975257</c:v>
              </c:pt>
              <c:pt idx="5">
                <c:v>302338.6563190436</c:v>
              </c:pt>
              <c:pt idx="6">
                <c:v>299512.15537305304</c:v>
              </c:pt>
              <c:pt idx="7">
                <c:v>275429.42682498699</c:v>
              </c:pt>
              <c:pt idx="8">
                <c:v>188056.77565075411</c:v>
              </c:pt>
              <c:pt idx="9">
                <c:v>192234.45641869205</c:v>
              </c:pt>
              <c:pt idx="10">
                <c:v>196202.58886297091</c:v>
              </c:pt>
              <c:pt idx="11">
                <c:v>209323.37101726653</c:v>
              </c:pt>
            </c:numLit>
          </c:val>
          <c:extLst>
            <c:ext xmlns:c16="http://schemas.microsoft.com/office/drawing/2014/chart" uri="{C3380CC4-5D6E-409C-BE32-E72D297353CC}">
              <c16:uniqueId val="{00000002-470F-FC47-8D90-6B3E364FFBFA}"/>
            </c:ext>
          </c:extLst>
        </c:ser>
        <c:ser>
          <c:idx val="3"/>
          <c:order val="3"/>
          <c:tx>
            <c:v>General Purpose (gp2)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1216731477252367"/>
                  <c:y val="-0.343385080017753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70F-FC47-8D90-6B3E364FFBFA}"/>
                </c:ext>
              </c:extLst>
            </c:dLbl>
            <c:dLbl>
              <c:idx val="5"/>
              <c:layout>
                <c:manualLayout>
                  <c:x val="0.10987818589961502"/>
                  <c:y val="-0.1360582392523173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70F-FC47-8D90-6B3E364FFBFA}"/>
                </c:ext>
              </c:extLst>
            </c:dLbl>
            <c:dLbl>
              <c:idx val="11"/>
              <c:layout>
                <c:manualLayout>
                  <c:x val="-0.13505860350161014"/>
                  <c:y val="-0.2397216596350354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70F-FC47-8D90-6B3E364FFB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68046.855952321697</c:v>
              </c:pt>
              <c:pt idx="1">
                <c:v>70594.983601658503</c:v>
              </c:pt>
              <c:pt idx="2">
                <c:v>68156.35021790929</c:v>
              </c:pt>
              <c:pt idx="3">
                <c:v>68199.217256311895</c:v>
              </c:pt>
              <c:pt idx="4">
                <c:v>68203.411520806898</c:v>
              </c:pt>
              <c:pt idx="5">
                <c:v>65118.234738371102</c:v>
              </c:pt>
              <c:pt idx="6">
                <c:v>52269.55472663269</c:v>
              </c:pt>
              <c:pt idx="7">
                <c:v>51434.753694974002</c:v>
              </c:pt>
              <c:pt idx="8">
                <c:v>42961.954859883794</c:v>
              </c:pt>
              <c:pt idx="9">
                <c:v>40397.487408495297</c:v>
              </c:pt>
              <c:pt idx="10">
                <c:v>40992.299079176999</c:v>
              </c:pt>
              <c:pt idx="11">
                <c:v>41013.938527536098</c:v>
              </c:pt>
            </c:numLit>
          </c:val>
          <c:extLst>
            <c:ext xmlns:c16="http://schemas.microsoft.com/office/drawing/2014/chart" uri="{C3380CC4-5D6E-409C-BE32-E72D297353CC}">
              <c16:uniqueId val="{00000003-470F-FC47-8D90-6B3E364FFBFA}"/>
            </c:ext>
          </c:extLst>
        </c:ser>
        <c:ser>
          <c:idx val="4"/>
          <c:order val="4"/>
          <c:tx>
            <c:v>Throughput Optimized (st1)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4-470F-FC47-8D90-6B3E364FFBFA}"/>
            </c:ext>
          </c:extLst>
        </c:ser>
        <c:ser>
          <c:idx val="5"/>
          <c:order val="5"/>
          <c:tx>
            <c:v>Cold Storage (sc1)</c:v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5-470F-FC47-8D90-6B3E364FFBFA}"/>
            </c:ext>
          </c:extLst>
        </c:ser>
        <c:ser>
          <c:idx val="6"/>
          <c:order val="6"/>
          <c:tx>
            <c:v>Magnetic</c:v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General</c:formatCode>
              <c:ptCount val="12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6-470F-FC47-8D90-6B3E364FFBFA}"/>
            </c:ext>
          </c:extLst>
        </c:ser>
        <c:ser>
          <c:idx val="7"/>
          <c:order val="7"/>
          <c:tx>
            <c:v>Snapshots</c:v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156515491634586E-3"/>
                  <c:y val="-0.27211647850463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70F-FC47-8D90-6B3E364FFBFA}"/>
                </c:ext>
              </c:extLst>
            </c:dLbl>
            <c:dLbl>
              <c:idx val="11"/>
              <c:layout>
                <c:manualLayout>
                  <c:x val="9.156515491634586E-3"/>
                  <c:y val="-0.2332426958611155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70F-FC47-8D90-6B3E364FFB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General</c:formatCode>
              <c:ptCount val="12"/>
              <c:pt idx="0">
                <c:v>45017</c:v>
              </c:pt>
              <c:pt idx="1">
                <c:v>45047</c:v>
              </c:pt>
              <c:pt idx="2">
                <c:v>45078</c:v>
              </c:pt>
              <c:pt idx="3">
                <c:v>45108</c:v>
              </c:pt>
              <c:pt idx="4">
                <c:v>45139</c:v>
              </c:pt>
              <c:pt idx="5">
                <c:v>45170</c:v>
              </c:pt>
              <c:pt idx="6">
                <c:v>45200</c:v>
              </c:pt>
              <c:pt idx="7">
                <c:v>45231</c:v>
              </c:pt>
              <c:pt idx="8">
                <c:v>45261</c:v>
              </c:pt>
              <c:pt idx="9">
                <c:v>45292</c:v>
              </c:pt>
              <c:pt idx="10">
                <c:v>45323</c:v>
              </c:pt>
              <c:pt idx="11">
                <c:v>45352</c:v>
              </c:pt>
            </c:numLit>
          </c:cat>
          <c:val>
            <c:numLit>
              <c:formatCode>#,##0</c:formatCode>
              <c:ptCount val="12"/>
              <c:pt idx="0">
                <c:v>3004.6723633230004</c:v>
              </c:pt>
              <c:pt idx="1">
                <c:v>3004.6723632794997</c:v>
              </c:pt>
              <c:pt idx="2">
                <c:v>3004.6723633230004</c:v>
              </c:pt>
              <c:pt idx="3">
                <c:v>3004.6723632794997</c:v>
              </c:pt>
              <c:pt idx="4">
                <c:v>3004.9148119836</c:v>
              </c:pt>
              <c:pt idx="5">
                <c:v>3007.9924201524</c:v>
              </c:pt>
              <c:pt idx="6">
                <c:v>3010.0353839825998</c:v>
              </c:pt>
              <c:pt idx="7">
                <c:v>3010.0233168260002</c:v>
              </c:pt>
              <c:pt idx="8">
                <c:v>3009.9863281242997</c:v>
              </c:pt>
              <c:pt idx="9">
                <c:v>3166.1492723027</c:v>
              </c:pt>
              <c:pt idx="10">
                <c:v>3506.1679687615997</c:v>
              </c:pt>
              <c:pt idx="11">
                <c:v>3506.1679687492997</c:v>
              </c:pt>
            </c:numLit>
          </c:val>
          <c:extLst>
            <c:ext xmlns:c16="http://schemas.microsoft.com/office/drawing/2014/chart" uri="{C3380CC4-5D6E-409C-BE32-E72D297353CC}">
              <c16:uniqueId val="{00000007-470F-FC47-8D90-6B3E364FF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309439"/>
        <c:axId val="35272943"/>
      </c:barChart>
      <c:dateAx>
        <c:axId val="19309439"/>
        <c:scaling>
          <c:orientation val="minMax"/>
        </c:scaling>
        <c:delete val="0"/>
        <c:axPos val="b"/>
        <c:numFmt formatCode="[$-409]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5272943"/>
        <c:crosses val="autoZero"/>
        <c:auto val="0"/>
        <c:lblOffset val="100"/>
        <c:baseTimeUnit val="months"/>
        <c:majorUnit val="1"/>
        <c:majorTimeUnit val="months"/>
      </c:dateAx>
      <c:valAx>
        <c:axId val="35272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#,##0&quot; GB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193094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ko-KR"/>
    </a:p>
  </c:txPr>
  <c:externalData r:id="rId4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EBS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7345569370201684E-17"/>
                  <c:y val="7.90127981502973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04A-474D-BAF9-4179F2595308}"/>
                </c:ext>
              </c:extLst>
            </c:dLbl>
            <c:dLbl>
              <c:idx val="5"/>
              <c:layout>
                <c:manualLayout>
                  <c:x val="-9.0388040228676747E-2"/>
                  <c:y val="9.33787614503513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4A-474D-BAF9-4179F25953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mmm\-yyyy</c:formatCode>
              <c:ptCount val="6"/>
              <c:pt idx="0">
                <c:v>45200</c:v>
              </c:pt>
              <c:pt idx="1">
                <c:v>45231</c:v>
              </c:pt>
              <c:pt idx="2">
                <c:v>45261</c:v>
              </c:pt>
              <c:pt idx="3">
                <c:v>45292</c:v>
              </c:pt>
              <c:pt idx="4">
                <c:v>45323</c:v>
              </c:pt>
              <c:pt idx="5">
                <c:v>45352</c:v>
              </c:pt>
            </c:numLit>
          </c:cat>
          <c:val>
            <c:numLit>
              <c:formatCode>0</c:formatCode>
              <c:ptCount val="6"/>
              <c:pt idx="0">
                <c:v>33840.37572747159</c:v>
              </c:pt>
              <c:pt idx="1">
                <c:v>31527.929237040298</c:v>
              </c:pt>
              <c:pt idx="2">
                <c:v>22545.327243653901</c:v>
              </c:pt>
              <c:pt idx="3">
                <c:v>22631.967298048203</c:v>
              </c:pt>
              <c:pt idx="4">
                <c:v>23063.0974903973</c:v>
              </c:pt>
              <c:pt idx="5">
                <c:v>24390.254726328898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204A-474D-BAF9-4179F2595308}"/>
            </c:ext>
          </c:extLst>
        </c:ser>
        <c:ser>
          <c:idx val="1"/>
          <c:order val="1"/>
          <c:tx>
            <c:v>EBS Snapshot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Lit>
              <c:formatCode>mmm\-yyyy</c:formatCode>
              <c:ptCount val="6"/>
              <c:pt idx="0">
                <c:v>45200</c:v>
              </c:pt>
              <c:pt idx="1">
                <c:v>45231</c:v>
              </c:pt>
              <c:pt idx="2">
                <c:v>45261</c:v>
              </c:pt>
              <c:pt idx="3">
                <c:v>45292</c:v>
              </c:pt>
              <c:pt idx="4">
                <c:v>45323</c:v>
              </c:pt>
              <c:pt idx="5">
                <c:v>45352</c:v>
              </c:pt>
            </c:numLit>
          </c:cat>
          <c:val>
            <c:numLit>
              <c:formatCode>0</c:formatCode>
              <c:ptCount val="6"/>
              <c:pt idx="0">
                <c:v>151.1281075718</c:v>
              </c:pt>
              <c:pt idx="1">
                <c:v>151.12750424309999</c:v>
              </c:pt>
              <c:pt idx="2">
                <c:v>151.12565477890001</c:v>
              </c:pt>
              <c:pt idx="3">
                <c:v>158.93380198840001</c:v>
              </c:pt>
              <c:pt idx="4">
                <c:v>175.93473685020001</c:v>
              </c:pt>
              <c:pt idx="5">
                <c:v>175.93473681170002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204A-474D-BAF9-4179F2595308}"/>
            </c:ext>
          </c:extLst>
        </c:ser>
        <c:ser>
          <c:idx val="2"/>
          <c:order val="2"/>
          <c:tx>
            <c:v>EFS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Lit>
              <c:formatCode>mmm\-yyyy</c:formatCode>
              <c:ptCount val="6"/>
              <c:pt idx="0">
                <c:v>45200</c:v>
              </c:pt>
              <c:pt idx="1">
                <c:v>45231</c:v>
              </c:pt>
              <c:pt idx="2">
                <c:v>45261</c:v>
              </c:pt>
              <c:pt idx="3">
                <c:v>45292</c:v>
              </c:pt>
              <c:pt idx="4">
                <c:v>45323</c:v>
              </c:pt>
              <c:pt idx="5">
                <c:v>45352</c:v>
              </c:pt>
            </c:numLit>
          </c:cat>
          <c:val>
            <c:numLit>
              <c:formatCode>General</c:formatCode>
              <c:ptCount val="6"/>
              <c:pt idx="0">
                <c:v>1332.0312069720001</c:v>
              </c:pt>
              <c:pt idx="1">
                <c:v>1332.031207104</c:v>
              </c:pt>
              <c:pt idx="2">
                <c:v>1332.0312069720001</c:v>
              </c:pt>
              <c:pt idx="3">
                <c:v>1332.0312069720001</c:v>
              </c:pt>
              <c:pt idx="4">
                <c:v>1332.0312068664</c:v>
              </c:pt>
              <c:pt idx="5">
                <c:v>1332.0312069720001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204A-474D-BAF9-4179F25953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1305920"/>
        <c:axId val="2091307552"/>
      </c:lineChart>
      <c:lineChart>
        <c:grouping val="standard"/>
        <c:varyColors val="0"/>
        <c:ser>
          <c:idx val="3"/>
          <c:order val="3"/>
          <c:tx>
            <c:v>EC2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4.7345569370201684E-17"/>
                  <c:y val="-4.30978899001622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04A-474D-BAF9-4179F2595308}"/>
                </c:ext>
              </c:extLst>
            </c:dLbl>
            <c:dLbl>
              <c:idx val="5"/>
              <c:layout>
                <c:manualLayout>
                  <c:x val="-0.1472033798009878"/>
                  <c:y val="-3.5914908250135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04A-474D-BAF9-4179F25953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Lit>
              <c:formatCode>mmm\-yyyy</c:formatCode>
              <c:ptCount val="6"/>
              <c:pt idx="0">
                <c:v>45200</c:v>
              </c:pt>
              <c:pt idx="1">
                <c:v>45231</c:v>
              </c:pt>
              <c:pt idx="2">
                <c:v>45261</c:v>
              </c:pt>
              <c:pt idx="3">
                <c:v>45292</c:v>
              </c:pt>
              <c:pt idx="4">
                <c:v>45323</c:v>
              </c:pt>
              <c:pt idx="5">
                <c:v>45352</c:v>
              </c:pt>
            </c:numLit>
          </c:cat>
          <c:val>
            <c:numLit>
              <c:formatCode>0</c:formatCode>
              <c:ptCount val="6"/>
              <c:pt idx="0">
                <c:v>402986.72460591153</c:v>
              </c:pt>
              <c:pt idx="1">
                <c:v>405066.08197417273</c:v>
              </c:pt>
              <c:pt idx="2">
                <c:v>404391.88133581169</c:v>
              </c:pt>
              <c:pt idx="3">
                <c:v>431657.12530127924</c:v>
              </c:pt>
              <c:pt idx="4">
                <c:v>431719.3974213007</c:v>
              </c:pt>
              <c:pt idx="5">
                <c:v>447169.67114309425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3-204A-474D-BAF9-4179F25953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0993152"/>
        <c:axId val="1635459056"/>
      </c:lineChart>
      <c:dateAx>
        <c:axId val="2091305920"/>
        <c:scaling>
          <c:orientation val="minMax"/>
        </c:scaling>
        <c:delete val="0"/>
        <c:axPos val="b"/>
        <c:numFmt formatCode="[$-409]mmm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2091307552"/>
        <c:crosses val="autoZero"/>
        <c:auto val="0"/>
        <c:lblOffset val="100"/>
        <c:baseTimeUnit val="months"/>
      </c:dateAx>
      <c:valAx>
        <c:axId val="2091307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mazon Ember Light" panose="020B0403020204020204" pitchFamily="34" charset="0"/>
                    <a:ea typeface="Amazon Ember Light" panose="020B0403020204020204" pitchFamily="34" charset="0"/>
                    <a:cs typeface="Amazon Ember Light" panose="020B0403020204020204" pitchFamily="34" charset="0"/>
                  </a:defRPr>
                </a:pPr>
                <a:r>
                  <a:rPr lang="en-GB" b="0" i="0">
                    <a:latin typeface="Amazon Ember Light" panose="020B0403020204020204" pitchFamily="34" charset="0"/>
                    <a:ea typeface="Amazon Ember Light" panose="020B0403020204020204" pitchFamily="34" charset="0"/>
                    <a:cs typeface="Amazon Ember Light" panose="020B0403020204020204" pitchFamily="34" charset="0"/>
                  </a:rPr>
                  <a:t>Storage</a:t>
                </a:r>
                <a:r>
                  <a:rPr lang="en-GB" b="0" i="0" baseline="0">
                    <a:latin typeface="Amazon Ember Light" panose="020B0403020204020204" pitchFamily="34" charset="0"/>
                    <a:ea typeface="Amazon Ember Light" panose="020B0403020204020204" pitchFamily="34" charset="0"/>
                    <a:cs typeface="Amazon Ember Light" panose="020B0403020204020204" pitchFamily="34" charset="0"/>
                  </a:rPr>
                  <a:t> USD</a:t>
                </a:r>
                <a:endParaRPr lang="en-GB" b="0" i="0">
                  <a:latin typeface="Amazon Ember Light" panose="020B0403020204020204" pitchFamily="34" charset="0"/>
                  <a:ea typeface="Amazon Ember Light" panose="020B0403020204020204" pitchFamily="34" charset="0"/>
                  <a:cs typeface="Amazon Ember Light" panose="020B0403020204020204" pitchFamily="34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Amazon Ember Light" panose="020B0403020204020204" pitchFamily="34" charset="0"/>
                  <a:ea typeface="Amazon Ember Light" panose="020B0403020204020204" pitchFamily="34" charset="0"/>
                  <a:cs typeface="Amazon Ember Light" panose="020B0403020204020204" pitchFamily="34" charset="0"/>
                </a:defRPr>
              </a:pPr>
              <a:endParaRPr lang="ko-KR"/>
            </a:p>
          </c:txPr>
        </c:title>
        <c:numFmt formatCode="&quot;$&quot;#,##0,&quot;k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2091305920"/>
        <c:crosses val="autoZero"/>
        <c:crossBetween val="between"/>
      </c:valAx>
      <c:valAx>
        <c:axId val="163545905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mazon Ember Light" panose="020B0403020204020204" pitchFamily="34" charset="0"/>
                    <a:ea typeface="Amazon Ember Light" panose="020B0403020204020204" pitchFamily="34" charset="0"/>
                    <a:cs typeface="Amazon Ember Light" panose="020B0403020204020204" pitchFamily="34" charset="0"/>
                  </a:defRPr>
                </a:pPr>
                <a:r>
                  <a:rPr lang="en-GB" b="0" i="0">
                    <a:latin typeface="Amazon Ember Light" panose="020B0403020204020204" pitchFamily="34" charset="0"/>
                    <a:ea typeface="Amazon Ember Light" panose="020B0403020204020204" pitchFamily="34" charset="0"/>
                    <a:cs typeface="Amazon Ember Light" panose="020B0403020204020204" pitchFamily="34" charset="0"/>
                  </a:rPr>
                  <a:t>EC2 USD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Amazon Ember Light" panose="020B0403020204020204" pitchFamily="34" charset="0"/>
                  <a:ea typeface="Amazon Ember Light" panose="020B0403020204020204" pitchFamily="34" charset="0"/>
                  <a:cs typeface="Amazon Ember Light" panose="020B0403020204020204" pitchFamily="34" charset="0"/>
                </a:defRPr>
              </a:pPr>
              <a:endParaRPr lang="ko-KR"/>
            </a:p>
          </c:txPr>
        </c:title>
        <c:numFmt formatCode="&quot;$&quot;#,##0,&quot;k&quot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defRPr>
            </a:pPr>
            <a:endParaRPr lang="ko-KR"/>
          </a:p>
        </c:txPr>
        <c:crossAx val="1610993152"/>
        <c:crosses val="max"/>
        <c:crossBetween val="between"/>
      </c:valAx>
      <c:dateAx>
        <c:axId val="1610993152"/>
        <c:scaling>
          <c:orientation val="minMax"/>
        </c:scaling>
        <c:delete val="1"/>
        <c:axPos val="b"/>
        <c:numFmt formatCode="mmm\-yyyy" sourceLinked="1"/>
        <c:majorTickMark val="out"/>
        <c:minorTickMark val="none"/>
        <c:tickLblPos val="nextTo"/>
        <c:crossAx val="1635459056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E26E0-60BC-9567-D228-A0C93AD20E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latin typeface="NanumSquareOTF Bold" panose="020B0600000101010101" pitchFamily="34" charset="-127"/>
                <a:ea typeface="굴림" panose="020B0600000101010101" pitchFamily="34" charset="-127"/>
              </a:defRPr>
            </a:lvl1pPr>
          </a:lstStyle>
          <a:p>
            <a:fld id="{C5B13ACA-BECE-8D46-83EB-BFAE9F2AAE3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2808B9C-9C3E-091D-B414-1A8D687D7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3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3343F2-A56B-9B7F-655A-EC730B3D9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9100" y="4197350"/>
            <a:ext cx="6000750" cy="432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8BE70-A94A-DF30-9EB5-F5932C5C0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latin typeface="NanumSquareOTF Bold" panose="020B0600000101010101" pitchFamily="34" charset="-127"/>
                <a:ea typeface="굴림" panose="020B0600000101010101" pitchFamily="34" charset="-127"/>
              </a:defRPr>
            </a:lvl1pPr>
          </a:lstStyle>
          <a:p>
            <a:fld id="{6E24AC62-FC75-3B4E-B2A8-2670C1705136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ts val="300"/>
      </a:spcAft>
      <a:defRPr sz="1200" b="1" kern="1200">
        <a:solidFill>
          <a:schemeClr val="tx1"/>
        </a:solidFill>
        <a:latin typeface="NanumSquareOTF Bold" panose="020B0600000101010101" pitchFamily="34" charset="-127"/>
        <a:ea typeface="+mn-ea"/>
        <a:cs typeface="+mn-cs"/>
      </a:defRPr>
    </a:lvl1pPr>
    <a:lvl2pPr marL="225425" indent="-106363" algn="l" rtl="0" fontAlgn="base">
      <a:spcBef>
        <a:spcPct val="30000"/>
      </a:spcBef>
      <a:spcAft>
        <a:spcPts val="300"/>
      </a:spcAft>
      <a:buFont typeface="Arial" panose="020B0604020202020204" pitchFamily="34" charset="0"/>
      <a:buChar char="•"/>
      <a:defRPr sz="1200" b="1" kern="1200">
        <a:solidFill>
          <a:schemeClr val="tx1"/>
        </a:solidFill>
        <a:latin typeface="NanumSquareOTF Bold" panose="020B0600000101010101" pitchFamily="34" charset="-127"/>
        <a:ea typeface="+mn-ea"/>
        <a:cs typeface="+mn-cs"/>
      </a:defRPr>
    </a:lvl2pPr>
    <a:lvl3pPr marL="463550" indent="-119063" algn="l" rtl="0" fontAlgn="base">
      <a:spcBef>
        <a:spcPct val="30000"/>
      </a:spcBef>
      <a:spcAft>
        <a:spcPts val="300"/>
      </a:spcAft>
      <a:buFont typeface="Arial" panose="020B0604020202020204" pitchFamily="34" charset="0"/>
      <a:buChar char="•"/>
      <a:defRPr sz="1200" b="1" kern="1200">
        <a:solidFill>
          <a:schemeClr val="tx1"/>
        </a:solidFill>
        <a:latin typeface="NanumSquareOTF Bold" panose="020B0600000101010101" pitchFamily="34" charset="-127"/>
        <a:ea typeface="+mn-ea"/>
        <a:cs typeface="+mn-cs"/>
      </a:defRPr>
    </a:lvl3pPr>
    <a:lvl4pPr marL="747713" indent="-119063" algn="l" rtl="0" fontAlgn="base">
      <a:spcBef>
        <a:spcPct val="30000"/>
      </a:spcBef>
      <a:spcAft>
        <a:spcPts val="300"/>
      </a:spcAft>
      <a:buFont typeface="Arial" panose="020B0604020202020204" pitchFamily="34" charset="0"/>
      <a:buChar char="•"/>
      <a:defRPr sz="1200" b="1" kern="1200">
        <a:solidFill>
          <a:schemeClr val="tx1"/>
        </a:solidFill>
        <a:latin typeface="NanumSquareOTF Bold" panose="020B0600000101010101" pitchFamily="34" charset="-127"/>
        <a:ea typeface="+mn-ea"/>
        <a:cs typeface="+mn-cs"/>
      </a:defRPr>
    </a:lvl4pPr>
    <a:lvl5pPr marL="973138" indent="-117475" algn="l" rtl="0" fontAlgn="base">
      <a:spcBef>
        <a:spcPct val="30000"/>
      </a:spcBef>
      <a:spcAft>
        <a:spcPts val="300"/>
      </a:spcAft>
      <a:buFont typeface="Arial" panose="020B0604020202020204" pitchFamily="34" charset="0"/>
      <a:buChar char="•"/>
      <a:defRPr sz="1200" b="1" kern="1200">
        <a:solidFill>
          <a:schemeClr val="tx1"/>
        </a:solidFill>
        <a:latin typeface="NanumSquareOTF Bold" panose="020B0600000101010101" pitchFamily="34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AZ</a:t>
            </a:r>
            <a:r>
              <a:rPr lang="ko-KR" altLang="en-US"/>
              <a:t>당 </a:t>
            </a:r>
            <a:r>
              <a:rPr lang="en-US" altLang="ko-KR"/>
              <a:t>150GB</a:t>
            </a:r>
          </a:p>
          <a:p>
            <a:r>
              <a:rPr lang="en-US"/>
              <a:t>- </a:t>
            </a:r>
            <a:r>
              <a:rPr lang="ko-KR" altLang="en-US"/>
              <a:t>라우팅 테이블 롤백을 통해서 장애 대응 가능</a:t>
            </a:r>
            <a:endParaRPr lang="en-US" altLang="ko-KR"/>
          </a:p>
          <a:p>
            <a:r>
              <a:rPr lang="en-US" altLang="ko-KR"/>
              <a:t>-</a:t>
            </a:r>
            <a:r>
              <a:rPr lang="ko-KR" altLang="en-US"/>
              <a:t> 특정 포트만 태우거나 할수는 없음</a:t>
            </a:r>
            <a:endParaRPr lang="en-US" altLang="ko-KR"/>
          </a:p>
          <a:p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Stateful </a:t>
            </a:r>
            <a:r>
              <a:rPr lang="ko-KR" altLang="en-US"/>
              <a:t>정책 </a:t>
            </a:r>
            <a:r>
              <a:rPr lang="en-US" altLang="ko-KR"/>
              <a:t>(IP, Domain (HTTP Host, SNI))</a:t>
            </a:r>
          </a:p>
          <a:p>
            <a:r>
              <a:rPr lang="en-US" altLang="ko-KR"/>
              <a:t>  - Domain </a:t>
            </a:r>
            <a:r>
              <a:rPr lang="ko-KR" altLang="en-US"/>
              <a:t>이용시 </a:t>
            </a:r>
            <a:r>
              <a:rPr lang="en-US" altLang="ko-KR"/>
              <a:t>DNS Base </a:t>
            </a:r>
            <a:r>
              <a:rPr lang="ko-KR" altLang="en-US"/>
              <a:t>기반 </a:t>
            </a:r>
            <a:r>
              <a:rPr lang="en-US" altLang="ko-KR"/>
              <a:t>Firewall </a:t>
            </a:r>
            <a:r>
              <a:rPr lang="ko-KR" altLang="en-US"/>
              <a:t>이용 권장</a:t>
            </a:r>
            <a:endParaRPr lang="en-US" altLang="ko-KR"/>
          </a:p>
          <a:p>
            <a:r>
              <a:rPr lang="ko-KR" altLang="en-US"/>
              <a:t> 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L7 </a:t>
            </a:r>
            <a:r>
              <a:rPr lang="ko-KR" altLang="en-US"/>
              <a:t>페이로드</a:t>
            </a:r>
            <a:endParaRPr lang="en-US" altLang="ko-KR"/>
          </a:p>
          <a:p>
            <a:r>
              <a:rPr lang="ko-KR" altLang="en-US"/>
              <a:t> 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ANFW </a:t>
            </a:r>
            <a:r>
              <a:rPr lang="ko-KR" altLang="en-US"/>
              <a:t>테스트 필요</a:t>
            </a:r>
            <a:endParaRPr lang="en-US" altLang="ko-KR"/>
          </a:p>
          <a:p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4AC62-FC75-3B4E-B2A8-2670C1705136}" type="slidenum">
              <a:rPr lang="en-US" altLang="ko-KR"/>
              <a:pPr/>
              <a:t>28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7388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AZ</a:t>
            </a:r>
            <a:r>
              <a:rPr lang="ko-KR" altLang="en-US"/>
              <a:t>당 </a:t>
            </a:r>
            <a:r>
              <a:rPr lang="en-US" altLang="ko-KR"/>
              <a:t>150GB</a:t>
            </a:r>
          </a:p>
          <a:p>
            <a:r>
              <a:rPr lang="en-US"/>
              <a:t>- </a:t>
            </a:r>
            <a:r>
              <a:rPr lang="ko-KR" altLang="en-US"/>
              <a:t>라우팅 테이블 롤백을 통해서 장애 대응 가능</a:t>
            </a:r>
            <a:endParaRPr lang="en-US" altLang="ko-KR"/>
          </a:p>
          <a:p>
            <a:r>
              <a:rPr lang="en-US" altLang="ko-KR"/>
              <a:t>-</a:t>
            </a:r>
            <a:r>
              <a:rPr lang="ko-KR" altLang="en-US"/>
              <a:t> 특정 포트만 태우거나 할수는 없음</a:t>
            </a:r>
            <a:endParaRPr lang="en-US" altLang="ko-KR"/>
          </a:p>
          <a:p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Stateful </a:t>
            </a:r>
            <a:r>
              <a:rPr lang="ko-KR" altLang="en-US"/>
              <a:t>정책 </a:t>
            </a:r>
            <a:r>
              <a:rPr lang="en-US" altLang="ko-KR"/>
              <a:t>(IP, Domain (HTTP Host, SNI))</a:t>
            </a:r>
          </a:p>
          <a:p>
            <a:r>
              <a:rPr lang="en-US" altLang="ko-KR"/>
              <a:t>  - Domain </a:t>
            </a:r>
            <a:r>
              <a:rPr lang="ko-KR" altLang="en-US"/>
              <a:t>이용시 </a:t>
            </a:r>
            <a:r>
              <a:rPr lang="en-US" altLang="ko-KR"/>
              <a:t>DNS Base </a:t>
            </a:r>
            <a:r>
              <a:rPr lang="ko-KR" altLang="en-US"/>
              <a:t>기반 </a:t>
            </a:r>
            <a:r>
              <a:rPr lang="en-US" altLang="ko-KR"/>
              <a:t>Firewall </a:t>
            </a:r>
            <a:r>
              <a:rPr lang="ko-KR" altLang="en-US"/>
              <a:t>이용 권장</a:t>
            </a:r>
            <a:endParaRPr lang="en-US" altLang="ko-KR"/>
          </a:p>
          <a:p>
            <a:r>
              <a:rPr lang="ko-KR" altLang="en-US"/>
              <a:t> 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L7 </a:t>
            </a:r>
            <a:r>
              <a:rPr lang="ko-KR" altLang="en-US"/>
              <a:t>페이로드</a:t>
            </a:r>
            <a:endParaRPr lang="en-US" altLang="ko-KR"/>
          </a:p>
          <a:p>
            <a:r>
              <a:rPr lang="ko-KR" altLang="en-US"/>
              <a:t> 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ANFW </a:t>
            </a:r>
            <a:r>
              <a:rPr lang="ko-KR" altLang="en-US"/>
              <a:t>테스트 필요</a:t>
            </a:r>
            <a:endParaRPr lang="en-US" altLang="ko-KR"/>
          </a:p>
          <a:p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4AC62-FC75-3B4E-B2A8-2670C1705136}" type="slidenum">
              <a:rPr lang="en-US" altLang="ko-KR"/>
              <a:pPr/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1639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ICMP </a:t>
            </a:r>
            <a:r>
              <a:rPr lang="ko-KR" altLang="en-US"/>
              <a:t>기준</a:t>
            </a:r>
            <a:endParaRPr lang="en-US" altLang="ko-KR"/>
          </a:p>
          <a:p>
            <a:r>
              <a:rPr lang="en-US"/>
              <a:t>TCP Handshake - </a:t>
            </a:r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4AC62-FC75-3B4E-B2A8-2670C1705136}" type="slidenum">
              <a:rPr lang="en-US" altLang="ko-KR"/>
              <a:pPr/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23472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8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3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>
            <a:extLst>
              <a:ext uri="{FF2B5EF4-FFF2-40B4-BE49-F238E27FC236}">
                <a16:creationId xmlns:a16="http://schemas.microsoft.com/office/drawing/2014/main" id="{6564FFB1-136A-FC17-1628-73963964AB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96763" cy="686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1A8FB1-7AE2-4164-F7A0-9EC6F314C66E}"/>
              </a:ext>
            </a:extLst>
          </p:cNvPr>
          <p:cNvSpPr txBox="1"/>
          <p:nvPr userDrawn="1"/>
        </p:nvSpPr>
        <p:spPr>
          <a:xfrm>
            <a:off x="504476" y="6389813"/>
            <a:ext cx="4081567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1" dirty="0">
                <a:latin typeface="NanumSquareOTF Bold" panose="020B0600000101010101" pitchFamily="34" charset="-127"/>
              </a:rPr>
              <a:t>© </a:t>
            </a:r>
            <a:fld id="{E59B6FD5-3D56-C643-A5C0-5E9DC034BBB5}" type="datetimeyyyy">
              <a:rPr lang="en-US" sz="600" b="1">
                <a:latin typeface="NanumSquareOTF Bold" panose="020B0600000101010101" pitchFamily="34" charset="-127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2024</a:t>
            </a:fld>
            <a:r>
              <a:rPr lang="en-US" sz="600" b="1" dirty="0">
                <a:latin typeface="NanumSquareOTF Bold" panose="020B0600000101010101" pitchFamily="34" charset="-127"/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2B526EF4-160B-2567-AFC9-15283190F4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550863"/>
            <a:ext cx="10033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09598" y="4349712"/>
            <a:ext cx="3797302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535531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09598" y="1729418"/>
            <a:ext cx="5135219" cy="361335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9FFCEA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609599" y="2126159"/>
            <a:ext cx="5486402" cy="757130"/>
          </a:xfrm>
        </p:spPr>
        <p:txBody>
          <a:bodyPr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09598" y="2906719"/>
            <a:ext cx="5486401" cy="535531"/>
          </a:xfrm>
        </p:spPr>
        <p:txBody>
          <a:bodyPr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109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/>
            </a:lvl1pPr>
            <a:lvl2pPr marL="0" indent="0">
              <a:spcAft>
                <a:spcPts val="3000"/>
              </a:spcAft>
              <a:buNone/>
              <a:defRPr sz="2400"/>
            </a:lvl2pPr>
            <a:lvl3pPr marL="0" indent="0">
              <a:spcAft>
                <a:spcPts val="3000"/>
              </a:spcAft>
              <a:buNone/>
              <a:defRPr sz="2400"/>
            </a:lvl3pPr>
            <a:lvl4pPr marL="0" indent="0">
              <a:spcAft>
                <a:spcPts val="3000"/>
              </a:spcAft>
              <a:buNone/>
              <a:defRPr sz="2400"/>
            </a:lvl4pPr>
            <a:lvl5pPr marL="0" indent="0">
              <a:spcAft>
                <a:spcPts val="3000"/>
              </a:spcAft>
              <a:buNone/>
              <a:defRPr sz="2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A180DE-E6C6-B755-0C68-216E27734C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625123-0BE0-0B49-AC9E-53D67095655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0292306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09F049D-3310-1359-4A4E-C8E56DC7E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B75CE15-64F5-BE42-A38D-D39AAC54C8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2182852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E39108-C157-C566-A5AC-4B86FDCC19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6337300"/>
            <a:ext cx="3651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94A3E01-DD0E-5462-BA3D-229057DD8F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B0D4876-4160-984F-8509-7BA67515B3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4049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Color set 3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E966D10-1C02-8B6F-4D6D-0E5CE8A3BE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8350" cy="686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8A5809-BFFF-5737-4458-17AD879ABC68}"/>
              </a:ext>
            </a:extLst>
          </p:cNvPr>
          <p:cNvSpPr txBox="1"/>
          <p:nvPr userDrawn="1"/>
        </p:nvSpPr>
        <p:spPr>
          <a:xfrm>
            <a:off x="1141084" y="6389813"/>
            <a:ext cx="4081567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1" dirty="0">
                <a:latin typeface="NanumSquareOTF Bold" panose="020B0600000101010101" pitchFamily="34" charset="-127"/>
              </a:rPr>
              <a:t>© </a:t>
            </a:r>
            <a:fld id="{D1678136-60AD-1144-8D64-7A5B04B99226}" type="datetimeyyyy">
              <a:rPr lang="en-US" sz="600" b="1">
                <a:latin typeface="NanumSquareOTF Bold" panose="020B0600000101010101" pitchFamily="34" charset="-127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2024</a:t>
            </a:fld>
            <a:r>
              <a:rPr lang="en-US" sz="600" b="1" dirty="0">
                <a:latin typeface="NanumSquareOTF Bold" panose="020B0600000101010101" pitchFamily="34" charset="-127"/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959B3EB9-733C-3A0F-3820-5CA38F95A3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6337300"/>
            <a:ext cx="3651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914401"/>
            <a:ext cx="7728857" cy="53553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A181C42-CC30-4D32-EC56-34CD2C4D5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3FC7D-C1FA-034A-884F-5D656E9BE98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5661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695129-39F4-0E3E-DE1C-B6D998493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E3D07C-C609-5F4C-A74A-B90C9508442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F6F0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15E683-B6F2-F3C8-20BE-FED1D80113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6029" y="41210"/>
            <a:ext cx="915971" cy="58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576286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p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695129-39F4-0E3E-DE1C-B6D998493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E3D07C-C609-5F4C-A74A-B90C9508442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833248"/>
            <a:ext cx="11737975" cy="5816032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F6F0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15E683-B6F2-F3C8-20BE-FED1D80113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6029" y="41210"/>
            <a:ext cx="915971" cy="58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52872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608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695129-39F4-0E3E-DE1C-B6D998493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E3D07C-C609-5F4C-A74A-B90C9508442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4" name="양쪽 모서리가 둥근 사각형 3">
            <a:extLst>
              <a:ext uri="{FF2B5EF4-FFF2-40B4-BE49-F238E27FC236}">
                <a16:creationId xmlns:a16="http://schemas.microsoft.com/office/drawing/2014/main" id="{8D084CBE-D8C0-9B21-A2FF-B19D0797C62D}"/>
              </a:ext>
            </a:extLst>
          </p:cNvPr>
          <p:cNvSpPr/>
          <p:nvPr userDrawn="1"/>
        </p:nvSpPr>
        <p:spPr>
          <a:xfrm>
            <a:off x="10148567" y="235979"/>
            <a:ext cx="181256" cy="205736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5" name="양쪽 모서리가 둥근 사각형 4">
            <a:extLst>
              <a:ext uri="{FF2B5EF4-FFF2-40B4-BE49-F238E27FC236}">
                <a16:creationId xmlns:a16="http://schemas.microsoft.com/office/drawing/2014/main" id="{4975E459-1F4A-3F19-02D8-8D01C2FADE2B}"/>
              </a:ext>
            </a:extLst>
          </p:cNvPr>
          <p:cNvSpPr/>
          <p:nvPr userDrawn="1"/>
        </p:nvSpPr>
        <p:spPr>
          <a:xfrm>
            <a:off x="11144795" y="235979"/>
            <a:ext cx="181256" cy="205736"/>
          </a:xfrm>
          <a:prstGeom prst="round2Same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6" name="양쪽 모서리가 둥근 사각형 5">
            <a:extLst>
              <a:ext uri="{FF2B5EF4-FFF2-40B4-BE49-F238E27FC236}">
                <a16:creationId xmlns:a16="http://schemas.microsoft.com/office/drawing/2014/main" id="{FA3A0D78-211D-EB72-CBF1-BF06E5E44F26}"/>
              </a:ext>
            </a:extLst>
          </p:cNvPr>
          <p:cNvSpPr/>
          <p:nvPr userDrawn="1"/>
        </p:nvSpPr>
        <p:spPr>
          <a:xfrm>
            <a:off x="11352059" y="235979"/>
            <a:ext cx="181256" cy="205736"/>
          </a:xfrm>
          <a:prstGeom prst="round2Same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9" name="양쪽 모서리가 둥근 사각형 8">
            <a:extLst>
              <a:ext uri="{FF2B5EF4-FFF2-40B4-BE49-F238E27FC236}">
                <a16:creationId xmlns:a16="http://schemas.microsoft.com/office/drawing/2014/main" id="{EF6497B8-65F2-E1F0-5222-EB42EE4BDA85}"/>
              </a:ext>
            </a:extLst>
          </p:cNvPr>
          <p:cNvSpPr/>
          <p:nvPr userDrawn="1"/>
        </p:nvSpPr>
        <p:spPr>
          <a:xfrm>
            <a:off x="9930167" y="235979"/>
            <a:ext cx="181256" cy="205736"/>
          </a:xfrm>
          <a:prstGeom prst="round2SameRect">
            <a:avLst/>
          </a:prstGeom>
          <a:solidFill>
            <a:srgbClr val="BFBFB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pic>
        <p:nvPicPr>
          <p:cNvPr id="10" name="Picture 125" descr="악세사리">
            <a:extLst>
              <a:ext uri="{FF2B5EF4-FFF2-40B4-BE49-F238E27FC236}">
                <a16:creationId xmlns:a16="http://schemas.microsoft.com/office/drawing/2014/main" id="{C2A2057B-F13C-4D7D-F6FC-FC6FD4AFED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lum bright="-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0201585" y="437698"/>
            <a:ext cx="1132560" cy="5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37231D10-27DF-C2EC-675E-375DC7E5A989}"/>
              </a:ext>
            </a:extLst>
          </p:cNvPr>
          <p:cNvSpPr/>
          <p:nvPr userDrawn="1"/>
        </p:nvSpPr>
        <p:spPr>
          <a:xfrm>
            <a:off x="9944864" y="251345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1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2EE2717-CA61-B148-862D-19336812B509}"/>
              </a:ext>
            </a:extLst>
          </p:cNvPr>
          <p:cNvSpPr/>
          <p:nvPr userDrawn="1"/>
        </p:nvSpPr>
        <p:spPr>
          <a:xfrm>
            <a:off x="10158346" y="251345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2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E4B4F14-6C88-D992-C041-CD32ABDFEE69}"/>
              </a:ext>
            </a:extLst>
          </p:cNvPr>
          <p:cNvSpPr/>
          <p:nvPr userDrawn="1"/>
        </p:nvSpPr>
        <p:spPr>
          <a:xfrm>
            <a:off x="11153732" y="251345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3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2AD5A76-6C18-7739-F352-B89E678446E1}"/>
              </a:ext>
            </a:extLst>
          </p:cNvPr>
          <p:cNvSpPr/>
          <p:nvPr userDrawn="1"/>
        </p:nvSpPr>
        <p:spPr>
          <a:xfrm>
            <a:off x="11360153" y="251345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3CFE2-CAA9-B7E8-F816-A9FF367636BA}"/>
              </a:ext>
            </a:extLst>
          </p:cNvPr>
          <p:cNvSpPr txBox="1"/>
          <p:nvPr userDrawn="1"/>
        </p:nvSpPr>
        <p:spPr>
          <a:xfrm>
            <a:off x="10395787" y="250992"/>
            <a:ext cx="545021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</a:rPr>
              <a:t>제안 개요</a:t>
            </a:r>
          </a:p>
        </p:txBody>
      </p:sp>
      <p:sp>
        <p:nvSpPr>
          <p:cNvPr id="28" name="양쪽 모서리가 둥근 사각형 27">
            <a:extLst>
              <a:ext uri="{FF2B5EF4-FFF2-40B4-BE49-F238E27FC236}">
                <a16:creationId xmlns:a16="http://schemas.microsoft.com/office/drawing/2014/main" id="{9FFCC98A-BCF1-236D-BE2A-03B6C689B1A1}"/>
              </a:ext>
            </a:extLst>
          </p:cNvPr>
          <p:cNvSpPr/>
          <p:nvPr userDrawn="1"/>
        </p:nvSpPr>
        <p:spPr>
          <a:xfrm>
            <a:off x="11567518" y="235979"/>
            <a:ext cx="181256" cy="205736"/>
          </a:xfrm>
          <a:prstGeom prst="round2Same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EB5668B-7CC0-9D11-6D86-479605E20AEE}"/>
              </a:ext>
            </a:extLst>
          </p:cNvPr>
          <p:cNvSpPr/>
          <p:nvPr userDrawn="1"/>
        </p:nvSpPr>
        <p:spPr>
          <a:xfrm>
            <a:off x="11575612" y="251345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2204927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Sub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608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695129-39F4-0E3E-DE1C-B6D998493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E3D07C-C609-5F4C-A74A-B90C9508442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4" name="양쪽 모서리가 둥근 사각형 3">
            <a:extLst>
              <a:ext uri="{FF2B5EF4-FFF2-40B4-BE49-F238E27FC236}">
                <a16:creationId xmlns:a16="http://schemas.microsoft.com/office/drawing/2014/main" id="{8D084CBE-D8C0-9B21-A2FF-B19D0797C62D}"/>
              </a:ext>
            </a:extLst>
          </p:cNvPr>
          <p:cNvSpPr/>
          <p:nvPr userDrawn="1"/>
        </p:nvSpPr>
        <p:spPr>
          <a:xfrm>
            <a:off x="10148567" y="235979"/>
            <a:ext cx="181256" cy="205736"/>
          </a:xfrm>
          <a:prstGeom prst="round2SameRect">
            <a:avLst/>
          </a:prstGeom>
          <a:solidFill>
            <a:schemeClr val="bg2">
              <a:lumMod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5" name="양쪽 모서리가 둥근 사각형 4">
            <a:extLst>
              <a:ext uri="{FF2B5EF4-FFF2-40B4-BE49-F238E27FC236}">
                <a16:creationId xmlns:a16="http://schemas.microsoft.com/office/drawing/2014/main" id="{4975E459-1F4A-3F19-02D8-8D01C2FADE2B}"/>
              </a:ext>
            </a:extLst>
          </p:cNvPr>
          <p:cNvSpPr/>
          <p:nvPr userDrawn="1"/>
        </p:nvSpPr>
        <p:spPr>
          <a:xfrm>
            <a:off x="11144795" y="235979"/>
            <a:ext cx="181256" cy="205736"/>
          </a:xfrm>
          <a:prstGeom prst="round2Same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6" name="양쪽 모서리가 둥근 사각형 5">
            <a:extLst>
              <a:ext uri="{FF2B5EF4-FFF2-40B4-BE49-F238E27FC236}">
                <a16:creationId xmlns:a16="http://schemas.microsoft.com/office/drawing/2014/main" id="{FA3A0D78-211D-EB72-CBF1-BF06E5E44F26}"/>
              </a:ext>
            </a:extLst>
          </p:cNvPr>
          <p:cNvSpPr/>
          <p:nvPr userDrawn="1"/>
        </p:nvSpPr>
        <p:spPr>
          <a:xfrm>
            <a:off x="11352059" y="235979"/>
            <a:ext cx="181256" cy="205736"/>
          </a:xfrm>
          <a:prstGeom prst="round2Same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9" name="양쪽 모서리가 둥근 사각형 8">
            <a:extLst>
              <a:ext uri="{FF2B5EF4-FFF2-40B4-BE49-F238E27FC236}">
                <a16:creationId xmlns:a16="http://schemas.microsoft.com/office/drawing/2014/main" id="{EF6497B8-65F2-E1F0-5222-EB42EE4BDA85}"/>
              </a:ext>
            </a:extLst>
          </p:cNvPr>
          <p:cNvSpPr/>
          <p:nvPr userDrawn="1"/>
        </p:nvSpPr>
        <p:spPr>
          <a:xfrm>
            <a:off x="9930167" y="235979"/>
            <a:ext cx="181256" cy="205736"/>
          </a:xfrm>
          <a:prstGeom prst="round2SameRect">
            <a:avLst/>
          </a:prstGeom>
          <a:solidFill>
            <a:srgbClr val="BFBFB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pic>
        <p:nvPicPr>
          <p:cNvPr id="10" name="Picture 125" descr="악세사리">
            <a:extLst>
              <a:ext uri="{FF2B5EF4-FFF2-40B4-BE49-F238E27FC236}">
                <a16:creationId xmlns:a16="http://schemas.microsoft.com/office/drawing/2014/main" id="{C2A2057B-F13C-4D7D-F6FC-FC6FD4AFED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lum bright="-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0201585" y="437698"/>
            <a:ext cx="1132560" cy="5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37231D10-27DF-C2EC-675E-375DC7E5A989}"/>
              </a:ext>
            </a:extLst>
          </p:cNvPr>
          <p:cNvSpPr/>
          <p:nvPr userDrawn="1"/>
        </p:nvSpPr>
        <p:spPr>
          <a:xfrm>
            <a:off x="9944864" y="251345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1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2EE2717-CA61-B148-862D-19336812B509}"/>
              </a:ext>
            </a:extLst>
          </p:cNvPr>
          <p:cNvSpPr/>
          <p:nvPr userDrawn="1"/>
        </p:nvSpPr>
        <p:spPr>
          <a:xfrm>
            <a:off x="10158346" y="251345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2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E4B4F14-6C88-D992-C041-CD32ABDFEE69}"/>
              </a:ext>
            </a:extLst>
          </p:cNvPr>
          <p:cNvSpPr/>
          <p:nvPr userDrawn="1"/>
        </p:nvSpPr>
        <p:spPr>
          <a:xfrm>
            <a:off x="11153732" y="251345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3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2AD5A76-6C18-7739-F352-B89E678446E1}"/>
              </a:ext>
            </a:extLst>
          </p:cNvPr>
          <p:cNvSpPr/>
          <p:nvPr userDrawn="1"/>
        </p:nvSpPr>
        <p:spPr>
          <a:xfrm>
            <a:off x="11360153" y="251345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3CFE2-CAA9-B7E8-F816-A9FF367636BA}"/>
              </a:ext>
            </a:extLst>
          </p:cNvPr>
          <p:cNvSpPr txBox="1"/>
          <p:nvPr userDrawn="1"/>
        </p:nvSpPr>
        <p:spPr>
          <a:xfrm>
            <a:off x="10395787" y="250992"/>
            <a:ext cx="545021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</a:rPr>
              <a:t>제안 개요</a:t>
            </a:r>
          </a:p>
        </p:txBody>
      </p:sp>
      <p:sp>
        <p:nvSpPr>
          <p:cNvPr id="28" name="양쪽 모서리가 둥근 사각형 27">
            <a:extLst>
              <a:ext uri="{FF2B5EF4-FFF2-40B4-BE49-F238E27FC236}">
                <a16:creationId xmlns:a16="http://schemas.microsoft.com/office/drawing/2014/main" id="{9FFCC98A-BCF1-236D-BE2A-03B6C689B1A1}"/>
              </a:ext>
            </a:extLst>
          </p:cNvPr>
          <p:cNvSpPr/>
          <p:nvPr userDrawn="1"/>
        </p:nvSpPr>
        <p:spPr>
          <a:xfrm>
            <a:off x="11567518" y="235979"/>
            <a:ext cx="181256" cy="205736"/>
          </a:xfrm>
          <a:prstGeom prst="round2Same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OTF" panose="020D0604000000000000" pitchFamily="34" charset="-127"/>
              <a:ea typeface="NanumGothicOTF" panose="020D0604000000000000" pitchFamily="34" charset="-127"/>
              <a:cs typeface="+mn-cs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EB5668B-7CC0-9D11-6D86-479605E20AEE}"/>
              </a:ext>
            </a:extLst>
          </p:cNvPr>
          <p:cNvSpPr/>
          <p:nvPr userDrawn="1"/>
        </p:nvSpPr>
        <p:spPr>
          <a:xfrm>
            <a:off x="11575612" y="251345"/>
            <a:ext cx="173162" cy="173160"/>
          </a:xfrm>
          <a:prstGeom prst="ellips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042996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OTF" panose="020D0604000000000000" pitchFamily="34" charset="-127"/>
                <a:ea typeface="NanumGothicOTF" panose="020D0604000000000000" pitchFamily="34" charset="-127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9928826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695129-39F4-0E3E-DE1C-B6D998493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E3D07C-C609-5F4C-A74A-B90C9508442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2874167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649830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44E5D3F-BDFE-86DA-972A-56E395641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B5C529-99F9-B249-A956-629C1B5D136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7939597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3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89B0880E-2C2F-FE53-2900-82EAD1D055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9835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69CBFA-05FB-0D69-B70B-E4B2681486DD}"/>
              </a:ext>
            </a:extLst>
          </p:cNvPr>
          <p:cNvSpPr txBox="1"/>
          <p:nvPr userDrawn="1"/>
        </p:nvSpPr>
        <p:spPr>
          <a:xfrm>
            <a:off x="1141084" y="6389813"/>
            <a:ext cx="4081567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1" dirty="0">
                <a:latin typeface="NanumSquareOTF Bold" panose="020B0600000101010101" pitchFamily="34" charset="-127"/>
              </a:rPr>
              <a:t>© </a:t>
            </a:r>
            <a:fld id="{891D98CA-91DB-C845-88C4-F4C26858D263}" type="datetimeyyyy">
              <a:rPr lang="en-US" sz="600" b="1">
                <a:latin typeface="NanumSquareOTF Bold" panose="020B0600000101010101" pitchFamily="34" charset="-127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2024</a:t>
            </a:fld>
            <a:r>
              <a:rPr lang="en-US" sz="600" b="1" dirty="0">
                <a:latin typeface="NanumSquareOTF Bold" panose="020B0600000101010101" pitchFamily="34" charset="-127"/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8DD696-2341-F0C8-0906-AB0D55B0F7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6337300"/>
            <a:ext cx="3651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18036"/>
            <a:ext cx="7823200" cy="1421928"/>
          </a:xfrm>
        </p:spPr>
        <p:txBody>
          <a:bodyPr anchor="ctr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20DBDCC-539E-C545-242F-C420886E1A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B4CD45-2DE6-9B44-B35E-F91D79085AA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726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3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7548DCF-A824-85F8-3728-F9E5D67F44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9835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D19F7C96-4F1D-EDDC-5B3F-4D0CB2B64E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9600" y="2460625"/>
            <a:ext cx="68675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/>
          <a:lstStyle>
            <a:lvl1pPr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mazon Ember Display" panose="020B0603020204020204" pitchFamily="34" charset="0"/>
              </a:defRPr>
            </a:lvl9pPr>
          </a:lstStyle>
          <a:p>
            <a:pPr eaLnBrk="1" hangingPunct="1"/>
            <a:r>
              <a:rPr lang="en-US" altLang="ko-KR" sz="4800" b="1">
                <a:latin typeface="NanumSquareOTF Bold" panose="020B0600000101010101" pitchFamily="34" charset="-127"/>
                <a:ea typeface="굴림" panose="020B0600000101010101" pitchFamily="34" charset="-127"/>
              </a:rPr>
              <a:t>Thank you!</a:t>
            </a:r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D0C26D4A-DB74-F081-C720-42F886E24F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03263"/>
            <a:ext cx="10033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88B8CB-B473-2E2F-1D26-DCE95BFF9DBB}"/>
              </a:ext>
            </a:extLst>
          </p:cNvPr>
          <p:cNvSpPr txBox="1"/>
          <p:nvPr userDrawn="1"/>
        </p:nvSpPr>
        <p:spPr>
          <a:xfrm>
            <a:off x="504476" y="6389813"/>
            <a:ext cx="4081567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1" dirty="0">
                <a:latin typeface="NanumSquareOTF Bold" panose="020B0600000101010101" pitchFamily="34" charset="-127"/>
              </a:rPr>
              <a:t>© </a:t>
            </a:r>
            <a:fld id="{C9305E1C-00C6-7741-A376-0D18F41A32E6}" type="datetimeyyyy">
              <a:rPr lang="en-US" sz="600" b="1">
                <a:latin typeface="NanumSquareOTF Bold" panose="020B0600000101010101" pitchFamily="34" charset="-127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2024</a:t>
            </a:fld>
            <a:r>
              <a:rPr lang="en-US" sz="600" b="1" dirty="0">
                <a:latin typeface="NanumSquareOTF Bold" panose="020B0600000101010101" pitchFamily="34" charset="-127"/>
              </a:rPr>
              <a:t>, Amazon Web Services, Inc. or its affiliates. All rights reserved. Amazon Confidential and Trademark.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09600" y="-619677"/>
            <a:ext cx="10972800" cy="53553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19125" y="3621643"/>
            <a:ext cx="1994088" cy="36933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2714625" y="3621643"/>
            <a:ext cx="1994088" cy="36933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146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4810125" y="3621643"/>
            <a:ext cx="1994088" cy="36933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4810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54650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.Woowahan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FA20448-4C3E-D06F-D288-90D8F918E8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695129-39F4-0E3E-DE1C-B6D9984932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29688" y="6388515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FCE3D07C-C609-5F4C-A74A-B90C9508442B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623AB7F-9F32-97E6-A832-99C28B8F8E60}"/>
              </a:ext>
            </a:extLst>
          </p:cNvPr>
          <p:cNvSpPr/>
          <p:nvPr userDrawn="1"/>
        </p:nvSpPr>
        <p:spPr>
          <a:xfrm>
            <a:off x="227013" y="1480930"/>
            <a:ext cx="11737975" cy="5168350"/>
          </a:xfrm>
          <a:prstGeom prst="roundRect">
            <a:avLst>
              <a:gd name="adj" fmla="val 961"/>
            </a:avLst>
          </a:prstGeom>
          <a:solidFill>
            <a:schemeClr val="bg1"/>
          </a:solidFill>
          <a:ln w="9525">
            <a:solidFill>
              <a:srgbClr val="28C2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ore-KR" altLang="en-US" sz="1799"/>
          </a:p>
        </p:txBody>
      </p:sp>
    </p:spTree>
    <p:extLst>
      <p:ext uri="{BB962C8B-B14F-4D97-AF65-F5344CB8AC3E}">
        <p14:creationId xmlns:p14="http://schemas.microsoft.com/office/powerpoint/2010/main" val="1520436138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1D63A2F-910A-A191-C6FA-A1BA5A518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914400"/>
            <a:ext cx="1097280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5587D46-93EA-CBDA-82AC-BC5B3C41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88E6B2E-2F39-C1F0-87A5-14ED7B3D6AD2}"/>
              </a:ext>
            </a:extLst>
          </p:cNvPr>
          <p:cNvSpPr txBox="1">
            <a:spLocks/>
          </p:cNvSpPr>
          <p:nvPr userDrawn="1"/>
        </p:nvSpPr>
        <p:spPr>
          <a:xfrm>
            <a:off x="609600" y="123763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ko-KR" altLang="en-US" b="1" dirty="0" err="1">
                <a:solidFill>
                  <a:schemeClr val="tx2"/>
                </a:solidFill>
                <a:latin typeface="NanumSquareOTF Bold" panose="020B0600000101010101" pitchFamily="34" charset="-127"/>
              </a:rPr>
              <a:t>당근를</a:t>
            </a:r>
            <a:r>
              <a:rPr lang="ko-KR" altLang="en-US" b="1" dirty="0">
                <a:solidFill>
                  <a:schemeClr val="tx2"/>
                </a:solidFill>
                <a:latin typeface="NanumSquareOTF Bold" panose="020B0600000101010101" pitchFamily="34" charset="-127"/>
              </a:rPr>
              <a:t> 위한 </a:t>
            </a:r>
            <a:r>
              <a:rPr lang="en-US" altLang="ko-KR" b="1" dirty="0">
                <a:solidFill>
                  <a:schemeClr val="tx2"/>
                </a:solidFill>
                <a:latin typeface="NanumSquareOTF Bold" panose="020B0600000101010101" pitchFamily="34" charset="-127"/>
              </a:rPr>
              <a:t>AWS </a:t>
            </a:r>
            <a:r>
              <a:rPr lang="en-US" altLang="ko-KR" b="1" dirty="0" err="1">
                <a:solidFill>
                  <a:schemeClr val="tx2"/>
                </a:solidFill>
                <a:latin typeface="NanumSquareOTF Bold" panose="020B0600000101010101" pitchFamily="34" charset="-127"/>
              </a:rPr>
              <a:t>WEll</a:t>
            </a:r>
            <a:r>
              <a:rPr lang="en-US" altLang="ko-KR" b="1" dirty="0">
                <a:solidFill>
                  <a:schemeClr val="tx2"/>
                </a:solidFill>
                <a:latin typeface="NanumSquareOTF Bold" panose="020B0600000101010101" pitchFamily="34" charset="-127"/>
              </a:rPr>
              <a:t> Architected Review Deep Dive </a:t>
            </a:r>
            <a:endParaRPr lang="en-US" b="1" dirty="0">
              <a:solidFill>
                <a:schemeClr val="tx2"/>
              </a:solidFill>
              <a:latin typeface="NanumSquareOTF Bold" panose="020B0600000101010101" pitchFamily="34" charset="-12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4411C-2B9C-BC3F-CFF4-E58B15BB5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688" y="6549154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 b="1">
                <a:solidFill>
                  <a:schemeClr val="tx2"/>
                </a:solidFill>
                <a:latin typeface="NanumSquareOTF Bold" panose="020B0600000101010101" pitchFamily="34" charset="-127"/>
                <a:ea typeface="굴림" panose="020B0600000101010101" pitchFamily="34" charset="-127"/>
              </a:defRPr>
            </a:lvl1pPr>
          </a:lstStyle>
          <a:p>
            <a:fld id="{2D5842A4-21FB-C54D-BAB4-96CB4CEC04B7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9EB4F6-A854-5479-2F4B-1A22C255B593}"/>
              </a:ext>
            </a:extLst>
          </p:cNvPr>
          <p:cNvSpPr txBox="1"/>
          <p:nvPr userDrawn="1"/>
        </p:nvSpPr>
        <p:spPr>
          <a:xfrm>
            <a:off x="1141084" y="6547051"/>
            <a:ext cx="4081567" cy="1846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b="1" dirty="0">
                <a:solidFill>
                  <a:schemeClr val="tx2"/>
                </a:solidFill>
                <a:latin typeface="NanumSquareOTF Bold" panose="020B0600000101010101" pitchFamily="34" charset="-127"/>
              </a:rPr>
              <a:t>© </a:t>
            </a:r>
            <a:fld id="{C09C7244-04FA-4945-8501-81AE75998B9F}" type="datetimeyyyy">
              <a:rPr lang="en-US" sz="600" b="1">
                <a:solidFill>
                  <a:schemeClr val="tx2"/>
                </a:solidFill>
                <a:latin typeface="NanumSquareOTF Bold" panose="020B0600000101010101" pitchFamily="34" charset="-127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2024</a:t>
            </a:fld>
            <a:r>
              <a:rPr lang="en-US" sz="600" b="1" dirty="0">
                <a:solidFill>
                  <a:schemeClr val="tx2"/>
                </a:solidFill>
                <a:latin typeface="NanumSquareOTF Bold" panose="020B0600000101010101" pitchFamily="34" charset="-127"/>
              </a:rPr>
              <a:t>, Amazon Web Services, Inc. or its affiliates. All rights reserved. Amazon Confidential and Trademark.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7345BF80-77C3-A1FD-0094-2D2037909C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6496126"/>
            <a:ext cx="365125" cy="2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3995" r:id="rId2"/>
    <p:sldLayoutId id="2147483996" r:id="rId3"/>
    <p:sldLayoutId id="2147484033" r:id="rId4"/>
    <p:sldLayoutId id="2147484034" r:id="rId5"/>
    <p:sldLayoutId id="2147483997" r:id="rId6"/>
    <p:sldLayoutId id="2147484086" r:id="rId7"/>
    <p:sldLayoutId id="2147484084" r:id="rId8"/>
    <p:sldLayoutId id="2147484085" r:id="rId9"/>
    <p:sldLayoutId id="2147484083" r:id="rId10"/>
    <p:sldLayoutId id="2147483998" r:id="rId11"/>
    <p:sldLayoutId id="2147484050" r:id="rId12"/>
    <p:sldLayoutId id="2147484068" r:id="rId13"/>
    <p:sldLayoutId id="2147484087" r:id="rId14"/>
  </p:sldLayoutIdLst>
  <p:transition spd="med">
    <p:fade/>
  </p:transition>
  <p:hf hdr="0" ftr="0" dt="0"/>
  <p:txStyles>
    <p:titleStyle>
      <a:lvl1pPr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 i="0" kern="1200">
          <a:solidFill>
            <a:schemeClr val="tx2"/>
          </a:solidFill>
          <a:latin typeface="NanumSquareOTF Bold" panose="020B0600000101010101" pitchFamily="34" charset="-127"/>
          <a:ea typeface="NanumSquareOTF Bold" panose="020B0600000101010101" pitchFamily="34" charset="-127"/>
          <a:cs typeface="+mj-cs"/>
        </a:defRPr>
      </a:lvl1pPr>
      <a:lvl2pPr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2pPr>
      <a:lvl3pPr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3pPr>
      <a:lvl4pPr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4pPr>
      <a:lvl5pPr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NanumSquareOTF Bold" panose="020B0600000101010101" pitchFamily="34" charset="-127"/>
        </a:defRPr>
      </a:lvl9pPr>
    </p:titleStyle>
    <p:bodyStyle>
      <a:lvl1pPr marL="228600" indent="-228600" algn="l" rtl="0" fontAlgn="base" latinLnBrk="1">
        <a:lnSpc>
          <a:spcPct val="90000"/>
        </a:lnSpc>
        <a:spcBef>
          <a:spcPct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b="0" i="0" kern="1200">
          <a:solidFill>
            <a:schemeClr val="tx2"/>
          </a:solidFill>
          <a:latin typeface="NanumSquareOTF" panose="020B0600000101010101" pitchFamily="34" charset="-127"/>
          <a:ea typeface="NanumSquareOTF" panose="020B0600000101010101" pitchFamily="34" charset="-127"/>
          <a:cs typeface="+mn-cs"/>
        </a:defRPr>
      </a:lvl1pPr>
      <a:lvl2pPr marL="514350" indent="-228600" algn="l" rtl="0" fontAlgn="base" latinLnBrk="1">
        <a:lnSpc>
          <a:spcPct val="90000"/>
        </a:lnSpc>
        <a:spcBef>
          <a:spcPct val="0"/>
        </a:spcBef>
        <a:spcAft>
          <a:spcPts val="1200"/>
        </a:spcAft>
        <a:buSzPct val="90000"/>
        <a:buFont typeface="Wingdings" pitchFamily="2" charset="2"/>
        <a:buChar char="§"/>
        <a:defRPr sz="2400" b="0" i="0" kern="1200">
          <a:solidFill>
            <a:schemeClr val="tx2"/>
          </a:solidFill>
          <a:latin typeface="NanumSquareOTF" panose="020B0600000101010101" pitchFamily="34" charset="-127"/>
          <a:ea typeface="NanumSquareOTF" panose="020B0600000101010101" pitchFamily="34" charset="-127"/>
          <a:cs typeface="+mn-cs"/>
        </a:defRPr>
      </a:lvl2pPr>
      <a:lvl3pPr marL="857250" indent="-228600" algn="l" rtl="0" fontAlgn="base" latinLnBrk="1">
        <a:lnSpc>
          <a:spcPct val="90000"/>
        </a:lnSpc>
        <a:spcBef>
          <a:spcPct val="0"/>
        </a:spcBef>
        <a:spcAft>
          <a:spcPts val="1200"/>
        </a:spcAft>
        <a:buFont typeface="Amazon Ember" panose="020B0603020204020204" pitchFamily="34" charset="0"/>
        <a:buChar char="–"/>
        <a:defRPr sz="2000" b="0" i="0" kern="1200">
          <a:solidFill>
            <a:schemeClr val="tx2"/>
          </a:solidFill>
          <a:latin typeface="NanumSquareOTF" panose="020B0600000101010101" pitchFamily="34" charset="-127"/>
          <a:ea typeface="NanumSquareOTF" panose="020B0600000101010101" pitchFamily="34" charset="-127"/>
          <a:cs typeface="+mn-cs"/>
        </a:defRPr>
      </a:lvl3pPr>
      <a:lvl4pPr marL="1030288" indent="-171450" algn="l" rtl="0" fontAlgn="base" latinLnBrk="1">
        <a:lnSpc>
          <a:spcPct val="90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b="0" i="0" kern="1200">
          <a:solidFill>
            <a:schemeClr val="tx2"/>
          </a:solidFill>
          <a:latin typeface="NanumSquareOTF" panose="020B0600000101010101" pitchFamily="34" charset="-127"/>
          <a:ea typeface="NanumSquareOTF" panose="020B0600000101010101" pitchFamily="34" charset="-127"/>
          <a:cs typeface="+mn-cs"/>
        </a:defRPr>
      </a:lvl4pPr>
      <a:lvl5pPr marL="1201738" indent="-171450" algn="l" rtl="0" fontAlgn="base" latinLnBrk="1">
        <a:lnSpc>
          <a:spcPct val="90000"/>
        </a:lnSpc>
        <a:spcBef>
          <a:spcPct val="0"/>
        </a:spcBef>
        <a:spcAft>
          <a:spcPts val="1200"/>
        </a:spcAft>
        <a:buFont typeface="Arial" panose="020B0604020202020204" pitchFamily="34" charset="0"/>
        <a:buChar char="•"/>
        <a:defRPr b="0" i="0" kern="1200">
          <a:solidFill>
            <a:schemeClr val="tx2"/>
          </a:solidFill>
          <a:latin typeface="NanumSquareOTF" panose="020B0600000101010101" pitchFamily="34" charset="-127"/>
          <a:ea typeface="NanumSquareOTF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chart" Target="../charts/char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chart" Target="../charts/char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svg"/><Relationship Id="rId21" Type="http://schemas.openxmlformats.org/officeDocument/2006/relationships/image" Target="../media/image30.png"/><Relationship Id="rId42" Type="http://schemas.openxmlformats.org/officeDocument/2006/relationships/image" Target="../media/image51.png"/><Relationship Id="rId47" Type="http://schemas.openxmlformats.org/officeDocument/2006/relationships/image" Target="../media/image56.svg"/><Relationship Id="rId63" Type="http://schemas.openxmlformats.org/officeDocument/2006/relationships/image" Target="../media/image72.png"/><Relationship Id="rId68" Type="http://schemas.openxmlformats.org/officeDocument/2006/relationships/image" Target="../media/image77.png"/><Relationship Id="rId2" Type="http://schemas.openxmlformats.org/officeDocument/2006/relationships/image" Target="../media/image11.png"/><Relationship Id="rId16" Type="http://schemas.openxmlformats.org/officeDocument/2006/relationships/image" Target="../media/image25.emf"/><Relationship Id="rId29" Type="http://schemas.openxmlformats.org/officeDocument/2006/relationships/image" Target="../media/image38.png"/><Relationship Id="rId11" Type="http://schemas.openxmlformats.org/officeDocument/2006/relationships/image" Target="../media/image20.emf"/><Relationship Id="rId24" Type="http://schemas.openxmlformats.org/officeDocument/2006/relationships/image" Target="../media/image33.svg"/><Relationship Id="rId32" Type="http://schemas.openxmlformats.org/officeDocument/2006/relationships/image" Target="../media/image41.png"/><Relationship Id="rId37" Type="http://schemas.openxmlformats.org/officeDocument/2006/relationships/image" Target="../media/image46.svg"/><Relationship Id="rId40" Type="http://schemas.openxmlformats.org/officeDocument/2006/relationships/image" Target="../media/image49.png"/><Relationship Id="rId45" Type="http://schemas.openxmlformats.org/officeDocument/2006/relationships/image" Target="../media/image54.svg"/><Relationship Id="rId53" Type="http://schemas.openxmlformats.org/officeDocument/2006/relationships/image" Target="../media/image62.svg"/><Relationship Id="rId58" Type="http://schemas.openxmlformats.org/officeDocument/2006/relationships/image" Target="../media/image67.png"/><Relationship Id="rId66" Type="http://schemas.openxmlformats.org/officeDocument/2006/relationships/image" Target="../media/image75.emf"/><Relationship Id="rId5" Type="http://schemas.openxmlformats.org/officeDocument/2006/relationships/image" Target="../media/image14.svg"/><Relationship Id="rId61" Type="http://schemas.openxmlformats.org/officeDocument/2006/relationships/image" Target="../media/image70.png"/><Relationship Id="rId19" Type="http://schemas.openxmlformats.org/officeDocument/2006/relationships/image" Target="../media/image28.png"/><Relationship Id="rId14" Type="http://schemas.openxmlformats.org/officeDocument/2006/relationships/image" Target="../media/image23.emf"/><Relationship Id="rId22" Type="http://schemas.openxmlformats.org/officeDocument/2006/relationships/image" Target="../media/image31.svg"/><Relationship Id="rId27" Type="http://schemas.openxmlformats.org/officeDocument/2006/relationships/image" Target="../media/image36.png"/><Relationship Id="rId30" Type="http://schemas.openxmlformats.org/officeDocument/2006/relationships/image" Target="../media/image39.svg"/><Relationship Id="rId35" Type="http://schemas.openxmlformats.org/officeDocument/2006/relationships/image" Target="../media/image44.svg"/><Relationship Id="rId43" Type="http://schemas.openxmlformats.org/officeDocument/2006/relationships/image" Target="../media/image52.svg"/><Relationship Id="rId48" Type="http://schemas.openxmlformats.org/officeDocument/2006/relationships/image" Target="../media/image57.png"/><Relationship Id="rId56" Type="http://schemas.openxmlformats.org/officeDocument/2006/relationships/image" Target="../media/image65.svg"/><Relationship Id="rId64" Type="http://schemas.openxmlformats.org/officeDocument/2006/relationships/image" Target="../media/image73.emf"/><Relationship Id="rId69" Type="http://schemas.openxmlformats.org/officeDocument/2006/relationships/image" Target="../media/image78.emf"/><Relationship Id="rId8" Type="http://schemas.openxmlformats.org/officeDocument/2006/relationships/image" Target="../media/image17.png"/><Relationship Id="rId51" Type="http://schemas.openxmlformats.org/officeDocument/2006/relationships/image" Target="../media/image60.svg"/><Relationship Id="rId72" Type="http://schemas.openxmlformats.org/officeDocument/2006/relationships/image" Target="../media/image81.emf"/><Relationship Id="rId3" Type="http://schemas.openxmlformats.org/officeDocument/2006/relationships/image" Target="../media/image12.svg"/><Relationship Id="rId12" Type="http://schemas.openxmlformats.org/officeDocument/2006/relationships/image" Target="../media/image21.png"/><Relationship Id="rId17" Type="http://schemas.openxmlformats.org/officeDocument/2006/relationships/image" Target="../media/image26.emf"/><Relationship Id="rId25" Type="http://schemas.openxmlformats.org/officeDocument/2006/relationships/image" Target="../media/image34.png"/><Relationship Id="rId33" Type="http://schemas.openxmlformats.org/officeDocument/2006/relationships/image" Target="../media/image42.emf"/><Relationship Id="rId38" Type="http://schemas.openxmlformats.org/officeDocument/2006/relationships/image" Target="../media/image47.png"/><Relationship Id="rId46" Type="http://schemas.openxmlformats.org/officeDocument/2006/relationships/image" Target="../media/image55.png"/><Relationship Id="rId59" Type="http://schemas.openxmlformats.org/officeDocument/2006/relationships/image" Target="../media/image68.png"/><Relationship Id="rId67" Type="http://schemas.openxmlformats.org/officeDocument/2006/relationships/image" Target="../media/image76.png"/><Relationship Id="rId20" Type="http://schemas.openxmlformats.org/officeDocument/2006/relationships/image" Target="../media/image29.svg"/><Relationship Id="rId41" Type="http://schemas.openxmlformats.org/officeDocument/2006/relationships/image" Target="../media/image50.png"/><Relationship Id="rId54" Type="http://schemas.openxmlformats.org/officeDocument/2006/relationships/image" Target="../media/image63.png"/><Relationship Id="rId62" Type="http://schemas.openxmlformats.org/officeDocument/2006/relationships/image" Target="../media/image71.svg"/><Relationship Id="rId70" Type="http://schemas.openxmlformats.org/officeDocument/2006/relationships/image" Target="../media/image7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5" Type="http://schemas.openxmlformats.org/officeDocument/2006/relationships/image" Target="../media/image24.emf"/><Relationship Id="rId23" Type="http://schemas.openxmlformats.org/officeDocument/2006/relationships/image" Target="../media/image32.png"/><Relationship Id="rId28" Type="http://schemas.openxmlformats.org/officeDocument/2006/relationships/image" Target="../media/image37.svg"/><Relationship Id="rId36" Type="http://schemas.openxmlformats.org/officeDocument/2006/relationships/image" Target="../media/image45.png"/><Relationship Id="rId49" Type="http://schemas.openxmlformats.org/officeDocument/2006/relationships/image" Target="../media/image58.svg"/><Relationship Id="rId57" Type="http://schemas.openxmlformats.org/officeDocument/2006/relationships/image" Target="../media/image66.png"/><Relationship Id="rId10" Type="http://schemas.openxmlformats.org/officeDocument/2006/relationships/image" Target="../media/image19.png"/><Relationship Id="rId31" Type="http://schemas.openxmlformats.org/officeDocument/2006/relationships/image" Target="../media/image40.png"/><Relationship Id="rId44" Type="http://schemas.openxmlformats.org/officeDocument/2006/relationships/image" Target="../media/image53.png"/><Relationship Id="rId52" Type="http://schemas.openxmlformats.org/officeDocument/2006/relationships/image" Target="../media/image61.png"/><Relationship Id="rId60" Type="http://schemas.openxmlformats.org/officeDocument/2006/relationships/image" Target="../media/image69.emf"/><Relationship Id="rId65" Type="http://schemas.openxmlformats.org/officeDocument/2006/relationships/image" Target="../media/image74.emf"/><Relationship Id="rId73" Type="http://schemas.openxmlformats.org/officeDocument/2006/relationships/image" Target="../media/image82.emf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9" Type="http://schemas.openxmlformats.org/officeDocument/2006/relationships/image" Target="../media/image48.svg"/><Relationship Id="rId34" Type="http://schemas.openxmlformats.org/officeDocument/2006/relationships/image" Target="../media/image43.png"/><Relationship Id="rId50" Type="http://schemas.openxmlformats.org/officeDocument/2006/relationships/image" Target="../media/image59.png"/><Relationship Id="rId55" Type="http://schemas.openxmlformats.org/officeDocument/2006/relationships/image" Target="../media/image64.png"/><Relationship Id="rId7" Type="http://schemas.openxmlformats.org/officeDocument/2006/relationships/image" Target="../media/image16.svg"/><Relationship Id="rId71" Type="http://schemas.openxmlformats.org/officeDocument/2006/relationships/image" Target="../media/image80.emf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svg"/><Relationship Id="rId21" Type="http://schemas.openxmlformats.org/officeDocument/2006/relationships/image" Target="../media/image30.png"/><Relationship Id="rId34" Type="http://schemas.openxmlformats.org/officeDocument/2006/relationships/image" Target="../media/image45.png"/><Relationship Id="rId42" Type="http://schemas.openxmlformats.org/officeDocument/2006/relationships/image" Target="../media/image53.png"/><Relationship Id="rId47" Type="http://schemas.openxmlformats.org/officeDocument/2006/relationships/image" Target="../media/image58.svg"/><Relationship Id="rId50" Type="http://schemas.openxmlformats.org/officeDocument/2006/relationships/image" Target="../media/image61.png"/><Relationship Id="rId55" Type="http://schemas.openxmlformats.org/officeDocument/2006/relationships/image" Target="../media/image66.png"/><Relationship Id="rId63" Type="http://schemas.openxmlformats.org/officeDocument/2006/relationships/image" Target="../media/image78.emf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6" Type="http://schemas.openxmlformats.org/officeDocument/2006/relationships/image" Target="../media/image25.emf"/><Relationship Id="rId29" Type="http://schemas.openxmlformats.org/officeDocument/2006/relationships/image" Target="../media/image38.png"/><Relationship Id="rId11" Type="http://schemas.openxmlformats.org/officeDocument/2006/relationships/image" Target="../media/image83.emf"/><Relationship Id="rId24" Type="http://schemas.openxmlformats.org/officeDocument/2006/relationships/image" Target="../media/image33.svg"/><Relationship Id="rId32" Type="http://schemas.openxmlformats.org/officeDocument/2006/relationships/image" Target="../media/image43.png"/><Relationship Id="rId37" Type="http://schemas.openxmlformats.org/officeDocument/2006/relationships/image" Target="../media/image48.svg"/><Relationship Id="rId40" Type="http://schemas.openxmlformats.org/officeDocument/2006/relationships/image" Target="../media/image51.png"/><Relationship Id="rId45" Type="http://schemas.openxmlformats.org/officeDocument/2006/relationships/image" Target="../media/image56.svg"/><Relationship Id="rId53" Type="http://schemas.openxmlformats.org/officeDocument/2006/relationships/image" Target="../media/image64.png"/><Relationship Id="rId58" Type="http://schemas.openxmlformats.org/officeDocument/2006/relationships/image" Target="../media/image73.emf"/><Relationship Id="rId5" Type="http://schemas.openxmlformats.org/officeDocument/2006/relationships/image" Target="../media/image14.svg"/><Relationship Id="rId61" Type="http://schemas.openxmlformats.org/officeDocument/2006/relationships/image" Target="../media/image76.png"/><Relationship Id="rId19" Type="http://schemas.openxmlformats.org/officeDocument/2006/relationships/image" Target="../media/image28.png"/><Relationship Id="rId14" Type="http://schemas.openxmlformats.org/officeDocument/2006/relationships/image" Target="../media/image23.emf"/><Relationship Id="rId22" Type="http://schemas.openxmlformats.org/officeDocument/2006/relationships/image" Target="../media/image31.svg"/><Relationship Id="rId27" Type="http://schemas.openxmlformats.org/officeDocument/2006/relationships/image" Target="../media/image36.png"/><Relationship Id="rId30" Type="http://schemas.openxmlformats.org/officeDocument/2006/relationships/image" Target="../media/image39.svg"/><Relationship Id="rId35" Type="http://schemas.openxmlformats.org/officeDocument/2006/relationships/image" Target="../media/image46.svg"/><Relationship Id="rId43" Type="http://schemas.openxmlformats.org/officeDocument/2006/relationships/image" Target="../media/image54.svg"/><Relationship Id="rId48" Type="http://schemas.openxmlformats.org/officeDocument/2006/relationships/image" Target="../media/image59.png"/><Relationship Id="rId56" Type="http://schemas.openxmlformats.org/officeDocument/2006/relationships/image" Target="../media/image67.png"/><Relationship Id="rId64" Type="http://schemas.openxmlformats.org/officeDocument/2006/relationships/image" Target="../media/image85.emf"/><Relationship Id="rId8" Type="http://schemas.openxmlformats.org/officeDocument/2006/relationships/image" Target="../media/image17.png"/><Relationship Id="rId51" Type="http://schemas.openxmlformats.org/officeDocument/2006/relationships/image" Target="../media/image62.svg"/><Relationship Id="rId3" Type="http://schemas.openxmlformats.org/officeDocument/2006/relationships/image" Target="../media/image12.svg"/><Relationship Id="rId12" Type="http://schemas.openxmlformats.org/officeDocument/2006/relationships/image" Target="../media/image21.png"/><Relationship Id="rId17" Type="http://schemas.openxmlformats.org/officeDocument/2006/relationships/image" Target="../media/image26.emf"/><Relationship Id="rId25" Type="http://schemas.openxmlformats.org/officeDocument/2006/relationships/image" Target="../media/image34.png"/><Relationship Id="rId33" Type="http://schemas.openxmlformats.org/officeDocument/2006/relationships/image" Target="../media/image44.svg"/><Relationship Id="rId38" Type="http://schemas.openxmlformats.org/officeDocument/2006/relationships/image" Target="../media/image49.png"/><Relationship Id="rId46" Type="http://schemas.openxmlformats.org/officeDocument/2006/relationships/image" Target="../media/image57.png"/><Relationship Id="rId59" Type="http://schemas.openxmlformats.org/officeDocument/2006/relationships/image" Target="../media/image74.emf"/><Relationship Id="rId20" Type="http://schemas.openxmlformats.org/officeDocument/2006/relationships/image" Target="../media/image29.svg"/><Relationship Id="rId41" Type="http://schemas.openxmlformats.org/officeDocument/2006/relationships/image" Target="../media/image52.svg"/><Relationship Id="rId54" Type="http://schemas.openxmlformats.org/officeDocument/2006/relationships/image" Target="../media/image65.svg"/><Relationship Id="rId6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5" Type="http://schemas.openxmlformats.org/officeDocument/2006/relationships/image" Target="../media/image24.emf"/><Relationship Id="rId23" Type="http://schemas.openxmlformats.org/officeDocument/2006/relationships/image" Target="../media/image32.png"/><Relationship Id="rId28" Type="http://schemas.openxmlformats.org/officeDocument/2006/relationships/image" Target="../media/image37.svg"/><Relationship Id="rId36" Type="http://schemas.openxmlformats.org/officeDocument/2006/relationships/image" Target="../media/image47.png"/><Relationship Id="rId49" Type="http://schemas.openxmlformats.org/officeDocument/2006/relationships/image" Target="../media/image60.svg"/><Relationship Id="rId57" Type="http://schemas.openxmlformats.org/officeDocument/2006/relationships/image" Target="../media/image69.emf"/><Relationship Id="rId10" Type="http://schemas.openxmlformats.org/officeDocument/2006/relationships/image" Target="../media/image19.png"/><Relationship Id="rId31" Type="http://schemas.openxmlformats.org/officeDocument/2006/relationships/image" Target="../media/image40.png"/><Relationship Id="rId44" Type="http://schemas.openxmlformats.org/officeDocument/2006/relationships/image" Target="../media/image55.png"/><Relationship Id="rId52" Type="http://schemas.openxmlformats.org/officeDocument/2006/relationships/image" Target="../media/image63.png"/><Relationship Id="rId60" Type="http://schemas.openxmlformats.org/officeDocument/2006/relationships/image" Target="../media/image84.emf"/><Relationship Id="rId65" Type="http://schemas.openxmlformats.org/officeDocument/2006/relationships/image" Target="../media/image86.emf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9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svg"/><Relationship Id="rId21" Type="http://schemas.openxmlformats.org/officeDocument/2006/relationships/image" Target="../media/image30.png"/><Relationship Id="rId34" Type="http://schemas.openxmlformats.org/officeDocument/2006/relationships/image" Target="../media/image45.png"/><Relationship Id="rId42" Type="http://schemas.openxmlformats.org/officeDocument/2006/relationships/image" Target="../media/image53.png"/><Relationship Id="rId47" Type="http://schemas.openxmlformats.org/officeDocument/2006/relationships/image" Target="../media/image58.svg"/><Relationship Id="rId50" Type="http://schemas.openxmlformats.org/officeDocument/2006/relationships/image" Target="../media/image61.png"/><Relationship Id="rId55" Type="http://schemas.openxmlformats.org/officeDocument/2006/relationships/image" Target="../media/image66.png"/><Relationship Id="rId63" Type="http://schemas.openxmlformats.org/officeDocument/2006/relationships/image" Target="../media/image78.emf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6" Type="http://schemas.openxmlformats.org/officeDocument/2006/relationships/image" Target="../media/image25.emf"/><Relationship Id="rId29" Type="http://schemas.openxmlformats.org/officeDocument/2006/relationships/image" Target="../media/image38.png"/><Relationship Id="rId11" Type="http://schemas.openxmlformats.org/officeDocument/2006/relationships/image" Target="../media/image87.emf"/><Relationship Id="rId24" Type="http://schemas.openxmlformats.org/officeDocument/2006/relationships/image" Target="../media/image33.svg"/><Relationship Id="rId32" Type="http://schemas.openxmlformats.org/officeDocument/2006/relationships/image" Target="../media/image43.png"/><Relationship Id="rId37" Type="http://schemas.openxmlformats.org/officeDocument/2006/relationships/image" Target="../media/image48.svg"/><Relationship Id="rId40" Type="http://schemas.openxmlformats.org/officeDocument/2006/relationships/image" Target="../media/image51.png"/><Relationship Id="rId45" Type="http://schemas.openxmlformats.org/officeDocument/2006/relationships/image" Target="../media/image56.svg"/><Relationship Id="rId53" Type="http://schemas.openxmlformats.org/officeDocument/2006/relationships/image" Target="../media/image64.png"/><Relationship Id="rId58" Type="http://schemas.openxmlformats.org/officeDocument/2006/relationships/image" Target="../media/image73.emf"/><Relationship Id="rId5" Type="http://schemas.openxmlformats.org/officeDocument/2006/relationships/image" Target="../media/image14.svg"/><Relationship Id="rId61" Type="http://schemas.openxmlformats.org/officeDocument/2006/relationships/image" Target="../media/image76.png"/><Relationship Id="rId19" Type="http://schemas.openxmlformats.org/officeDocument/2006/relationships/image" Target="../media/image28.png"/><Relationship Id="rId14" Type="http://schemas.openxmlformats.org/officeDocument/2006/relationships/image" Target="../media/image23.emf"/><Relationship Id="rId22" Type="http://schemas.openxmlformats.org/officeDocument/2006/relationships/image" Target="../media/image31.svg"/><Relationship Id="rId27" Type="http://schemas.openxmlformats.org/officeDocument/2006/relationships/image" Target="../media/image36.png"/><Relationship Id="rId30" Type="http://schemas.openxmlformats.org/officeDocument/2006/relationships/image" Target="../media/image39.svg"/><Relationship Id="rId35" Type="http://schemas.openxmlformats.org/officeDocument/2006/relationships/image" Target="../media/image46.svg"/><Relationship Id="rId43" Type="http://schemas.openxmlformats.org/officeDocument/2006/relationships/image" Target="../media/image54.svg"/><Relationship Id="rId48" Type="http://schemas.openxmlformats.org/officeDocument/2006/relationships/image" Target="../media/image59.png"/><Relationship Id="rId56" Type="http://schemas.openxmlformats.org/officeDocument/2006/relationships/image" Target="../media/image67.png"/><Relationship Id="rId64" Type="http://schemas.openxmlformats.org/officeDocument/2006/relationships/image" Target="../media/image89.emf"/><Relationship Id="rId8" Type="http://schemas.openxmlformats.org/officeDocument/2006/relationships/image" Target="../media/image17.png"/><Relationship Id="rId51" Type="http://schemas.openxmlformats.org/officeDocument/2006/relationships/image" Target="../media/image62.svg"/><Relationship Id="rId3" Type="http://schemas.openxmlformats.org/officeDocument/2006/relationships/image" Target="../media/image12.svg"/><Relationship Id="rId12" Type="http://schemas.openxmlformats.org/officeDocument/2006/relationships/image" Target="../media/image21.png"/><Relationship Id="rId17" Type="http://schemas.openxmlformats.org/officeDocument/2006/relationships/image" Target="../media/image26.emf"/><Relationship Id="rId25" Type="http://schemas.openxmlformats.org/officeDocument/2006/relationships/image" Target="../media/image34.png"/><Relationship Id="rId33" Type="http://schemas.openxmlformats.org/officeDocument/2006/relationships/image" Target="../media/image44.svg"/><Relationship Id="rId38" Type="http://schemas.openxmlformats.org/officeDocument/2006/relationships/image" Target="../media/image49.png"/><Relationship Id="rId46" Type="http://schemas.openxmlformats.org/officeDocument/2006/relationships/image" Target="../media/image57.png"/><Relationship Id="rId59" Type="http://schemas.openxmlformats.org/officeDocument/2006/relationships/image" Target="../media/image74.emf"/><Relationship Id="rId20" Type="http://schemas.openxmlformats.org/officeDocument/2006/relationships/image" Target="../media/image29.svg"/><Relationship Id="rId41" Type="http://schemas.openxmlformats.org/officeDocument/2006/relationships/image" Target="../media/image52.svg"/><Relationship Id="rId54" Type="http://schemas.openxmlformats.org/officeDocument/2006/relationships/image" Target="../media/image65.svg"/><Relationship Id="rId6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5" Type="http://schemas.openxmlformats.org/officeDocument/2006/relationships/image" Target="../media/image24.emf"/><Relationship Id="rId23" Type="http://schemas.openxmlformats.org/officeDocument/2006/relationships/image" Target="../media/image32.png"/><Relationship Id="rId28" Type="http://schemas.openxmlformats.org/officeDocument/2006/relationships/image" Target="../media/image37.svg"/><Relationship Id="rId36" Type="http://schemas.openxmlformats.org/officeDocument/2006/relationships/image" Target="../media/image47.png"/><Relationship Id="rId49" Type="http://schemas.openxmlformats.org/officeDocument/2006/relationships/image" Target="../media/image60.svg"/><Relationship Id="rId57" Type="http://schemas.openxmlformats.org/officeDocument/2006/relationships/image" Target="../media/image69.emf"/><Relationship Id="rId10" Type="http://schemas.openxmlformats.org/officeDocument/2006/relationships/image" Target="../media/image19.png"/><Relationship Id="rId31" Type="http://schemas.openxmlformats.org/officeDocument/2006/relationships/image" Target="../media/image40.png"/><Relationship Id="rId44" Type="http://schemas.openxmlformats.org/officeDocument/2006/relationships/image" Target="../media/image55.png"/><Relationship Id="rId52" Type="http://schemas.openxmlformats.org/officeDocument/2006/relationships/image" Target="../media/image63.png"/><Relationship Id="rId60" Type="http://schemas.openxmlformats.org/officeDocument/2006/relationships/image" Target="../media/image88.emf"/><Relationship Id="rId65" Type="http://schemas.openxmlformats.org/officeDocument/2006/relationships/image" Target="../media/image90.emf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9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svg"/><Relationship Id="rId21" Type="http://schemas.openxmlformats.org/officeDocument/2006/relationships/image" Target="../media/image30.png"/><Relationship Id="rId34" Type="http://schemas.openxmlformats.org/officeDocument/2006/relationships/image" Target="../media/image45.png"/><Relationship Id="rId42" Type="http://schemas.openxmlformats.org/officeDocument/2006/relationships/image" Target="../media/image53.png"/><Relationship Id="rId47" Type="http://schemas.openxmlformats.org/officeDocument/2006/relationships/image" Target="../media/image58.svg"/><Relationship Id="rId50" Type="http://schemas.openxmlformats.org/officeDocument/2006/relationships/image" Target="../media/image61.png"/><Relationship Id="rId55" Type="http://schemas.openxmlformats.org/officeDocument/2006/relationships/image" Target="../media/image66.png"/><Relationship Id="rId63" Type="http://schemas.openxmlformats.org/officeDocument/2006/relationships/image" Target="../media/image78.emf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6" Type="http://schemas.openxmlformats.org/officeDocument/2006/relationships/image" Target="../media/image25.emf"/><Relationship Id="rId29" Type="http://schemas.openxmlformats.org/officeDocument/2006/relationships/image" Target="../media/image38.png"/><Relationship Id="rId11" Type="http://schemas.openxmlformats.org/officeDocument/2006/relationships/image" Target="../media/image91.emf"/><Relationship Id="rId24" Type="http://schemas.openxmlformats.org/officeDocument/2006/relationships/image" Target="../media/image33.svg"/><Relationship Id="rId32" Type="http://schemas.openxmlformats.org/officeDocument/2006/relationships/image" Target="../media/image43.png"/><Relationship Id="rId37" Type="http://schemas.openxmlformats.org/officeDocument/2006/relationships/image" Target="../media/image48.svg"/><Relationship Id="rId40" Type="http://schemas.openxmlformats.org/officeDocument/2006/relationships/image" Target="../media/image51.png"/><Relationship Id="rId45" Type="http://schemas.openxmlformats.org/officeDocument/2006/relationships/image" Target="../media/image56.svg"/><Relationship Id="rId53" Type="http://schemas.openxmlformats.org/officeDocument/2006/relationships/image" Target="../media/image64.png"/><Relationship Id="rId58" Type="http://schemas.openxmlformats.org/officeDocument/2006/relationships/image" Target="../media/image73.emf"/><Relationship Id="rId5" Type="http://schemas.openxmlformats.org/officeDocument/2006/relationships/image" Target="../media/image14.svg"/><Relationship Id="rId61" Type="http://schemas.openxmlformats.org/officeDocument/2006/relationships/image" Target="../media/image76.png"/><Relationship Id="rId19" Type="http://schemas.openxmlformats.org/officeDocument/2006/relationships/image" Target="../media/image28.png"/><Relationship Id="rId14" Type="http://schemas.openxmlformats.org/officeDocument/2006/relationships/image" Target="../media/image23.emf"/><Relationship Id="rId22" Type="http://schemas.openxmlformats.org/officeDocument/2006/relationships/image" Target="../media/image31.svg"/><Relationship Id="rId27" Type="http://schemas.openxmlformats.org/officeDocument/2006/relationships/image" Target="../media/image36.png"/><Relationship Id="rId30" Type="http://schemas.openxmlformats.org/officeDocument/2006/relationships/image" Target="../media/image39.svg"/><Relationship Id="rId35" Type="http://schemas.openxmlformats.org/officeDocument/2006/relationships/image" Target="../media/image46.svg"/><Relationship Id="rId43" Type="http://schemas.openxmlformats.org/officeDocument/2006/relationships/image" Target="../media/image54.svg"/><Relationship Id="rId48" Type="http://schemas.openxmlformats.org/officeDocument/2006/relationships/image" Target="../media/image59.png"/><Relationship Id="rId56" Type="http://schemas.openxmlformats.org/officeDocument/2006/relationships/image" Target="../media/image67.png"/><Relationship Id="rId64" Type="http://schemas.openxmlformats.org/officeDocument/2006/relationships/image" Target="../media/image93.emf"/><Relationship Id="rId8" Type="http://schemas.openxmlformats.org/officeDocument/2006/relationships/image" Target="../media/image17.png"/><Relationship Id="rId51" Type="http://schemas.openxmlformats.org/officeDocument/2006/relationships/image" Target="../media/image62.svg"/><Relationship Id="rId3" Type="http://schemas.openxmlformats.org/officeDocument/2006/relationships/image" Target="../media/image12.svg"/><Relationship Id="rId12" Type="http://schemas.openxmlformats.org/officeDocument/2006/relationships/image" Target="../media/image21.png"/><Relationship Id="rId17" Type="http://schemas.openxmlformats.org/officeDocument/2006/relationships/image" Target="../media/image26.emf"/><Relationship Id="rId25" Type="http://schemas.openxmlformats.org/officeDocument/2006/relationships/image" Target="../media/image34.png"/><Relationship Id="rId33" Type="http://schemas.openxmlformats.org/officeDocument/2006/relationships/image" Target="../media/image44.svg"/><Relationship Id="rId38" Type="http://schemas.openxmlformats.org/officeDocument/2006/relationships/image" Target="../media/image49.png"/><Relationship Id="rId46" Type="http://schemas.openxmlformats.org/officeDocument/2006/relationships/image" Target="../media/image57.png"/><Relationship Id="rId59" Type="http://schemas.openxmlformats.org/officeDocument/2006/relationships/image" Target="../media/image74.emf"/><Relationship Id="rId20" Type="http://schemas.openxmlformats.org/officeDocument/2006/relationships/image" Target="../media/image29.svg"/><Relationship Id="rId41" Type="http://schemas.openxmlformats.org/officeDocument/2006/relationships/image" Target="../media/image52.svg"/><Relationship Id="rId54" Type="http://schemas.openxmlformats.org/officeDocument/2006/relationships/image" Target="../media/image65.svg"/><Relationship Id="rId6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5" Type="http://schemas.openxmlformats.org/officeDocument/2006/relationships/image" Target="../media/image24.emf"/><Relationship Id="rId23" Type="http://schemas.openxmlformats.org/officeDocument/2006/relationships/image" Target="../media/image32.png"/><Relationship Id="rId28" Type="http://schemas.openxmlformats.org/officeDocument/2006/relationships/image" Target="../media/image37.svg"/><Relationship Id="rId36" Type="http://schemas.openxmlformats.org/officeDocument/2006/relationships/image" Target="../media/image47.png"/><Relationship Id="rId49" Type="http://schemas.openxmlformats.org/officeDocument/2006/relationships/image" Target="../media/image60.svg"/><Relationship Id="rId57" Type="http://schemas.openxmlformats.org/officeDocument/2006/relationships/image" Target="../media/image69.emf"/><Relationship Id="rId10" Type="http://schemas.openxmlformats.org/officeDocument/2006/relationships/image" Target="../media/image19.png"/><Relationship Id="rId31" Type="http://schemas.openxmlformats.org/officeDocument/2006/relationships/image" Target="../media/image40.png"/><Relationship Id="rId44" Type="http://schemas.openxmlformats.org/officeDocument/2006/relationships/image" Target="../media/image55.png"/><Relationship Id="rId52" Type="http://schemas.openxmlformats.org/officeDocument/2006/relationships/image" Target="../media/image63.png"/><Relationship Id="rId60" Type="http://schemas.openxmlformats.org/officeDocument/2006/relationships/image" Target="../media/image92.emf"/><Relationship Id="rId65" Type="http://schemas.openxmlformats.org/officeDocument/2006/relationships/image" Target="../media/image94.emf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9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image" Target="../media/image29.svg"/><Relationship Id="rId34" Type="http://schemas.openxmlformats.org/officeDocument/2006/relationships/image" Target="../media/image72.png"/><Relationship Id="rId42" Type="http://schemas.openxmlformats.org/officeDocument/2006/relationships/image" Target="../media/image51.png"/><Relationship Id="rId47" Type="http://schemas.openxmlformats.org/officeDocument/2006/relationships/image" Target="../media/image56.svg"/><Relationship Id="rId50" Type="http://schemas.openxmlformats.org/officeDocument/2006/relationships/image" Target="../media/image59.png"/><Relationship Id="rId55" Type="http://schemas.openxmlformats.org/officeDocument/2006/relationships/image" Target="../media/image64.png"/><Relationship Id="rId63" Type="http://schemas.openxmlformats.org/officeDocument/2006/relationships/image" Target="../media/image71.svg"/><Relationship Id="rId7" Type="http://schemas.openxmlformats.org/officeDocument/2006/relationships/image" Target="../media/image18.png"/><Relationship Id="rId2" Type="http://schemas.openxmlformats.org/officeDocument/2006/relationships/image" Target="../media/image47.png"/><Relationship Id="rId16" Type="http://schemas.openxmlformats.org/officeDocument/2006/relationships/image" Target="../media/image26.emf"/><Relationship Id="rId29" Type="http://schemas.openxmlformats.org/officeDocument/2006/relationships/image" Target="../media/image39.svg"/><Relationship Id="rId11" Type="http://schemas.openxmlformats.org/officeDocument/2006/relationships/image" Target="../media/image97.emf"/><Relationship Id="rId24" Type="http://schemas.openxmlformats.org/officeDocument/2006/relationships/image" Target="../media/image34.png"/><Relationship Id="rId32" Type="http://schemas.openxmlformats.org/officeDocument/2006/relationships/image" Target="../media/image12.svg"/><Relationship Id="rId37" Type="http://schemas.openxmlformats.org/officeDocument/2006/relationships/image" Target="../media/image33.svg"/><Relationship Id="rId40" Type="http://schemas.openxmlformats.org/officeDocument/2006/relationships/image" Target="../media/image45.png"/><Relationship Id="rId45" Type="http://schemas.openxmlformats.org/officeDocument/2006/relationships/image" Target="../media/image54.svg"/><Relationship Id="rId53" Type="http://schemas.openxmlformats.org/officeDocument/2006/relationships/image" Target="../media/image62.svg"/><Relationship Id="rId58" Type="http://schemas.openxmlformats.org/officeDocument/2006/relationships/image" Target="../media/image74.emf"/><Relationship Id="rId5" Type="http://schemas.openxmlformats.org/officeDocument/2006/relationships/image" Target="../media/image14.svg"/><Relationship Id="rId61" Type="http://schemas.openxmlformats.org/officeDocument/2006/relationships/image" Target="../media/image69.emf"/><Relationship Id="rId19" Type="http://schemas.openxmlformats.org/officeDocument/2006/relationships/image" Target="../media/image42.emf"/><Relationship Id="rId14" Type="http://schemas.openxmlformats.org/officeDocument/2006/relationships/image" Target="../media/image24.emf"/><Relationship Id="rId22" Type="http://schemas.openxmlformats.org/officeDocument/2006/relationships/image" Target="../media/image30.png"/><Relationship Id="rId27" Type="http://schemas.openxmlformats.org/officeDocument/2006/relationships/image" Target="../media/image37.svg"/><Relationship Id="rId30" Type="http://schemas.openxmlformats.org/officeDocument/2006/relationships/image" Target="../media/image40.png"/><Relationship Id="rId35" Type="http://schemas.openxmlformats.org/officeDocument/2006/relationships/image" Target="../media/image27.png"/><Relationship Id="rId43" Type="http://schemas.openxmlformats.org/officeDocument/2006/relationships/image" Target="../media/image52.svg"/><Relationship Id="rId48" Type="http://schemas.openxmlformats.org/officeDocument/2006/relationships/image" Target="../media/image57.png"/><Relationship Id="rId56" Type="http://schemas.openxmlformats.org/officeDocument/2006/relationships/image" Target="../media/image65.svg"/><Relationship Id="rId64" Type="http://schemas.openxmlformats.org/officeDocument/2006/relationships/image" Target="../media/image68.png"/><Relationship Id="rId8" Type="http://schemas.openxmlformats.org/officeDocument/2006/relationships/image" Target="../media/image15.png"/><Relationship Id="rId51" Type="http://schemas.openxmlformats.org/officeDocument/2006/relationships/image" Target="../media/image60.svg"/><Relationship Id="rId3" Type="http://schemas.openxmlformats.org/officeDocument/2006/relationships/image" Target="../media/image48.svg"/><Relationship Id="rId12" Type="http://schemas.openxmlformats.org/officeDocument/2006/relationships/image" Target="../media/image82.emf"/><Relationship Id="rId17" Type="http://schemas.openxmlformats.org/officeDocument/2006/relationships/image" Target="../media/image21.png"/><Relationship Id="rId25" Type="http://schemas.openxmlformats.org/officeDocument/2006/relationships/image" Target="../media/image35.svg"/><Relationship Id="rId33" Type="http://schemas.openxmlformats.org/officeDocument/2006/relationships/image" Target="../media/image50.png"/><Relationship Id="rId38" Type="http://schemas.openxmlformats.org/officeDocument/2006/relationships/image" Target="../media/image43.png"/><Relationship Id="rId46" Type="http://schemas.openxmlformats.org/officeDocument/2006/relationships/image" Target="../media/image55.png"/><Relationship Id="rId59" Type="http://schemas.openxmlformats.org/officeDocument/2006/relationships/image" Target="../media/image49.png"/><Relationship Id="rId20" Type="http://schemas.openxmlformats.org/officeDocument/2006/relationships/image" Target="../media/image28.png"/><Relationship Id="rId41" Type="http://schemas.openxmlformats.org/officeDocument/2006/relationships/image" Target="../media/image46.svg"/><Relationship Id="rId54" Type="http://schemas.openxmlformats.org/officeDocument/2006/relationships/image" Target="../media/image63.png"/><Relationship Id="rId6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5" Type="http://schemas.openxmlformats.org/officeDocument/2006/relationships/image" Target="../media/image25.emf"/><Relationship Id="rId23" Type="http://schemas.openxmlformats.org/officeDocument/2006/relationships/image" Target="../media/image31.svg"/><Relationship Id="rId28" Type="http://schemas.openxmlformats.org/officeDocument/2006/relationships/image" Target="../media/image38.png"/><Relationship Id="rId36" Type="http://schemas.openxmlformats.org/officeDocument/2006/relationships/image" Target="../media/image32.png"/><Relationship Id="rId49" Type="http://schemas.openxmlformats.org/officeDocument/2006/relationships/image" Target="../media/image58.svg"/><Relationship Id="rId57" Type="http://schemas.openxmlformats.org/officeDocument/2006/relationships/image" Target="../media/image73.emf"/><Relationship Id="rId10" Type="http://schemas.openxmlformats.org/officeDocument/2006/relationships/image" Target="../media/image19.png"/><Relationship Id="rId31" Type="http://schemas.openxmlformats.org/officeDocument/2006/relationships/image" Target="../media/image11.png"/><Relationship Id="rId44" Type="http://schemas.openxmlformats.org/officeDocument/2006/relationships/image" Target="../media/image53.png"/><Relationship Id="rId52" Type="http://schemas.openxmlformats.org/officeDocument/2006/relationships/image" Target="../media/image61.png"/><Relationship Id="rId60" Type="http://schemas.openxmlformats.org/officeDocument/2006/relationships/image" Target="../media/image67.png"/><Relationship Id="rId65" Type="http://schemas.openxmlformats.org/officeDocument/2006/relationships/image" Target="../media/image79.emf"/><Relationship Id="rId4" Type="http://schemas.openxmlformats.org/officeDocument/2006/relationships/image" Target="../media/image13.png"/><Relationship Id="rId9" Type="http://schemas.openxmlformats.org/officeDocument/2006/relationships/image" Target="../media/image16.svg"/><Relationship Id="rId13" Type="http://schemas.openxmlformats.org/officeDocument/2006/relationships/image" Target="../media/image23.emf"/><Relationship Id="rId18" Type="http://schemas.openxmlformats.org/officeDocument/2006/relationships/image" Target="../media/image41.png"/><Relationship Id="rId39" Type="http://schemas.openxmlformats.org/officeDocument/2006/relationships/image" Target="../media/image44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svg"/><Relationship Id="rId13" Type="http://schemas.openxmlformats.org/officeDocument/2006/relationships/image" Target="../media/image34.png"/><Relationship Id="rId18" Type="http://schemas.openxmlformats.org/officeDocument/2006/relationships/image" Target="../media/image39.svg"/><Relationship Id="rId3" Type="http://schemas.openxmlformats.org/officeDocument/2006/relationships/image" Target="../media/image48.svg"/><Relationship Id="rId7" Type="http://schemas.openxmlformats.org/officeDocument/2006/relationships/image" Target="../media/image98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image" Target="../media/image47.png"/><Relationship Id="rId16" Type="http://schemas.openxmlformats.org/officeDocument/2006/relationships/image" Target="../media/image3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11" Type="http://schemas.openxmlformats.org/officeDocument/2006/relationships/image" Target="../media/image30.png"/><Relationship Id="rId5" Type="http://schemas.openxmlformats.org/officeDocument/2006/relationships/image" Target="../media/image18.png"/><Relationship Id="rId15" Type="http://schemas.openxmlformats.org/officeDocument/2006/relationships/image" Target="../media/image36.png"/><Relationship Id="rId10" Type="http://schemas.openxmlformats.org/officeDocument/2006/relationships/image" Target="../media/image29.svg"/><Relationship Id="rId19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28.png"/><Relationship Id="rId14" Type="http://schemas.openxmlformats.org/officeDocument/2006/relationships/image" Target="../media/image35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svg"/><Relationship Id="rId13" Type="http://schemas.openxmlformats.org/officeDocument/2006/relationships/image" Target="../media/image34.png"/><Relationship Id="rId18" Type="http://schemas.openxmlformats.org/officeDocument/2006/relationships/image" Target="../media/image39.svg"/><Relationship Id="rId3" Type="http://schemas.openxmlformats.org/officeDocument/2006/relationships/image" Target="../media/image48.svg"/><Relationship Id="rId7" Type="http://schemas.openxmlformats.org/officeDocument/2006/relationships/image" Target="../media/image98.png"/><Relationship Id="rId12" Type="http://schemas.openxmlformats.org/officeDocument/2006/relationships/image" Target="../media/image31.svg"/><Relationship Id="rId17" Type="http://schemas.openxmlformats.org/officeDocument/2006/relationships/image" Target="../media/image38.png"/><Relationship Id="rId2" Type="http://schemas.openxmlformats.org/officeDocument/2006/relationships/image" Target="../media/image47.png"/><Relationship Id="rId16" Type="http://schemas.openxmlformats.org/officeDocument/2006/relationships/image" Target="../media/image37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11" Type="http://schemas.openxmlformats.org/officeDocument/2006/relationships/image" Target="../media/image30.png"/><Relationship Id="rId5" Type="http://schemas.openxmlformats.org/officeDocument/2006/relationships/image" Target="../media/image18.png"/><Relationship Id="rId15" Type="http://schemas.openxmlformats.org/officeDocument/2006/relationships/image" Target="../media/image36.png"/><Relationship Id="rId10" Type="http://schemas.openxmlformats.org/officeDocument/2006/relationships/image" Target="../media/image29.svg"/><Relationship Id="rId19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28.png"/><Relationship Id="rId14" Type="http://schemas.openxmlformats.org/officeDocument/2006/relationships/image" Target="../media/image35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13" Type="http://schemas.openxmlformats.org/officeDocument/2006/relationships/image" Target="../media/image98.png"/><Relationship Id="rId18" Type="http://schemas.openxmlformats.org/officeDocument/2006/relationships/image" Target="../media/image100.png"/><Relationship Id="rId3" Type="http://schemas.openxmlformats.org/officeDocument/2006/relationships/image" Target="../media/image15.png"/><Relationship Id="rId7" Type="http://schemas.openxmlformats.org/officeDocument/2006/relationships/image" Target="../media/image47.png"/><Relationship Id="rId12" Type="http://schemas.openxmlformats.org/officeDocument/2006/relationships/image" Target="../media/image67.png"/><Relationship Id="rId17" Type="http://schemas.openxmlformats.org/officeDocument/2006/relationships/image" Target="../media/image40.png"/><Relationship Id="rId2" Type="http://schemas.openxmlformats.org/officeDocument/2006/relationships/image" Target="../media/image10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svg"/><Relationship Id="rId11" Type="http://schemas.openxmlformats.org/officeDocument/2006/relationships/image" Target="../media/image49.png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openxmlformats.org/officeDocument/2006/relationships/image" Target="../media/image72.png"/><Relationship Id="rId4" Type="http://schemas.openxmlformats.org/officeDocument/2006/relationships/image" Target="../media/image16.svg"/><Relationship Id="rId9" Type="http://schemas.openxmlformats.org/officeDocument/2006/relationships/image" Target="../media/image50.png"/><Relationship Id="rId14" Type="http://schemas.openxmlformats.org/officeDocument/2006/relationships/image" Target="../media/image99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67.png"/><Relationship Id="rId18" Type="http://schemas.openxmlformats.org/officeDocument/2006/relationships/image" Target="../media/image40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49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11" Type="http://schemas.openxmlformats.org/officeDocument/2006/relationships/image" Target="../media/image72.png"/><Relationship Id="rId5" Type="http://schemas.openxmlformats.org/officeDocument/2006/relationships/image" Target="../media/image16.svg"/><Relationship Id="rId15" Type="http://schemas.openxmlformats.org/officeDocument/2006/relationships/image" Target="../media/image99.svg"/><Relationship Id="rId10" Type="http://schemas.openxmlformats.org/officeDocument/2006/relationships/image" Target="../media/image50.png"/><Relationship Id="rId19" Type="http://schemas.openxmlformats.org/officeDocument/2006/relationships/image" Target="../media/image100.png"/><Relationship Id="rId4" Type="http://schemas.openxmlformats.org/officeDocument/2006/relationships/image" Target="../media/image15.png"/><Relationship Id="rId9" Type="http://schemas.openxmlformats.org/officeDocument/2006/relationships/image" Target="../media/image48.svg"/><Relationship Id="rId14" Type="http://schemas.openxmlformats.org/officeDocument/2006/relationships/image" Target="../media/image9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13" Type="http://schemas.openxmlformats.org/officeDocument/2006/relationships/image" Target="../media/image49.png"/><Relationship Id="rId1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47.png"/><Relationship Id="rId12" Type="http://schemas.openxmlformats.org/officeDocument/2006/relationships/image" Target="../media/image72.png"/><Relationship Id="rId17" Type="http://schemas.openxmlformats.org/officeDocument/2006/relationships/image" Target="../media/image19.png"/><Relationship Id="rId2" Type="http://schemas.openxmlformats.org/officeDocument/2006/relationships/image" Target="../media/image10.png"/><Relationship Id="rId16" Type="http://schemas.openxmlformats.org/officeDocument/2006/relationships/image" Target="../media/image99.sv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svg"/><Relationship Id="rId11" Type="http://schemas.openxmlformats.org/officeDocument/2006/relationships/image" Target="../media/image40.png"/><Relationship Id="rId5" Type="http://schemas.openxmlformats.org/officeDocument/2006/relationships/image" Target="../media/image13.png"/><Relationship Id="rId15" Type="http://schemas.openxmlformats.org/officeDocument/2006/relationships/image" Target="../media/image98.png"/><Relationship Id="rId10" Type="http://schemas.openxmlformats.org/officeDocument/2006/relationships/image" Target="../media/image17.png"/><Relationship Id="rId4" Type="http://schemas.openxmlformats.org/officeDocument/2006/relationships/image" Target="../media/image16.svg"/><Relationship Id="rId9" Type="http://schemas.openxmlformats.org/officeDocument/2006/relationships/image" Target="../media/image50.png"/><Relationship Id="rId14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72.png"/><Relationship Id="rId1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40.png"/><Relationship Id="rId17" Type="http://schemas.openxmlformats.org/officeDocument/2006/relationships/image" Target="../media/image99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6.svg"/><Relationship Id="rId15" Type="http://schemas.openxmlformats.org/officeDocument/2006/relationships/image" Target="../media/image67.png"/><Relationship Id="rId10" Type="http://schemas.openxmlformats.org/officeDocument/2006/relationships/image" Target="../media/image50.png"/><Relationship Id="rId19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48.svg"/><Relationship Id="rId1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105.png"/><Relationship Id="rId3" Type="http://schemas.openxmlformats.org/officeDocument/2006/relationships/image" Target="../media/image10.png"/><Relationship Id="rId7" Type="http://schemas.openxmlformats.org/officeDocument/2006/relationships/image" Target="../media/image16.sv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png"/><Relationship Id="rId11" Type="http://schemas.openxmlformats.org/officeDocument/2006/relationships/image" Target="../media/image103.png"/><Relationship Id="rId5" Type="http://schemas.openxmlformats.org/officeDocument/2006/relationships/image" Target="../media/image48.svg"/><Relationship Id="rId10" Type="http://schemas.openxmlformats.org/officeDocument/2006/relationships/image" Target="../media/image102.svg"/><Relationship Id="rId4" Type="http://schemas.openxmlformats.org/officeDocument/2006/relationships/image" Target="../media/image47.png"/><Relationship Id="rId9" Type="http://schemas.openxmlformats.org/officeDocument/2006/relationships/image" Target="../media/image10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10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6.png"/><Relationship Id="rId5" Type="http://schemas.openxmlformats.org/officeDocument/2006/relationships/image" Target="../media/image72.png"/><Relationship Id="rId4" Type="http://schemas.openxmlformats.org/officeDocument/2006/relationships/image" Target="../media/image48.sv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ext Placeholder 9">
            <a:extLst>
              <a:ext uri="{FF2B5EF4-FFF2-40B4-BE49-F238E27FC236}">
                <a16:creationId xmlns:a16="http://schemas.microsoft.com/office/drawing/2014/main" id="{DDE8A86E-0F66-4E12-7E4B-EEF452589119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>
          <a:xfrm>
            <a:off x="609600" y="4349750"/>
            <a:ext cx="3797300" cy="369888"/>
          </a:xfrm>
        </p:spPr>
        <p:txBody>
          <a:bodyPr/>
          <a:lstStyle/>
          <a:p>
            <a:pPr>
              <a:spcAft>
                <a:spcPct val="0"/>
              </a:spcAft>
            </a:pPr>
            <a:r>
              <a:rPr lang="en-US" altLang="ko-KR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2024.06.02</a:t>
            </a:r>
          </a:p>
        </p:txBody>
      </p:sp>
      <p:sp>
        <p:nvSpPr>
          <p:cNvPr id="73730" name="Text Placeholder 10">
            <a:extLst>
              <a:ext uri="{FF2B5EF4-FFF2-40B4-BE49-F238E27FC236}">
                <a16:creationId xmlns:a16="http://schemas.microsoft.com/office/drawing/2014/main" id="{9622681F-CE4A-47E9-3640-D90C8CCD0D94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>
          <a:xfrm>
            <a:off x="609600" y="4762500"/>
            <a:ext cx="3797300" cy="315343"/>
          </a:xfrm>
        </p:spPr>
        <p:txBody>
          <a:bodyPr/>
          <a:lstStyle/>
          <a:p>
            <a:r>
              <a:rPr lang="en-US" altLang="ko-KR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Korea</a:t>
            </a:r>
          </a:p>
        </p:txBody>
      </p:sp>
      <p:sp>
        <p:nvSpPr>
          <p:cNvPr id="73732" name="Title 6">
            <a:extLst>
              <a:ext uri="{FF2B5EF4-FFF2-40B4-BE49-F238E27FC236}">
                <a16:creationId xmlns:a16="http://schemas.microsoft.com/office/drawing/2014/main" id="{907B50F0-70C7-FC12-B243-2CA4A95167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599" y="2125663"/>
            <a:ext cx="11455731" cy="649858"/>
          </a:xfrm>
        </p:spPr>
        <p:txBody>
          <a:bodyPr/>
          <a:lstStyle/>
          <a:p>
            <a:r>
              <a:rPr lang="ko-KR" altLang="en-US" sz="4000" dirty="0"/>
              <a:t>당근을 위한 </a:t>
            </a:r>
            <a:r>
              <a:rPr lang="en-US" altLang="ko-KR" sz="4000" dirty="0"/>
              <a:t>AWS WADD </a:t>
            </a:r>
            <a:r>
              <a:rPr lang="en-US" altLang="ko-KR" sz="2000" dirty="0"/>
              <a:t>(Well-Architected</a:t>
            </a:r>
            <a:r>
              <a:rPr lang="ko-KR" altLang="en-US" sz="2000" dirty="0"/>
              <a:t> </a:t>
            </a:r>
            <a:r>
              <a:rPr lang="en-US" altLang="ko-KR" sz="2000" dirty="0"/>
              <a:t>Dive</a:t>
            </a:r>
            <a:r>
              <a:rPr lang="ko-KR" altLang="en-US" sz="2000" dirty="0"/>
              <a:t> </a:t>
            </a:r>
            <a:r>
              <a:rPr lang="en-US" altLang="ko-KR" sz="2000" dirty="0"/>
              <a:t>Deep)</a:t>
            </a:r>
            <a:r>
              <a:rPr lang="en-US" altLang="ko-KR" sz="4000" dirty="0"/>
              <a:t> </a:t>
            </a:r>
            <a:r>
              <a:rPr lang="ko-KR" altLang="en-US" sz="4000" dirty="0"/>
              <a:t>제언</a:t>
            </a:r>
            <a:endParaRPr lang="en-US" altLang="ko-KR" sz="4000" dirty="0"/>
          </a:p>
        </p:txBody>
      </p:sp>
      <p:pic>
        <p:nvPicPr>
          <p:cNvPr id="1026" name="Picture 2" descr="중고거래, 동네생활 질문글, 알바와 동네업체">
            <a:extLst>
              <a:ext uri="{FF2B5EF4-FFF2-40B4-BE49-F238E27FC236}">
                <a16:creationId xmlns:a16="http://schemas.microsoft.com/office/drawing/2014/main" id="{B6299AF0-6B82-E072-B354-8ABDE3E4F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561" y="-214853"/>
            <a:ext cx="171569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479C15B-BA0D-16EE-EDE1-3146119EA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319"/>
            <a:ext cx="8485632" cy="761362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비용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D379A-34FD-7FEB-2443-2B27E9EEF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25123-0BE0-0B49-AC9E-53D67095655F}" type="slidenum">
              <a:rPr lang="en-US" altLang="ko-KR" smtClean="0"/>
              <a:pPr/>
              <a:t>2</a:t>
            </a:fld>
            <a:endParaRPr lang="en-US" altLang="ko-KR"/>
          </a:p>
        </p:txBody>
      </p:sp>
      <p:pic>
        <p:nvPicPr>
          <p:cNvPr id="2" name="Picture 2" descr="중고거래, 동네생활 질문글, 알바와 동네업체">
            <a:extLst>
              <a:ext uri="{FF2B5EF4-FFF2-40B4-BE49-F238E27FC236}">
                <a16:creationId xmlns:a16="http://schemas.microsoft.com/office/drawing/2014/main" id="{8074D94F-1A78-11EE-9342-647C1E528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561" y="-214853"/>
            <a:ext cx="171569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06336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전체 서비스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3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1255842" y="1686634"/>
            <a:ext cx="36929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전체 비용 및 서비스 주요 사용량 분석 지표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89335" y="1683123"/>
            <a:ext cx="34807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요약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75031"/>
            <a:ext cx="116752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사용량은 지난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개월 동안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26%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증가했으며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지난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개월 동안은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2%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증가했습니다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주요 서비스별로 살펴보면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EC2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사용량은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개월 평균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21%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EC2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기타 사용량은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개월 평균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5%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증가했으며 타사 대비 비중이 높습니다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en-US" altLang="ko-KR" sz="1400" b="1" dirty="0" err="1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ElastiCache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DynamoDB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각각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개월 평균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2%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증가했고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RDS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변화가 없었습니다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기타 서비스는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개월 평균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1% </a:t>
            </a:r>
            <a:r>
              <a:rPr lang="ko-KR" altLang="en-US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증가했습니다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graphicFrame>
        <p:nvGraphicFramePr>
          <p:cNvPr id="2" name="Chart 9">
            <a:extLst>
              <a:ext uri="{FF2B5EF4-FFF2-40B4-BE49-F238E27FC236}">
                <a16:creationId xmlns:a16="http://schemas.microsoft.com/office/drawing/2014/main" id="{4722A37F-089D-F8F9-F22E-EBAEF509B0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0370662"/>
              </p:ext>
            </p:extLst>
          </p:nvPr>
        </p:nvGraphicFramePr>
        <p:xfrm>
          <a:off x="411489" y="2156151"/>
          <a:ext cx="5380758" cy="2400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7E34B14-0F0D-C91F-8410-A0CFF08A9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323265"/>
              </p:ext>
            </p:extLst>
          </p:nvPr>
        </p:nvGraphicFramePr>
        <p:xfrm>
          <a:off x="412373" y="4610100"/>
          <a:ext cx="5379874" cy="1815106"/>
        </p:xfrm>
        <a:graphic>
          <a:graphicData uri="http://schemas.openxmlformats.org/drawingml/2006/table">
            <a:tbl>
              <a:tblPr/>
              <a:tblGrid>
                <a:gridCol w="275449">
                  <a:extLst>
                    <a:ext uri="{9D8B030D-6E8A-4147-A177-3AD203B41FA5}">
                      <a16:colId xmlns:a16="http://schemas.microsoft.com/office/drawing/2014/main" val="1079832226"/>
                    </a:ext>
                  </a:extLst>
                </a:gridCol>
                <a:gridCol w="275449">
                  <a:extLst>
                    <a:ext uri="{9D8B030D-6E8A-4147-A177-3AD203B41FA5}">
                      <a16:colId xmlns:a16="http://schemas.microsoft.com/office/drawing/2014/main" val="3385294728"/>
                    </a:ext>
                  </a:extLst>
                </a:gridCol>
                <a:gridCol w="1071670">
                  <a:extLst>
                    <a:ext uri="{9D8B030D-6E8A-4147-A177-3AD203B41FA5}">
                      <a16:colId xmlns:a16="http://schemas.microsoft.com/office/drawing/2014/main" val="1796468940"/>
                    </a:ext>
                  </a:extLst>
                </a:gridCol>
                <a:gridCol w="1071670">
                  <a:extLst>
                    <a:ext uri="{9D8B030D-6E8A-4147-A177-3AD203B41FA5}">
                      <a16:colId xmlns:a16="http://schemas.microsoft.com/office/drawing/2014/main" val="4173864263"/>
                    </a:ext>
                  </a:extLst>
                </a:gridCol>
                <a:gridCol w="1342818">
                  <a:extLst>
                    <a:ext uri="{9D8B030D-6E8A-4147-A177-3AD203B41FA5}">
                      <a16:colId xmlns:a16="http://schemas.microsoft.com/office/drawing/2014/main" val="3631026706"/>
                    </a:ext>
                  </a:extLst>
                </a:gridCol>
                <a:gridCol w="1342818">
                  <a:extLst>
                    <a:ext uri="{9D8B030D-6E8A-4147-A177-3AD203B41FA5}">
                      <a16:colId xmlns:a16="http://schemas.microsoft.com/office/drawing/2014/main" val="1750043733"/>
                    </a:ext>
                  </a:extLst>
                </a:gridCol>
              </a:tblGrid>
              <a:tr h="14383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 dirty="0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2024</a:t>
                      </a:r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년 </a:t>
                      </a:r>
                      <a:r>
                        <a:rPr lang="en-US" altLang="ko-K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</a:t>
                      </a:r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월 기준</a:t>
                      </a:r>
                      <a:endParaRPr 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</a:t>
                      </a:r>
                      <a:r>
                        <a:rPr lang="ko-KR" altLang="en-US" sz="900" b="1" i="0" u="none" strike="noStrike" dirty="0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개월 평균 증가 수치</a:t>
                      </a:r>
                      <a:endParaRPr lang="en-US" sz="900" b="1" i="0" u="none" strike="noStrike" dirty="0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471883"/>
                  </a:ext>
                </a:extLst>
              </a:tr>
              <a:tr h="143839"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1" i="0" u="none" strike="noStrike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2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244908"/>
                  </a:ext>
                </a:extLst>
              </a:tr>
              <a:tr h="215758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EC2-Instances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$449,044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+2%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2D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56860"/>
                  </a:ext>
                </a:extLst>
              </a:tr>
              <a:tr h="215758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EC2-Other</a:t>
                      </a:r>
                      <a:r>
                        <a:rPr lang="ko-KR" altLang="en-US" sz="1000" b="1" i="0" u="none" strike="noStrike" dirty="0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(NATGW, </a:t>
                      </a:r>
                      <a:r>
                        <a:rPr lang="ko-KR" altLang="en-US" sz="1000" b="1" i="0" u="none" strike="noStrike" dirty="0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데이터전송 등</a:t>
                      </a:r>
                      <a:r>
                        <a:rPr lang="en-US" altLang="ko-KR" sz="1000" b="1" i="0" u="none" strike="noStrike" dirty="0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$187,661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+5%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898252"/>
                  </a:ext>
                </a:extLst>
              </a:tr>
              <a:tr h="215758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ElastiCache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$180,673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+2%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891680"/>
                  </a:ext>
                </a:extLst>
              </a:tr>
              <a:tr h="215758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DynamoDB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$162,396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+2%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215055"/>
                  </a:ext>
                </a:extLst>
              </a:tr>
              <a:tr h="215758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Relational Database Service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$157,975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+0%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088967"/>
                  </a:ext>
                </a:extLst>
              </a:tr>
              <a:tr h="215758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808080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기타서비스</a:t>
                      </a:r>
                      <a:endParaRPr lang="en-US" sz="1000" b="1" i="0" u="none" strike="noStrike" dirty="0">
                        <a:solidFill>
                          <a:srgbClr val="808080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808080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$464,045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808080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+1%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114720"/>
                  </a:ext>
                </a:extLst>
              </a:tr>
              <a:tr h="215758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$1,601,793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+2%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72750"/>
                  </a:ext>
                </a:extLst>
              </a:tr>
            </a:tbl>
          </a:graphicData>
        </a:graphic>
      </p:graphicFrame>
      <p:sp>
        <p:nvSpPr>
          <p:cNvPr id="6" name="Rectangle 287">
            <a:extLst>
              <a:ext uri="{FF2B5EF4-FFF2-40B4-BE49-F238E27FC236}">
                <a16:creationId xmlns:a16="http://schemas.microsoft.com/office/drawing/2014/main" id="{6DC04516-AF35-5D05-E652-576BCC964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156195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사용량 관련 주요 지표 요약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지난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개월 기준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26%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지난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개월 기준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2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주요 서비스 관련 요약 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사용량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개월 평균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+2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1%)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Other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사용량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개월 평균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(+5%)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/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타사 대비 비중이 높음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ElastiCach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: 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개월 평균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(+2%)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DyanmoDB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: 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개월 평균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(+2%)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 : 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개월 평균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변화량 없음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기타 서비스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개월 평균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(+1%)</a:t>
            </a:r>
          </a:p>
          <a:p>
            <a:pPr marL="0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pic>
        <p:nvPicPr>
          <p:cNvPr id="7" name="그림 16">
            <a:extLst>
              <a:ext uri="{FF2B5EF4-FFF2-40B4-BE49-F238E27FC236}">
                <a16:creationId xmlns:a16="http://schemas.microsoft.com/office/drawing/2014/main" id="{8FD8D539-7F0A-C143-33FD-94885BC3384A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4063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4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1150681" y="1686634"/>
            <a:ext cx="392167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비용 및 서비스 주요 사용량 분석 지표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89335" y="1683123"/>
            <a:ext cx="3480705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비용  주요 사용량 분석 요약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78467"/>
            <a:ext cx="117646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최신 세대 인스턴스 사용률이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77%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가장 높고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이전 세대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21%, ARM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기반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Graviton2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2%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차지합니다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구매 옵션별로는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70%, On-Demand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24%, Spot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6%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Graviton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사용률을 높여 비용 효율성을 개선할 필요가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.RDS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인스턴스는 이전 세대가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50%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가장 높고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Graviton2 36%,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최신 세대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14%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구매 옵션은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RI 64%, On-Demand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36%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.vCPU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당 비용 측면에서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대비 약간 증가한 반면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RDS EC2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5%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절감되었습니다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graphicFrame>
        <p:nvGraphicFramePr>
          <p:cNvPr id="7" name="Chart 13">
            <a:extLst>
              <a:ext uri="{FF2B5EF4-FFF2-40B4-BE49-F238E27FC236}">
                <a16:creationId xmlns:a16="http://schemas.microsoft.com/office/drawing/2014/main" id="{845A5B1B-B23B-E4DE-F48C-B36C7F2CC2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084553"/>
              </p:ext>
            </p:extLst>
          </p:nvPr>
        </p:nvGraphicFramePr>
        <p:xfrm>
          <a:off x="577216" y="2103651"/>
          <a:ext cx="2762476" cy="814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4">
            <a:extLst>
              <a:ext uri="{FF2B5EF4-FFF2-40B4-BE49-F238E27FC236}">
                <a16:creationId xmlns:a16="http://schemas.microsoft.com/office/drawing/2014/main" id="{4DDCC9EB-3BBB-474C-B615-417E3657E5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0276829"/>
              </p:ext>
            </p:extLst>
          </p:nvPr>
        </p:nvGraphicFramePr>
        <p:xfrm>
          <a:off x="571948" y="2639527"/>
          <a:ext cx="2767745" cy="1200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B381D12-2C57-B36B-6042-510CD32F65ED}"/>
              </a:ext>
            </a:extLst>
          </p:cNvPr>
          <p:cNvSpPr txBox="1"/>
          <p:nvPr/>
        </p:nvSpPr>
        <p:spPr>
          <a:xfrm>
            <a:off x="368320" y="3909489"/>
            <a:ext cx="274320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인스턴스 세대별</a:t>
            </a:r>
            <a:endParaRPr kumimoji="1" lang="en-US" altLang="ko-KR" sz="1200" dirty="0"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graphicFrame>
        <p:nvGraphicFramePr>
          <p:cNvPr id="10" name="Chart 16">
            <a:extLst>
              <a:ext uri="{FF2B5EF4-FFF2-40B4-BE49-F238E27FC236}">
                <a16:creationId xmlns:a16="http://schemas.microsoft.com/office/drawing/2014/main" id="{5CBCF738-2553-73CF-647A-3C8EAFB8CF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9882414"/>
              </p:ext>
            </p:extLst>
          </p:nvPr>
        </p:nvGraphicFramePr>
        <p:xfrm>
          <a:off x="3136920" y="2103651"/>
          <a:ext cx="2778673" cy="799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7">
            <a:extLst>
              <a:ext uri="{FF2B5EF4-FFF2-40B4-BE49-F238E27FC236}">
                <a16:creationId xmlns:a16="http://schemas.microsoft.com/office/drawing/2014/main" id="{87C8B7B6-6F0D-5349-DF96-54639DBB0C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4075875"/>
              </p:ext>
            </p:extLst>
          </p:nvPr>
        </p:nvGraphicFramePr>
        <p:xfrm>
          <a:off x="3149192" y="2581195"/>
          <a:ext cx="2778673" cy="1200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7341D53-9FE1-CB46-ACDD-1F88BC43FE18}"/>
              </a:ext>
            </a:extLst>
          </p:cNvPr>
          <p:cNvSpPr txBox="1"/>
          <p:nvPr/>
        </p:nvSpPr>
        <p:spPr>
          <a:xfrm>
            <a:off x="3060720" y="3909489"/>
            <a:ext cx="274320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ko-KR" altLang="en-US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구매 옵션별</a:t>
            </a:r>
            <a:endParaRPr kumimoji="1" lang="en-US" altLang="ko-KR" sz="1200" dirty="0"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graphicFrame>
        <p:nvGraphicFramePr>
          <p:cNvPr id="13" name="Chart 21">
            <a:extLst>
              <a:ext uri="{FF2B5EF4-FFF2-40B4-BE49-F238E27FC236}">
                <a16:creationId xmlns:a16="http://schemas.microsoft.com/office/drawing/2014/main" id="{C9F3DA11-DB9D-5F5D-FD02-2509824D2B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8279844"/>
              </p:ext>
            </p:extLst>
          </p:nvPr>
        </p:nvGraphicFramePr>
        <p:xfrm>
          <a:off x="1080867" y="4097728"/>
          <a:ext cx="4556458" cy="882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22">
            <a:extLst>
              <a:ext uri="{FF2B5EF4-FFF2-40B4-BE49-F238E27FC236}">
                <a16:creationId xmlns:a16="http://schemas.microsoft.com/office/drawing/2014/main" id="{8C2CFCD0-CF78-5D16-57F1-812715A8B5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4076674"/>
              </p:ext>
            </p:extLst>
          </p:nvPr>
        </p:nvGraphicFramePr>
        <p:xfrm>
          <a:off x="1080867" y="4871107"/>
          <a:ext cx="4556458" cy="1348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2133691-EF0D-C69B-B411-806522B528C9}"/>
              </a:ext>
            </a:extLst>
          </p:cNvPr>
          <p:cNvSpPr txBox="1"/>
          <p:nvPr/>
        </p:nvSpPr>
        <p:spPr>
          <a:xfrm>
            <a:off x="401743" y="4430440"/>
            <a:ext cx="77916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EC2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300B4D-9EF3-DA1A-2B69-74E7819E3A2B}"/>
              </a:ext>
            </a:extLst>
          </p:cNvPr>
          <p:cNvSpPr txBox="1"/>
          <p:nvPr/>
        </p:nvSpPr>
        <p:spPr>
          <a:xfrm>
            <a:off x="410230" y="5217567"/>
            <a:ext cx="77916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RDS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71C6DA-C783-6569-E06D-7C0E34B618EF}"/>
              </a:ext>
            </a:extLst>
          </p:cNvPr>
          <p:cNvSpPr txBox="1"/>
          <p:nvPr/>
        </p:nvSpPr>
        <p:spPr>
          <a:xfrm>
            <a:off x="1197777" y="5991673"/>
            <a:ext cx="4322638" cy="45578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vCPU Unit Cost</a:t>
            </a:r>
          </a:p>
          <a:p>
            <a:pPr algn="ctr"/>
            <a:r>
              <a:rPr kumimoji="1" lang="en-US" altLang="ko-KR" sz="105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vCPU Hours : $/hr/vCPU</a:t>
            </a:r>
            <a:endParaRPr kumimoji="1" lang="ko-KR" altLang="en-US" sz="1050" dirty="0">
              <a:latin typeface="NanumSquareOTF" panose="020B0600000101010101" pitchFamily="34" charset="-127"/>
              <a:ea typeface="NanumSquareOTF" panose="020B0600000101010101" pitchFamily="34" charset="-127"/>
            </a:endParaRPr>
          </a:p>
        </p:txBody>
      </p:sp>
      <p:sp>
        <p:nvSpPr>
          <p:cNvPr id="19" name="Rectangle 287">
            <a:extLst>
              <a:ext uri="{FF2B5EF4-FFF2-40B4-BE49-F238E27FC236}">
                <a16:creationId xmlns:a16="http://schemas.microsoft.com/office/drawing/2014/main" id="{C51C0550-B157-5B6D-6670-3E1685FCC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156195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인스턴스 세대별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구매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옵션별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세대별 사용률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이전 세대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21%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최신 세대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77%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ARM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Graviton2 2%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구매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옵션별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사용률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 70% , SPOT 6%, On Demand 24%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u="sng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Gravition</a:t>
            </a: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사용률을 높여서 </a:t>
            </a: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비용 효율성 증가가 필요함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세대별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구매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옵션별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세대별 사용률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36%,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이전 세대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50%,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최신 세대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14%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구매 옵션별 사용률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RI 64%, On Demand 36%</a:t>
            </a: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당 비용 분석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marR="0" lvl="1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기준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2023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대비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당 비용은  증가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(2023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당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$ 0.033 -&gt; 2024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당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0.034)</a:t>
            </a:r>
          </a:p>
          <a:p>
            <a:pPr marL="277813" marR="0" lvl="1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 EC2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기준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2023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대비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당 비용은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5%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절감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(2023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당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0.121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-&gt;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당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$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0.116)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marR="0" lvl="1" indent="-90488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u"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AD4311-F209-166A-46E8-7FCFCD494420}"/>
              </a:ext>
            </a:extLst>
          </p:cNvPr>
          <p:cNvSpPr txBox="1"/>
          <p:nvPr/>
        </p:nvSpPr>
        <p:spPr>
          <a:xfrm>
            <a:off x="128731" y="2310191"/>
            <a:ext cx="77916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EC2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74B04D-7EE8-04BA-CED3-B676E5DF9B0D}"/>
              </a:ext>
            </a:extLst>
          </p:cNvPr>
          <p:cNvSpPr txBox="1"/>
          <p:nvPr/>
        </p:nvSpPr>
        <p:spPr>
          <a:xfrm>
            <a:off x="134347" y="2971503"/>
            <a:ext cx="77916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kumimoji="1" lang="en-US" altLang="ko-KR" sz="1200" dirty="0">
                <a:latin typeface="NanumSquareOTF" panose="020B0600000101010101" pitchFamily="34" charset="-127"/>
                <a:ea typeface="NanumSquareOTF" panose="020B0600000101010101" pitchFamily="34" charset="-127"/>
              </a:rPr>
              <a:t>RDS</a:t>
            </a: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D282898E-3965-0273-1B27-34E6B1652187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1588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5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1150681" y="1686634"/>
            <a:ext cx="392167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비용 및 서비스 주요 사용량 분석 지표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89335" y="1683123"/>
            <a:ext cx="3480705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비용  주요 사용량 분석 요약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Graviton2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사용률을 높이는 것이 비용 효율성과 성능 개선을 위해 중요합니다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RDS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Graviton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인스턴스의 높은 활용도가 이를 입증합니다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현재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Savings Plans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인스턴스가 비용 효율적인 구매 옵션으로 선호되고 있지만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EC2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vCPU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당 비용이 지속적으로 증가하는 추세입니다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algn="l"/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이에 대한 전략으로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Graviton2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전환 프로젝트 가속화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On-Demand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최소화 및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Savings Plans/Spot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확대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장기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RI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약정 고려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효율적 인스턴스 마이그레이션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AWS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관리 도구 활용 등을 통해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아키텍처 최적화와 비용 최적화를 도모할 수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 </a:t>
            </a:r>
          </a:p>
        </p:txBody>
      </p:sp>
      <p:sp>
        <p:nvSpPr>
          <p:cNvPr id="2" name="Rectangle 287">
            <a:extLst>
              <a:ext uri="{FF2B5EF4-FFF2-40B4-BE49-F238E27FC236}">
                <a16:creationId xmlns:a16="http://schemas.microsoft.com/office/drawing/2014/main" id="{65CFDD97-D381-B5AB-2C4C-981124CA1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16" y="2227383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Graviton2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사용률의 중요성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인스턴스의 높은 사용률이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검증되었듯이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효율성과 성능의 균형을 맞추는 데 중요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 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워크로드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: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Graviton2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사용률이 현저히 낮으며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이를 높이는 것이 장기적인 비용 최적화에 유리함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§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세대별 및 구매 </a:t>
            </a:r>
            <a:r>
              <a:rPr lang="ko-KR" altLang="en-US" sz="1200" b="1" i="0" u="sng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옵션별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사용률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현재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Saving Plans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인스턴스가 비용 효율적인 구매 옵션으로 선호되고 있으며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이는 비용 관리 전략에서 중요한 역할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§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en-US" altLang="ko-KR" sz="1200" b="1" i="0" u="sng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</a:t>
            </a:r>
            <a:r>
              <a:rPr kumimoji="0" lang="ko-KR" altLang="en-US" sz="1200" b="1" i="0" u="sng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당 비용 증가</a:t>
            </a:r>
            <a:endParaRPr kumimoji="0" lang="en-US" altLang="ko-KR" sz="1200" b="1" i="0" u="sng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marR="0" lvl="1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당 비용이 지속적으로 증가하는 추세는 예산 계획 및 비용 관리 전략에 영향을 미칠 수 있음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유사 기업들과 비교했을 때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vCPU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당 비용이 높음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highlight>
                  <a:srgbClr val="FFFF00"/>
                </a:highlight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highlight>
                <a:srgbClr val="FFFF00"/>
              </a:highlight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5" name="Rectangle 287">
            <a:extLst>
              <a:ext uri="{FF2B5EF4-FFF2-40B4-BE49-F238E27FC236}">
                <a16:creationId xmlns:a16="http://schemas.microsoft.com/office/drawing/2014/main" id="{C9598DE2-F56A-4281-95A4-FD929E7B9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963" y="2227383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전환 가속화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Graviton2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사용률을 높이기 위한 전환 프로젝트 가속화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기대 효과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비용 효율성을 높이고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컴퓨팅 성능을 개선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저전력 구현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구매 옵션 다양화 및 최적화 전략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On-Demand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사용을 최소화하고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Saving Plans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사용을 확대하여 비용을 절감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 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RI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장기 약정을 통해 추가 할인을 받을 수 있는 옵션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고려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ko-KR" altLang="en-US" sz="1200" b="1" i="0" u="sng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효율적인 인스턴스 선택</a:t>
            </a:r>
            <a:endParaRPr kumimoji="0" lang="en-US" altLang="ko-KR" sz="1200" b="1" i="0" u="sng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세대별 인스턴스 사용 분석을 통해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더 비용 효율적이거나 성능이 우수한 인스턴스로의 마이그레이션을 고려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ko-KR" altLang="en-US" sz="1200" b="1" i="0" u="sng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성능 및 비용 분석 도구 활용</a:t>
            </a:r>
            <a:endParaRPr kumimoji="0" lang="en-US" altLang="ko-KR" sz="1200" b="1" i="0" u="sng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Cost Explorer, Trusted Advisor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같은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관리 도구를 사용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기대효과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 지속적으로 성능과 비용을 모니터링하고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최적화 기회를 식별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28623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6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1001584" y="1686634"/>
            <a:ext cx="4256891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On Demand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비용 절감 지표 분석 시사점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6850116" y="1683123"/>
            <a:ext cx="4516821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On Demand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비용  주요 사용량 분석 요약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기준으로 주말 동안 프로덕션 환경 외에 개발 및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스테이징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계정에서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OnDemand EC2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인스턴스를 사용하는 패턴이 확인되었습니다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이러한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OnDemand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인스턴스를 주말 동안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Stop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시키면 비용을 절감할 수 있을 것으로 예상됩니다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타사 대비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OnDemand EC2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인스턴스의 주말 활성화 비율이 높은 것으로 분석되어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주말 인스턴스 활용 최적화를 통한 비용 절감 기회가 있음을 시사합니다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graphicFrame>
        <p:nvGraphicFramePr>
          <p:cNvPr id="6" name="Chart 10">
            <a:extLst>
              <a:ext uri="{FF2B5EF4-FFF2-40B4-BE49-F238E27FC236}">
                <a16:creationId xmlns:a16="http://schemas.microsoft.com/office/drawing/2014/main" id="{1AE57C7E-6900-59D3-440D-C6A4FFA46A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6871847"/>
              </p:ext>
            </p:extLst>
          </p:nvPr>
        </p:nvGraphicFramePr>
        <p:xfrm>
          <a:off x="457648" y="2141797"/>
          <a:ext cx="5257352" cy="2516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13">
            <a:extLst>
              <a:ext uri="{FF2B5EF4-FFF2-40B4-BE49-F238E27FC236}">
                <a16:creationId xmlns:a16="http://schemas.microsoft.com/office/drawing/2014/main" id="{A63108E5-35DA-6196-398E-C70C0C8DCD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4660193"/>
              </p:ext>
            </p:extLst>
          </p:nvPr>
        </p:nvGraphicFramePr>
        <p:xfrm>
          <a:off x="3777773" y="4735028"/>
          <a:ext cx="1935640" cy="1479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8">
            <a:extLst>
              <a:ext uri="{FF2B5EF4-FFF2-40B4-BE49-F238E27FC236}">
                <a16:creationId xmlns:a16="http://schemas.microsoft.com/office/drawing/2014/main" id="{5FDA5BDF-FC8E-2E8D-C782-A96367E365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0207528"/>
              </p:ext>
            </p:extLst>
          </p:nvPr>
        </p:nvGraphicFramePr>
        <p:xfrm>
          <a:off x="457648" y="4800343"/>
          <a:ext cx="3466652" cy="1413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287">
            <a:extLst>
              <a:ext uri="{FF2B5EF4-FFF2-40B4-BE49-F238E27FC236}">
                <a16:creationId xmlns:a16="http://schemas.microsoft.com/office/drawing/2014/main" id="{E0793DD0-DECE-1416-23CC-B71D3ACC8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156195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On-Demand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인스턴스의 주말 사용 패턴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주말동안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Production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이외에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Dev, Staging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계정들의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OnDemand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인스턴스들에 대한 사용 확인 필요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On-Demand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인스턴스들의 주말동안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Stop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시킬 경우 비용 절감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타사 대비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On-Demand EC2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인스턴스의 주말 활성화 비율이 높음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6C75E4F9-366D-B7F2-8FC2-0EA687E47298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4788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1010650" y="1686634"/>
            <a:ext cx="4183319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On Demand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비용 절감 지표 분석 시사점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89335" y="1683123"/>
            <a:ext cx="3480705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최적화 및 비용 최적화 전략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기준으로 주말 동안 프로덕션 환경 외에 개발 및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스테이징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계정에서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OnDemand EC2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인스턴스를 사용하는 패턴이 확인되었습니다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이러한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OnDemand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인스턴스를 주말 동안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Stop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시키면 비용을 절감할 수 있을 것으로 예상됩니다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타사 대비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OnDemand EC2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인스턴스의 주말 활성화 비율이 높은 것으로 분석되어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주말 인스턴스 활용 최적화를 통한 비용 절감 기회가 있음을 시사합니다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2" name="Rectangle 287">
            <a:extLst>
              <a:ext uri="{FF2B5EF4-FFF2-40B4-BE49-F238E27FC236}">
                <a16:creationId xmlns:a16="http://schemas.microsoft.com/office/drawing/2014/main" id="{153C8158-D438-5471-BF2F-DFE382E9D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16" y="204774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주말 비활성화의 잠재적 비용 절감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주말 동안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Dev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Staging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On-Demand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인스턴스의 사용이 확인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Production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환경을 제외한 사용 확인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주말 동안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On-Demand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인스턴스를 비활성화함으로써 비용을 절감할 수 있는 잠재력을 시사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5" name="Rectangle 287">
            <a:extLst>
              <a:ext uri="{FF2B5EF4-FFF2-40B4-BE49-F238E27FC236}">
                <a16:creationId xmlns:a16="http://schemas.microsoft.com/office/drawing/2014/main" id="{B8429F75-A251-699D-0449-BCDBDD9D0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963" y="2047746"/>
            <a:ext cx="5539307" cy="4595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자동화된 </a:t>
            </a:r>
            <a:r>
              <a:rPr lang="ko-KR" altLang="en-US" sz="1200" b="1" i="0" u="sng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스케쥴링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기법 도입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Dev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Staging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인스턴스에 대해 주말 동안 자동 정지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(Stop)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주중 자동 시작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(Start)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을 구현할 수 있는 스케줄링 시스템을 도입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CloudWatch Events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Lambda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함수를 결합하여 자동화를 구현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 분리 및 </a:t>
            </a:r>
            <a:r>
              <a:rPr lang="ko-KR" altLang="en-US" sz="1200" b="1" i="0" u="sng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태깅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정책 실행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Production, Dev, Staging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인스턴스를 명확히 분리하고 각 환경을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태깅하여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관리의 효율성을 높이고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자동화된 작업을 쉽게 구분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기대 효과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운영 오류의 여지를 줄이고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비용을 효과적으로 관리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ko-KR" altLang="en-US" sz="1200" b="1" i="0" u="sng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모니터링 및 최적화 도구 활용</a:t>
            </a:r>
            <a:endParaRPr kumimoji="0" lang="en-US" altLang="ko-KR" sz="1200" b="1" i="0" u="sng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Cost Explorer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및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Budgets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같은 도구를 사용하여 비용 절감 효과를 모니터링하고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지속적인 비용 최적화 기회를 식별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기대 효과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: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비용 절감 전략의 효과를 검증하고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추가적인 최적화 기회를 발굴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ko-KR" altLang="en-US" sz="1200" b="1" i="0" u="sng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탄력적인 아키텍쳐 고려</a:t>
            </a:r>
            <a:endParaRPr kumimoji="0" lang="en-US" altLang="ko-KR" sz="1200" b="1" i="0" u="sng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서버리스 아키텍처나 컨테이너화를 통한 탄력적인 인프라 구성을 고려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사용량에 따른 스케일 인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/</a:t>
            </a:r>
            <a:r>
              <a:rPr lang="ko-KR" altLang="en-US" sz="1200" b="1" i="0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아웃되는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구조 설계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6" name="그림 16">
            <a:extLst>
              <a:ext uri="{FF2B5EF4-FFF2-40B4-BE49-F238E27FC236}">
                <a16:creationId xmlns:a16="http://schemas.microsoft.com/office/drawing/2014/main" id="{1A315651-0112-2D5C-BE7C-E18A1496E108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98065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8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1150681" y="1686634"/>
            <a:ext cx="392167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활용을 통한 비용 절감 지표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08259" y="1686634"/>
            <a:ext cx="3851984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요약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8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대비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사용량이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USD 40,000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15,600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으로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약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61%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감소하였습니다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이러한 감소 원인에 대해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활용도를 확인할 필요가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사용 계정 분석 결과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프로덕션 계정에서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15,600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달러 전체를 사용하였고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Alpha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및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Data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계정에서는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2,000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달러 수준으로 사용되었습니다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프로덕션 환경에서 주로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인스턴스를 활용하고 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비프로덕션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환경의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활용도는 낮은 것으로 파악됩니다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graphicFrame>
        <p:nvGraphicFramePr>
          <p:cNvPr id="7" name="Chart 14">
            <a:extLst>
              <a:ext uri="{FF2B5EF4-FFF2-40B4-BE49-F238E27FC236}">
                <a16:creationId xmlns:a16="http://schemas.microsoft.com/office/drawing/2014/main" id="{4FB70B00-A882-0F40-90BC-D5112F38CA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4583588"/>
              </p:ext>
            </p:extLst>
          </p:nvPr>
        </p:nvGraphicFramePr>
        <p:xfrm>
          <a:off x="411488" y="2140155"/>
          <a:ext cx="5341612" cy="2292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15">
            <a:extLst>
              <a:ext uri="{FF2B5EF4-FFF2-40B4-BE49-F238E27FC236}">
                <a16:creationId xmlns:a16="http://schemas.microsoft.com/office/drawing/2014/main" id="{2F0270E0-6C47-7A4B-8CD6-C6695654AD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8454504"/>
              </p:ext>
            </p:extLst>
          </p:nvPr>
        </p:nvGraphicFramePr>
        <p:xfrm>
          <a:off x="411488" y="4538031"/>
          <a:ext cx="2192012" cy="1845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6">
            <a:extLst>
              <a:ext uri="{FF2B5EF4-FFF2-40B4-BE49-F238E27FC236}">
                <a16:creationId xmlns:a16="http://schemas.microsoft.com/office/drawing/2014/main" id="{698A2369-93F2-0B4D-BE7B-D2287D8350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3499779"/>
              </p:ext>
            </p:extLst>
          </p:nvPr>
        </p:nvGraphicFramePr>
        <p:xfrm>
          <a:off x="2928708" y="4432300"/>
          <a:ext cx="2824392" cy="1845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287">
            <a:extLst>
              <a:ext uri="{FF2B5EF4-FFF2-40B4-BE49-F238E27FC236}">
                <a16:creationId xmlns:a16="http://schemas.microsoft.com/office/drawing/2014/main" id="{C81147B2-180D-1F11-B232-518504C36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156195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사용량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6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~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8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대비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사용량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USD 40K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15..6K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감소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약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61%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감소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).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주요 감소 요인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활용도에 대한 확인 필요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사용 계정 분석 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Production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계정에서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15.6K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전체를 사용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Alpha, data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계정에서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2K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수준으로 사용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88FB8CE5-B16F-6F87-AF18-61435600D557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52730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컴퓨팅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9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활용을 통한 비용 절감 지표 분석 시사점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08259" y="1686634"/>
            <a:ext cx="3851984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최적화 및 비용 최적화 전략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8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대비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사용량이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USD 40,000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15,600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으로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약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61%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감소하였습니다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이러한 감소 원인에 대해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활용도를 확인할 필요가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사용 계정 분석 결과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프로덕션 계정에서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15,600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달러 전체를 사용하였고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Alpha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및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Data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계정에서는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2,000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달러 수준으로 사용되었습니다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프로덕션 환경에서 주로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인스턴스를 활용하고 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비프로덕션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환경의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 활용도는 낮은 것으로 파악됩니다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2" name="Rectangle 287">
            <a:extLst>
              <a:ext uri="{FF2B5EF4-FFF2-40B4-BE49-F238E27FC236}">
                <a16:creationId xmlns:a16="http://schemas.microsoft.com/office/drawing/2014/main" id="{BC71CB06-AAB1-521A-7C65-D627AA723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16" y="204774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인스턴스의 효율적 활용 방안 필요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사용량의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6~8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이후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60%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감소 추세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Production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계정에서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활용이 감소 추세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Alpha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계정에서의 </a:t>
            </a: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 방안 고려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Alpha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계정에서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활용률에 대한 고려 필요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2K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Production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계정에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 집중되어 있음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</p:txBody>
      </p:sp>
      <p:sp>
        <p:nvSpPr>
          <p:cNvPr id="5" name="Rectangle 287">
            <a:extLst>
              <a:ext uri="{FF2B5EF4-FFF2-40B4-BE49-F238E27FC236}">
                <a16:creationId xmlns:a16="http://schemas.microsoft.com/office/drawing/2014/main" id="{0723B022-6DCF-C51A-BE65-3DB16028A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963" y="204774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관리 및 최적화 정책 마련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사용에 대한 명확한 지침과 정책을 개발하여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효율성을 극대화하고 리스크를 최소화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인스턴스의 가격 변동성을 고려한 예산 설정과 비용 한도 관리가 포함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 패턴 및 리스크 평가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인스턴스의 사용 패턴을 분석하여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절감 대비 리스크를 평가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기대 효과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중요한 작업에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인스턴스를 사용할 때 발생할 수 있는 중단 위험을 관리하는 데 도움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endParaRPr lang="en-US" altLang="ko-KR" sz="3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tabLst/>
              <a:defRPr/>
            </a:pPr>
            <a:r>
              <a:rPr kumimoji="0" lang="ko-KR" altLang="en-US" sz="1200" b="1" i="0" u="sng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자동화된 리소스 관리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서버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Spot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인스턴스의 할당과 해제를 자동화하는 시스템을 도입하여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리소스 활용을 최적화하고 비용을 추가로 절감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Lambda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같은 서비스를 활용한 이벤트 기반 자동화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멀티 리전 전략 고려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Spot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인스턴스의 가용성과 비용 효율성을 극대화하기 위해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AWS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리전 간의 분산 배치 전략을 고려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6" name="그림 16">
            <a:extLst>
              <a:ext uri="{FF2B5EF4-FFF2-40B4-BE49-F238E27FC236}">
                <a16:creationId xmlns:a16="http://schemas.microsoft.com/office/drawing/2014/main" id="{FCF7A59D-FDDE-10BE-3301-63FC0C6F98F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2121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네트워크 전송 비용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10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</a:t>
            </a:r>
            <a:r>
              <a:rPr lang="ko-KR" altLang="en-US" sz="16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전송량에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대한 주요 지표 분석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08259" y="1686634"/>
            <a:ext cx="3851984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</a:t>
            </a:r>
            <a:r>
              <a:rPr lang="ko-KR" altLang="en-US" sz="16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전송량에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대한 분석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서울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리전의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Inter AZ(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가용영역 간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전송량은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9.6PB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점차 증가하여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10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16.8PB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까지 늘어났지만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월에는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10.8PB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감소했습니다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기준으로 서울 리전 내 가용영역 간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전송량이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10.7PB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전체 트래픽의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76.4%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차지했습니다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서울에서 인터넷으로의 데이터 전송은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1.7PB,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서울과 다른 리전 간 전송은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0.8PB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였습니다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이를 통해 서울 리전 내부의 가용영역 간 트래픽이 압도적으로 많은 것을 알 수 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이에 대한 네트워크 최적화 및 비용 관리가 필요할 것으로 보입니다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graphicFrame>
        <p:nvGraphicFramePr>
          <p:cNvPr id="9" name="Chart 2">
            <a:extLst>
              <a:ext uri="{FF2B5EF4-FFF2-40B4-BE49-F238E27FC236}">
                <a16:creationId xmlns:a16="http://schemas.microsoft.com/office/drawing/2014/main" id="{ABACAC97-FD07-164A-B4D8-CE765A1158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7839327"/>
              </p:ext>
            </p:extLst>
          </p:nvPr>
        </p:nvGraphicFramePr>
        <p:xfrm>
          <a:off x="411489" y="2130625"/>
          <a:ext cx="5318752" cy="225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27F9741-1F19-0739-2D5E-3A91F8B64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874920"/>
              </p:ext>
            </p:extLst>
          </p:nvPr>
        </p:nvGraphicFramePr>
        <p:xfrm>
          <a:off x="356049" y="4381312"/>
          <a:ext cx="5492520" cy="2090608"/>
        </p:xfrm>
        <a:graphic>
          <a:graphicData uri="http://schemas.openxmlformats.org/drawingml/2006/table">
            <a:tbl>
              <a:tblPr/>
              <a:tblGrid>
                <a:gridCol w="686565">
                  <a:extLst>
                    <a:ext uri="{9D8B030D-6E8A-4147-A177-3AD203B41FA5}">
                      <a16:colId xmlns:a16="http://schemas.microsoft.com/office/drawing/2014/main" val="1673793002"/>
                    </a:ext>
                  </a:extLst>
                </a:gridCol>
                <a:gridCol w="686565">
                  <a:extLst>
                    <a:ext uri="{9D8B030D-6E8A-4147-A177-3AD203B41FA5}">
                      <a16:colId xmlns:a16="http://schemas.microsoft.com/office/drawing/2014/main" val="2780783865"/>
                    </a:ext>
                  </a:extLst>
                </a:gridCol>
                <a:gridCol w="686565">
                  <a:extLst>
                    <a:ext uri="{9D8B030D-6E8A-4147-A177-3AD203B41FA5}">
                      <a16:colId xmlns:a16="http://schemas.microsoft.com/office/drawing/2014/main" val="1725529763"/>
                    </a:ext>
                  </a:extLst>
                </a:gridCol>
                <a:gridCol w="686565">
                  <a:extLst>
                    <a:ext uri="{9D8B030D-6E8A-4147-A177-3AD203B41FA5}">
                      <a16:colId xmlns:a16="http://schemas.microsoft.com/office/drawing/2014/main" val="228934826"/>
                    </a:ext>
                  </a:extLst>
                </a:gridCol>
                <a:gridCol w="686565">
                  <a:extLst>
                    <a:ext uri="{9D8B030D-6E8A-4147-A177-3AD203B41FA5}">
                      <a16:colId xmlns:a16="http://schemas.microsoft.com/office/drawing/2014/main" val="3844216656"/>
                    </a:ext>
                  </a:extLst>
                </a:gridCol>
                <a:gridCol w="686565">
                  <a:extLst>
                    <a:ext uri="{9D8B030D-6E8A-4147-A177-3AD203B41FA5}">
                      <a16:colId xmlns:a16="http://schemas.microsoft.com/office/drawing/2014/main" val="2968345518"/>
                    </a:ext>
                  </a:extLst>
                </a:gridCol>
                <a:gridCol w="686565">
                  <a:extLst>
                    <a:ext uri="{9D8B030D-6E8A-4147-A177-3AD203B41FA5}">
                      <a16:colId xmlns:a16="http://schemas.microsoft.com/office/drawing/2014/main" val="3874301310"/>
                    </a:ext>
                  </a:extLst>
                </a:gridCol>
                <a:gridCol w="686565">
                  <a:extLst>
                    <a:ext uri="{9D8B030D-6E8A-4147-A177-3AD203B41FA5}">
                      <a16:colId xmlns:a16="http://schemas.microsoft.com/office/drawing/2014/main" val="2433080782"/>
                    </a:ext>
                  </a:extLst>
                </a:gridCol>
              </a:tblGrid>
              <a:tr h="261326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2D43"/>
                        </a:solidFill>
                        <a:effectLst/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Asia Pacific</a:t>
                      </a:r>
                      <a:b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(Seoul)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Internet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Other AWS Regions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US East</a:t>
                      </a:r>
                      <a:b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(N. Virginia)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Asia Pacific</a:t>
                      </a:r>
                      <a:b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(Singapore)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Other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352279"/>
                  </a:ext>
                </a:extLst>
              </a:tr>
              <a:tr h="26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Asia Pacific</a:t>
                      </a:r>
                      <a:b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(Seoul)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10,781,174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1,793,767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B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542,457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F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139,478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114,371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143,187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13,514,433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047246"/>
                  </a:ext>
                </a:extLst>
              </a:tr>
              <a:tr h="26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Internet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427,052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2,599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429,651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909293"/>
                  </a:ext>
                </a:extLst>
              </a:tr>
              <a:tr h="26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Canada</a:t>
                      </a:r>
                      <a:b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(Central)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1,018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9,280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12,837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5,091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71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65,552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93,850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724437"/>
                  </a:ext>
                </a:extLst>
              </a:tr>
              <a:tr h="26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Asia Pacific</a:t>
                      </a:r>
                      <a:b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(Tokyo)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1,507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1,188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8,147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2,244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36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37,177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50,298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144148"/>
                  </a:ext>
                </a:extLst>
              </a:tr>
              <a:tr h="26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EU</a:t>
                      </a:r>
                      <a:b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</a:b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(London)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380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475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8,347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2,019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1,817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13,043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062511"/>
                  </a:ext>
                </a:extLst>
              </a:tr>
              <a:tr h="26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Other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736098"/>
                  </a:ext>
                </a:extLst>
              </a:tr>
              <a:tr h="2613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11,211,132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1,804,710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571,788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148,832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114,481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250,332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2D43"/>
                          </a:solidFill>
                          <a:effectLst/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14,101,276 GB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081651"/>
                  </a:ext>
                </a:extLst>
              </a:tr>
            </a:tbl>
          </a:graphicData>
        </a:graphic>
      </p:graphicFrame>
      <p:sp>
        <p:nvSpPr>
          <p:cNvPr id="14" name="Rectangle 287">
            <a:extLst>
              <a:ext uri="{FF2B5EF4-FFF2-40B4-BE49-F238E27FC236}">
                <a16:creationId xmlns:a16="http://schemas.microsoft.com/office/drawing/2014/main" id="{57E97A9D-ECDE-2F69-E077-799E76ED6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156195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네트워크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데이터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9.6PB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데이터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15.9PB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10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데이터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16.8PB 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데이터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10.8PB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네트워크 전송 지표 상세 분석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(2024.3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기준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서울 리전 내의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전송량이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10.7PB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서울 리전에서 인터넷으로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DTO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전송량이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1.7PB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서울 리전과 타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리전간의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데이터 전송이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0.8PB 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서울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리전내에서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데이터가 전체 트래픽의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76.4%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차지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57A77F3F-1605-8824-9865-928BB427044A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4554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2">
            <a:extLst>
              <a:ext uri="{FF2B5EF4-FFF2-40B4-BE49-F238E27FC236}">
                <a16:creationId xmlns:a16="http://schemas.microsoft.com/office/drawing/2014/main" id="{88D89735-446F-F7D1-2AF1-A9EC0695A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네트워크 전송 비용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11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</a:t>
            </a:r>
            <a:r>
              <a:rPr lang="ko-KR" altLang="en-US" sz="16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과금에 대한 주요 지표 분석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08259" y="1686634"/>
            <a:ext cx="3851984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</a:t>
            </a:r>
            <a:r>
              <a:rPr lang="ko-KR" altLang="en-US" sz="16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전송량에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비용 대한 분석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데이터 전송 요금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(Data Transfer Out, DTO)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만 달러에서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25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만 달러로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25%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비록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DTO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비용이 감소했지만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가용영역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(AZ)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데이터 전송 비용이 크게 늘어난 것으로 분석됩니다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이에 따른 개선 과제로 첫째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AZ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과금 구조를 개선하기 위해 각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별 및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구조를 검토할 필요가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둘째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인터넷 데이터 전송 비용을 절감하기 위해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en-US" altLang="ko-KR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EndPoint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활용하는 방안을 모색해야 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(SaaS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서비스 등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).</a:t>
            </a:r>
          </a:p>
          <a:p>
            <a:pPr algn="l"/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전반적으로 네트워크 트래픽 패턴 분석과 아키텍처 최적화를 통해 데이터 전송 비용을 관리하는 전략이 필요한 것으로 보입니다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graphicFrame>
        <p:nvGraphicFramePr>
          <p:cNvPr id="7" name="Chart 1">
            <a:extLst>
              <a:ext uri="{FF2B5EF4-FFF2-40B4-BE49-F238E27FC236}">
                <a16:creationId xmlns:a16="http://schemas.microsoft.com/office/drawing/2014/main" id="{616CB64C-DED7-C041-9F43-4AF644CCBF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074058"/>
              </p:ext>
            </p:extLst>
          </p:nvPr>
        </p:nvGraphicFramePr>
        <p:xfrm>
          <a:off x="356048" y="2055684"/>
          <a:ext cx="5547960" cy="2298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0689F2C-A0DF-E696-4086-9CC54F795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216360"/>
              </p:ext>
            </p:extLst>
          </p:nvPr>
        </p:nvGraphicFramePr>
        <p:xfrm>
          <a:off x="375716" y="4276479"/>
          <a:ext cx="5508624" cy="2203448"/>
        </p:xfrm>
        <a:graphic>
          <a:graphicData uri="http://schemas.openxmlformats.org/drawingml/2006/table">
            <a:tbl>
              <a:tblPr/>
              <a:tblGrid>
                <a:gridCol w="688578">
                  <a:extLst>
                    <a:ext uri="{9D8B030D-6E8A-4147-A177-3AD203B41FA5}">
                      <a16:colId xmlns:a16="http://schemas.microsoft.com/office/drawing/2014/main" val="3439725870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1433932671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3939594631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3485939268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2701759465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454378275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3548950447"/>
                    </a:ext>
                  </a:extLst>
                </a:gridCol>
                <a:gridCol w="688578">
                  <a:extLst>
                    <a:ext uri="{9D8B030D-6E8A-4147-A177-3AD203B41FA5}">
                      <a16:colId xmlns:a16="http://schemas.microsoft.com/office/drawing/2014/main" val="1124023060"/>
                    </a:ext>
                  </a:extLst>
                </a:gridCol>
              </a:tblGrid>
              <a:tr h="275431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2D43"/>
                        </a:solidFill>
                        <a:effectLst/>
                        <a:latin typeface="Amazon Ember Light" panose="020B0403020204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Asia Pacific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(Seoul)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Internet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Other AWS Regions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US East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(N. Virginia)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Asia Pacific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(Singapore)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Other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869212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Asia Pacific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(Seoul)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$107,812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$76,101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1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$40,955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2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$10,347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$9,135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$11,263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$255,613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209271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Internet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014630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Canada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(Central)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$190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$239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$101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$698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$1,230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930987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Asia Pacific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(Tokyo)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$43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$656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$198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$377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$1,284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485025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EU</a:t>
                      </a:r>
                      <a:b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(London)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$152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$40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$18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$224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462341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Other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 Light" panose="020B0403020204020204" pitchFamily="34" charset="0"/>
                        </a:rPr>
                        <a:t>$0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368022"/>
                  </a:ext>
                </a:extLst>
              </a:tr>
              <a:tr h="2754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FFFFFF"/>
                          </a:solidFill>
                          <a:effectLst/>
                          <a:latin typeface="Amazon Ember" panose="020B0603020204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$107,820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$76,347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$42,001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$10,686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$9,140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$12,357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2D43"/>
                          </a:solidFill>
                          <a:effectLst/>
                          <a:latin typeface="Amazon Ember" panose="020B0603020204020204" pitchFamily="34" charset="0"/>
                        </a:rPr>
                        <a:t>$258,351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002060"/>
                  </a:ext>
                </a:extLst>
              </a:tr>
            </a:tbl>
          </a:graphicData>
        </a:graphic>
      </p:graphicFrame>
      <p:sp>
        <p:nvSpPr>
          <p:cNvPr id="12" name="Rectangle 287">
            <a:extLst>
              <a:ext uri="{FF2B5EF4-FFF2-40B4-BE49-F238E27FC236}">
                <a16:creationId xmlns:a16="http://schemas.microsoft.com/office/drawing/2014/main" id="{469B5DBE-7CCF-3FC8-253D-92F49A5D0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156195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전송요금에 대한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DTO(Data Transfer Out)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과금이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전 대비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25%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증가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USD 200K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250K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증가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DTO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과금은 감소했지만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InterAZ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비용이 크게 증가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전송요금 및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전송량에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대한 향후 개선과제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marR="0" lvl="1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과금 구조 개선 필요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각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별 및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구조 검토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인터넷 과금 구간</a:t>
            </a:r>
            <a:endParaRPr kumimoji="0" lang="en-US" altLang="ko-KR" sz="1200" b="1" i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  <a:sym typeface="Wingdings" pitchFamily="2" charset="2"/>
            </a:endParaRPr>
          </a:p>
          <a:p>
            <a:pPr marL="277813" marR="0" lvl="1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인터넷 과금 구간 비용 절감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: VPC </a:t>
            </a:r>
            <a:r>
              <a:rPr kumimoji="0" lang="en-US" altLang="ko-KR" sz="1200" b="1" i="0" dirty="0" err="1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EndPoint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 </a:t>
            </a:r>
            <a:r>
              <a:rPr kumimoji="0" lang="ko-KR" altLang="en-US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활용 방안 모색 </a:t>
            </a:r>
            <a:r>
              <a:rPr kumimoji="0" lang="en-US" altLang="ko-KR" sz="1200" b="1" i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srgbClr val="000000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  <a:sym typeface="Wingdings" pitchFamily="2" charset="2"/>
              </a:rPr>
              <a:t>(SaaS)</a:t>
            </a: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  <a:sym typeface="Wingdings" pitchFamily="2" charset="2"/>
            </a:endParaRPr>
          </a:p>
          <a:p>
            <a:pPr marL="196851" marR="0" lvl="1" indent="-90488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71450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u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E1735DE9-1A67-3FF6-FD7B-75F4571C48C8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52237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네트워킹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12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</a:t>
            </a:r>
            <a:r>
              <a:rPr lang="ko-KR" altLang="en-US" sz="1600" b="1" i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전송량에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대한 주요 지표 분석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08259" y="1686634"/>
            <a:ext cx="3851984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최적화 및 비용 최적화 전략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 전송 비용이 증가하면서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특히 가용영역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(AZ)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데이터 전송 비용이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25%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늘어났습니다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이는 서울 리전 내에서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네트워크 트래픽이 높다는 점을 시사하며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아키텍처 및 데이터 전송 전략에 대한 재평가가 필요합니다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효율성 개선을 위해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 최적화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VPC Endpoint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 관리 및 저장 전략 수립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지속적인 비용 모니터링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멀티 리전 전략 등의 대책 마련이 요구됩니다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6" name="Rectangle 287">
            <a:extLst>
              <a:ext uri="{FF2B5EF4-FFF2-40B4-BE49-F238E27FC236}">
                <a16:creationId xmlns:a16="http://schemas.microsoft.com/office/drawing/2014/main" id="{82F1359F-07B7-16E1-1DC4-F5806A458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16" y="204774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전송 비용의 상승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과금이 각각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25%,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네트워크 아키텍처 및 전송 전략에 대한 재평가의 필요성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전송량이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전체의 대부분을 차지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서울 리전 내에서의 데이터 이동이 매우 활발함을 의미하며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특히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네트워크 트래픽이 높다는 점에서 리소스 분배 및 네트워크 설계의 중요성을 강조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효율성에 대한 중요성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전송 요금의 증가는 클라우드 리소스 사용 전략의 비용 효율성을 개선하기 위한 필요성을 강조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과금의 증가는 효율적인 데이터 관리 및 비용 최적화 전략의 필요성을 강조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7" name="Rectangle 287">
            <a:extLst>
              <a:ext uri="{FF2B5EF4-FFF2-40B4-BE49-F238E27FC236}">
                <a16:creationId xmlns:a16="http://schemas.microsoft.com/office/drawing/2014/main" id="{4CB4D793-3566-34EF-2B76-0E6FCF02C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963" y="204774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네트워크 아키텍쳐 최적화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구조 개선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전송 패턴을 분석하여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각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간의 데이터 전송 경로를 최적화함으로써 불필요한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Inter 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전송을 최소화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Endpoint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활용**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AWS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서비스 및 지원되는 파트너 서비스와의 통신에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Endpoint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사용하여 인터넷을 거치지 않고 비용 효율적으로 데이터를 전송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관리 전략 강화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효율적인 리소스 활용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전송 및 저장에 대한 비용을 절감하기 위해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압축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적절한 데이터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캐싱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전략 및 데이터 저장 위치의 최적화를 고려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모니터링 및 분석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AWS Cost Explorer, CloudWatch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등을 활용하여 지속적인 비용 모니터링 및 분석을 수행하고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절감 기회를 식별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멀티 리전 전략 고려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재해 복구 및 고가용성 확보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전송 및 처리를 위한 멀티 리전 전략을 개발하여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특정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리전에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대한 의존도를 줄이고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재해 복구 및 고가용성을 확보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8109381A-C211-2AC3-FA16-A87C1418DD2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04700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스토리지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13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지표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08259" y="1686634"/>
            <a:ext cx="3851984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요약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S3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사용량 분석 결과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S3 Standard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754TB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890TB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18%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S3 Infrequent Access(IA)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157TB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280TB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77.78%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급증했습니다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.S3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스토리지 용량 측면에서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S3 Standard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스토리지는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18%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증가한 반면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S3 IA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스토리지는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77.78%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나 크게 늘어난 것으로 분석됐습니다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이는 자주 액세스하지 않는 콜드 데이터의 급증에 따라 비용 효율적인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IA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사용량이 크게 증가한 것으로 보입니다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 액세스 패턴과 스토리지 비용을 고려한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스토리지 클래스 선택 및 데이터 라이프사이클 정책 최적화가 필요할 것으로 예상됩니다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graphicFrame>
        <p:nvGraphicFramePr>
          <p:cNvPr id="5" name="Chart 9">
            <a:extLst>
              <a:ext uri="{FF2B5EF4-FFF2-40B4-BE49-F238E27FC236}">
                <a16:creationId xmlns:a16="http://schemas.microsoft.com/office/drawing/2014/main" id="{1CDD5C18-1263-2F47-A256-55FA1F0F308B}"/>
              </a:ext>
            </a:extLst>
          </p:cNvPr>
          <p:cNvGraphicFramePr>
            <a:graphicFrameLocks/>
          </p:cNvGraphicFramePr>
          <p:nvPr/>
        </p:nvGraphicFramePr>
        <p:xfrm>
          <a:off x="411488" y="2135430"/>
          <a:ext cx="5404096" cy="2241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10">
            <a:extLst>
              <a:ext uri="{FF2B5EF4-FFF2-40B4-BE49-F238E27FC236}">
                <a16:creationId xmlns:a16="http://schemas.microsoft.com/office/drawing/2014/main" id="{B18868C5-5C2E-0545-9114-AACB4CAEEDC9}"/>
              </a:ext>
            </a:extLst>
          </p:cNvPr>
          <p:cNvGraphicFramePr>
            <a:graphicFrameLocks/>
          </p:cNvGraphicFramePr>
          <p:nvPr/>
        </p:nvGraphicFramePr>
        <p:xfrm>
          <a:off x="696741" y="4376927"/>
          <a:ext cx="4932534" cy="1918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287">
            <a:extLst>
              <a:ext uri="{FF2B5EF4-FFF2-40B4-BE49-F238E27FC236}">
                <a16:creationId xmlns:a16="http://schemas.microsoft.com/office/drawing/2014/main" id="{31D4EC57-EB77-9412-7EED-10EEDA8B0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156195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사용량에 대한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Standard  : 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754TB / 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890TB (94%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증가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IA : 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157TB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/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280TB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(350%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스토리지 관련 상세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Standard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스토리지 용량이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18%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IA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스토리지 용량이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77.78%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급증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1F207CDE-8B88-FA79-7FEA-0AF3438E8E4B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0137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스토리지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14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지표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08259" y="1686634"/>
            <a:ext cx="3851984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및 서비스 주요 사용량 분석 요약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EBS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사용량 분석 결과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, GP3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볼륨은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175TB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209TB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19.43%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증가했습니다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. GP2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볼륨은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68TB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41TB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39.7%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감소했습니다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스냅샷 사용량은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2023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3TB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2024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2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3.5TB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16.6%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늘어났습니다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.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세부 분석 결과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, EC2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프로비저닝 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GP2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타입 사용이 지속적으로 감소하고 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, EC2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증가 대비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EBS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스토리지 비용은 감소 추세입니다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.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이는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AWS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GP3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를 새로운 범용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SSD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볼륨 유형으로 권장하고 있기 때문인 것으로 보입니다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. GP3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</a:rPr>
              <a:t>로의 마이그레이션과 함께 스토리지 효율성 개선을 위한 노력이 반영된 것으로 분석됩니다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</a:rPr>
              <a:t>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D4A9E0D-2246-6249-B348-7561E5D8D5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2677575"/>
              </p:ext>
            </p:extLst>
          </p:nvPr>
        </p:nvGraphicFramePr>
        <p:xfrm>
          <a:off x="356048" y="2179371"/>
          <a:ext cx="5547962" cy="2274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2">
            <a:extLst>
              <a:ext uri="{FF2B5EF4-FFF2-40B4-BE49-F238E27FC236}">
                <a16:creationId xmlns:a16="http://schemas.microsoft.com/office/drawing/2014/main" id="{17587939-8E76-5F49-BC55-A9C51391C2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3851306"/>
              </p:ext>
            </p:extLst>
          </p:nvPr>
        </p:nvGraphicFramePr>
        <p:xfrm>
          <a:off x="356048" y="4453467"/>
          <a:ext cx="5547962" cy="1960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287">
            <a:extLst>
              <a:ext uri="{FF2B5EF4-FFF2-40B4-BE49-F238E27FC236}">
                <a16:creationId xmlns:a16="http://schemas.microsoft.com/office/drawing/2014/main" id="{5D5F0D9E-225E-A2B5-179D-2B2971FC6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156195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EBS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사용량에 대한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GP3 : 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175TB / 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209TB (19.43%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증가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GP2 : 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68TB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/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41TB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(39.7%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감소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Snapshot : 2023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3TB /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2024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월 기준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3.5TB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(16.6%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EBS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스토리지 관련 상세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프로비저닝 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GP2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타입이 지속적으로 감소하고 있음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EC2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증가 대비 스토리지에 대한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EBS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비용은 감소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graphicFrame>
        <p:nvGraphicFramePr>
          <p:cNvPr id="17" name="Chart 1">
            <a:extLst>
              <a:ext uri="{FF2B5EF4-FFF2-40B4-BE49-F238E27FC236}">
                <a16:creationId xmlns:a16="http://schemas.microsoft.com/office/drawing/2014/main" id="{D9F6D7DC-548A-5847-9118-66FB0F07D8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370407"/>
              </p:ext>
            </p:extLst>
          </p:nvPr>
        </p:nvGraphicFramePr>
        <p:xfrm>
          <a:off x="6634977" y="4640183"/>
          <a:ext cx="4917686" cy="1768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그림 16">
            <a:extLst>
              <a:ext uri="{FF2B5EF4-FFF2-40B4-BE49-F238E27FC236}">
                <a16:creationId xmlns:a16="http://schemas.microsoft.com/office/drawing/2014/main" id="{0E02F829-064C-0FBD-B870-A176FBB36939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30145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kumimoji="1" lang="en-US" altLang="ko-KR" dirty="0"/>
              <a:t>AWS </a:t>
            </a:r>
            <a:r>
              <a:rPr kumimoji="1" lang="ko-KR" altLang="en-US" dirty="0"/>
              <a:t>사용량에 대한 분석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스토리지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15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스토리지에 대한 주요 지표 분석</a:t>
            </a: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08259" y="1686634"/>
            <a:ext cx="3851984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아키텍쳐 최적화 및 비용 최적화 전략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 전송 비용이 증가하면서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특히 가용영역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(AZ)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데이터 전송 비용이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25%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늘어났습니다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이는 서울 리전 내에서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네트워크 트래픽이 높다는 점을 시사하며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네트워크 아키텍처 및 데이터 전송 전략에 대한 재평가가 필요합니다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비용 효율성 개선을 위해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 최적화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VPC Endpoint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활용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데이터 관리 및 저장 전략 수립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지속적인 비용 모니터링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멀티 리전 전략 등의 대책 마련이 요구됩니다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6" name="Rectangle 287">
            <a:extLst>
              <a:ext uri="{FF2B5EF4-FFF2-40B4-BE49-F238E27FC236}">
                <a16:creationId xmlns:a16="http://schemas.microsoft.com/office/drawing/2014/main" id="{82F1359F-07B7-16E1-1DC4-F5806A458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16" y="204774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액세스 패턴 분석 및 스토리지 클래스 최적화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Standard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대비 저렴한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IA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사용량이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77.78%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나 급증한 것으로 보아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자주 액세스하지 않는 콜드 데이터가 크게 늘어난 것으로 분석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액세스 패턴을 분석하고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적절한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스토리지 클래스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(Standard, IA, Glacier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등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선택하는 것이 중요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라이프사이클 정책을 최적화하여 스토리지 비용을 절감할 필요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최신 스토리지 유형 마이그레이션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에서는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GP2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볼륨 사용이 지속 감소하고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GP3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사용이 증가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GP3</a:t>
            </a:r>
            <a:r>
              <a:rPr lang="ko-KR" altLang="en-US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로의 마이그레이션 지속적으로 강화</a:t>
            </a:r>
            <a:r>
              <a:rPr lang="en-US" altLang="ko-KR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스토리지 효율성 제고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C2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증가 대비 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EBS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스토리지 비용이 감소 추세에 있으므로</a:t>
            </a:r>
            <a:r>
              <a:rPr lang="en-US" altLang="ko-KR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200" b="1" i="0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스토리지 효율성 개선 노력이 진행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스냅샷 사용량 증가도 백업</a:t>
            </a:r>
            <a:r>
              <a:rPr lang="en-US" altLang="ko-KR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/</a:t>
            </a:r>
            <a:r>
              <a:rPr lang="ko-KR" altLang="en-US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복구 전략 최적화 </a:t>
            </a:r>
            <a:r>
              <a:rPr lang="en-US" altLang="ko-KR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7" name="Rectangle 287">
            <a:extLst>
              <a:ext uri="{FF2B5EF4-FFF2-40B4-BE49-F238E27FC236}">
                <a16:creationId xmlns:a16="http://schemas.microsoft.com/office/drawing/2014/main" id="{4CB4D793-3566-34EF-2B76-0E6FCF02C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963" y="204774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스토리지 최적화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액세스 패턴 분석을 통해 적절한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스토리지 클래스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(Standard, IA, Glacier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등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선택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S3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라이프사이클 정책을 최적화하여 오래된 데이터는 저렴한 스토리지로 이전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스토리지 비용 최소화를 위해 압축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중복 제거 등의 기법 활용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EBS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스토리지 현대화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최신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GP3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볼륨으로 마이그레이션하여 성능 및 비용 효율성 제고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프로비저닝된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IOPS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효율적으로 운영하여 불필요한 과잉 프로비저닝 방지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정기적인 스냅샷 정책 수립으로 백업 및 복구 비용 최적화</a:t>
            </a:r>
          </a:p>
        </p:txBody>
      </p:sp>
      <p:pic>
        <p:nvPicPr>
          <p:cNvPr id="2" name="그림 16">
            <a:extLst>
              <a:ext uri="{FF2B5EF4-FFF2-40B4-BE49-F238E27FC236}">
                <a16:creationId xmlns:a16="http://schemas.microsoft.com/office/drawing/2014/main" id="{F299D3F2-3A98-BB02-6366-B0FEA70D1C2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18034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479C15B-BA0D-16EE-EDE1-3146119EA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319"/>
            <a:ext cx="8485632" cy="761362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당근 </a:t>
            </a:r>
            <a:r>
              <a:rPr lang="en-US" altLang="ko-KR" dirty="0"/>
              <a:t>VPC Architecture </a:t>
            </a:r>
            <a:r>
              <a:rPr lang="ko-KR" altLang="en-US" dirty="0"/>
              <a:t>분석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D379A-34FD-7FEB-2443-2B27E9EEF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25123-0BE0-0B49-AC9E-53D67095655F}" type="slidenum">
              <a:rPr lang="en-US" altLang="ko-KR" smtClean="0"/>
              <a:pPr/>
              <a:t>16</a:t>
            </a:fld>
            <a:endParaRPr lang="en-US" altLang="ko-KR"/>
          </a:p>
        </p:txBody>
      </p:sp>
      <p:pic>
        <p:nvPicPr>
          <p:cNvPr id="2" name="Picture 2" descr="중고거래, 동네생활 질문글, 알바와 동네업체">
            <a:extLst>
              <a:ext uri="{FF2B5EF4-FFF2-40B4-BE49-F238E27FC236}">
                <a16:creationId xmlns:a16="http://schemas.microsoft.com/office/drawing/2014/main" id="{8074D94F-1A78-11EE-9342-647C1E528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561" y="-214853"/>
            <a:ext cx="171569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545042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EE8E866-0941-27F7-3E99-D870A54B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당근 </a:t>
            </a:r>
            <a:r>
              <a:rPr lang="en-US" altLang="ko-KR" dirty="0"/>
              <a:t>Production VPC </a:t>
            </a:r>
            <a:r>
              <a:rPr lang="ko-KR" altLang="en-US" dirty="0"/>
              <a:t>아키텍쳐 구성도</a:t>
            </a:r>
            <a:r>
              <a:rPr lang="en-US" altLang="ko-KR" dirty="0"/>
              <a:t> – </a:t>
            </a:r>
            <a:r>
              <a:rPr lang="ko-KR" altLang="en-US" dirty="0"/>
              <a:t>서울 리전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662C53B-6BDF-5FBC-EE33-47C9C4E25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17</a:t>
            </a:fld>
            <a:endParaRPr lang="en-US" altLang="ko-KR"/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A8562DA5-0003-9CE8-1EB4-64C8711DC294}"/>
              </a:ext>
            </a:extLst>
          </p:cNvPr>
          <p:cNvSpPr/>
          <p:nvPr/>
        </p:nvSpPr>
        <p:spPr>
          <a:xfrm>
            <a:off x="416059" y="1032123"/>
            <a:ext cx="7872536" cy="551703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phic 55" descr="AWS Cloud group icon with AWS logo.">
            <a:extLst>
              <a:ext uri="{FF2B5EF4-FFF2-40B4-BE49-F238E27FC236}">
                <a16:creationId xmlns:a16="http://schemas.microsoft.com/office/drawing/2014/main" id="{898CD5F2-BCA8-1CCE-7CD5-523BDB0DF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16058" y="1029643"/>
            <a:ext cx="288000" cy="288000"/>
          </a:xfrm>
          <a:prstGeom prst="rect">
            <a:avLst/>
          </a:prstGeom>
        </p:spPr>
      </p:pic>
      <p:sp>
        <p:nvSpPr>
          <p:cNvPr id="10" name="Rectangle 73">
            <a:extLst>
              <a:ext uri="{FF2B5EF4-FFF2-40B4-BE49-F238E27FC236}">
                <a16:creationId xmlns:a16="http://schemas.microsoft.com/office/drawing/2014/main" id="{74544C18-99CA-09D9-56C9-C32F31D80B27}"/>
              </a:ext>
            </a:extLst>
          </p:cNvPr>
          <p:cNvSpPr/>
          <p:nvPr/>
        </p:nvSpPr>
        <p:spPr>
          <a:xfrm>
            <a:off x="1171804" y="1568335"/>
            <a:ext cx="2151530" cy="605154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1" name="Graphic 74" descr="Public subnet group icon. ">
            <a:extLst>
              <a:ext uri="{FF2B5EF4-FFF2-40B4-BE49-F238E27FC236}">
                <a16:creationId xmlns:a16="http://schemas.microsoft.com/office/drawing/2014/main" id="{AFDEC20E-2915-B373-90B3-5BE53BC5D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71804" y="1568335"/>
            <a:ext cx="178979" cy="1789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9C16EF-6CD7-CEB7-0BBC-16AFF28862DF}"/>
              </a:ext>
            </a:extLst>
          </p:cNvPr>
          <p:cNvSpPr txBox="1"/>
          <p:nvPr/>
        </p:nvSpPr>
        <p:spPr>
          <a:xfrm>
            <a:off x="1387622" y="1604947"/>
            <a:ext cx="661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Public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3" name="Rectangle 71">
            <a:extLst>
              <a:ext uri="{FF2B5EF4-FFF2-40B4-BE49-F238E27FC236}">
                <a16:creationId xmlns:a16="http://schemas.microsoft.com/office/drawing/2014/main" id="{755456A0-60F2-594A-F324-DBF22A81B32A}"/>
              </a:ext>
            </a:extLst>
          </p:cNvPr>
          <p:cNvSpPr/>
          <p:nvPr/>
        </p:nvSpPr>
        <p:spPr>
          <a:xfrm>
            <a:off x="1171804" y="2249948"/>
            <a:ext cx="2151530" cy="16385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4" name="Graphic 72" descr="Private subnet group icon. ">
            <a:extLst>
              <a:ext uri="{FF2B5EF4-FFF2-40B4-BE49-F238E27FC236}">
                <a16:creationId xmlns:a16="http://schemas.microsoft.com/office/drawing/2014/main" id="{9F6EB242-799C-0489-B0F9-F6E6FA3838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2249949"/>
            <a:ext cx="178979" cy="1789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246B4EE-CA1D-07F6-7594-CA379C2F1368}"/>
              </a:ext>
            </a:extLst>
          </p:cNvPr>
          <p:cNvSpPr txBox="1"/>
          <p:nvPr/>
        </p:nvSpPr>
        <p:spPr>
          <a:xfrm>
            <a:off x="1387622" y="2293670"/>
            <a:ext cx="11414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Priavet</a:t>
            </a:r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NAT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6" name="Rectangle 71">
            <a:extLst>
              <a:ext uri="{FF2B5EF4-FFF2-40B4-BE49-F238E27FC236}">
                <a16:creationId xmlns:a16="http://schemas.microsoft.com/office/drawing/2014/main" id="{1F17C9C3-86AE-4BBE-D178-7E40DE399E5D}"/>
              </a:ext>
            </a:extLst>
          </p:cNvPr>
          <p:cNvSpPr/>
          <p:nvPr/>
        </p:nvSpPr>
        <p:spPr>
          <a:xfrm>
            <a:off x="1171804" y="3962805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513" name="Graphic 72" descr="Private subnet group icon. ">
            <a:extLst>
              <a:ext uri="{FF2B5EF4-FFF2-40B4-BE49-F238E27FC236}">
                <a16:creationId xmlns:a16="http://schemas.microsoft.com/office/drawing/2014/main" id="{1D818941-4113-5D69-C924-3C9B3FDB32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3962804"/>
            <a:ext cx="178979" cy="178979"/>
          </a:xfrm>
          <a:prstGeom prst="rect">
            <a:avLst/>
          </a:prstGeom>
        </p:spPr>
      </p:pic>
      <p:sp>
        <p:nvSpPr>
          <p:cNvPr id="8520" name="TextBox 8519">
            <a:extLst>
              <a:ext uri="{FF2B5EF4-FFF2-40B4-BE49-F238E27FC236}">
                <a16:creationId xmlns:a16="http://schemas.microsoft.com/office/drawing/2014/main" id="{F23BB011-6AF5-A8EA-5A4C-7DCCDECB83BE}"/>
              </a:ext>
            </a:extLst>
          </p:cNvPr>
          <p:cNvSpPr txBox="1"/>
          <p:nvPr/>
        </p:nvSpPr>
        <p:spPr>
          <a:xfrm>
            <a:off x="1390243" y="3991752"/>
            <a:ext cx="64487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3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58D632D9-0C42-3D36-2F93-067767A4C8D8}"/>
              </a:ext>
            </a:extLst>
          </p:cNvPr>
          <p:cNvSpPr/>
          <p:nvPr/>
        </p:nvSpPr>
        <p:spPr bwMode="auto">
          <a:xfrm>
            <a:off x="1068184" y="1493086"/>
            <a:ext cx="2358095" cy="4106454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8530" name="TextBox 8529">
            <a:extLst>
              <a:ext uri="{FF2B5EF4-FFF2-40B4-BE49-F238E27FC236}">
                <a16:creationId xmlns:a16="http://schemas.microsoft.com/office/drawing/2014/main" id="{EF565424-7AA3-CEA1-4B8D-FEEA472FDFE4}"/>
              </a:ext>
            </a:extLst>
          </p:cNvPr>
          <p:cNvSpPr txBox="1"/>
          <p:nvPr/>
        </p:nvSpPr>
        <p:spPr>
          <a:xfrm>
            <a:off x="1164946" y="1397397"/>
            <a:ext cx="298922" cy="138499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A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32" name="Rectangle 73">
            <a:extLst>
              <a:ext uri="{FF2B5EF4-FFF2-40B4-BE49-F238E27FC236}">
                <a16:creationId xmlns:a16="http://schemas.microsoft.com/office/drawing/2014/main" id="{373B82E3-6EFC-1EF8-4A74-514AFE956C4F}"/>
              </a:ext>
            </a:extLst>
          </p:cNvPr>
          <p:cNvSpPr/>
          <p:nvPr/>
        </p:nvSpPr>
        <p:spPr>
          <a:xfrm>
            <a:off x="3659660" y="1568335"/>
            <a:ext cx="2151530" cy="605154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533" name="Graphic 74" descr="Public subnet group icon. ">
            <a:extLst>
              <a:ext uri="{FF2B5EF4-FFF2-40B4-BE49-F238E27FC236}">
                <a16:creationId xmlns:a16="http://schemas.microsoft.com/office/drawing/2014/main" id="{A970540F-0125-CB07-9B2C-FFC1EC87BE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59660" y="1568335"/>
            <a:ext cx="178979" cy="178979"/>
          </a:xfrm>
          <a:prstGeom prst="rect">
            <a:avLst/>
          </a:prstGeom>
        </p:spPr>
      </p:pic>
      <p:sp>
        <p:nvSpPr>
          <p:cNvPr id="8534" name="TextBox 8533">
            <a:extLst>
              <a:ext uri="{FF2B5EF4-FFF2-40B4-BE49-F238E27FC236}">
                <a16:creationId xmlns:a16="http://schemas.microsoft.com/office/drawing/2014/main" id="{B7A899D1-52C7-0608-1A9C-E1027885AD21}"/>
              </a:ext>
            </a:extLst>
          </p:cNvPr>
          <p:cNvSpPr txBox="1"/>
          <p:nvPr/>
        </p:nvSpPr>
        <p:spPr>
          <a:xfrm>
            <a:off x="3869160" y="1604947"/>
            <a:ext cx="661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Public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35" name="Rectangle 71">
            <a:extLst>
              <a:ext uri="{FF2B5EF4-FFF2-40B4-BE49-F238E27FC236}">
                <a16:creationId xmlns:a16="http://schemas.microsoft.com/office/drawing/2014/main" id="{A70E0325-9F29-BB15-8BDD-161AE61EA715}"/>
              </a:ext>
            </a:extLst>
          </p:cNvPr>
          <p:cNvSpPr/>
          <p:nvPr/>
        </p:nvSpPr>
        <p:spPr>
          <a:xfrm>
            <a:off x="3659660" y="2249948"/>
            <a:ext cx="2151530" cy="16385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536" name="Graphic 72" descr="Private subnet group icon. ">
            <a:extLst>
              <a:ext uri="{FF2B5EF4-FFF2-40B4-BE49-F238E27FC236}">
                <a16:creationId xmlns:a16="http://schemas.microsoft.com/office/drawing/2014/main" id="{2BCBB075-3D80-7036-D9AC-F6E70BA6FC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2249949"/>
            <a:ext cx="178979" cy="178979"/>
          </a:xfrm>
          <a:prstGeom prst="rect">
            <a:avLst/>
          </a:prstGeom>
        </p:spPr>
      </p:pic>
      <p:sp>
        <p:nvSpPr>
          <p:cNvPr id="8537" name="TextBox 8536">
            <a:extLst>
              <a:ext uri="{FF2B5EF4-FFF2-40B4-BE49-F238E27FC236}">
                <a16:creationId xmlns:a16="http://schemas.microsoft.com/office/drawing/2014/main" id="{7D6327F8-30D5-A665-B4FD-1103C85B29CB}"/>
              </a:ext>
            </a:extLst>
          </p:cNvPr>
          <p:cNvSpPr txBox="1"/>
          <p:nvPr/>
        </p:nvSpPr>
        <p:spPr>
          <a:xfrm>
            <a:off x="3869160" y="2293670"/>
            <a:ext cx="84427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42" name="Rectangle 71">
            <a:extLst>
              <a:ext uri="{FF2B5EF4-FFF2-40B4-BE49-F238E27FC236}">
                <a16:creationId xmlns:a16="http://schemas.microsoft.com/office/drawing/2014/main" id="{4B6AEA33-0DE3-E10D-B8BC-29A36DC357E3}"/>
              </a:ext>
            </a:extLst>
          </p:cNvPr>
          <p:cNvSpPr/>
          <p:nvPr/>
        </p:nvSpPr>
        <p:spPr>
          <a:xfrm>
            <a:off x="3659660" y="3962805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543" name="Graphic 72" descr="Private subnet group icon. ">
            <a:extLst>
              <a:ext uri="{FF2B5EF4-FFF2-40B4-BE49-F238E27FC236}">
                <a16:creationId xmlns:a16="http://schemas.microsoft.com/office/drawing/2014/main" id="{CA9AC1DF-075A-D425-2945-A7470E22A1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3962804"/>
            <a:ext cx="178979" cy="178979"/>
          </a:xfrm>
          <a:prstGeom prst="rect">
            <a:avLst/>
          </a:prstGeom>
        </p:spPr>
      </p:pic>
      <p:sp>
        <p:nvSpPr>
          <p:cNvPr id="8544" name="TextBox 8543">
            <a:extLst>
              <a:ext uri="{FF2B5EF4-FFF2-40B4-BE49-F238E27FC236}">
                <a16:creationId xmlns:a16="http://schemas.microsoft.com/office/drawing/2014/main" id="{81575867-707B-F8FF-2AF3-A9D03D91D59C}"/>
              </a:ext>
            </a:extLst>
          </p:cNvPr>
          <p:cNvSpPr txBox="1"/>
          <p:nvPr/>
        </p:nvSpPr>
        <p:spPr>
          <a:xfrm>
            <a:off x="3869160" y="3991752"/>
            <a:ext cx="62853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545" name="그림 8544">
            <a:extLst>
              <a:ext uri="{FF2B5EF4-FFF2-40B4-BE49-F238E27FC236}">
                <a16:creationId xmlns:a16="http://schemas.microsoft.com/office/drawing/2014/main" id="{98EFE9C5-914A-9E6E-87B8-27E3AB1880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675" y="1837594"/>
            <a:ext cx="216000" cy="216000"/>
          </a:xfrm>
          <a:prstGeom prst="rect">
            <a:avLst/>
          </a:prstGeom>
        </p:spPr>
      </p:pic>
      <p:sp>
        <p:nvSpPr>
          <p:cNvPr id="8546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95AB4F53-303D-C323-A438-BD38E4EE6D0C}"/>
              </a:ext>
            </a:extLst>
          </p:cNvPr>
          <p:cNvSpPr/>
          <p:nvPr/>
        </p:nvSpPr>
        <p:spPr bwMode="auto">
          <a:xfrm>
            <a:off x="3556040" y="1493086"/>
            <a:ext cx="2364789" cy="4106454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547" name="그림 8546">
            <a:extLst>
              <a:ext uri="{FF2B5EF4-FFF2-40B4-BE49-F238E27FC236}">
                <a16:creationId xmlns:a16="http://schemas.microsoft.com/office/drawing/2014/main" id="{6089424E-C91B-4A00-033A-9C0FF05C82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337" y="2688375"/>
            <a:ext cx="216000" cy="216000"/>
          </a:xfrm>
          <a:prstGeom prst="rect">
            <a:avLst/>
          </a:prstGeom>
        </p:spPr>
      </p:pic>
      <p:pic>
        <p:nvPicPr>
          <p:cNvPr id="8548" name="그림 8547">
            <a:extLst>
              <a:ext uri="{FF2B5EF4-FFF2-40B4-BE49-F238E27FC236}">
                <a16:creationId xmlns:a16="http://schemas.microsoft.com/office/drawing/2014/main" id="{ABEEE5DD-B1C1-1ACE-0ECC-704ABE818B1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65065" y="2319813"/>
            <a:ext cx="198545" cy="216000"/>
          </a:xfrm>
          <a:prstGeom prst="rect">
            <a:avLst/>
          </a:prstGeom>
        </p:spPr>
      </p:pic>
      <p:pic>
        <p:nvPicPr>
          <p:cNvPr id="8549" name="그림 8548">
            <a:extLst>
              <a:ext uri="{FF2B5EF4-FFF2-40B4-BE49-F238E27FC236}">
                <a16:creationId xmlns:a16="http://schemas.microsoft.com/office/drawing/2014/main" id="{6C8F00DC-BA86-D64C-088A-1D08305142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337" y="1837594"/>
            <a:ext cx="216000" cy="216000"/>
          </a:xfrm>
          <a:prstGeom prst="rect">
            <a:avLst/>
          </a:prstGeom>
        </p:spPr>
      </p:pic>
      <p:cxnSp>
        <p:nvCxnSpPr>
          <p:cNvPr id="8550" name="직선 화살표 연결선 8549">
            <a:extLst>
              <a:ext uri="{FF2B5EF4-FFF2-40B4-BE49-F238E27FC236}">
                <a16:creationId xmlns:a16="http://schemas.microsoft.com/office/drawing/2014/main" id="{FEDCAB69-7B24-C3A6-F301-CF88336D625C}"/>
              </a:ext>
            </a:extLst>
          </p:cNvPr>
          <p:cNvCxnSpPr>
            <a:stCxn id="8549" idx="2"/>
            <a:endCxn id="8548" idx="0"/>
          </p:cNvCxnSpPr>
          <p:nvPr/>
        </p:nvCxnSpPr>
        <p:spPr>
          <a:xfrm>
            <a:off x="2764337" y="2053594"/>
            <a:ext cx="1" cy="266219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51" name="직선 화살표 연결선 8550">
            <a:extLst>
              <a:ext uri="{FF2B5EF4-FFF2-40B4-BE49-F238E27FC236}">
                <a16:creationId xmlns:a16="http://schemas.microsoft.com/office/drawing/2014/main" id="{7B2D2DFB-9536-0011-CD3B-C932B2784CEE}"/>
              </a:ext>
            </a:extLst>
          </p:cNvPr>
          <p:cNvCxnSpPr>
            <a:cxnSpLocks/>
            <a:stCxn id="8548" idx="2"/>
            <a:endCxn id="8547" idx="0"/>
          </p:cNvCxnSpPr>
          <p:nvPr/>
        </p:nvCxnSpPr>
        <p:spPr>
          <a:xfrm flipH="1">
            <a:off x="2764337" y="2535813"/>
            <a:ext cx="1" cy="15256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52" name="그림 8551">
            <a:extLst>
              <a:ext uri="{FF2B5EF4-FFF2-40B4-BE49-F238E27FC236}">
                <a16:creationId xmlns:a16="http://schemas.microsoft.com/office/drawing/2014/main" id="{5C153A24-3DC4-DAF7-87B0-0D360DD6E5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9510" y="3220013"/>
            <a:ext cx="4507169" cy="560751"/>
          </a:xfrm>
          <a:prstGeom prst="rect">
            <a:avLst/>
          </a:prstGeom>
        </p:spPr>
      </p:pic>
      <p:pic>
        <p:nvPicPr>
          <p:cNvPr id="8554" name="그림 8553">
            <a:extLst>
              <a:ext uri="{FF2B5EF4-FFF2-40B4-BE49-F238E27FC236}">
                <a16:creationId xmlns:a16="http://schemas.microsoft.com/office/drawing/2014/main" id="{F2250281-435C-D0EB-0C85-4329D040CF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16097" y="3186489"/>
            <a:ext cx="107950" cy="165100"/>
          </a:xfrm>
          <a:prstGeom prst="rect">
            <a:avLst/>
          </a:prstGeom>
        </p:spPr>
      </p:pic>
      <p:pic>
        <p:nvPicPr>
          <p:cNvPr id="8555" name="그림 8554">
            <a:extLst>
              <a:ext uri="{FF2B5EF4-FFF2-40B4-BE49-F238E27FC236}">
                <a16:creationId xmlns:a16="http://schemas.microsoft.com/office/drawing/2014/main" id="{1278FB57-137B-055F-C7E1-CEBCB6D192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9685" y="3180352"/>
            <a:ext cx="107950" cy="165100"/>
          </a:xfrm>
          <a:prstGeom prst="rect">
            <a:avLst/>
          </a:prstGeom>
        </p:spPr>
      </p:pic>
      <p:cxnSp>
        <p:nvCxnSpPr>
          <p:cNvPr id="8556" name="구부러진 연결선[U] 8555">
            <a:extLst>
              <a:ext uri="{FF2B5EF4-FFF2-40B4-BE49-F238E27FC236}">
                <a16:creationId xmlns:a16="http://schemas.microsoft.com/office/drawing/2014/main" id="{CD9F64B4-8509-3E26-41B8-76E97AB9A9B6}"/>
              </a:ext>
            </a:extLst>
          </p:cNvPr>
          <p:cNvCxnSpPr>
            <a:stCxn id="8547" idx="3"/>
            <a:endCxn id="8554" idx="0"/>
          </p:cNvCxnSpPr>
          <p:nvPr/>
        </p:nvCxnSpPr>
        <p:spPr>
          <a:xfrm>
            <a:off x="2872337" y="2796375"/>
            <a:ext cx="297735" cy="39011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57" name="그림 8556">
            <a:extLst>
              <a:ext uri="{FF2B5EF4-FFF2-40B4-BE49-F238E27FC236}">
                <a16:creationId xmlns:a16="http://schemas.microsoft.com/office/drawing/2014/main" id="{833F0033-228A-D834-8E5F-15D3CF465C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874" y="2689598"/>
            <a:ext cx="216000" cy="216000"/>
          </a:xfrm>
          <a:prstGeom prst="rect">
            <a:avLst/>
          </a:prstGeom>
        </p:spPr>
      </p:pic>
      <p:pic>
        <p:nvPicPr>
          <p:cNvPr id="8558" name="그림 8557">
            <a:extLst>
              <a:ext uri="{FF2B5EF4-FFF2-40B4-BE49-F238E27FC236}">
                <a16:creationId xmlns:a16="http://schemas.microsoft.com/office/drawing/2014/main" id="{37AFF8FF-FC74-E711-CB03-BBAC54947F9A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0602" y="2321036"/>
            <a:ext cx="198545" cy="216000"/>
          </a:xfrm>
          <a:prstGeom prst="rect">
            <a:avLst/>
          </a:prstGeom>
        </p:spPr>
      </p:pic>
      <p:pic>
        <p:nvPicPr>
          <p:cNvPr id="8559" name="그림 8558">
            <a:extLst>
              <a:ext uri="{FF2B5EF4-FFF2-40B4-BE49-F238E27FC236}">
                <a16:creationId xmlns:a16="http://schemas.microsoft.com/office/drawing/2014/main" id="{A415B84C-4AB1-A7A4-FE3E-201C18D42B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874" y="1844590"/>
            <a:ext cx="216000" cy="216000"/>
          </a:xfrm>
          <a:prstGeom prst="rect">
            <a:avLst/>
          </a:prstGeom>
        </p:spPr>
      </p:pic>
      <p:cxnSp>
        <p:nvCxnSpPr>
          <p:cNvPr id="8560" name="직선 화살표 연결선 8559">
            <a:extLst>
              <a:ext uri="{FF2B5EF4-FFF2-40B4-BE49-F238E27FC236}">
                <a16:creationId xmlns:a16="http://schemas.microsoft.com/office/drawing/2014/main" id="{A38EDFB4-48DA-E34C-21DD-7BF7F1CBB4FB}"/>
              </a:ext>
            </a:extLst>
          </p:cNvPr>
          <p:cNvCxnSpPr>
            <a:stCxn id="8559" idx="2"/>
            <a:endCxn id="8558" idx="0"/>
          </p:cNvCxnSpPr>
          <p:nvPr/>
        </p:nvCxnSpPr>
        <p:spPr>
          <a:xfrm>
            <a:off x="4199874" y="2060590"/>
            <a:ext cx="1" cy="260446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1" name="직선 화살표 연결선 8560">
            <a:extLst>
              <a:ext uri="{FF2B5EF4-FFF2-40B4-BE49-F238E27FC236}">
                <a16:creationId xmlns:a16="http://schemas.microsoft.com/office/drawing/2014/main" id="{E882FD50-3063-DDCF-4BAC-ED7CC7D5FE0B}"/>
              </a:ext>
            </a:extLst>
          </p:cNvPr>
          <p:cNvCxnSpPr>
            <a:cxnSpLocks/>
            <a:stCxn id="8558" idx="2"/>
            <a:endCxn id="8557" idx="0"/>
          </p:cNvCxnSpPr>
          <p:nvPr/>
        </p:nvCxnSpPr>
        <p:spPr>
          <a:xfrm flipH="1">
            <a:off x="4199874" y="2537036"/>
            <a:ext cx="1" cy="15256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2" name="구부러진 연결선[U] 8561">
            <a:extLst>
              <a:ext uri="{FF2B5EF4-FFF2-40B4-BE49-F238E27FC236}">
                <a16:creationId xmlns:a16="http://schemas.microsoft.com/office/drawing/2014/main" id="{AFC866D8-1EB0-A35F-B129-C0B1338911CE}"/>
              </a:ext>
            </a:extLst>
          </p:cNvPr>
          <p:cNvCxnSpPr>
            <a:cxnSpLocks/>
            <a:stCxn id="8557" idx="1"/>
            <a:endCxn id="8555" idx="0"/>
          </p:cNvCxnSpPr>
          <p:nvPr/>
        </p:nvCxnSpPr>
        <p:spPr>
          <a:xfrm rot="10800000" flipV="1">
            <a:off x="3803660" y="2797598"/>
            <a:ext cx="288214" cy="38275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63" name="그림 8562">
            <a:extLst>
              <a:ext uri="{FF2B5EF4-FFF2-40B4-BE49-F238E27FC236}">
                <a16:creationId xmlns:a16="http://schemas.microsoft.com/office/drawing/2014/main" id="{B73C0A21-1FBB-FF8B-809F-A8658645F75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571" y="1832911"/>
            <a:ext cx="216000" cy="216000"/>
          </a:xfrm>
          <a:prstGeom prst="rect">
            <a:avLst/>
          </a:prstGeom>
        </p:spPr>
      </p:pic>
      <p:pic>
        <p:nvPicPr>
          <p:cNvPr id="8564" name="그림 8563">
            <a:extLst>
              <a:ext uri="{FF2B5EF4-FFF2-40B4-BE49-F238E27FC236}">
                <a16:creationId xmlns:a16="http://schemas.microsoft.com/office/drawing/2014/main" id="{F117C15C-0394-6AAE-4068-9CDFEC5636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073" y="1827898"/>
            <a:ext cx="216000" cy="216000"/>
          </a:xfrm>
          <a:prstGeom prst="rect">
            <a:avLst/>
          </a:prstGeom>
        </p:spPr>
      </p:pic>
      <p:pic>
        <p:nvPicPr>
          <p:cNvPr id="8565" name="그림 8564">
            <a:extLst>
              <a:ext uri="{FF2B5EF4-FFF2-40B4-BE49-F238E27FC236}">
                <a16:creationId xmlns:a16="http://schemas.microsoft.com/office/drawing/2014/main" id="{B9E26C30-DB61-C5D6-557E-DE4C71F08C4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1999" y="2841076"/>
            <a:ext cx="312676" cy="104225"/>
          </a:xfrm>
          <a:prstGeom prst="rect">
            <a:avLst/>
          </a:prstGeom>
        </p:spPr>
      </p:pic>
      <p:pic>
        <p:nvPicPr>
          <p:cNvPr id="8566" name="그림 8565">
            <a:extLst>
              <a:ext uri="{FF2B5EF4-FFF2-40B4-BE49-F238E27FC236}">
                <a16:creationId xmlns:a16="http://schemas.microsoft.com/office/drawing/2014/main" id="{F3489AC3-63AC-28CF-294D-A866E8DAFDD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25911" y="2849317"/>
            <a:ext cx="312676" cy="104225"/>
          </a:xfrm>
          <a:prstGeom prst="rect">
            <a:avLst/>
          </a:prstGeom>
        </p:spPr>
      </p:pic>
      <p:pic>
        <p:nvPicPr>
          <p:cNvPr id="8567" name="그림 8566">
            <a:extLst>
              <a:ext uri="{FF2B5EF4-FFF2-40B4-BE49-F238E27FC236}">
                <a16:creationId xmlns:a16="http://schemas.microsoft.com/office/drawing/2014/main" id="{3D22D2F0-F7BF-17DB-9074-C401ADC9B32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2682" y="3432803"/>
            <a:ext cx="364346" cy="104812"/>
          </a:xfrm>
          <a:prstGeom prst="rect">
            <a:avLst/>
          </a:prstGeom>
        </p:spPr>
      </p:pic>
      <p:pic>
        <p:nvPicPr>
          <p:cNvPr id="8568" name="그림 8567">
            <a:extLst>
              <a:ext uri="{FF2B5EF4-FFF2-40B4-BE49-F238E27FC236}">
                <a16:creationId xmlns:a16="http://schemas.microsoft.com/office/drawing/2014/main" id="{0C5D3EB8-E43A-C99B-D37C-0388C0035B4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3392" y="3432803"/>
            <a:ext cx="364346" cy="106268"/>
          </a:xfrm>
          <a:prstGeom prst="rect">
            <a:avLst/>
          </a:prstGeom>
        </p:spPr>
      </p:pic>
      <p:pic>
        <p:nvPicPr>
          <p:cNvPr id="8571" name="그림 8570">
            <a:extLst>
              <a:ext uri="{FF2B5EF4-FFF2-40B4-BE49-F238E27FC236}">
                <a16:creationId xmlns:a16="http://schemas.microsoft.com/office/drawing/2014/main" id="{403653E1-E44E-E384-F8AE-45847BB14E0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3115" y="3432803"/>
            <a:ext cx="364347" cy="106268"/>
          </a:xfrm>
          <a:prstGeom prst="rect">
            <a:avLst/>
          </a:prstGeom>
        </p:spPr>
      </p:pic>
      <p:cxnSp>
        <p:nvCxnSpPr>
          <p:cNvPr id="8573" name="직선 화살표 연결선 8572">
            <a:extLst>
              <a:ext uri="{FF2B5EF4-FFF2-40B4-BE49-F238E27FC236}">
                <a16:creationId xmlns:a16="http://schemas.microsoft.com/office/drawing/2014/main" id="{7A05AAE6-ADD7-622E-0020-A8F20EA60CDB}"/>
              </a:ext>
            </a:extLst>
          </p:cNvPr>
          <p:cNvCxnSpPr>
            <a:cxnSpLocks/>
            <a:stCxn id="8563" idx="2"/>
            <a:endCxn id="8568" idx="0"/>
          </p:cNvCxnSpPr>
          <p:nvPr/>
        </p:nvCxnSpPr>
        <p:spPr>
          <a:xfrm flipH="1">
            <a:off x="2065565" y="2048911"/>
            <a:ext cx="12006" cy="138389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4" name="직선 화살표 연결선 8573">
            <a:extLst>
              <a:ext uri="{FF2B5EF4-FFF2-40B4-BE49-F238E27FC236}">
                <a16:creationId xmlns:a16="http://schemas.microsoft.com/office/drawing/2014/main" id="{D25273F4-9FFC-D8AC-115B-10C544606701}"/>
              </a:ext>
            </a:extLst>
          </p:cNvPr>
          <p:cNvCxnSpPr>
            <a:cxnSpLocks/>
            <a:stCxn id="8564" idx="2"/>
            <a:endCxn id="8567" idx="0"/>
          </p:cNvCxnSpPr>
          <p:nvPr/>
        </p:nvCxnSpPr>
        <p:spPr>
          <a:xfrm flipH="1">
            <a:off x="2414855" y="2043898"/>
            <a:ext cx="4218" cy="1388905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75" name="그림 8574">
            <a:extLst>
              <a:ext uri="{FF2B5EF4-FFF2-40B4-BE49-F238E27FC236}">
                <a16:creationId xmlns:a16="http://schemas.microsoft.com/office/drawing/2014/main" id="{581BBC23-277F-502E-5F1A-B9A24451A5C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138" y="1844590"/>
            <a:ext cx="216000" cy="216000"/>
          </a:xfrm>
          <a:prstGeom prst="rect">
            <a:avLst/>
          </a:prstGeom>
        </p:spPr>
      </p:pic>
      <p:pic>
        <p:nvPicPr>
          <p:cNvPr id="8576" name="그림 8575">
            <a:extLst>
              <a:ext uri="{FF2B5EF4-FFF2-40B4-BE49-F238E27FC236}">
                <a16:creationId xmlns:a16="http://schemas.microsoft.com/office/drawing/2014/main" id="{CFFF9CBD-B8F4-80B9-17AF-971C3C85BB7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401" y="1844590"/>
            <a:ext cx="216000" cy="216000"/>
          </a:xfrm>
          <a:prstGeom prst="rect">
            <a:avLst/>
          </a:prstGeom>
        </p:spPr>
      </p:pic>
      <p:cxnSp>
        <p:nvCxnSpPr>
          <p:cNvPr id="8577" name="직선 화살표 연결선 8576">
            <a:extLst>
              <a:ext uri="{FF2B5EF4-FFF2-40B4-BE49-F238E27FC236}">
                <a16:creationId xmlns:a16="http://schemas.microsoft.com/office/drawing/2014/main" id="{CAA5871C-8167-FB0C-7722-3F85DCAB3D55}"/>
              </a:ext>
            </a:extLst>
          </p:cNvPr>
          <p:cNvCxnSpPr>
            <a:cxnSpLocks/>
            <a:stCxn id="8575" idx="2"/>
            <a:endCxn id="8582" idx="0"/>
          </p:cNvCxnSpPr>
          <p:nvPr/>
        </p:nvCxnSpPr>
        <p:spPr>
          <a:xfrm flipH="1">
            <a:off x="4544992" y="2060590"/>
            <a:ext cx="146" cy="1372213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8" name="직선 화살표 연결선 8577">
            <a:extLst>
              <a:ext uri="{FF2B5EF4-FFF2-40B4-BE49-F238E27FC236}">
                <a16:creationId xmlns:a16="http://schemas.microsoft.com/office/drawing/2014/main" id="{FCD25803-AB85-F2B0-050F-F4AD367D18D6}"/>
              </a:ext>
            </a:extLst>
          </p:cNvPr>
          <p:cNvCxnSpPr>
            <a:cxnSpLocks/>
            <a:stCxn id="8576" idx="2"/>
            <a:endCxn id="8583" idx="0"/>
          </p:cNvCxnSpPr>
          <p:nvPr/>
        </p:nvCxnSpPr>
        <p:spPr>
          <a:xfrm flipH="1">
            <a:off x="4882422" y="2060590"/>
            <a:ext cx="7979" cy="1372213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79" name="그림 8578">
            <a:extLst>
              <a:ext uri="{FF2B5EF4-FFF2-40B4-BE49-F238E27FC236}">
                <a16:creationId xmlns:a16="http://schemas.microsoft.com/office/drawing/2014/main" id="{01C3690D-A6D0-05E5-D1F7-1DED46437F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06348" y="3432803"/>
            <a:ext cx="364347" cy="106268"/>
          </a:xfrm>
          <a:prstGeom prst="rect">
            <a:avLst/>
          </a:prstGeom>
        </p:spPr>
      </p:pic>
      <p:cxnSp>
        <p:nvCxnSpPr>
          <p:cNvPr id="8580" name="구부러진 연결선[U] 8579">
            <a:extLst>
              <a:ext uri="{FF2B5EF4-FFF2-40B4-BE49-F238E27FC236}">
                <a16:creationId xmlns:a16="http://schemas.microsoft.com/office/drawing/2014/main" id="{9AD61687-B185-3D49-8480-ACD47941F8D6}"/>
              </a:ext>
            </a:extLst>
          </p:cNvPr>
          <p:cNvCxnSpPr>
            <a:cxnSpLocks/>
            <a:stCxn id="8554" idx="1"/>
            <a:endCxn id="8571" idx="0"/>
          </p:cNvCxnSpPr>
          <p:nvPr/>
        </p:nvCxnSpPr>
        <p:spPr>
          <a:xfrm rot="10800000" flipV="1">
            <a:off x="2875289" y="3269039"/>
            <a:ext cx="240808" cy="16376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1" name="구부러진 연결선[U] 8580">
            <a:extLst>
              <a:ext uri="{FF2B5EF4-FFF2-40B4-BE49-F238E27FC236}">
                <a16:creationId xmlns:a16="http://schemas.microsoft.com/office/drawing/2014/main" id="{096E00C4-FD15-1B74-2041-CEEC30432730}"/>
              </a:ext>
            </a:extLst>
          </p:cNvPr>
          <p:cNvCxnSpPr>
            <a:cxnSpLocks/>
            <a:stCxn id="8555" idx="3"/>
            <a:endCxn id="8579" idx="0"/>
          </p:cNvCxnSpPr>
          <p:nvPr/>
        </p:nvCxnSpPr>
        <p:spPr>
          <a:xfrm>
            <a:off x="3857635" y="3262902"/>
            <a:ext cx="230887" cy="169901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82" name="그림 8581">
            <a:extLst>
              <a:ext uri="{FF2B5EF4-FFF2-40B4-BE49-F238E27FC236}">
                <a16:creationId xmlns:a16="http://schemas.microsoft.com/office/drawing/2014/main" id="{68BB6694-7803-588C-17FE-F8C163AC573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2819" y="3432803"/>
            <a:ext cx="364346" cy="104812"/>
          </a:xfrm>
          <a:prstGeom prst="rect">
            <a:avLst/>
          </a:prstGeom>
        </p:spPr>
      </p:pic>
      <p:pic>
        <p:nvPicPr>
          <p:cNvPr id="8583" name="그림 8582">
            <a:extLst>
              <a:ext uri="{FF2B5EF4-FFF2-40B4-BE49-F238E27FC236}">
                <a16:creationId xmlns:a16="http://schemas.microsoft.com/office/drawing/2014/main" id="{AF1F95D7-E6E4-05A1-C68B-F500B9D87A6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0249" y="3432803"/>
            <a:ext cx="364346" cy="106268"/>
          </a:xfrm>
          <a:prstGeom prst="rect">
            <a:avLst/>
          </a:prstGeom>
        </p:spPr>
      </p:pic>
      <p:sp>
        <p:nvSpPr>
          <p:cNvPr id="8584" name="TextBox 8583">
            <a:extLst>
              <a:ext uri="{FF2B5EF4-FFF2-40B4-BE49-F238E27FC236}">
                <a16:creationId xmlns:a16="http://schemas.microsoft.com/office/drawing/2014/main" id="{2D14F7A8-4003-813A-8472-746D27DD0A27}"/>
              </a:ext>
            </a:extLst>
          </p:cNvPr>
          <p:cNvSpPr txBox="1"/>
          <p:nvPr/>
        </p:nvSpPr>
        <p:spPr>
          <a:xfrm>
            <a:off x="2564385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85" name="TextBox 8584">
            <a:extLst>
              <a:ext uri="{FF2B5EF4-FFF2-40B4-BE49-F238E27FC236}">
                <a16:creationId xmlns:a16="http://schemas.microsoft.com/office/drawing/2014/main" id="{037088B5-34F5-2EF4-5102-157326712A7E}"/>
              </a:ext>
            </a:extLst>
          </p:cNvPr>
          <p:cNvSpPr txBox="1"/>
          <p:nvPr/>
        </p:nvSpPr>
        <p:spPr>
          <a:xfrm>
            <a:off x="2203952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86" name="TextBox 8585">
            <a:extLst>
              <a:ext uri="{FF2B5EF4-FFF2-40B4-BE49-F238E27FC236}">
                <a16:creationId xmlns:a16="http://schemas.microsoft.com/office/drawing/2014/main" id="{E105A0F7-A076-ADD2-94F0-983F5B95589C}"/>
              </a:ext>
            </a:extLst>
          </p:cNvPr>
          <p:cNvSpPr txBox="1"/>
          <p:nvPr/>
        </p:nvSpPr>
        <p:spPr>
          <a:xfrm>
            <a:off x="1854982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87" name="TextBox 8586">
            <a:extLst>
              <a:ext uri="{FF2B5EF4-FFF2-40B4-BE49-F238E27FC236}">
                <a16:creationId xmlns:a16="http://schemas.microsoft.com/office/drawing/2014/main" id="{A67417EA-1BF0-7CD0-2BF3-4148BF95C87B}"/>
              </a:ext>
            </a:extLst>
          </p:cNvPr>
          <p:cNvSpPr txBox="1"/>
          <p:nvPr/>
        </p:nvSpPr>
        <p:spPr>
          <a:xfrm>
            <a:off x="3986995" y="2057630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88" name="TextBox 8587">
            <a:extLst>
              <a:ext uri="{FF2B5EF4-FFF2-40B4-BE49-F238E27FC236}">
                <a16:creationId xmlns:a16="http://schemas.microsoft.com/office/drawing/2014/main" id="{C6984774-7698-5A76-D10A-F86E4C723831}"/>
              </a:ext>
            </a:extLst>
          </p:cNvPr>
          <p:cNvSpPr txBox="1"/>
          <p:nvPr/>
        </p:nvSpPr>
        <p:spPr>
          <a:xfrm>
            <a:off x="4301872" y="2051355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89" name="TextBox 8588">
            <a:extLst>
              <a:ext uri="{FF2B5EF4-FFF2-40B4-BE49-F238E27FC236}">
                <a16:creationId xmlns:a16="http://schemas.microsoft.com/office/drawing/2014/main" id="{02AC0071-1BFC-C9BA-4033-BB5A5B568739}"/>
              </a:ext>
            </a:extLst>
          </p:cNvPr>
          <p:cNvSpPr txBox="1"/>
          <p:nvPr/>
        </p:nvSpPr>
        <p:spPr>
          <a:xfrm>
            <a:off x="4667947" y="2057576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591" name="그림 8590">
            <a:extLst>
              <a:ext uri="{FF2B5EF4-FFF2-40B4-BE49-F238E27FC236}">
                <a16:creationId xmlns:a16="http://schemas.microsoft.com/office/drawing/2014/main" id="{03D91425-A553-F285-3F3A-57F606431E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807" y="1837594"/>
            <a:ext cx="216000" cy="216000"/>
          </a:xfrm>
          <a:prstGeom prst="rect">
            <a:avLst/>
          </a:prstGeom>
        </p:spPr>
      </p:pic>
      <p:sp>
        <p:nvSpPr>
          <p:cNvPr id="8592" name="TextBox 8591">
            <a:extLst>
              <a:ext uri="{FF2B5EF4-FFF2-40B4-BE49-F238E27FC236}">
                <a16:creationId xmlns:a16="http://schemas.microsoft.com/office/drawing/2014/main" id="{166F666F-F0C1-2E24-C791-CC7C9A37D744}"/>
              </a:ext>
            </a:extLst>
          </p:cNvPr>
          <p:cNvSpPr txBox="1"/>
          <p:nvPr/>
        </p:nvSpPr>
        <p:spPr>
          <a:xfrm>
            <a:off x="2961426" y="2060830"/>
            <a:ext cx="3432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93" name="TextBox 8592">
            <a:extLst>
              <a:ext uri="{FF2B5EF4-FFF2-40B4-BE49-F238E27FC236}">
                <a16:creationId xmlns:a16="http://schemas.microsoft.com/office/drawing/2014/main" id="{319C70BB-5A98-85C0-7A02-0139961BCE02}"/>
              </a:ext>
            </a:extLst>
          </p:cNvPr>
          <p:cNvSpPr txBox="1"/>
          <p:nvPr/>
        </p:nvSpPr>
        <p:spPr>
          <a:xfrm>
            <a:off x="5112658" y="2060489"/>
            <a:ext cx="3432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594" name="그림 8593">
            <a:extLst>
              <a:ext uri="{FF2B5EF4-FFF2-40B4-BE49-F238E27FC236}">
                <a16:creationId xmlns:a16="http://schemas.microsoft.com/office/drawing/2014/main" id="{80D7B8B0-902C-2A48-B24D-9DD1710B7F8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02" y="2344729"/>
            <a:ext cx="173883" cy="173883"/>
          </a:xfrm>
          <a:prstGeom prst="rect">
            <a:avLst/>
          </a:prstGeom>
        </p:spPr>
      </p:pic>
      <p:pic>
        <p:nvPicPr>
          <p:cNvPr id="8595" name="Graphic 7" descr="Amazon Aurora service icon.">
            <a:extLst>
              <a:ext uri="{FF2B5EF4-FFF2-40B4-BE49-F238E27FC236}">
                <a16:creationId xmlns:a16="http://schemas.microsoft.com/office/drawing/2014/main" id="{CC06795B-D9E1-20B4-2F92-5F168B3BD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149938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96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F625B8F8-31EC-48DF-96EB-6940942E6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188649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97" name="Graphic 13" descr="AWS Batch service icon.">
            <a:extLst>
              <a:ext uri="{FF2B5EF4-FFF2-40B4-BE49-F238E27FC236}">
                <a16:creationId xmlns:a16="http://schemas.microsoft.com/office/drawing/2014/main" id="{901D69A5-0A54-79E6-0152-0B8EB09AF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6243762" y="3976714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99" name="Graphic 23" descr="Amazon DynamoDB service icon.">
            <a:extLst>
              <a:ext uri="{FF2B5EF4-FFF2-40B4-BE49-F238E27FC236}">
                <a16:creationId xmlns:a16="http://schemas.microsoft.com/office/drawing/2014/main" id="{06A2DA93-CD30-0F8F-64B2-EFFDFD9B4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227360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0" name="Graphic 26" descr="Amazon Managed Streaming for Apache Kafka (Amazon MSK) service icon.">
            <a:extLst>
              <a:ext uri="{FF2B5EF4-FFF2-40B4-BE49-F238E27FC236}">
                <a16:creationId xmlns:a16="http://schemas.microsoft.com/office/drawing/2014/main" id="{9C1B0264-00D6-1E55-84A2-3F9E21DAB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3046849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1" name="Graphic 21" descr="Amazon ElastiCache service icon.">
            <a:extLst>
              <a:ext uri="{FF2B5EF4-FFF2-40B4-BE49-F238E27FC236}">
                <a16:creationId xmlns:a16="http://schemas.microsoft.com/office/drawing/2014/main" id="{E6E283B5-04E1-B921-D269-089BEF7F7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2660710" y="4131762"/>
            <a:ext cx="171989" cy="17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4" name="TextBox 8603">
            <a:extLst>
              <a:ext uri="{FF2B5EF4-FFF2-40B4-BE49-F238E27FC236}">
                <a16:creationId xmlns:a16="http://schemas.microsoft.com/office/drawing/2014/main" id="{F6099999-457D-E3C5-BE1B-E018267DDBF8}"/>
              </a:ext>
            </a:extLst>
          </p:cNvPr>
          <p:cNvSpPr txBox="1"/>
          <p:nvPr/>
        </p:nvSpPr>
        <p:spPr>
          <a:xfrm>
            <a:off x="3027530" y="4330249"/>
            <a:ext cx="2115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MSK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6" name="TextBox 8605">
            <a:extLst>
              <a:ext uri="{FF2B5EF4-FFF2-40B4-BE49-F238E27FC236}">
                <a16:creationId xmlns:a16="http://schemas.microsoft.com/office/drawing/2014/main" id="{1FE7500E-F550-5AAF-8F95-2B70DE679E56}"/>
              </a:ext>
            </a:extLst>
          </p:cNvPr>
          <p:cNvSpPr txBox="1"/>
          <p:nvPr/>
        </p:nvSpPr>
        <p:spPr>
          <a:xfrm>
            <a:off x="2504224" y="4330249"/>
            <a:ext cx="48496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ElastiCache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10" name="TextBox 8609">
            <a:extLst>
              <a:ext uri="{FF2B5EF4-FFF2-40B4-BE49-F238E27FC236}">
                <a16:creationId xmlns:a16="http://schemas.microsoft.com/office/drawing/2014/main" id="{3688A6AF-E326-A778-DC4B-AF78FB335171}"/>
              </a:ext>
            </a:extLst>
          </p:cNvPr>
          <p:cNvSpPr txBox="1"/>
          <p:nvPr/>
        </p:nvSpPr>
        <p:spPr>
          <a:xfrm>
            <a:off x="1437133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Aurora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12" name="TextBox 8611">
            <a:extLst>
              <a:ext uri="{FF2B5EF4-FFF2-40B4-BE49-F238E27FC236}">
                <a16:creationId xmlns:a16="http://schemas.microsoft.com/office/drawing/2014/main" id="{50AC309F-D0C9-CA01-339B-94FC0ADC24D7}"/>
              </a:ext>
            </a:extLst>
          </p:cNvPr>
          <p:cNvSpPr txBox="1"/>
          <p:nvPr/>
        </p:nvSpPr>
        <p:spPr>
          <a:xfrm>
            <a:off x="1821952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13" name="TextBox 8612">
            <a:extLst>
              <a:ext uri="{FF2B5EF4-FFF2-40B4-BE49-F238E27FC236}">
                <a16:creationId xmlns:a16="http://schemas.microsoft.com/office/drawing/2014/main" id="{6FE9F326-C5CD-5850-8EC6-D9D1B0880376}"/>
              </a:ext>
            </a:extLst>
          </p:cNvPr>
          <p:cNvSpPr txBox="1"/>
          <p:nvPr/>
        </p:nvSpPr>
        <p:spPr>
          <a:xfrm>
            <a:off x="2187600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DDB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14" name="Graphic 7" descr="Amazon Aurora service icon.">
            <a:extLst>
              <a:ext uri="{FF2B5EF4-FFF2-40B4-BE49-F238E27FC236}">
                <a16:creationId xmlns:a16="http://schemas.microsoft.com/office/drawing/2014/main" id="{F08F17CD-5392-5BE0-C225-E45AD38E3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398259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20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4B6C8580-A336-CC16-C933-EF7A24BAD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436970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23" name="Graphic 23" descr="Amazon DynamoDB service icon.">
            <a:extLst>
              <a:ext uri="{FF2B5EF4-FFF2-40B4-BE49-F238E27FC236}">
                <a16:creationId xmlns:a16="http://schemas.microsoft.com/office/drawing/2014/main" id="{91F7B5F9-826C-FFAF-0CE6-F5FE5CECF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475681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25" name="Graphic 26" descr="Amazon Managed Streaming for Apache Kafka (Amazon MSK) service icon.">
            <a:extLst>
              <a:ext uri="{FF2B5EF4-FFF2-40B4-BE49-F238E27FC236}">
                <a16:creationId xmlns:a16="http://schemas.microsoft.com/office/drawing/2014/main" id="{20A68E51-3031-3F71-CB06-312ED40DB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5530062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26" name="Graphic 21" descr="Amazon ElastiCache service icon.">
            <a:extLst>
              <a:ext uri="{FF2B5EF4-FFF2-40B4-BE49-F238E27FC236}">
                <a16:creationId xmlns:a16="http://schemas.microsoft.com/office/drawing/2014/main" id="{A5A08BF4-4EF9-4ED2-AB9C-C979D720C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5143923" y="4135025"/>
            <a:ext cx="171989" cy="17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27" name="TextBox 8626">
            <a:extLst>
              <a:ext uri="{FF2B5EF4-FFF2-40B4-BE49-F238E27FC236}">
                <a16:creationId xmlns:a16="http://schemas.microsoft.com/office/drawing/2014/main" id="{EF14CF18-1658-7BE7-FFD2-9BA169A71650}"/>
              </a:ext>
            </a:extLst>
          </p:cNvPr>
          <p:cNvSpPr txBox="1"/>
          <p:nvPr/>
        </p:nvSpPr>
        <p:spPr>
          <a:xfrm>
            <a:off x="5510743" y="4333512"/>
            <a:ext cx="2115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MSK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28" name="TextBox 8627">
            <a:extLst>
              <a:ext uri="{FF2B5EF4-FFF2-40B4-BE49-F238E27FC236}">
                <a16:creationId xmlns:a16="http://schemas.microsoft.com/office/drawing/2014/main" id="{178187DA-0FE6-F725-F197-6A7D92ACE6F9}"/>
              </a:ext>
            </a:extLst>
          </p:cNvPr>
          <p:cNvSpPr txBox="1"/>
          <p:nvPr/>
        </p:nvSpPr>
        <p:spPr>
          <a:xfrm>
            <a:off x="4987437" y="4333512"/>
            <a:ext cx="48496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ElastiCache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30" name="TextBox 8629">
            <a:extLst>
              <a:ext uri="{FF2B5EF4-FFF2-40B4-BE49-F238E27FC236}">
                <a16:creationId xmlns:a16="http://schemas.microsoft.com/office/drawing/2014/main" id="{EA97E10F-45E5-535B-02F7-8FD618E3F66E}"/>
              </a:ext>
            </a:extLst>
          </p:cNvPr>
          <p:cNvSpPr txBox="1"/>
          <p:nvPr/>
        </p:nvSpPr>
        <p:spPr>
          <a:xfrm>
            <a:off x="3920346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Aurora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32" name="TextBox 8631">
            <a:extLst>
              <a:ext uri="{FF2B5EF4-FFF2-40B4-BE49-F238E27FC236}">
                <a16:creationId xmlns:a16="http://schemas.microsoft.com/office/drawing/2014/main" id="{933ED361-4356-1405-E7A9-69DAD1086250}"/>
              </a:ext>
            </a:extLst>
          </p:cNvPr>
          <p:cNvSpPr txBox="1"/>
          <p:nvPr/>
        </p:nvSpPr>
        <p:spPr>
          <a:xfrm>
            <a:off x="4305165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35" name="TextBox 8634">
            <a:extLst>
              <a:ext uri="{FF2B5EF4-FFF2-40B4-BE49-F238E27FC236}">
                <a16:creationId xmlns:a16="http://schemas.microsoft.com/office/drawing/2014/main" id="{CC636322-E71E-3FFE-67E0-42CEF72A59BE}"/>
              </a:ext>
            </a:extLst>
          </p:cNvPr>
          <p:cNvSpPr txBox="1"/>
          <p:nvPr/>
        </p:nvSpPr>
        <p:spPr>
          <a:xfrm>
            <a:off x="4670813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DDB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37" name="Rectangle 71">
            <a:extLst>
              <a:ext uri="{FF2B5EF4-FFF2-40B4-BE49-F238E27FC236}">
                <a16:creationId xmlns:a16="http://schemas.microsoft.com/office/drawing/2014/main" id="{3A5BA060-9715-DC75-A4E0-D9C2357A60D4}"/>
              </a:ext>
            </a:extLst>
          </p:cNvPr>
          <p:cNvSpPr/>
          <p:nvPr/>
        </p:nvSpPr>
        <p:spPr>
          <a:xfrm>
            <a:off x="1171804" y="4544782"/>
            <a:ext cx="2151530" cy="387431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638" name="Graphic 72" descr="Private subnet group icon. ">
            <a:extLst>
              <a:ext uri="{FF2B5EF4-FFF2-40B4-BE49-F238E27FC236}">
                <a16:creationId xmlns:a16="http://schemas.microsoft.com/office/drawing/2014/main" id="{DB9E67DD-9218-CFCE-3BE6-E69F652F3A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4544781"/>
            <a:ext cx="178979" cy="178979"/>
          </a:xfrm>
          <a:prstGeom prst="rect">
            <a:avLst/>
          </a:prstGeom>
        </p:spPr>
      </p:pic>
      <p:sp>
        <p:nvSpPr>
          <p:cNvPr id="8639" name="TextBox 8638">
            <a:extLst>
              <a:ext uri="{FF2B5EF4-FFF2-40B4-BE49-F238E27FC236}">
                <a16:creationId xmlns:a16="http://schemas.microsoft.com/office/drawing/2014/main" id="{DABF17C0-F114-2A5F-4574-59E2B483DC2B}"/>
              </a:ext>
            </a:extLst>
          </p:cNvPr>
          <p:cNvSpPr txBox="1"/>
          <p:nvPr/>
        </p:nvSpPr>
        <p:spPr>
          <a:xfrm>
            <a:off x="1390243" y="4588502"/>
            <a:ext cx="9862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 P-Data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40" name="Rectangle 71">
            <a:extLst>
              <a:ext uri="{FF2B5EF4-FFF2-40B4-BE49-F238E27FC236}">
                <a16:creationId xmlns:a16="http://schemas.microsoft.com/office/drawing/2014/main" id="{EEEFE824-9814-4214-2E7E-9AE286F5F162}"/>
              </a:ext>
            </a:extLst>
          </p:cNvPr>
          <p:cNvSpPr/>
          <p:nvPr/>
        </p:nvSpPr>
        <p:spPr>
          <a:xfrm>
            <a:off x="3659660" y="4544782"/>
            <a:ext cx="2151530" cy="387431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644" name="Graphic 72" descr="Private subnet group icon. ">
            <a:extLst>
              <a:ext uri="{FF2B5EF4-FFF2-40B4-BE49-F238E27FC236}">
                <a16:creationId xmlns:a16="http://schemas.microsoft.com/office/drawing/2014/main" id="{2933BB38-0C87-CBF9-33D3-869122376B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4544781"/>
            <a:ext cx="178979" cy="178979"/>
          </a:xfrm>
          <a:prstGeom prst="rect">
            <a:avLst/>
          </a:prstGeom>
        </p:spPr>
      </p:pic>
      <p:sp>
        <p:nvSpPr>
          <p:cNvPr id="8661" name="TextBox 8660">
            <a:extLst>
              <a:ext uri="{FF2B5EF4-FFF2-40B4-BE49-F238E27FC236}">
                <a16:creationId xmlns:a16="http://schemas.microsoft.com/office/drawing/2014/main" id="{EAC440F7-6E48-4CBE-7D9F-5DD0EF70B405}"/>
              </a:ext>
            </a:extLst>
          </p:cNvPr>
          <p:cNvSpPr txBox="1"/>
          <p:nvPr/>
        </p:nvSpPr>
        <p:spPr>
          <a:xfrm>
            <a:off x="3869159" y="4588503"/>
            <a:ext cx="96259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 P-Data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62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BDD47CF9-190B-BBFB-E4F8-09B058FA3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3044641" y="459755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63" name="TextBox 8662">
            <a:extLst>
              <a:ext uri="{FF2B5EF4-FFF2-40B4-BE49-F238E27FC236}">
                <a16:creationId xmlns:a16="http://schemas.microsoft.com/office/drawing/2014/main" id="{6123463B-0EEC-7C1E-B6EE-869167DBEA5B}"/>
              </a:ext>
            </a:extLst>
          </p:cNvPr>
          <p:cNvSpPr txBox="1"/>
          <p:nvPr/>
        </p:nvSpPr>
        <p:spPr>
          <a:xfrm>
            <a:off x="2980103" y="479603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64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72AE841B-1990-75D0-C20F-ED00E21C7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5553629" y="459755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68" name="TextBox 8667">
            <a:extLst>
              <a:ext uri="{FF2B5EF4-FFF2-40B4-BE49-F238E27FC236}">
                <a16:creationId xmlns:a16="http://schemas.microsoft.com/office/drawing/2014/main" id="{796EAFC6-586C-BD58-1DEA-DC414EE5485D}"/>
              </a:ext>
            </a:extLst>
          </p:cNvPr>
          <p:cNvSpPr txBox="1"/>
          <p:nvPr/>
        </p:nvSpPr>
        <p:spPr>
          <a:xfrm>
            <a:off x="5489091" y="479930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69" name="Rectangle 71">
            <a:extLst>
              <a:ext uri="{FF2B5EF4-FFF2-40B4-BE49-F238E27FC236}">
                <a16:creationId xmlns:a16="http://schemas.microsoft.com/office/drawing/2014/main" id="{C8E862DA-8B49-3252-EE11-9844C8660DB0}"/>
              </a:ext>
            </a:extLst>
          </p:cNvPr>
          <p:cNvSpPr/>
          <p:nvPr/>
        </p:nvSpPr>
        <p:spPr>
          <a:xfrm>
            <a:off x="1171804" y="5014701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670" name="Graphic 72" descr="Private subnet group icon. ">
            <a:extLst>
              <a:ext uri="{FF2B5EF4-FFF2-40B4-BE49-F238E27FC236}">
                <a16:creationId xmlns:a16="http://schemas.microsoft.com/office/drawing/2014/main" id="{DBCE6CC1-2918-B22F-5CEA-9CD880A038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5014700"/>
            <a:ext cx="178979" cy="178979"/>
          </a:xfrm>
          <a:prstGeom prst="rect">
            <a:avLst/>
          </a:prstGeom>
        </p:spPr>
      </p:pic>
      <p:sp>
        <p:nvSpPr>
          <p:cNvPr id="8671" name="TextBox 8670">
            <a:extLst>
              <a:ext uri="{FF2B5EF4-FFF2-40B4-BE49-F238E27FC236}">
                <a16:creationId xmlns:a16="http://schemas.microsoft.com/office/drawing/2014/main" id="{662BD088-6838-6706-4586-78B07AF55012}"/>
              </a:ext>
            </a:extLst>
          </p:cNvPr>
          <p:cNvSpPr txBox="1"/>
          <p:nvPr/>
        </p:nvSpPr>
        <p:spPr>
          <a:xfrm>
            <a:off x="1390243" y="5058421"/>
            <a:ext cx="74361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Isolation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34" name="Rectangle 71">
            <a:extLst>
              <a:ext uri="{FF2B5EF4-FFF2-40B4-BE49-F238E27FC236}">
                <a16:creationId xmlns:a16="http://schemas.microsoft.com/office/drawing/2014/main" id="{801EE1B7-4082-D9B7-375A-B2DFF39C118C}"/>
              </a:ext>
            </a:extLst>
          </p:cNvPr>
          <p:cNvSpPr/>
          <p:nvPr/>
        </p:nvSpPr>
        <p:spPr>
          <a:xfrm>
            <a:off x="3659660" y="5014701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335" name="Graphic 72" descr="Private subnet group icon. ">
            <a:extLst>
              <a:ext uri="{FF2B5EF4-FFF2-40B4-BE49-F238E27FC236}">
                <a16:creationId xmlns:a16="http://schemas.microsoft.com/office/drawing/2014/main" id="{B4A0588D-6770-5920-5BDB-812CFF65F2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5014700"/>
            <a:ext cx="178979" cy="178979"/>
          </a:xfrm>
          <a:prstGeom prst="rect">
            <a:avLst/>
          </a:prstGeom>
        </p:spPr>
      </p:pic>
      <p:sp>
        <p:nvSpPr>
          <p:cNvPr id="8345" name="TextBox 8344">
            <a:extLst>
              <a:ext uri="{FF2B5EF4-FFF2-40B4-BE49-F238E27FC236}">
                <a16:creationId xmlns:a16="http://schemas.microsoft.com/office/drawing/2014/main" id="{A1DC7CC3-6D32-8B74-D1BC-D07565CF42B9}"/>
              </a:ext>
            </a:extLst>
          </p:cNvPr>
          <p:cNvSpPr txBox="1"/>
          <p:nvPr/>
        </p:nvSpPr>
        <p:spPr>
          <a:xfrm>
            <a:off x="3869160" y="5058422"/>
            <a:ext cx="6897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Isolation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346" name="그림 8345">
            <a:extLst>
              <a:ext uri="{FF2B5EF4-FFF2-40B4-BE49-F238E27FC236}">
                <a16:creationId xmlns:a16="http://schemas.microsoft.com/office/drawing/2014/main" id="{CB738E87-4157-97F8-2199-F86A815FF7D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410" y="3785523"/>
            <a:ext cx="147653" cy="147653"/>
          </a:xfrm>
          <a:prstGeom prst="rect">
            <a:avLst/>
          </a:prstGeom>
        </p:spPr>
      </p:pic>
      <p:pic>
        <p:nvPicPr>
          <p:cNvPr id="8347" name="그림 8346">
            <a:extLst>
              <a:ext uri="{FF2B5EF4-FFF2-40B4-BE49-F238E27FC236}">
                <a16:creationId xmlns:a16="http://schemas.microsoft.com/office/drawing/2014/main" id="{F00120BD-EB4B-73F5-B399-05DFCD56809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070" y="3785523"/>
            <a:ext cx="147653" cy="147653"/>
          </a:xfrm>
          <a:prstGeom prst="rect">
            <a:avLst/>
          </a:prstGeom>
        </p:spPr>
      </p:pic>
      <p:pic>
        <p:nvPicPr>
          <p:cNvPr id="8348" name="그림 8347">
            <a:extLst>
              <a:ext uri="{FF2B5EF4-FFF2-40B4-BE49-F238E27FC236}">
                <a16:creationId xmlns:a16="http://schemas.microsoft.com/office/drawing/2014/main" id="{36BD3BEE-1BAB-9340-A0A3-C224B23576A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828" y="4392281"/>
            <a:ext cx="147653" cy="147653"/>
          </a:xfrm>
          <a:prstGeom prst="rect">
            <a:avLst/>
          </a:prstGeom>
        </p:spPr>
      </p:pic>
      <p:pic>
        <p:nvPicPr>
          <p:cNvPr id="8349" name="그림 8348">
            <a:extLst>
              <a:ext uri="{FF2B5EF4-FFF2-40B4-BE49-F238E27FC236}">
                <a16:creationId xmlns:a16="http://schemas.microsoft.com/office/drawing/2014/main" id="{A56862BF-D3F3-5114-9D77-862952B64D8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488" y="4392281"/>
            <a:ext cx="147653" cy="147653"/>
          </a:xfrm>
          <a:prstGeom prst="rect">
            <a:avLst/>
          </a:prstGeom>
        </p:spPr>
      </p:pic>
      <p:pic>
        <p:nvPicPr>
          <p:cNvPr id="8350" name="그림 8349">
            <a:extLst>
              <a:ext uri="{FF2B5EF4-FFF2-40B4-BE49-F238E27FC236}">
                <a16:creationId xmlns:a16="http://schemas.microsoft.com/office/drawing/2014/main" id="{B71DE2F3-A2CE-25B7-A959-0457DA77D90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51" y="4854349"/>
            <a:ext cx="147653" cy="147653"/>
          </a:xfrm>
          <a:prstGeom prst="rect">
            <a:avLst/>
          </a:prstGeom>
        </p:spPr>
      </p:pic>
      <p:pic>
        <p:nvPicPr>
          <p:cNvPr id="8351" name="그림 8350">
            <a:extLst>
              <a:ext uri="{FF2B5EF4-FFF2-40B4-BE49-F238E27FC236}">
                <a16:creationId xmlns:a16="http://schemas.microsoft.com/office/drawing/2014/main" id="{7DB72DC4-4BF9-CFF6-77FD-9244077D86F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411" y="4854349"/>
            <a:ext cx="147653" cy="147653"/>
          </a:xfrm>
          <a:prstGeom prst="rect">
            <a:avLst/>
          </a:prstGeom>
        </p:spPr>
      </p:pic>
      <p:pic>
        <p:nvPicPr>
          <p:cNvPr id="8352" name="그림 8351">
            <a:extLst>
              <a:ext uri="{FF2B5EF4-FFF2-40B4-BE49-F238E27FC236}">
                <a16:creationId xmlns:a16="http://schemas.microsoft.com/office/drawing/2014/main" id="{FA7A902C-2BA8-96CC-56DB-9C436FC5222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515" y="5199112"/>
            <a:ext cx="198921" cy="198921"/>
          </a:xfrm>
          <a:prstGeom prst="rect">
            <a:avLst/>
          </a:prstGeom>
        </p:spPr>
      </p:pic>
      <p:pic>
        <p:nvPicPr>
          <p:cNvPr id="8353" name="그림 8352">
            <a:extLst>
              <a:ext uri="{FF2B5EF4-FFF2-40B4-BE49-F238E27FC236}">
                <a16:creationId xmlns:a16="http://schemas.microsoft.com/office/drawing/2014/main" id="{0B46E6B4-2881-6215-8316-15F8B5564F6A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209075" y="5415694"/>
            <a:ext cx="285107" cy="82017"/>
          </a:xfrm>
          <a:prstGeom prst="rect">
            <a:avLst/>
          </a:prstGeom>
        </p:spPr>
      </p:pic>
      <p:pic>
        <p:nvPicPr>
          <p:cNvPr id="8360" name="그림 8359">
            <a:extLst>
              <a:ext uri="{FF2B5EF4-FFF2-40B4-BE49-F238E27FC236}">
                <a16:creationId xmlns:a16="http://schemas.microsoft.com/office/drawing/2014/main" id="{6473D2E2-BB94-46E0-4792-15D9FCE710F3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19128" y="5193547"/>
            <a:ext cx="198545" cy="216000"/>
          </a:xfrm>
          <a:prstGeom prst="rect">
            <a:avLst/>
          </a:prstGeom>
        </p:spPr>
      </p:pic>
      <p:pic>
        <p:nvPicPr>
          <p:cNvPr id="8361" name="그림 8360">
            <a:extLst>
              <a:ext uri="{FF2B5EF4-FFF2-40B4-BE49-F238E27FC236}">
                <a16:creationId xmlns:a16="http://schemas.microsoft.com/office/drawing/2014/main" id="{42F864AE-7DB4-B8F6-3D40-106ADFB4E0B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541" y="5196026"/>
            <a:ext cx="198921" cy="198921"/>
          </a:xfrm>
          <a:prstGeom prst="rect">
            <a:avLst/>
          </a:prstGeom>
        </p:spPr>
      </p:pic>
      <p:pic>
        <p:nvPicPr>
          <p:cNvPr id="8365" name="그림 8364">
            <a:extLst>
              <a:ext uri="{FF2B5EF4-FFF2-40B4-BE49-F238E27FC236}">
                <a16:creationId xmlns:a16="http://schemas.microsoft.com/office/drawing/2014/main" id="{2AC345AB-E8C9-D614-B5CA-B32DE2EE988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324101" y="5412608"/>
            <a:ext cx="285107" cy="82017"/>
          </a:xfrm>
          <a:prstGeom prst="rect">
            <a:avLst/>
          </a:prstGeom>
        </p:spPr>
      </p:pic>
      <p:pic>
        <p:nvPicPr>
          <p:cNvPr id="8366" name="그림 8365">
            <a:extLst>
              <a:ext uri="{FF2B5EF4-FFF2-40B4-BE49-F238E27FC236}">
                <a16:creationId xmlns:a16="http://schemas.microsoft.com/office/drawing/2014/main" id="{F41D1615-B2E1-0F1E-226A-3948A6F7D7CA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34154" y="5190461"/>
            <a:ext cx="198545" cy="216000"/>
          </a:xfrm>
          <a:prstGeom prst="rect">
            <a:avLst/>
          </a:prstGeom>
        </p:spPr>
      </p:pic>
      <p:sp>
        <p:nvSpPr>
          <p:cNvPr id="8371" name="TextBox 8370">
            <a:extLst>
              <a:ext uri="{FF2B5EF4-FFF2-40B4-BE49-F238E27FC236}">
                <a16:creationId xmlns:a16="http://schemas.microsoft.com/office/drawing/2014/main" id="{B431F802-CFA9-ED05-4BF7-ABC0C5BD0299}"/>
              </a:ext>
            </a:extLst>
          </p:cNvPr>
          <p:cNvSpPr txBox="1"/>
          <p:nvPr/>
        </p:nvSpPr>
        <p:spPr>
          <a:xfrm>
            <a:off x="6236162" y="2571547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Lambda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375" name="Graphic 14" descr="Amazon Athena service icon.">
            <a:extLst>
              <a:ext uri="{FF2B5EF4-FFF2-40B4-BE49-F238E27FC236}">
                <a16:creationId xmlns:a16="http://schemas.microsoft.com/office/drawing/2014/main" id="{BE6B2810-8FED-9F6E-06AF-485D67AAF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 bwMode="auto">
          <a:xfrm>
            <a:off x="6305502" y="2811273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77" name="TextBox 8376">
            <a:extLst>
              <a:ext uri="{FF2B5EF4-FFF2-40B4-BE49-F238E27FC236}">
                <a16:creationId xmlns:a16="http://schemas.microsoft.com/office/drawing/2014/main" id="{66E2653E-DBD2-FC6C-DC9E-D38328D17551}"/>
              </a:ext>
            </a:extLst>
          </p:cNvPr>
          <p:cNvSpPr txBox="1"/>
          <p:nvPr/>
        </p:nvSpPr>
        <p:spPr>
          <a:xfrm>
            <a:off x="6227829" y="3024585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Athena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388" name="Graphic 20" descr="Amazon Elastic Container Registry (Amazon ECR) Service icon.">
            <a:extLst>
              <a:ext uri="{FF2B5EF4-FFF2-40B4-BE49-F238E27FC236}">
                <a16:creationId xmlns:a16="http://schemas.microsoft.com/office/drawing/2014/main" id="{EE5E31E4-A97B-EE94-ADE8-BD2AA624B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 bwMode="auto">
          <a:xfrm>
            <a:off x="6305502" y="3264723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0" name="TextBox 8389">
            <a:extLst>
              <a:ext uri="{FF2B5EF4-FFF2-40B4-BE49-F238E27FC236}">
                <a16:creationId xmlns:a16="http://schemas.microsoft.com/office/drawing/2014/main" id="{3F13AE8E-E104-8056-AE09-46702D9F7A81}"/>
              </a:ext>
            </a:extLst>
          </p:cNvPr>
          <p:cNvSpPr txBox="1"/>
          <p:nvPr/>
        </p:nvSpPr>
        <p:spPr>
          <a:xfrm>
            <a:off x="6161553" y="4184398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Batch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91" name="TextBox 8390">
            <a:extLst>
              <a:ext uri="{FF2B5EF4-FFF2-40B4-BE49-F238E27FC236}">
                <a16:creationId xmlns:a16="http://schemas.microsoft.com/office/drawing/2014/main" id="{DA83693C-91E5-F440-C8DA-45FD5320CDD0}"/>
              </a:ext>
            </a:extLst>
          </p:cNvPr>
          <p:cNvSpPr txBox="1"/>
          <p:nvPr/>
        </p:nvSpPr>
        <p:spPr>
          <a:xfrm>
            <a:off x="6212805" y="3484145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ECR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93" name="Rectangle 40">
            <a:extLst>
              <a:ext uri="{FF2B5EF4-FFF2-40B4-BE49-F238E27FC236}">
                <a16:creationId xmlns:a16="http://schemas.microsoft.com/office/drawing/2014/main" id="{A7D40499-1E91-F662-36B8-12DB9F4F0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0362" y="1568335"/>
            <a:ext cx="1222732" cy="2785257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95" name="Rectangle 39" descr="VPC group border">
            <a:extLst>
              <a:ext uri="{FF2B5EF4-FFF2-40B4-BE49-F238E27FC236}">
                <a16:creationId xmlns:a16="http://schemas.microsoft.com/office/drawing/2014/main" id="{1266B037-6BE1-A2AA-C9DA-892E8AA551E2}"/>
              </a:ext>
            </a:extLst>
          </p:cNvPr>
          <p:cNvSpPr/>
          <p:nvPr/>
        </p:nvSpPr>
        <p:spPr>
          <a:xfrm>
            <a:off x="734203" y="1213469"/>
            <a:ext cx="5300768" cy="1001299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96" name="Graphic 57" descr="VPC group icon.">
            <a:extLst>
              <a:ext uri="{FF2B5EF4-FFF2-40B4-BE49-F238E27FC236}">
                <a16:creationId xmlns:a16="http://schemas.microsoft.com/office/drawing/2014/main" id="{26E2F62D-7E19-BEDF-4EE2-1CC0B476DC54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725191" y="1213470"/>
            <a:ext cx="288000" cy="288000"/>
          </a:xfrm>
          <a:prstGeom prst="rect">
            <a:avLst/>
          </a:prstGeom>
        </p:spPr>
      </p:pic>
      <p:pic>
        <p:nvPicPr>
          <p:cNvPr id="8397" name="그림 8396">
            <a:extLst>
              <a:ext uri="{FF2B5EF4-FFF2-40B4-BE49-F238E27FC236}">
                <a16:creationId xmlns:a16="http://schemas.microsoft.com/office/drawing/2014/main" id="{8128B558-9B67-7200-D8F0-1DB09AC70630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18764" y="6089727"/>
            <a:ext cx="327321" cy="318227"/>
          </a:xfrm>
          <a:prstGeom prst="rect">
            <a:avLst/>
          </a:prstGeom>
        </p:spPr>
      </p:pic>
      <p:pic>
        <p:nvPicPr>
          <p:cNvPr id="8398" name="그림 8397">
            <a:extLst>
              <a:ext uri="{FF2B5EF4-FFF2-40B4-BE49-F238E27FC236}">
                <a16:creationId xmlns:a16="http://schemas.microsoft.com/office/drawing/2014/main" id="{C65372C1-5859-B0D6-5F2F-1F1031252F2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166" y="1066429"/>
            <a:ext cx="291600" cy="291600"/>
          </a:xfrm>
          <a:prstGeom prst="rect">
            <a:avLst/>
          </a:prstGeom>
        </p:spPr>
      </p:pic>
      <p:sp>
        <p:nvSpPr>
          <p:cNvPr id="8399" name="TextBox 8398">
            <a:extLst>
              <a:ext uri="{FF2B5EF4-FFF2-40B4-BE49-F238E27FC236}">
                <a16:creationId xmlns:a16="http://schemas.microsoft.com/office/drawing/2014/main" id="{256A5555-19FE-D5A3-DD42-F7B0042108AB}"/>
              </a:ext>
            </a:extLst>
          </p:cNvPr>
          <p:cNvSpPr txBox="1"/>
          <p:nvPr/>
        </p:nvSpPr>
        <p:spPr>
          <a:xfrm>
            <a:off x="3556040" y="1240649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00" name="Graphic 21" descr="Amazon Route 53 service icon.">
            <a:extLst>
              <a:ext uri="{FF2B5EF4-FFF2-40B4-BE49-F238E27FC236}">
                <a16:creationId xmlns:a16="http://schemas.microsoft.com/office/drawing/2014/main" id="{D2185462-27ED-13CA-52C3-4304B8AA0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 bwMode="auto">
          <a:xfrm>
            <a:off x="6995763" y="1153687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05" name="TextBox 8404">
            <a:extLst>
              <a:ext uri="{FF2B5EF4-FFF2-40B4-BE49-F238E27FC236}">
                <a16:creationId xmlns:a16="http://schemas.microsoft.com/office/drawing/2014/main" id="{F6197415-FC0A-0564-268B-6A0B6ECE1EBE}"/>
              </a:ext>
            </a:extLst>
          </p:cNvPr>
          <p:cNvSpPr txBox="1"/>
          <p:nvPr/>
        </p:nvSpPr>
        <p:spPr>
          <a:xfrm>
            <a:off x="6186635" y="2057630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WAF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06" name="Graphic 8" descr="AWS WAF service icon.">
            <a:extLst>
              <a:ext uri="{FF2B5EF4-FFF2-40B4-BE49-F238E27FC236}">
                <a16:creationId xmlns:a16="http://schemas.microsoft.com/office/drawing/2014/main" id="{BC0EC281-73EE-6A8E-758D-93987475C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 bwMode="auto">
          <a:xfrm>
            <a:off x="6305502" y="1856335"/>
            <a:ext cx="159758" cy="1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08" name="Graphic 19" descr="Amazon GuardDuty service icon.">
            <a:extLst>
              <a:ext uri="{FF2B5EF4-FFF2-40B4-BE49-F238E27FC236}">
                <a16:creationId xmlns:a16="http://schemas.microsoft.com/office/drawing/2014/main" id="{1DD71BFD-ED21-F299-A3CD-45D850D9F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 bwMode="auto">
          <a:xfrm>
            <a:off x="6849201" y="1861661"/>
            <a:ext cx="159758" cy="1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09" name="TextBox 8408">
            <a:extLst>
              <a:ext uri="{FF2B5EF4-FFF2-40B4-BE49-F238E27FC236}">
                <a16:creationId xmlns:a16="http://schemas.microsoft.com/office/drawing/2014/main" id="{433EA638-C64A-6E63-7D04-153AB9D3AD2B}"/>
              </a:ext>
            </a:extLst>
          </p:cNvPr>
          <p:cNvSpPr txBox="1"/>
          <p:nvPr/>
        </p:nvSpPr>
        <p:spPr>
          <a:xfrm>
            <a:off x="6645173" y="2065767"/>
            <a:ext cx="54043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GuardDuty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10" name="Graphic 17" descr="Amazon CloudWatch service icon.">
            <a:extLst>
              <a:ext uri="{FF2B5EF4-FFF2-40B4-BE49-F238E27FC236}">
                <a16:creationId xmlns:a16="http://schemas.microsoft.com/office/drawing/2014/main" id="{24317DD7-D6B9-2793-AAD2-DEB252313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 bwMode="auto">
          <a:xfrm>
            <a:off x="6849201" y="2342515"/>
            <a:ext cx="163816" cy="163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11" name="TextBox 8410">
            <a:extLst>
              <a:ext uri="{FF2B5EF4-FFF2-40B4-BE49-F238E27FC236}">
                <a16:creationId xmlns:a16="http://schemas.microsoft.com/office/drawing/2014/main" id="{0B506F8C-2621-6C08-9DFB-D0C1BCE2CD01}"/>
              </a:ext>
            </a:extLst>
          </p:cNvPr>
          <p:cNvSpPr txBox="1"/>
          <p:nvPr/>
        </p:nvSpPr>
        <p:spPr>
          <a:xfrm>
            <a:off x="6679294" y="2578123"/>
            <a:ext cx="535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CloudWatch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12" name="Graphic 8" descr="AWS Config service icon.">
            <a:extLst>
              <a:ext uri="{FF2B5EF4-FFF2-40B4-BE49-F238E27FC236}">
                <a16:creationId xmlns:a16="http://schemas.microsoft.com/office/drawing/2014/main" id="{BE43BA95-A95F-BCA8-9611-379B19BA3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 bwMode="auto">
          <a:xfrm>
            <a:off x="6849201" y="2809598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13" name="TextBox 8412">
            <a:extLst>
              <a:ext uri="{FF2B5EF4-FFF2-40B4-BE49-F238E27FC236}">
                <a16:creationId xmlns:a16="http://schemas.microsoft.com/office/drawing/2014/main" id="{4FB3AB56-0EA8-1DB1-DE4A-4AF9BE8E8A89}"/>
              </a:ext>
            </a:extLst>
          </p:cNvPr>
          <p:cNvSpPr txBox="1"/>
          <p:nvPr/>
        </p:nvSpPr>
        <p:spPr>
          <a:xfrm>
            <a:off x="6687530" y="3024585"/>
            <a:ext cx="535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Config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16" name="Graphic 20" descr="AWS Certificate Manager (ACM) service icon.">
            <a:extLst>
              <a:ext uri="{FF2B5EF4-FFF2-40B4-BE49-F238E27FC236}">
                <a16:creationId xmlns:a16="http://schemas.microsoft.com/office/drawing/2014/main" id="{0D3B31A0-4F29-1CCF-6E88-A51B451F8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 bwMode="auto">
          <a:xfrm>
            <a:off x="6849201" y="3259822"/>
            <a:ext cx="167546" cy="167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20" name="TextBox 8419">
            <a:extLst>
              <a:ext uri="{FF2B5EF4-FFF2-40B4-BE49-F238E27FC236}">
                <a16:creationId xmlns:a16="http://schemas.microsoft.com/office/drawing/2014/main" id="{241F5BD4-9E8B-B312-87C2-15A960BA66F8}"/>
              </a:ext>
            </a:extLst>
          </p:cNvPr>
          <p:cNvSpPr txBox="1"/>
          <p:nvPr/>
        </p:nvSpPr>
        <p:spPr>
          <a:xfrm>
            <a:off x="6810194" y="3484145"/>
            <a:ext cx="2432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ACM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421" name="TextBox 8420">
            <a:extLst>
              <a:ext uri="{FF2B5EF4-FFF2-40B4-BE49-F238E27FC236}">
                <a16:creationId xmlns:a16="http://schemas.microsoft.com/office/drawing/2014/main" id="{1A144338-C2B0-9713-B713-6B9039E63DB3}"/>
              </a:ext>
            </a:extLst>
          </p:cNvPr>
          <p:cNvSpPr txBox="1"/>
          <p:nvPr/>
        </p:nvSpPr>
        <p:spPr>
          <a:xfrm>
            <a:off x="6885186" y="1342986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Route53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424" name="TextBox 8423">
            <a:extLst>
              <a:ext uri="{FF2B5EF4-FFF2-40B4-BE49-F238E27FC236}">
                <a16:creationId xmlns:a16="http://schemas.microsoft.com/office/drawing/2014/main" id="{56AEABAA-AE67-F65D-040E-665A9952E184}"/>
              </a:ext>
            </a:extLst>
          </p:cNvPr>
          <p:cNvSpPr txBox="1"/>
          <p:nvPr/>
        </p:nvSpPr>
        <p:spPr>
          <a:xfrm>
            <a:off x="6569973" y="1350449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WAF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25" name="Graphic 8" descr="AWS WAF service icon.">
            <a:extLst>
              <a:ext uri="{FF2B5EF4-FFF2-40B4-BE49-F238E27FC236}">
                <a16:creationId xmlns:a16="http://schemas.microsoft.com/office/drawing/2014/main" id="{4CC976EC-9B1D-5A27-8B0F-52DB0FC74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 bwMode="auto">
          <a:xfrm>
            <a:off x="6687530" y="1153856"/>
            <a:ext cx="173356" cy="17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26" name="그림 8425">
            <a:extLst>
              <a:ext uri="{FF2B5EF4-FFF2-40B4-BE49-F238E27FC236}">
                <a16:creationId xmlns:a16="http://schemas.microsoft.com/office/drawing/2014/main" id="{E85653B5-12AF-9B55-1F16-03511114D67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380" y="1602181"/>
            <a:ext cx="199202" cy="199202"/>
          </a:xfrm>
          <a:prstGeom prst="rect">
            <a:avLst/>
          </a:prstGeom>
        </p:spPr>
      </p:pic>
      <p:sp>
        <p:nvSpPr>
          <p:cNvPr id="8428" name="TextBox 8427">
            <a:extLst>
              <a:ext uri="{FF2B5EF4-FFF2-40B4-BE49-F238E27FC236}">
                <a16:creationId xmlns:a16="http://schemas.microsoft.com/office/drawing/2014/main" id="{481A4A2F-E8F9-66C4-425D-CA944D2A098D}"/>
              </a:ext>
            </a:extLst>
          </p:cNvPr>
          <p:cNvSpPr txBox="1"/>
          <p:nvPr/>
        </p:nvSpPr>
        <p:spPr>
          <a:xfrm>
            <a:off x="6426099" y="1670506"/>
            <a:ext cx="2432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31" name="Graphic 19" descr="Amazon CloudFront service icon.">
            <a:extLst>
              <a:ext uri="{FF2B5EF4-FFF2-40B4-BE49-F238E27FC236}">
                <a16:creationId xmlns:a16="http://schemas.microsoft.com/office/drawing/2014/main" id="{D96AC144-43D0-68BE-2DB4-12889C43A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 bwMode="auto">
          <a:xfrm>
            <a:off x="6305502" y="1153687"/>
            <a:ext cx="173356" cy="17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34" name="TextBox 8433">
            <a:extLst>
              <a:ext uri="{FF2B5EF4-FFF2-40B4-BE49-F238E27FC236}">
                <a16:creationId xmlns:a16="http://schemas.microsoft.com/office/drawing/2014/main" id="{1C645BD1-2816-6B4B-56A7-E09E54BD125B}"/>
              </a:ext>
            </a:extLst>
          </p:cNvPr>
          <p:cNvSpPr txBox="1"/>
          <p:nvPr/>
        </p:nvSpPr>
        <p:spPr>
          <a:xfrm>
            <a:off x="6126477" y="1349080"/>
            <a:ext cx="52559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CloudFront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35" name="그림 8434">
            <a:extLst>
              <a:ext uri="{FF2B5EF4-FFF2-40B4-BE49-F238E27FC236}">
                <a16:creationId xmlns:a16="http://schemas.microsoft.com/office/drawing/2014/main" id="{A456081F-1CB5-EADB-FCF6-DDA948C5429C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186" y="5211529"/>
            <a:ext cx="162032" cy="162032"/>
          </a:xfrm>
          <a:prstGeom prst="rect">
            <a:avLst/>
          </a:prstGeom>
        </p:spPr>
      </p:pic>
      <p:pic>
        <p:nvPicPr>
          <p:cNvPr id="8436" name="그림 8435">
            <a:extLst>
              <a:ext uri="{FF2B5EF4-FFF2-40B4-BE49-F238E27FC236}">
                <a16:creationId xmlns:a16="http://schemas.microsoft.com/office/drawing/2014/main" id="{9EE4674C-DEDA-7D63-C548-BBB569DD176B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597" y="5217246"/>
            <a:ext cx="162032" cy="162032"/>
          </a:xfrm>
          <a:prstGeom prst="rect">
            <a:avLst/>
          </a:prstGeom>
        </p:spPr>
      </p:pic>
      <p:cxnSp>
        <p:nvCxnSpPr>
          <p:cNvPr id="8437" name="꺾인 연결선[E] 8436">
            <a:extLst>
              <a:ext uri="{FF2B5EF4-FFF2-40B4-BE49-F238E27FC236}">
                <a16:creationId xmlns:a16="http://schemas.microsoft.com/office/drawing/2014/main" id="{9FDEBFB6-10EB-828E-B225-75C2BD5F82CF}"/>
              </a:ext>
            </a:extLst>
          </p:cNvPr>
          <p:cNvCxnSpPr>
            <a:cxnSpLocks/>
            <a:stCxn id="8435" idx="2"/>
            <a:endCxn id="8742" idx="1"/>
          </p:cNvCxnSpPr>
          <p:nvPr/>
        </p:nvCxnSpPr>
        <p:spPr>
          <a:xfrm rot="16200000" flipH="1">
            <a:off x="2747575" y="5600188"/>
            <a:ext cx="783720" cy="330466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8" name="꺾인 연결선[E] 8437">
            <a:extLst>
              <a:ext uri="{FF2B5EF4-FFF2-40B4-BE49-F238E27FC236}">
                <a16:creationId xmlns:a16="http://schemas.microsoft.com/office/drawing/2014/main" id="{533206B9-D522-462B-3032-B6A8698B6116}"/>
              </a:ext>
            </a:extLst>
          </p:cNvPr>
          <p:cNvCxnSpPr>
            <a:cxnSpLocks/>
            <a:stCxn id="8436" idx="2"/>
            <a:endCxn id="8741" idx="3"/>
          </p:cNvCxnSpPr>
          <p:nvPr/>
        </p:nvCxnSpPr>
        <p:spPr>
          <a:xfrm rot="5400000">
            <a:off x="3467665" y="5578332"/>
            <a:ext cx="778003" cy="379894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39" name="그림 8438">
            <a:extLst>
              <a:ext uri="{FF2B5EF4-FFF2-40B4-BE49-F238E27FC236}">
                <a16:creationId xmlns:a16="http://schemas.microsoft.com/office/drawing/2014/main" id="{7BEE8AE8-8AE6-FF73-6F37-6DEDD30EB780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957571" y="5640037"/>
            <a:ext cx="162032" cy="162032"/>
          </a:xfrm>
          <a:prstGeom prst="rect">
            <a:avLst/>
          </a:prstGeom>
        </p:spPr>
      </p:pic>
      <p:pic>
        <p:nvPicPr>
          <p:cNvPr id="8440" name="그림 8439">
            <a:extLst>
              <a:ext uri="{FF2B5EF4-FFF2-40B4-BE49-F238E27FC236}">
                <a16:creationId xmlns:a16="http://schemas.microsoft.com/office/drawing/2014/main" id="{60FB5C57-658C-51AF-F8B2-2327128E1D8B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880410" y="5641608"/>
            <a:ext cx="162032" cy="162032"/>
          </a:xfrm>
          <a:prstGeom prst="rect">
            <a:avLst/>
          </a:prstGeom>
        </p:spPr>
      </p:pic>
      <p:pic>
        <p:nvPicPr>
          <p:cNvPr id="8441" name="그림 8440">
            <a:extLst>
              <a:ext uri="{FF2B5EF4-FFF2-40B4-BE49-F238E27FC236}">
                <a16:creationId xmlns:a16="http://schemas.microsoft.com/office/drawing/2014/main" id="{2F311BAF-994A-70FC-0177-F6B20B2ACA65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707905" y="6308127"/>
            <a:ext cx="216000" cy="216000"/>
          </a:xfrm>
          <a:prstGeom prst="rect">
            <a:avLst/>
          </a:prstGeom>
        </p:spPr>
      </p:pic>
      <p:sp>
        <p:nvSpPr>
          <p:cNvPr id="8442" name="모서리가 둥근 직사각형 8441">
            <a:extLst>
              <a:ext uri="{FF2B5EF4-FFF2-40B4-BE49-F238E27FC236}">
                <a16:creationId xmlns:a16="http://schemas.microsoft.com/office/drawing/2014/main" id="{C2688987-8B56-9908-42A1-3BE219E3D552}"/>
              </a:ext>
            </a:extLst>
          </p:cNvPr>
          <p:cNvSpPr/>
          <p:nvPr/>
        </p:nvSpPr>
        <p:spPr>
          <a:xfrm>
            <a:off x="3551789" y="6234455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8443" name="직선 연결선[R] 8442">
            <a:extLst>
              <a:ext uri="{FF2B5EF4-FFF2-40B4-BE49-F238E27FC236}">
                <a16:creationId xmlns:a16="http://schemas.microsoft.com/office/drawing/2014/main" id="{FAA69715-14A1-F5D4-6EEA-1CBC21CD0794}"/>
              </a:ext>
            </a:extLst>
          </p:cNvPr>
          <p:cNvCxnSpPr>
            <a:cxnSpLocks/>
            <a:stCxn id="8753" idx="3"/>
            <a:endCxn id="8441" idx="1"/>
          </p:cNvCxnSpPr>
          <p:nvPr/>
        </p:nvCxnSpPr>
        <p:spPr>
          <a:xfrm>
            <a:off x="3545092" y="6416127"/>
            <a:ext cx="4162813" cy="0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44" name="그림 8443">
            <a:extLst>
              <a:ext uri="{FF2B5EF4-FFF2-40B4-BE49-F238E27FC236}">
                <a16:creationId xmlns:a16="http://schemas.microsoft.com/office/drawing/2014/main" id="{A41EF4C8-DC2B-0565-A9F6-7CD822DB1226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817584" y="6363324"/>
            <a:ext cx="454162" cy="126156"/>
          </a:xfrm>
          <a:prstGeom prst="rect">
            <a:avLst/>
          </a:prstGeom>
        </p:spPr>
      </p:pic>
      <p:sp>
        <p:nvSpPr>
          <p:cNvPr id="8445" name="TextBox 8444">
            <a:extLst>
              <a:ext uri="{FF2B5EF4-FFF2-40B4-BE49-F238E27FC236}">
                <a16:creationId xmlns:a16="http://schemas.microsoft.com/office/drawing/2014/main" id="{59F79E52-C2B5-D716-FE82-DF06ACA4E84D}"/>
              </a:ext>
            </a:extLst>
          </p:cNvPr>
          <p:cNvSpPr txBox="1"/>
          <p:nvPr/>
        </p:nvSpPr>
        <p:spPr>
          <a:xfrm>
            <a:off x="7893891" y="4756084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446" name="TextBox 8445">
            <a:extLst>
              <a:ext uri="{FF2B5EF4-FFF2-40B4-BE49-F238E27FC236}">
                <a16:creationId xmlns:a16="http://schemas.microsoft.com/office/drawing/2014/main" id="{00272CB3-69FA-F74A-4607-3FD599099470}"/>
              </a:ext>
            </a:extLst>
          </p:cNvPr>
          <p:cNvSpPr txBox="1"/>
          <p:nvPr/>
        </p:nvSpPr>
        <p:spPr>
          <a:xfrm>
            <a:off x="3047027" y="6236823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447" name="TextBox 8446">
            <a:extLst>
              <a:ext uri="{FF2B5EF4-FFF2-40B4-BE49-F238E27FC236}">
                <a16:creationId xmlns:a16="http://schemas.microsoft.com/office/drawing/2014/main" id="{DE3F8379-8D10-7F29-A5FD-56879D2A2A7E}"/>
              </a:ext>
            </a:extLst>
          </p:cNvPr>
          <p:cNvSpPr txBox="1"/>
          <p:nvPr/>
        </p:nvSpPr>
        <p:spPr>
          <a:xfrm>
            <a:off x="5522247" y="1398616"/>
            <a:ext cx="298922" cy="138499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C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8704" name="직선 연결선[R] 8703">
            <a:extLst>
              <a:ext uri="{FF2B5EF4-FFF2-40B4-BE49-F238E27FC236}">
                <a16:creationId xmlns:a16="http://schemas.microsoft.com/office/drawing/2014/main" id="{B73E7405-441E-D819-1E95-38901CBF358F}"/>
              </a:ext>
            </a:extLst>
          </p:cNvPr>
          <p:cNvCxnSpPr>
            <a:cxnSpLocks/>
            <a:stCxn id="8431" idx="2"/>
            <a:endCxn id="8426" idx="0"/>
          </p:cNvCxnSpPr>
          <p:nvPr/>
        </p:nvCxnSpPr>
        <p:spPr>
          <a:xfrm flipH="1">
            <a:off x="6391981" y="1327043"/>
            <a:ext cx="199" cy="275138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05" name="그림 8704">
            <a:extLst>
              <a:ext uri="{FF2B5EF4-FFF2-40B4-BE49-F238E27FC236}">
                <a16:creationId xmlns:a16="http://schemas.microsoft.com/office/drawing/2014/main" id="{7602EA17-0DBF-5249-E990-A97F878C4F2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255" y="4441205"/>
            <a:ext cx="231583" cy="231583"/>
          </a:xfrm>
          <a:prstGeom prst="rect">
            <a:avLst/>
          </a:prstGeom>
        </p:spPr>
      </p:pic>
      <p:cxnSp>
        <p:nvCxnSpPr>
          <p:cNvPr id="8706" name="꺾인 연결선[E] 8705">
            <a:extLst>
              <a:ext uri="{FF2B5EF4-FFF2-40B4-BE49-F238E27FC236}">
                <a16:creationId xmlns:a16="http://schemas.microsoft.com/office/drawing/2014/main" id="{5781D4DD-0F16-E945-FBA0-B32C7834FAE2}"/>
              </a:ext>
            </a:extLst>
          </p:cNvPr>
          <p:cNvCxnSpPr>
            <a:cxnSpLocks/>
            <a:stCxn id="8705" idx="3"/>
            <a:endCxn id="8718" idx="2"/>
          </p:cNvCxnSpPr>
          <p:nvPr/>
        </p:nvCxnSpPr>
        <p:spPr>
          <a:xfrm flipV="1">
            <a:off x="6170838" y="4438105"/>
            <a:ext cx="758242" cy="118892"/>
          </a:xfrm>
          <a:prstGeom prst="bentConnector2">
            <a:avLst/>
          </a:prstGeom>
          <a:ln w="19050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7" name="직선 연결선[R] 8706">
            <a:extLst>
              <a:ext uri="{FF2B5EF4-FFF2-40B4-BE49-F238E27FC236}">
                <a16:creationId xmlns:a16="http://schemas.microsoft.com/office/drawing/2014/main" id="{CE82A432-D853-D5B6-81AA-275715001C3D}"/>
              </a:ext>
            </a:extLst>
          </p:cNvPr>
          <p:cNvCxnSpPr>
            <a:cxnSpLocks/>
            <a:stCxn id="8441" idx="3"/>
            <a:endCxn id="8712" idx="1"/>
          </p:cNvCxnSpPr>
          <p:nvPr/>
        </p:nvCxnSpPr>
        <p:spPr>
          <a:xfrm>
            <a:off x="7923905" y="6416127"/>
            <a:ext cx="1409553" cy="0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08" name="Group 11" descr="Corporate data center group.">
            <a:extLst>
              <a:ext uri="{FF2B5EF4-FFF2-40B4-BE49-F238E27FC236}">
                <a16:creationId xmlns:a16="http://schemas.microsoft.com/office/drawing/2014/main" id="{323CF5BF-0638-35C1-49EB-D877689BF888}"/>
              </a:ext>
            </a:extLst>
          </p:cNvPr>
          <p:cNvGrpSpPr/>
          <p:nvPr/>
        </p:nvGrpSpPr>
        <p:grpSpPr>
          <a:xfrm>
            <a:off x="9021218" y="5818286"/>
            <a:ext cx="837601" cy="730868"/>
            <a:chOff x="10032073" y="2882099"/>
            <a:chExt cx="837601" cy="730868"/>
          </a:xfrm>
        </p:grpSpPr>
        <p:sp>
          <p:nvSpPr>
            <p:cNvPr id="8709" name="Rectangle 77">
              <a:extLst>
                <a:ext uri="{FF2B5EF4-FFF2-40B4-BE49-F238E27FC236}">
                  <a16:creationId xmlns:a16="http://schemas.microsoft.com/office/drawing/2014/main" id="{32C9D9BE-749F-FE8C-B1E8-79B5EB09DF98}"/>
                </a:ext>
              </a:extLst>
            </p:cNvPr>
            <p:cNvSpPr/>
            <p:nvPr/>
          </p:nvSpPr>
          <p:spPr>
            <a:xfrm>
              <a:off x="10036828" y="2882099"/>
              <a:ext cx="832846" cy="730868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pic>
          <p:nvPicPr>
            <p:cNvPr id="8710" name="Graphic 78" descr="Corporate data center group icon. ">
              <a:extLst>
                <a:ext uri="{FF2B5EF4-FFF2-40B4-BE49-F238E27FC236}">
                  <a16:creationId xmlns:a16="http://schemas.microsoft.com/office/drawing/2014/main" id="{BE89F07E-8596-97C7-1E1E-4D0FE8B46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rcRect/>
            <a:stretch/>
          </p:blipFill>
          <p:spPr>
            <a:xfrm>
              <a:off x="10032073" y="2882813"/>
              <a:ext cx="267377" cy="267377"/>
            </a:xfrm>
            <a:prstGeom prst="rect">
              <a:avLst/>
            </a:prstGeom>
          </p:spPr>
        </p:pic>
      </p:grpSp>
      <p:sp>
        <p:nvSpPr>
          <p:cNvPr id="8711" name="TextBox 8710">
            <a:extLst>
              <a:ext uri="{FF2B5EF4-FFF2-40B4-BE49-F238E27FC236}">
                <a16:creationId xmlns:a16="http://schemas.microsoft.com/office/drawing/2014/main" id="{94030C52-8A04-384A-4E7A-E8CC8661FE89}"/>
              </a:ext>
            </a:extLst>
          </p:cNvPr>
          <p:cNvSpPr txBox="1"/>
          <p:nvPr/>
        </p:nvSpPr>
        <p:spPr>
          <a:xfrm>
            <a:off x="9288595" y="5850334"/>
            <a:ext cx="51248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DataCenter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12" name="그림 8711">
            <a:extLst>
              <a:ext uri="{FF2B5EF4-FFF2-40B4-BE49-F238E27FC236}">
                <a16:creationId xmlns:a16="http://schemas.microsoft.com/office/drawing/2014/main" id="{B29CB1E7-67E7-DF44-4704-D9E9733800B9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3458" y="6308127"/>
            <a:ext cx="216000" cy="216000"/>
          </a:xfrm>
          <a:prstGeom prst="rect">
            <a:avLst/>
          </a:prstGeom>
        </p:spPr>
      </p:pic>
      <p:pic>
        <p:nvPicPr>
          <p:cNvPr id="8713" name="그림 8712">
            <a:extLst>
              <a:ext uri="{FF2B5EF4-FFF2-40B4-BE49-F238E27FC236}">
                <a16:creationId xmlns:a16="http://schemas.microsoft.com/office/drawing/2014/main" id="{50A03BCC-0627-7252-DE5C-EB5EC334AA42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819532" y="5895468"/>
            <a:ext cx="454162" cy="126156"/>
          </a:xfrm>
          <a:prstGeom prst="rect">
            <a:avLst/>
          </a:prstGeom>
        </p:spPr>
      </p:pic>
      <p:pic>
        <p:nvPicPr>
          <p:cNvPr id="8714" name="그림 8713">
            <a:extLst>
              <a:ext uri="{FF2B5EF4-FFF2-40B4-BE49-F238E27FC236}">
                <a16:creationId xmlns:a16="http://schemas.microsoft.com/office/drawing/2014/main" id="{9B315B64-037C-8348-9749-4C54C4C2CBF9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718317" y="5893465"/>
            <a:ext cx="454162" cy="126156"/>
          </a:xfrm>
          <a:prstGeom prst="rect">
            <a:avLst/>
          </a:prstGeom>
        </p:spPr>
      </p:pic>
      <p:sp>
        <p:nvSpPr>
          <p:cNvPr id="8715" name="TextBox 8714">
            <a:extLst>
              <a:ext uri="{FF2B5EF4-FFF2-40B4-BE49-F238E27FC236}">
                <a16:creationId xmlns:a16="http://schemas.microsoft.com/office/drawing/2014/main" id="{ED7137D6-312D-CE54-2F26-74EB09A075BE}"/>
              </a:ext>
            </a:extLst>
          </p:cNvPr>
          <p:cNvSpPr txBox="1"/>
          <p:nvPr/>
        </p:nvSpPr>
        <p:spPr>
          <a:xfrm>
            <a:off x="9293350" y="618789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VPN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8716" name="구부러진 연결선[U] 8715">
            <a:extLst>
              <a:ext uri="{FF2B5EF4-FFF2-40B4-BE49-F238E27FC236}">
                <a16:creationId xmlns:a16="http://schemas.microsoft.com/office/drawing/2014/main" id="{50F34378-0ED3-88B2-9C5F-827EF761CE71}"/>
              </a:ext>
            </a:extLst>
          </p:cNvPr>
          <p:cNvCxnSpPr>
            <a:cxnSpLocks/>
            <a:stCxn id="8576" idx="0"/>
            <a:endCxn id="8406" idx="0"/>
          </p:cNvCxnSpPr>
          <p:nvPr/>
        </p:nvCxnSpPr>
        <p:spPr>
          <a:xfrm rot="16200000" flipH="1">
            <a:off x="5632018" y="1102972"/>
            <a:ext cx="11745" cy="1494980"/>
          </a:xfrm>
          <a:prstGeom prst="curvedConnector3">
            <a:avLst>
              <a:gd name="adj1" fmla="val -194636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17" name="Rectangle 40">
            <a:extLst>
              <a:ext uri="{FF2B5EF4-FFF2-40B4-BE49-F238E27FC236}">
                <a16:creationId xmlns:a16="http://schemas.microsoft.com/office/drawing/2014/main" id="{2550C904-9EBC-9ED9-BD3D-F81E43186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0362" y="1096006"/>
            <a:ext cx="1234627" cy="402472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718" name="그림 8717">
            <a:extLst>
              <a:ext uri="{FF2B5EF4-FFF2-40B4-BE49-F238E27FC236}">
                <a16:creationId xmlns:a16="http://schemas.microsoft.com/office/drawing/2014/main" id="{29489612-5121-6744-4086-0E17864CB7AC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609477" y="4291781"/>
            <a:ext cx="639205" cy="146324"/>
          </a:xfrm>
          <a:prstGeom prst="rect">
            <a:avLst/>
          </a:prstGeom>
        </p:spPr>
      </p:pic>
      <p:pic>
        <p:nvPicPr>
          <p:cNvPr id="8719" name="그림 8718">
            <a:extLst>
              <a:ext uri="{FF2B5EF4-FFF2-40B4-BE49-F238E27FC236}">
                <a16:creationId xmlns:a16="http://schemas.microsoft.com/office/drawing/2014/main" id="{329843F9-2FB9-C3EA-A6BA-196E03373972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609477" y="1434129"/>
            <a:ext cx="649945" cy="147011"/>
          </a:xfrm>
          <a:prstGeom prst="rect">
            <a:avLst/>
          </a:prstGeom>
        </p:spPr>
      </p:pic>
      <p:pic>
        <p:nvPicPr>
          <p:cNvPr id="8720" name="그림 8719">
            <a:extLst>
              <a:ext uri="{FF2B5EF4-FFF2-40B4-BE49-F238E27FC236}">
                <a16:creationId xmlns:a16="http://schemas.microsoft.com/office/drawing/2014/main" id="{40865235-1AD9-2168-08BF-45C29ACE9ECF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83260" y="3126354"/>
            <a:ext cx="575175" cy="159386"/>
          </a:xfrm>
          <a:prstGeom prst="rect">
            <a:avLst/>
          </a:prstGeom>
        </p:spPr>
      </p:pic>
      <p:pic>
        <p:nvPicPr>
          <p:cNvPr id="8721" name="Picture 2" descr="Datadog | Slack App Directory">
            <a:extLst>
              <a:ext uri="{FF2B5EF4-FFF2-40B4-BE49-F238E27FC236}">
                <a16:creationId xmlns:a16="http://schemas.microsoft.com/office/drawing/2014/main" id="{347113F0-DAD7-CBB0-C51F-39291C4C5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528" y="3179737"/>
            <a:ext cx="183850" cy="183850"/>
          </a:xfrm>
          <a:prstGeom prst="roundRect">
            <a:avLst>
              <a:gd name="adj" fmla="val 1065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22" name="그림 8721">
            <a:extLst>
              <a:ext uri="{FF2B5EF4-FFF2-40B4-BE49-F238E27FC236}">
                <a16:creationId xmlns:a16="http://schemas.microsoft.com/office/drawing/2014/main" id="{FEEE78C8-A9FF-7C5F-50BD-B67E3F52DB02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553" y="4791922"/>
            <a:ext cx="216000" cy="216000"/>
          </a:xfrm>
          <a:prstGeom prst="rect">
            <a:avLst/>
          </a:prstGeom>
        </p:spPr>
      </p:pic>
      <p:grpSp>
        <p:nvGrpSpPr>
          <p:cNvPr id="8723" name="그룹 8722">
            <a:extLst>
              <a:ext uri="{FF2B5EF4-FFF2-40B4-BE49-F238E27FC236}">
                <a16:creationId xmlns:a16="http://schemas.microsoft.com/office/drawing/2014/main" id="{610EFE04-70D2-E125-2C2C-180440E3AC82}"/>
              </a:ext>
            </a:extLst>
          </p:cNvPr>
          <p:cNvGrpSpPr/>
          <p:nvPr/>
        </p:nvGrpSpPr>
        <p:grpSpPr>
          <a:xfrm>
            <a:off x="6955026" y="5562334"/>
            <a:ext cx="832847" cy="288328"/>
            <a:chOff x="4024949" y="1984841"/>
            <a:chExt cx="832847" cy="288328"/>
          </a:xfrm>
        </p:grpSpPr>
        <p:sp>
          <p:nvSpPr>
            <p:cNvPr id="8724" name="Rectangle 39" descr="VPC group border">
              <a:extLst>
                <a:ext uri="{FF2B5EF4-FFF2-40B4-BE49-F238E27FC236}">
                  <a16:creationId xmlns:a16="http://schemas.microsoft.com/office/drawing/2014/main" id="{905ED320-505E-7640-F691-506A9A18D58A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725" name="Graphic 57" descr="VPC group icon.">
              <a:extLst>
                <a:ext uri="{FF2B5EF4-FFF2-40B4-BE49-F238E27FC236}">
                  <a16:creationId xmlns:a16="http://schemas.microsoft.com/office/drawing/2014/main" id="{327662DA-9681-7666-4E22-E7C0632B7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726" name="TextBox 8725">
              <a:extLst>
                <a:ext uri="{FF2B5EF4-FFF2-40B4-BE49-F238E27FC236}">
                  <a16:creationId xmlns:a16="http://schemas.microsoft.com/office/drawing/2014/main" id="{F5DE0A24-C004-BCFC-DE6E-F9209BC2B5AA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Tokyo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grpSp>
        <p:nvGrpSpPr>
          <p:cNvPr id="8727" name="그룹 8726">
            <a:extLst>
              <a:ext uri="{FF2B5EF4-FFF2-40B4-BE49-F238E27FC236}">
                <a16:creationId xmlns:a16="http://schemas.microsoft.com/office/drawing/2014/main" id="{72832B01-4680-B0BE-0B94-44E1AC2DD34A}"/>
              </a:ext>
            </a:extLst>
          </p:cNvPr>
          <p:cNvGrpSpPr/>
          <p:nvPr/>
        </p:nvGrpSpPr>
        <p:grpSpPr>
          <a:xfrm>
            <a:off x="6955026" y="5160280"/>
            <a:ext cx="832847" cy="288328"/>
            <a:chOff x="4024949" y="1984841"/>
            <a:chExt cx="832847" cy="288328"/>
          </a:xfrm>
        </p:grpSpPr>
        <p:sp>
          <p:nvSpPr>
            <p:cNvPr id="8728" name="Rectangle 39" descr="VPC group border">
              <a:extLst>
                <a:ext uri="{FF2B5EF4-FFF2-40B4-BE49-F238E27FC236}">
                  <a16:creationId xmlns:a16="http://schemas.microsoft.com/office/drawing/2014/main" id="{B766CEC9-6AA5-9C92-6F05-2C37AFB456ED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729" name="Graphic 57" descr="VPC group icon.">
              <a:extLst>
                <a:ext uri="{FF2B5EF4-FFF2-40B4-BE49-F238E27FC236}">
                  <a16:creationId xmlns:a16="http://schemas.microsoft.com/office/drawing/2014/main" id="{070B82CA-6102-2DCD-D7EA-155649AD1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730" name="TextBox 8729">
              <a:extLst>
                <a:ext uri="{FF2B5EF4-FFF2-40B4-BE49-F238E27FC236}">
                  <a16:creationId xmlns:a16="http://schemas.microsoft.com/office/drawing/2014/main" id="{69CC9780-4A45-E43D-B72A-E60EFED3CEA5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Central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grpSp>
        <p:nvGrpSpPr>
          <p:cNvPr id="8731" name="그룹 8730">
            <a:extLst>
              <a:ext uri="{FF2B5EF4-FFF2-40B4-BE49-F238E27FC236}">
                <a16:creationId xmlns:a16="http://schemas.microsoft.com/office/drawing/2014/main" id="{AACA70AA-5EF4-B7B2-E9F7-36F66BCC9BF9}"/>
              </a:ext>
            </a:extLst>
          </p:cNvPr>
          <p:cNvGrpSpPr/>
          <p:nvPr/>
        </p:nvGrpSpPr>
        <p:grpSpPr>
          <a:xfrm>
            <a:off x="6955026" y="4758226"/>
            <a:ext cx="832847" cy="288328"/>
            <a:chOff x="4024949" y="1984841"/>
            <a:chExt cx="832847" cy="288328"/>
          </a:xfrm>
        </p:grpSpPr>
        <p:sp>
          <p:nvSpPr>
            <p:cNvPr id="8732" name="Rectangle 39" descr="VPC group border">
              <a:extLst>
                <a:ext uri="{FF2B5EF4-FFF2-40B4-BE49-F238E27FC236}">
                  <a16:creationId xmlns:a16="http://schemas.microsoft.com/office/drawing/2014/main" id="{FB4BDEFE-D5BF-951E-9B15-5532BA3DE9F4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733" name="Graphic 57" descr="VPC group icon.">
              <a:extLst>
                <a:ext uri="{FF2B5EF4-FFF2-40B4-BE49-F238E27FC236}">
                  <a16:creationId xmlns:a16="http://schemas.microsoft.com/office/drawing/2014/main" id="{C58C822E-07BC-0DC6-AEBF-9B47EFC3D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734" name="TextBox 8733">
              <a:extLst>
                <a:ext uri="{FF2B5EF4-FFF2-40B4-BE49-F238E27FC236}">
                  <a16:creationId xmlns:a16="http://schemas.microsoft.com/office/drawing/2014/main" id="{1CAEFF4F-65B8-B5E9-15C5-3610239568A4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London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cxnSp>
        <p:nvCxnSpPr>
          <p:cNvPr id="8735" name="꺾인 연결선[E] 8734">
            <a:extLst>
              <a:ext uri="{FF2B5EF4-FFF2-40B4-BE49-F238E27FC236}">
                <a16:creationId xmlns:a16="http://schemas.microsoft.com/office/drawing/2014/main" id="{D061D0DA-38FD-495C-83AC-21A57A0EC8F1}"/>
              </a:ext>
            </a:extLst>
          </p:cNvPr>
          <p:cNvCxnSpPr>
            <a:cxnSpLocks/>
            <a:stCxn id="8722" idx="3"/>
            <a:endCxn id="8729" idx="1"/>
          </p:cNvCxnSpPr>
          <p:nvPr/>
        </p:nvCxnSpPr>
        <p:spPr>
          <a:xfrm>
            <a:off x="6161553" y="4899922"/>
            <a:ext cx="793473" cy="404358"/>
          </a:xfrm>
          <a:prstGeom prst="bentConnector3">
            <a:avLst>
              <a:gd name="adj1" fmla="val 5000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6" name="직선 연결선[R] 8735">
            <a:extLst>
              <a:ext uri="{FF2B5EF4-FFF2-40B4-BE49-F238E27FC236}">
                <a16:creationId xmlns:a16="http://schemas.microsoft.com/office/drawing/2014/main" id="{6410D648-2E68-F40D-D37F-CAC39538E375}"/>
              </a:ext>
            </a:extLst>
          </p:cNvPr>
          <p:cNvCxnSpPr>
            <a:cxnSpLocks/>
            <a:stCxn id="8722" idx="3"/>
            <a:endCxn id="8733" idx="1"/>
          </p:cNvCxnSpPr>
          <p:nvPr/>
        </p:nvCxnSpPr>
        <p:spPr>
          <a:xfrm>
            <a:off x="6161553" y="4899922"/>
            <a:ext cx="793473" cy="2304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7" name="꺾인 연결선[E] 8736">
            <a:extLst>
              <a:ext uri="{FF2B5EF4-FFF2-40B4-BE49-F238E27FC236}">
                <a16:creationId xmlns:a16="http://schemas.microsoft.com/office/drawing/2014/main" id="{91794757-7B29-A5B9-D43B-BFC0D6BFB4E1}"/>
              </a:ext>
            </a:extLst>
          </p:cNvPr>
          <p:cNvCxnSpPr>
            <a:cxnSpLocks/>
            <a:stCxn id="8722" idx="3"/>
            <a:endCxn id="8725" idx="1"/>
          </p:cNvCxnSpPr>
          <p:nvPr/>
        </p:nvCxnSpPr>
        <p:spPr>
          <a:xfrm>
            <a:off x="6161553" y="4899922"/>
            <a:ext cx="793473" cy="806412"/>
          </a:xfrm>
          <a:prstGeom prst="bentConnector3">
            <a:avLst>
              <a:gd name="adj1" fmla="val 5000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38" name="그림 8737">
            <a:extLst>
              <a:ext uri="{FF2B5EF4-FFF2-40B4-BE49-F238E27FC236}">
                <a16:creationId xmlns:a16="http://schemas.microsoft.com/office/drawing/2014/main" id="{8071EE1B-2478-EE9F-9BFE-D442EA3040ED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6323820" y="5628555"/>
            <a:ext cx="372357" cy="153671"/>
          </a:xfrm>
          <a:prstGeom prst="rect">
            <a:avLst/>
          </a:prstGeom>
        </p:spPr>
      </p:pic>
      <p:pic>
        <p:nvPicPr>
          <p:cNvPr id="8739" name="그림 8738">
            <a:extLst>
              <a:ext uri="{FF2B5EF4-FFF2-40B4-BE49-F238E27FC236}">
                <a16:creationId xmlns:a16="http://schemas.microsoft.com/office/drawing/2014/main" id="{EEA2673E-31B3-10D9-9262-052D8DAF50A4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6323756" y="4842084"/>
            <a:ext cx="372357" cy="153671"/>
          </a:xfrm>
          <a:prstGeom prst="rect">
            <a:avLst/>
          </a:prstGeom>
        </p:spPr>
      </p:pic>
      <p:cxnSp>
        <p:nvCxnSpPr>
          <p:cNvPr id="8740" name="직선 연결선[R] 8739">
            <a:extLst>
              <a:ext uri="{FF2B5EF4-FFF2-40B4-BE49-F238E27FC236}">
                <a16:creationId xmlns:a16="http://schemas.microsoft.com/office/drawing/2014/main" id="{04D660FD-8E03-3BBE-717E-1F3A143260D6}"/>
              </a:ext>
            </a:extLst>
          </p:cNvPr>
          <p:cNvCxnSpPr>
            <a:cxnSpLocks/>
            <a:stCxn id="8431" idx="3"/>
            <a:endCxn id="8425" idx="1"/>
          </p:cNvCxnSpPr>
          <p:nvPr/>
        </p:nvCxnSpPr>
        <p:spPr>
          <a:xfrm>
            <a:off x="6478858" y="1240365"/>
            <a:ext cx="208672" cy="169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41" name="모서리가 둥근 직사각형 8740">
            <a:extLst>
              <a:ext uri="{FF2B5EF4-FFF2-40B4-BE49-F238E27FC236}">
                <a16:creationId xmlns:a16="http://schemas.microsoft.com/office/drawing/2014/main" id="{607FE3B9-FF20-5755-FC65-BA49B0F69B9E}"/>
              </a:ext>
            </a:extLst>
          </p:cNvPr>
          <p:cNvSpPr/>
          <p:nvPr/>
        </p:nvSpPr>
        <p:spPr>
          <a:xfrm>
            <a:off x="3554550" y="6097900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742" name="모서리가 둥근 직사각형 8741">
            <a:extLst>
              <a:ext uri="{FF2B5EF4-FFF2-40B4-BE49-F238E27FC236}">
                <a16:creationId xmlns:a16="http://schemas.microsoft.com/office/drawing/2014/main" id="{6D3407D4-278B-2383-7FC2-4A730A542031}"/>
              </a:ext>
            </a:extLst>
          </p:cNvPr>
          <p:cNvSpPr/>
          <p:nvPr/>
        </p:nvSpPr>
        <p:spPr>
          <a:xfrm>
            <a:off x="3304668" y="6097900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43" name="그림 8742">
            <a:extLst>
              <a:ext uri="{FF2B5EF4-FFF2-40B4-BE49-F238E27FC236}">
                <a16:creationId xmlns:a16="http://schemas.microsoft.com/office/drawing/2014/main" id="{7C700735-166D-3841-360E-A641ECE26CD0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4803355"/>
            <a:ext cx="216000" cy="216000"/>
          </a:xfrm>
          <a:prstGeom prst="rect">
            <a:avLst/>
          </a:prstGeom>
        </p:spPr>
      </p:pic>
      <p:pic>
        <p:nvPicPr>
          <p:cNvPr id="8744" name="그림 8743">
            <a:extLst>
              <a:ext uri="{FF2B5EF4-FFF2-40B4-BE49-F238E27FC236}">
                <a16:creationId xmlns:a16="http://schemas.microsoft.com/office/drawing/2014/main" id="{E4D49D70-D481-1E59-EB0E-4C5EE45EE1EC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5201757"/>
            <a:ext cx="216000" cy="216000"/>
          </a:xfrm>
          <a:prstGeom prst="rect">
            <a:avLst/>
          </a:prstGeom>
        </p:spPr>
      </p:pic>
      <p:pic>
        <p:nvPicPr>
          <p:cNvPr id="8745" name="그림 8744">
            <a:extLst>
              <a:ext uri="{FF2B5EF4-FFF2-40B4-BE49-F238E27FC236}">
                <a16:creationId xmlns:a16="http://schemas.microsoft.com/office/drawing/2014/main" id="{FEBEA304-DDE3-A35D-76A7-D09C7F4BE8D2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5603832"/>
            <a:ext cx="216000" cy="216000"/>
          </a:xfrm>
          <a:prstGeom prst="rect">
            <a:avLst/>
          </a:prstGeom>
        </p:spPr>
      </p:pic>
      <p:pic>
        <p:nvPicPr>
          <p:cNvPr id="8746" name="그림 8745">
            <a:extLst>
              <a:ext uri="{FF2B5EF4-FFF2-40B4-BE49-F238E27FC236}">
                <a16:creationId xmlns:a16="http://schemas.microsoft.com/office/drawing/2014/main" id="{B91535DE-E738-ECC1-4E6B-A6DDEDA7E787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721633" y="4798734"/>
            <a:ext cx="215999" cy="209998"/>
          </a:xfrm>
          <a:prstGeom prst="rect">
            <a:avLst/>
          </a:prstGeom>
        </p:spPr>
      </p:pic>
      <p:pic>
        <p:nvPicPr>
          <p:cNvPr id="8747" name="그림 8746">
            <a:extLst>
              <a:ext uri="{FF2B5EF4-FFF2-40B4-BE49-F238E27FC236}">
                <a16:creationId xmlns:a16="http://schemas.microsoft.com/office/drawing/2014/main" id="{3C9389D7-250E-BE28-ECB1-EA8C02BAFF2E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707906" y="5205010"/>
            <a:ext cx="215999" cy="209998"/>
          </a:xfrm>
          <a:prstGeom prst="rect">
            <a:avLst/>
          </a:prstGeom>
        </p:spPr>
      </p:pic>
      <p:pic>
        <p:nvPicPr>
          <p:cNvPr id="8748" name="그림 8747">
            <a:extLst>
              <a:ext uri="{FF2B5EF4-FFF2-40B4-BE49-F238E27FC236}">
                <a16:creationId xmlns:a16="http://schemas.microsoft.com/office/drawing/2014/main" id="{93E9716C-556F-C80C-88CA-717BF59D0BD7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707906" y="5614893"/>
            <a:ext cx="215999" cy="209998"/>
          </a:xfrm>
          <a:prstGeom prst="rect">
            <a:avLst/>
          </a:prstGeom>
        </p:spPr>
      </p:pic>
      <p:pic>
        <p:nvPicPr>
          <p:cNvPr id="8749" name="그림 8748">
            <a:extLst>
              <a:ext uri="{FF2B5EF4-FFF2-40B4-BE49-F238E27FC236}">
                <a16:creationId xmlns:a16="http://schemas.microsoft.com/office/drawing/2014/main" id="{1597CB98-C4D3-31C4-8BE8-A1544D879BC8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6323788" y="5243755"/>
            <a:ext cx="372357" cy="153671"/>
          </a:xfrm>
          <a:prstGeom prst="rect">
            <a:avLst/>
          </a:prstGeom>
        </p:spPr>
      </p:pic>
      <p:cxnSp>
        <p:nvCxnSpPr>
          <p:cNvPr id="8750" name="꺾인 연결선[E] 8749">
            <a:extLst>
              <a:ext uri="{FF2B5EF4-FFF2-40B4-BE49-F238E27FC236}">
                <a16:creationId xmlns:a16="http://schemas.microsoft.com/office/drawing/2014/main" id="{89BB14B2-56B8-0B44-E5C6-9FEBB767B73A}"/>
              </a:ext>
            </a:extLst>
          </p:cNvPr>
          <p:cNvCxnSpPr>
            <a:cxnSpLocks/>
            <a:stCxn id="8746" idx="3"/>
            <a:endCxn id="8442" idx="3"/>
          </p:cNvCxnSpPr>
          <p:nvPr/>
        </p:nvCxnSpPr>
        <p:spPr>
          <a:xfrm flipH="1">
            <a:off x="3663958" y="4903733"/>
            <a:ext cx="4273674" cy="1390103"/>
          </a:xfrm>
          <a:prstGeom prst="bentConnector3">
            <a:avLst>
              <a:gd name="adj1" fmla="val -5349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1" name="꺾인 연결선[E] 8750">
            <a:extLst>
              <a:ext uri="{FF2B5EF4-FFF2-40B4-BE49-F238E27FC236}">
                <a16:creationId xmlns:a16="http://schemas.microsoft.com/office/drawing/2014/main" id="{BE8339F7-6A09-A9EF-2FD0-EBFFA9AD4DC5}"/>
              </a:ext>
            </a:extLst>
          </p:cNvPr>
          <p:cNvCxnSpPr>
            <a:cxnSpLocks/>
            <a:stCxn id="8747" idx="3"/>
            <a:endCxn id="8442" idx="3"/>
          </p:cNvCxnSpPr>
          <p:nvPr/>
        </p:nvCxnSpPr>
        <p:spPr>
          <a:xfrm flipH="1">
            <a:off x="3663958" y="5310009"/>
            <a:ext cx="4259947" cy="983827"/>
          </a:xfrm>
          <a:prstGeom prst="bentConnector3">
            <a:avLst>
              <a:gd name="adj1" fmla="val -5643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2" name="꺾인 연결선[E] 8751">
            <a:extLst>
              <a:ext uri="{FF2B5EF4-FFF2-40B4-BE49-F238E27FC236}">
                <a16:creationId xmlns:a16="http://schemas.microsoft.com/office/drawing/2014/main" id="{031AF859-9DA9-1587-6E98-A1356CFBE838}"/>
              </a:ext>
            </a:extLst>
          </p:cNvPr>
          <p:cNvCxnSpPr>
            <a:cxnSpLocks/>
            <a:stCxn id="8748" idx="3"/>
            <a:endCxn id="8442" idx="3"/>
          </p:cNvCxnSpPr>
          <p:nvPr/>
        </p:nvCxnSpPr>
        <p:spPr>
          <a:xfrm flipH="1">
            <a:off x="3663958" y="5719892"/>
            <a:ext cx="4259947" cy="573944"/>
          </a:xfrm>
          <a:prstGeom prst="bentConnector3">
            <a:avLst>
              <a:gd name="adj1" fmla="val -5643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53" name="모서리가 둥근 직사각형 8752">
            <a:extLst>
              <a:ext uri="{FF2B5EF4-FFF2-40B4-BE49-F238E27FC236}">
                <a16:creationId xmlns:a16="http://schemas.microsoft.com/office/drawing/2014/main" id="{9E0CF57E-228A-602B-6866-3A2587D5552C}"/>
              </a:ext>
            </a:extLst>
          </p:cNvPr>
          <p:cNvSpPr/>
          <p:nvPr/>
        </p:nvSpPr>
        <p:spPr>
          <a:xfrm>
            <a:off x="3432923" y="6356746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54" name="그림 8753">
            <a:extLst>
              <a:ext uri="{FF2B5EF4-FFF2-40B4-BE49-F238E27FC236}">
                <a16:creationId xmlns:a16="http://schemas.microsoft.com/office/drawing/2014/main" id="{003D1F37-C9C1-F3CD-7D58-EFEC5653BAD5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811506" y="6208757"/>
            <a:ext cx="454162" cy="126156"/>
          </a:xfrm>
          <a:prstGeom prst="rect">
            <a:avLst/>
          </a:prstGeom>
        </p:spPr>
      </p:pic>
      <p:sp>
        <p:nvSpPr>
          <p:cNvPr id="8755" name="TextBox 8754">
            <a:extLst>
              <a:ext uri="{FF2B5EF4-FFF2-40B4-BE49-F238E27FC236}">
                <a16:creationId xmlns:a16="http://schemas.microsoft.com/office/drawing/2014/main" id="{29BE9AF0-8A61-D4FB-D1A6-976ED20D31EC}"/>
              </a:ext>
            </a:extLst>
          </p:cNvPr>
          <p:cNvSpPr txBox="1"/>
          <p:nvPr/>
        </p:nvSpPr>
        <p:spPr>
          <a:xfrm>
            <a:off x="7887773" y="517470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756" name="TextBox 8755">
            <a:extLst>
              <a:ext uri="{FF2B5EF4-FFF2-40B4-BE49-F238E27FC236}">
                <a16:creationId xmlns:a16="http://schemas.microsoft.com/office/drawing/2014/main" id="{4B2B6928-F638-D3F3-E3F1-FA50CE2E8DC7}"/>
              </a:ext>
            </a:extLst>
          </p:cNvPr>
          <p:cNvSpPr txBox="1"/>
          <p:nvPr/>
        </p:nvSpPr>
        <p:spPr>
          <a:xfrm>
            <a:off x="7887772" y="5587190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57" name="그림 8756">
            <a:extLst>
              <a:ext uri="{FF2B5EF4-FFF2-40B4-BE49-F238E27FC236}">
                <a16:creationId xmlns:a16="http://schemas.microsoft.com/office/drawing/2014/main" id="{E6A33F50-57BE-EE58-0222-5204D177D96F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475339" y="6338075"/>
            <a:ext cx="267605" cy="156103"/>
          </a:xfrm>
          <a:prstGeom prst="rect">
            <a:avLst/>
          </a:prstGeom>
        </p:spPr>
      </p:pic>
      <p:sp>
        <p:nvSpPr>
          <p:cNvPr id="8758" name="TextBox 8757">
            <a:extLst>
              <a:ext uri="{FF2B5EF4-FFF2-40B4-BE49-F238E27FC236}">
                <a16:creationId xmlns:a16="http://schemas.microsoft.com/office/drawing/2014/main" id="{27F15A6A-5017-0230-309E-76D8E6FE2392}"/>
              </a:ext>
            </a:extLst>
          </p:cNvPr>
          <p:cNvSpPr txBox="1"/>
          <p:nvPr/>
        </p:nvSpPr>
        <p:spPr>
          <a:xfrm>
            <a:off x="7868527" y="642891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VPN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59" name="그림 8758">
            <a:extLst>
              <a:ext uri="{FF2B5EF4-FFF2-40B4-BE49-F238E27FC236}">
                <a16:creationId xmlns:a16="http://schemas.microsoft.com/office/drawing/2014/main" id="{4D406B50-E577-4442-94E5-3DC9A77C8AF2}"/>
              </a:ext>
            </a:extLst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884926" y="2516425"/>
            <a:ext cx="895307" cy="628935"/>
          </a:xfrm>
          <a:prstGeom prst="rect">
            <a:avLst/>
          </a:prstGeom>
        </p:spPr>
      </p:pic>
      <p:pic>
        <p:nvPicPr>
          <p:cNvPr id="8760" name="그림 8759">
            <a:extLst>
              <a:ext uri="{FF2B5EF4-FFF2-40B4-BE49-F238E27FC236}">
                <a16:creationId xmlns:a16="http://schemas.microsoft.com/office/drawing/2014/main" id="{32C4822B-C206-ED5D-0F76-96327E2D3432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5426762" y="2429036"/>
            <a:ext cx="348474" cy="131392"/>
          </a:xfrm>
          <a:prstGeom prst="rect">
            <a:avLst/>
          </a:prstGeom>
        </p:spPr>
      </p:pic>
      <p:sp>
        <p:nvSpPr>
          <p:cNvPr id="8761" name="TextBox 8760">
            <a:extLst>
              <a:ext uri="{FF2B5EF4-FFF2-40B4-BE49-F238E27FC236}">
                <a16:creationId xmlns:a16="http://schemas.microsoft.com/office/drawing/2014/main" id="{60A1B47E-3453-93A7-B65D-2F5CF61DDFFF}"/>
              </a:ext>
            </a:extLst>
          </p:cNvPr>
          <p:cNvSpPr txBox="1"/>
          <p:nvPr/>
        </p:nvSpPr>
        <p:spPr>
          <a:xfrm>
            <a:off x="1043335" y="1220298"/>
            <a:ext cx="133320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Routing Layer </a:t>
            </a:r>
            <a:endParaRPr kumimoji="1" lang="ko-KR" altLang="en-US" sz="10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62" name="그림 8761">
            <a:extLst>
              <a:ext uri="{FF2B5EF4-FFF2-40B4-BE49-F238E27FC236}">
                <a16:creationId xmlns:a16="http://schemas.microsoft.com/office/drawing/2014/main" id="{2E79FFB0-D35A-7C38-AC26-319A40C099DD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333783" y="5190461"/>
            <a:ext cx="947797" cy="304164"/>
          </a:xfrm>
          <a:prstGeom prst="rect">
            <a:avLst/>
          </a:prstGeom>
        </p:spPr>
      </p:pic>
      <p:pic>
        <p:nvPicPr>
          <p:cNvPr id="8763" name="그림 8762">
            <a:extLst>
              <a:ext uri="{FF2B5EF4-FFF2-40B4-BE49-F238E27FC236}">
                <a16:creationId xmlns:a16="http://schemas.microsoft.com/office/drawing/2014/main" id="{A24A6DE8-D11A-6C54-0962-67F3BDDDBF5B}"/>
              </a:ext>
            </a:extLst>
      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4224186" y="5191714"/>
            <a:ext cx="947797" cy="30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35465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EE8E866-0941-27F7-3E99-D870A54B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당근 </a:t>
            </a:r>
            <a:r>
              <a:rPr lang="en-US" altLang="ko-KR" dirty="0"/>
              <a:t>Production VPC </a:t>
            </a:r>
            <a:r>
              <a:rPr lang="ko-KR" altLang="en-US" dirty="0"/>
              <a:t>아키텍쳐 구성도</a:t>
            </a:r>
            <a:r>
              <a:rPr lang="en-US" altLang="ko-KR" dirty="0"/>
              <a:t> – </a:t>
            </a:r>
            <a:r>
              <a:rPr lang="ko-KR" altLang="en-US" dirty="0"/>
              <a:t>도쿄 리전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662C53B-6BDF-5FBC-EE33-47C9C4E25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18</a:t>
            </a:fld>
            <a:endParaRPr lang="en-US" altLang="ko-KR"/>
          </a:p>
        </p:txBody>
      </p:sp>
      <p:grpSp>
        <p:nvGrpSpPr>
          <p:cNvPr id="2" name="Group 1" descr="AWS Cloud group with AWS logo.">
            <a:extLst>
              <a:ext uri="{FF2B5EF4-FFF2-40B4-BE49-F238E27FC236}">
                <a16:creationId xmlns:a16="http://schemas.microsoft.com/office/drawing/2014/main" id="{F8EDE7E5-1668-B4AB-9632-973F65AC8912}"/>
              </a:ext>
            </a:extLst>
          </p:cNvPr>
          <p:cNvGrpSpPr/>
          <p:nvPr/>
        </p:nvGrpSpPr>
        <p:grpSpPr>
          <a:xfrm>
            <a:off x="416058" y="1029643"/>
            <a:ext cx="7872537" cy="5519511"/>
            <a:chOff x="355600" y="1891715"/>
            <a:chExt cx="7872537" cy="5519511"/>
          </a:xfrm>
        </p:grpSpPr>
        <p:sp>
          <p:nvSpPr>
            <p:cNvPr id="17" name="Rectangle 54">
              <a:extLst>
                <a:ext uri="{FF2B5EF4-FFF2-40B4-BE49-F238E27FC236}">
                  <a16:creationId xmlns:a16="http://schemas.microsoft.com/office/drawing/2014/main" id="{91BBF291-F346-9A7B-5E8F-AF2C0F4C3CAB}"/>
                </a:ext>
              </a:extLst>
            </p:cNvPr>
            <p:cNvSpPr/>
            <p:nvPr/>
          </p:nvSpPr>
          <p:spPr>
            <a:xfrm>
              <a:off x="355601" y="1894195"/>
              <a:ext cx="7872536" cy="551703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Graphic 55" descr="AWS Cloud group icon with AWS logo.">
              <a:extLst>
                <a:ext uri="{FF2B5EF4-FFF2-40B4-BE49-F238E27FC236}">
                  <a16:creationId xmlns:a16="http://schemas.microsoft.com/office/drawing/2014/main" id="{B673BBF8-35D1-D3FA-F583-46B48F714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55600" y="1891715"/>
              <a:ext cx="288000" cy="288000"/>
            </a:xfrm>
            <a:prstGeom prst="rect">
              <a:avLst/>
            </a:prstGeom>
          </p:spPr>
        </p:pic>
      </p:grpSp>
      <p:sp>
        <p:nvSpPr>
          <p:cNvPr id="19" name="Rectangle 73">
            <a:extLst>
              <a:ext uri="{FF2B5EF4-FFF2-40B4-BE49-F238E27FC236}">
                <a16:creationId xmlns:a16="http://schemas.microsoft.com/office/drawing/2014/main" id="{B183F800-CD5E-C85F-A427-C5AA6B70708E}"/>
              </a:ext>
            </a:extLst>
          </p:cNvPr>
          <p:cNvSpPr/>
          <p:nvPr/>
        </p:nvSpPr>
        <p:spPr>
          <a:xfrm>
            <a:off x="1171804" y="1568335"/>
            <a:ext cx="2151530" cy="605154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0" name="Graphic 74" descr="Public subnet group icon. ">
            <a:extLst>
              <a:ext uri="{FF2B5EF4-FFF2-40B4-BE49-F238E27FC236}">
                <a16:creationId xmlns:a16="http://schemas.microsoft.com/office/drawing/2014/main" id="{838C6E66-8ACD-262E-9548-B175E2D50E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71804" y="1568335"/>
            <a:ext cx="178979" cy="1789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48DC1F-3486-C16D-E1D5-438BF110254B}"/>
              </a:ext>
            </a:extLst>
          </p:cNvPr>
          <p:cNvSpPr txBox="1"/>
          <p:nvPr/>
        </p:nvSpPr>
        <p:spPr>
          <a:xfrm>
            <a:off x="1387622" y="1604947"/>
            <a:ext cx="661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Public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2" name="Rectangle 71">
            <a:extLst>
              <a:ext uri="{FF2B5EF4-FFF2-40B4-BE49-F238E27FC236}">
                <a16:creationId xmlns:a16="http://schemas.microsoft.com/office/drawing/2014/main" id="{D8838375-F8AF-99D5-A2EA-C335361AFA11}"/>
              </a:ext>
            </a:extLst>
          </p:cNvPr>
          <p:cNvSpPr/>
          <p:nvPr/>
        </p:nvSpPr>
        <p:spPr>
          <a:xfrm>
            <a:off x="1171804" y="2249948"/>
            <a:ext cx="2151530" cy="16385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3" name="Graphic 72" descr="Private subnet group icon. ">
            <a:extLst>
              <a:ext uri="{FF2B5EF4-FFF2-40B4-BE49-F238E27FC236}">
                <a16:creationId xmlns:a16="http://schemas.microsoft.com/office/drawing/2014/main" id="{100DF008-02CA-CC66-AE22-6A568ECCA4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2249949"/>
            <a:ext cx="178979" cy="1789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8C2358-1182-FDDC-E6ED-4CC74EB89155}"/>
              </a:ext>
            </a:extLst>
          </p:cNvPr>
          <p:cNvSpPr txBox="1"/>
          <p:nvPr/>
        </p:nvSpPr>
        <p:spPr>
          <a:xfrm>
            <a:off x="1387622" y="2293670"/>
            <a:ext cx="11414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5" name="Rectangle 71">
            <a:extLst>
              <a:ext uri="{FF2B5EF4-FFF2-40B4-BE49-F238E27FC236}">
                <a16:creationId xmlns:a16="http://schemas.microsoft.com/office/drawing/2014/main" id="{5A4A72C0-8054-4C3C-91C8-AAFC2E906B2B}"/>
              </a:ext>
            </a:extLst>
          </p:cNvPr>
          <p:cNvSpPr/>
          <p:nvPr/>
        </p:nvSpPr>
        <p:spPr>
          <a:xfrm>
            <a:off x="1171804" y="3962805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49D4781D-AE30-1327-69B4-55B56B67C6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3962804"/>
            <a:ext cx="178979" cy="17897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4EB7C2C-49FC-6BD5-DD80-0B89C6A1E3A8}"/>
              </a:ext>
            </a:extLst>
          </p:cNvPr>
          <p:cNvSpPr txBox="1"/>
          <p:nvPr/>
        </p:nvSpPr>
        <p:spPr>
          <a:xfrm>
            <a:off x="1390243" y="3991752"/>
            <a:ext cx="64487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8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CA96C197-A817-9E52-DC7C-0EBC35CCDBC6}"/>
              </a:ext>
            </a:extLst>
          </p:cNvPr>
          <p:cNvSpPr/>
          <p:nvPr/>
        </p:nvSpPr>
        <p:spPr bwMode="auto">
          <a:xfrm>
            <a:off x="1068184" y="1493086"/>
            <a:ext cx="2358095" cy="4106454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7E20F2-16B2-4FFC-F78D-74119120B81B}"/>
              </a:ext>
            </a:extLst>
          </p:cNvPr>
          <p:cNvSpPr txBox="1"/>
          <p:nvPr/>
        </p:nvSpPr>
        <p:spPr>
          <a:xfrm>
            <a:off x="1164946" y="1397397"/>
            <a:ext cx="298922" cy="138499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A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0" name="Rectangle 73">
            <a:extLst>
              <a:ext uri="{FF2B5EF4-FFF2-40B4-BE49-F238E27FC236}">
                <a16:creationId xmlns:a16="http://schemas.microsoft.com/office/drawing/2014/main" id="{9A367A02-070C-A9B7-D3F9-CC092E17E960}"/>
              </a:ext>
            </a:extLst>
          </p:cNvPr>
          <p:cNvSpPr/>
          <p:nvPr/>
        </p:nvSpPr>
        <p:spPr>
          <a:xfrm>
            <a:off x="3659660" y="1568335"/>
            <a:ext cx="2151530" cy="605154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31" name="Graphic 74" descr="Public subnet group icon. ">
            <a:extLst>
              <a:ext uri="{FF2B5EF4-FFF2-40B4-BE49-F238E27FC236}">
                <a16:creationId xmlns:a16="http://schemas.microsoft.com/office/drawing/2014/main" id="{ACF4D4BB-63B1-ADDF-B2FA-0E2FEF55E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59660" y="1568335"/>
            <a:ext cx="178979" cy="17897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3E64D07-8928-85A1-31B4-92EE05102AB9}"/>
              </a:ext>
            </a:extLst>
          </p:cNvPr>
          <p:cNvSpPr txBox="1"/>
          <p:nvPr/>
        </p:nvSpPr>
        <p:spPr>
          <a:xfrm>
            <a:off x="3869160" y="1604947"/>
            <a:ext cx="661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Public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3" name="Rectangle 71">
            <a:extLst>
              <a:ext uri="{FF2B5EF4-FFF2-40B4-BE49-F238E27FC236}">
                <a16:creationId xmlns:a16="http://schemas.microsoft.com/office/drawing/2014/main" id="{F7737E29-F0D9-A09A-6415-E692D90C96F3}"/>
              </a:ext>
            </a:extLst>
          </p:cNvPr>
          <p:cNvSpPr/>
          <p:nvPr/>
        </p:nvSpPr>
        <p:spPr>
          <a:xfrm>
            <a:off x="3659660" y="2249948"/>
            <a:ext cx="2151530" cy="16385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34" name="Graphic 72" descr="Private subnet group icon. ">
            <a:extLst>
              <a:ext uri="{FF2B5EF4-FFF2-40B4-BE49-F238E27FC236}">
                <a16:creationId xmlns:a16="http://schemas.microsoft.com/office/drawing/2014/main" id="{287B75C7-8AD7-6111-6AB8-DD65176F1B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2249949"/>
            <a:ext cx="178979" cy="17897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3804FA7-8BA6-EA5F-F250-47EBF01E7AAC}"/>
              </a:ext>
            </a:extLst>
          </p:cNvPr>
          <p:cNvSpPr txBox="1"/>
          <p:nvPr/>
        </p:nvSpPr>
        <p:spPr>
          <a:xfrm>
            <a:off x="3869160" y="2293670"/>
            <a:ext cx="84427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6" name="Rectangle 71">
            <a:extLst>
              <a:ext uri="{FF2B5EF4-FFF2-40B4-BE49-F238E27FC236}">
                <a16:creationId xmlns:a16="http://schemas.microsoft.com/office/drawing/2014/main" id="{F9E31618-C9AC-BDF8-7695-0C6487462617}"/>
              </a:ext>
            </a:extLst>
          </p:cNvPr>
          <p:cNvSpPr/>
          <p:nvPr/>
        </p:nvSpPr>
        <p:spPr>
          <a:xfrm>
            <a:off x="3659660" y="3962805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37" name="Graphic 72" descr="Private subnet group icon. ">
            <a:extLst>
              <a:ext uri="{FF2B5EF4-FFF2-40B4-BE49-F238E27FC236}">
                <a16:creationId xmlns:a16="http://schemas.microsoft.com/office/drawing/2014/main" id="{EA4D8A4D-7C64-D284-2D4B-8DE844E6C4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3962804"/>
            <a:ext cx="178979" cy="17897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EC3072A-BD9D-BA33-945C-CB85299D6050}"/>
              </a:ext>
            </a:extLst>
          </p:cNvPr>
          <p:cNvSpPr txBox="1"/>
          <p:nvPr/>
        </p:nvSpPr>
        <p:spPr>
          <a:xfrm>
            <a:off x="3869160" y="3991752"/>
            <a:ext cx="62853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AF9D6769-4287-10DF-2965-569FEBAC56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675" y="1837594"/>
            <a:ext cx="216000" cy="216000"/>
          </a:xfrm>
          <a:prstGeom prst="rect">
            <a:avLst/>
          </a:prstGeom>
        </p:spPr>
      </p:pic>
      <p:sp>
        <p:nvSpPr>
          <p:cNvPr id="40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95EC529C-5FEB-1DEA-6BC8-50F474F459B2}"/>
              </a:ext>
            </a:extLst>
          </p:cNvPr>
          <p:cNvSpPr/>
          <p:nvPr/>
        </p:nvSpPr>
        <p:spPr bwMode="auto">
          <a:xfrm>
            <a:off x="3556040" y="1493086"/>
            <a:ext cx="2364789" cy="4106454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84C33757-13AA-50E1-1B88-361F61D323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337" y="2688375"/>
            <a:ext cx="216000" cy="21600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A733806-2136-1259-0741-C591A4A52424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65065" y="2319813"/>
            <a:ext cx="198545" cy="2160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E90DBEB-C48E-B39E-A1EB-E54FC77FDB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337" y="1837594"/>
            <a:ext cx="216000" cy="216000"/>
          </a:xfrm>
          <a:prstGeom prst="rect">
            <a:avLst/>
          </a:prstGeom>
        </p:spPr>
      </p:pic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4599BBB-ED29-BC91-2315-82D9E0F77CDF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2764337" y="2053594"/>
            <a:ext cx="1" cy="266219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9D61C4D-A38F-7242-9E29-6F5AC48BF675}"/>
              </a:ext>
            </a:extLst>
          </p:cNvPr>
          <p:cNvCxnSpPr>
            <a:cxnSpLocks/>
            <a:stCxn id="42" idx="2"/>
            <a:endCxn id="41" idx="0"/>
          </p:cNvCxnSpPr>
          <p:nvPr/>
        </p:nvCxnSpPr>
        <p:spPr>
          <a:xfrm flipH="1">
            <a:off x="2764337" y="2535813"/>
            <a:ext cx="1" cy="15256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8F22D73D-D956-4659-E075-35FDA2F926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9510" y="3220013"/>
            <a:ext cx="4507169" cy="56075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D975982-EF6C-FA0C-A738-06EAB528A2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16097" y="3186489"/>
            <a:ext cx="107950" cy="1651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EA91A6AB-3885-9F82-6B5E-33DCFFBAF0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9685" y="3180352"/>
            <a:ext cx="107950" cy="165100"/>
          </a:xfrm>
          <a:prstGeom prst="rect">
            <a:avLst/>
          </a:prstGeom>
        </p:spPr>
      </p:pic>
      <p:cxnSp>
        <p:nvCxnSpPr>
          <p:cNvPr id="49" name="구부러진 연결선[U] 48">
            <a:extLst>
              <a:ext uri="{FF2B5EF4-FFF2-40B4-BE49-F238E27FC236}">
                <a16:creationId xmlns:a16="http://schemas.microsoft.com/office/drawing/2014/main" id="{CDBB6277-5DC8-9318-BF41-872B89A03078}"/>
              </a:ext>
            </a:extLst>
          </p:cNvPr>
          <p:cNvCxnSpPr>
            <a:stCxn id="41" idx="3"/>
            <a:endCxn id="47" idx="0"/>
          </p:cNvCxnSpPr>
          <p:nvPr/>
        </p:nvCxnSpPr>
        <p:spPr>
          <a:xfrm>
            <a:off x="2872337" y="2796375"/>
            <a:ext cx="297735" cy="39011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7D45C409-E0D1-1535-AC1A-1E049E574A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874" y="2689598"/>
            <a:ext cx="216000" cy="2160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D9A34E6A-5F64-4AA1-B866-9C975E37D79A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0602" y="2321036"/>
            <a:ext cx="198545" cy="2160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68F9B03-7183-570C-20F5-A980BC75C6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874" y="1844590"/>
            <a:ext cx="216000" cy="216000"/>
          </a:xfrm>
          <a:prstGeom prst="rect">
            <a:avLst/>
          </a:prstGeom>
        </p:spPr>
      </p:pic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5EFB8BD-D642-7365-B297-42CDA29E659F}"/>
              </a:ext>
            </a:extLst>
          </p:cNvPr>
          <p:cNvCxnSpPr>
            <a:stCxn id="52" idx="2"/>
            <a:endCxn id="51" idx="0"/>
          </p:cNvCxnSpPr>
          <p:nvPr/>
        </p:nvCxnSpPr>
        <p:spPr>
          <a:xfrm>
            <a:off x="4199874" y="2060590"/>
            <a:ext cx="1" cy="260446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369BE59-1A9B-7B2C-F9D3-67137D665036}"/>
              </a:ext>
            </a:extLst>
          </p:cNvPr>
          <p:cNvCxnSpPr>
            <a:cxnSpLocks/>
            <a:stCxn id="51" idx="2"/>
            <a:endCxn id="50" idx="0"/>
          </p:cNvCxnSpPr>
          <p:nvPr/>
        </p:nvCxnSpPr>
        <p:spPr>
          <a:xfrm flipH="1">
            <a:off x="4199874" y="2537036"/>
            <a:ext cx="1" cy="15256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구부러진 연결선[U] 54">
            <a:extLst>
              <a:ext uri="{FF2B5EF4-FFF2-40B4-BE49-F238E27FC236}">
                <a16:creationId xmlns:a16="http://schemas.microsoft.com/office/drawing/2014/main" id="{773E045E-AAF4-1939-E00B-F35F637F89C5}"/>
              </a:ext>
            </a:extLst>
          </p:cNvPr>
          <p:cNvCxnSpPr>
            <a:cxnSpLocks/>
            <a:stCxn id="50" idx="1"/>
            <a:endCxn id="48" idx="0"/>
          </p:cNvCxnSpPr>
          <p:nvPr/>
        </p:nvCxnSpPr>
        <p:spPr>
          <a:xfrm rot="10800000" flipV="1">
            <a:off x="3803660" y="2797598"/>
            <a:ext cx="288214" cy="38275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그림 55">
            <a:extLst>
              <a:ext uri="{FF2B5EF4-FFF2-40B4-BE49-F238E27FC236}">
                <a16:creationId xmlns:a16="http://schemas.microsoft.com/office/drawing/2014/main" id="{38E9F41D-D278-A859-C4AA-0E7F056E648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571" y="1832911"/>
            <a:ext cx="216000" cy="2160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BA5B48E-662E-6248-8D8F-038427B721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073" y="1827898"/>
            <a:ext cx="216000" cy="216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F3171AF7-0FAD-E675-3A1A-50D651186A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1999" y="2841076"/>
            <a:ext cx="312676" cy="104225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2F141E79-9FCC-FC19-5A3D-5E6E98B396D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25911" y="2849317"/>
            <a:ext cx="312676" cy="10422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47E064D2-A9A4-1A7C-1B0A-9CB603D172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2682" y="3432803"/>
            <a:ext cx="364346" cy="10481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A566A25-9CB0-A22A-4945-9E7E82287BF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3392" y="3432803"/>
            <a:ext cx="364346" cy="106268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EDD473D6-7E12-2A5A-F4A3-B82E12DF06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3115" y="3432803"/>
            <a:ext cx="364347" cy="106268"/>
          </a:xfrm>
          <a:prstGeom prst="rect">
            <a:avLst/>
          </a:prstGeom>
        </p:spPr>
      </p:pic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A5AF8CF-F0F5-90A8-3312-98F85C0F5A49}"/>
              </a:ext>
            </a:extLst>
          </p:cNvPr>
          <p:cNvCxnSpPr>
            <a:cxnSpLocks/>
            <a:stCxn id="56" idx="2"/>
            <a:endCxn id="61" idx="0"/>
          </p:cNvCxnSpPr>
          <p:nvPr/>
        </p:nvCxnSpPr>
        <p:spPr>
          <a:xfrm flipH="1">
            <a:off x="2065565" y="2048911"/>
            <a:ext cx="12006" cy="138389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2" name="직선 화살표 연결선 8511">
            <a:extLst>
              <a:ext uri="{FF2B5EF4-FFF2-40B4-BE49-F238E27FC236}">
                <a16:creationId xmlns:a16="http://schemas.microsoft.com/office/drawing/2014/main" id="{B64890C7-0839-76EA-5658-A0BA34C108DF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flipH="1">
            <a:off x="2414855" y="2043898"/>
            <a:ext cx="4218" cy="1388905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14" name="그림 8513">
            <a:extLst>
              <a:ext uri="{FF2B5EF4-FFF2-40B4-BE49-F238E27FC236}">
                <a16:creationId xmlns:a16="http://schemas.microsoft.com/office/drawing/2014/main" id="{B19FE44B-E994-9F24-E2B3-50031A93CC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138" y="1844590"/>
            <a:ext cx="216000" cy="216000"/>
          </a:xfrm>
          <a:prstGeom prst="rect">
            <a:avLst/>
          </a:prstGeom>
        </p:spPr>
      </p:pic>
      <p:pic>
        <p:nvPicPr>
          <p:cNvPr id="8515" name="그림 8514">
            <a:extLst>
              <a:ext uri="{FF2B5EF4-FFF2-40B4-BE49-F238E27FC236}">
                <a16:creationId xmlns:a16="http://schemas.microsoft.com/office/drawing/2014/main" id="{E1BEFE6C-99AC-7A1B-96FF-601DD697D6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401" y="1844590"/>
            <a:ext cx="216000" cy="216000"/>
          </a:xfrm>
          <a:prstGeom prst="rect">
            <a:avLst/>
          </a:prstGeom>
        </p:spPr>
      </p:pic>
      <p:cxnSp>
        <p:nvCxnSpPr>
          <p:cNvPr id="8516" name="직선 화살표 연결선 8515">
            <a:extLst>
              <a:ext uri="{FF2B5EF4-FFF2-40B4-BE49-F238E27FC236}">
                <a16:creationId xmlns:a16="http://schemas.microsoft.com/office/drawing/2014/main" id="{061D687F-2E9C-82BF-0067-B1E2FDC6E8CF}"/>
              </a:ext>
            </a:extLst>
          </p:cNvPr>
          <p:cNvCxnSpPr>
            <a:cxnSpLocks/>
            <a:stCxn id="8514" idx="2"/>
            <a:endCxn id="8522" idx="0"/>
          </p:cNvCxnSpPr>
          <p:nvPr/>
        </p:nvCxnSpPr>
        <p:spPr>
          <a:xfrm flipH="1">
            <a:off x="4544992" y="2060590"/>
            <a:ext cx="146" cy="1372213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7" name="직선 화살표 연결선 8516">
            <a:extLst>
              <a:ext uri="{FF2B5EF4-FFF2-40B4-BE49-F238E27FC236}">
                <a16:creationId xmlns:a16="http://schemas.microsoft.com/office/drawing/2014/main" id="{A9C95D05-1D94-9893-7CF0-3306982F0EAB}"/>
              </a:ext>
            </a:extLst>
          </p:cNvPr>
          <p:cNvCxnSpPr>
            <a:cxnSpLocks/>
            <a:stCxn id="8515" idx="2"/>
            <a:endCxn id="8524" idx="0"/>
          </p:cNvCxnSpPr>
          <p:nvPr/>
        </p:nvCxnSpPr>
        <p:spPr>
          <a:xfrm flipH="1">
            <a:off x="4882422" y="2060590"/>
            <a:ext cx="7979" cy="1372213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18" name="그림 8517">
            <a:extLst>
              <a:ext uri="{FF2B5EF4-FFF2-40B4-BE49-F238E27FC236}">
                <a16:creationId xmlns:a16="http://schemas.microsoft.com/office/drawing/2014/main" id="{94234257-3B8A-92D6-D8E7-F67F2DB93FE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06348" y="3432803"/>
            <a:ext cx="364347" cy="106268"/>
          </a:xfrm>
          <a:prstGeom prst="rect">
            <a:avLst/>
          </a:prstGeom>
        </p:spPr>
      </p:pic>
      <p:cxnSp>
        <p:nvCxnSpPr>
          <p:cNvPr id="8519" name="구부러진 연결선[U] 8518">
            <a:extLst>
              <a:ext uri="{FF2B5EF4-FFF2-40B4-BE49-F238E27FC236}">
                <a16:creationId xmlns:a16="http://schemas.microsoft.com/office/drawing/2014/main" id="{883E19E7-4ECD-7EFA-DEF5-A438EB4D3C39}"/>
              </a:ext>
            </a:extLst>
          </p:cNvPr>
          <p:cNvCxnSpPr>
            <a:cxnSpLocks/>
            <a:stCxn id="47" idx="1"/>
            <a:endCxn id="62" idx="0"/>
          </p:cNvCxnSpPr>
          <p:nvPr/>
        </p:nvCxnSpPr>
        <p:spPr>
          <a:xfrm rot="10800000" flipV="1">
            <a:off x="2875289" y="3269039"/>
            <a:ext cx="240808" cy="16376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1" name="구부러진 연결선[U] 8520">
            <a:extLst>
              <a:ext uri="{FF2B5EF4-FFF2-40B4-BE49-F238E27FC236}">
                <a16:creationId xmlns:a16="http://schemas.microsoft.com/office/drawing/2014/main" id="{FB4DD005-546A-6C1D-0819-1164359ED5CB}"/>
              </a:ext>
            </a:extLst>
          </p:cNvPr>
          <p:cNvCxnSpPr>
            <a:cxnSpLocks/>
            <a:stCxn id="48" idx="3"/>
            <a:endCxn id="8518" idx="0"/>
          </p:cNvCxnSpPr>
          <p:nvPr/>
        </p:nvCxnSpPr>
        <p:spPr>
          <a:xfrm>
            <a:off x="3857635" y="3262902"/>
            <a:ext cx="230887" cy="169901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22" name="그림 8521">
            <a:extLst>
              <a:ext uri="{FF2B5EF4-FFF2-40B4-BE49-F238E27FC236}">
                <a16:creationId xmlns:a16="http://schemas.microsoft.com/office/drawing/2014/main" id="{AFCBDDAD-CD61-0AA0-B7B8-8B6B2E60782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2819" y="3432803"/>
            <a:ext cx="364346" cy="104812"/>
          </a:xfrm>
          <a:prstGeom prst="rect">
            <a:avLst/>
          </a:prstGeom>
        </p:spPr>
      </p:pic>
      <p:pic>
        <p:nvPicPr>
          <p:cNvPr id="8524" name="그림 8523">
            <a:extLst>
              <a:ext uri="{FF2B5EF4-FFF2-40B4-BE49-F238E27FC236}">
                <a16:creationId xmlns:a16="http://schemas.microsoft.com/office/drawing/2014/main" id="{523CC5AD-187D-5FBF-DB6F-291AFFE3BB3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0249" y="3432803"/>
            <a:ext cx="364346" cy="106268"/>
          </a:xfrm>
          <a:prstGeom prst="rect">
            <a:avLst/>
          </a:prstGeom>
        </p:spPr>
      </p:pic>
      <p:sp>
        <p:nvSpPr>
          <p:cNvPr id="8525" name="TextBox 8524">
            <a:extLst>
              <a:ext uri="{FF2B5EF4-FFF2-40B4-BE49-F238E27FC236}">
                <a16:creationId xmlns:a16="http://schemas.microsoft.com/office/drawing/2014/main" id="{1D1FF17F-16F1-EEF8-9C04-3DB07D6276DE}"/>
              </a:ext>
            </a:extLst>
          </p:cNvPr>
          <p:cNvSpPr txBox="1"/>
          <p:nvPr/>
        </p:nvSpPr>
        <p:spPr>
          <a:xfrm>
            <a:off x="2564385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6" name="TextBox 8525">
            <a:extLst>
              <a:ext uri="{FF2B5EF4-FFF2-40B4-BE49-F238E27FC236}">
                <a16:creationId xmlns:a16="http://schemas.microsoft.com/office/drawing/2014/main" id="{C7F5CBD5-8B23-0370-4DA1-2359A28B7CE8}"/>
              </a:ext>
            </a:extLst>
          </p:cNvPr>
          <p:cNvSpPr txBox="1"/>
          <p:nvPr/>
        </p:nvSpPr>
        <p:spPr>
          <a:xfrm>
            <a:off x="2203952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7" name="TextBox 8526">
            <a:extLst>
              <a:ext uri="{FF2B5EF4-FFF2-40B4-BE49-F238E27FC236}">
                <a16:creationId xmlns:a16="http://schemas.microsoft.com/office/drawing/2014/main" id="{B97DF404-E8C4-950F-E3B9-82D7277CEDD0}"/>
              </a:ext>
            </a:extLst>
          </p:cNvPr>
          <p:cNvSpPr txBox="1"/>
          <p:nvPr/>
        </p:nvSpPr>
        <p:spPr>
          <a:xfrm>
            <a:off x="1854982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8" name="TextBox 8527">
            <a:extLst>
              <a:ext uri="{FF2B5EF4-FFF2-40B4-BE49-F238E27FC236}">
                <a16:creationId xmlns:a16="http://schemas.microsoft.com/office/drawing/2014/main" id="{62E36C1B-6E1F-5BF2-3359-B6E13506CBC7}"/>
              </a:ext>
            </a:extLst>
          </p:cNvPr>
          <p:cNvSpPr txBox="1"/>
          <p:nvPr/>
        </p:nvSpPr>
        <p:spPr>
          <a:xfrm>
            <a:off x="3986995" y="2057630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9" name="TextBox 8528">
            <a:extLst>
              <a:ext uri="{FF2B5EF4-FFF2-40B4-BE49-F238E27FC236}">
                <a16:creationId xmlns:a16="http://schemas.microsoft.com/office/drawing/2014/main" id="{B11EAD28-46FE-8591-0922-06FEA82694BF}"/>
              </a:ext>
            </a:extLst>
          </p:cNvPr>
          <p:cNvSpPr txBox="1"/>
          <p:nvPr/>
        </p:nvSpPr>
        <p:spPr>
          <a:xfrm>
            <a:off x="4301872" y="2051355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31" name="TextBox 8530">
            <a:extLst>
              <a:ext uri="{FF2B5EF4-FFF2-40B4-BE49-F238E27FC236}">
                <a16:creationId xmlns:a16="http://schemas.microsoft.com/office/drawing/2014/main" id="{10028352-0E16-F757-CF13-A102EDBD08C2}"/>
              </a:ext>
            </a:extLst>
          </p:cNvPr>
          <p:cNvSpPr txBox="1"/>
          <p:nvPr/>
        </p:nvSpPr>
        <p:spPr>
          <a:xfrm>
            <a:off x="4667947" y="2057576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538" name="그림 8537">
            <a:extLst>
              <a:ext uri="{FF2B5EF4-FFF2-40B4-BE49-F238E27FC236}">
                <a16:creationId xmlns:a16="http://schemas.microsoft.com/office/drawing/2014/main" id="{0144AE67-476B-8721-EDAB-EA60D4ED2C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807" y="1837594"/>
            <a:ext cx="216000" cy="216000"/>
          </a:xfrm>
          <a:prstGeom prst="rect">
            <a:avLst/>
          </a:prstGeom>
        </p:spPr>
      </p:pic>
      <p:sp>
        <p:nvSpPr>
          <p:cNvPr id="8539" name="TextBox 8538">
            <a:extLst>
              <a:ext uri="{FF2B5EF4-FFF2-40B4-BE49-F238E27FC236}">
                <a16:creationId xmlns:a16="http://schemas.microsoft.com/office/drawing/2014/main" id="{1F458AF8-0171-745B-7027-A8CE797999E0}"/>
              </a:ext>
            </a:extLst>
          </p:cNvPr>
          <p:cNvSpPr txBox="1"/>
          <p:nvPr/>
        </p:nvSpPr>
        <p:spPr>
          <a:xfrm>
            <a:off x="2961426" y="2060830"/>
            <a:ext cx="3432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40" name="TextBox 8539">
            <a:extLst>
              <a:ext uri="{FF2B5EF4-FFF2-40B4-BE49-F238E27FC236}">
                <a16:creationId xmlns:a16="http://schemas.microsoft.com/office/drawing/2014/main" id="{63F7800F-7980-9D4F-E955-EFF500765DF1}"/>
              </a:ext>
            </a:extLst>
          </p:cNvPr>
          <p:cNvSpPr txBox="1"/>
          <p:nvPr/>
        </p:nvSpPr>
        <p:spPr>
          <a:xfrm>
            <a:off x="5112658" y="2060489"/>
            <a:ext cx="3432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541" name="그림 8540">
            <a:extLst>
              <a:ext uri="{FF2B5EF4-FFF2-40B4-BE49-F238E27FC236}">
                <a16:creationId xmlns:a16="http://schemas.microsoft.com/office/drawing/2014/main" id="{8F5F17CB-9BF4-A3F2-F8CA-3125957B46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02" y="2344729"/>
            <a:ext cx="173883" cy="173883"/>
          </a:xfrm>
          <a:prstGeom prst="rect">
            <a:avLst/>
          </a:prstGeom>
        </p:spPr>
      </p:pic>
      <p:pic>
        <p:nvPicPr>
          <p:cNvPr id="8553" name="Graphic 7" descr="Amazon Aurora service icon.">
            <a:extLst>
              <a:ext uri="{FF2B5EF4-FFF2-40B4-BE49-F238E27FC236}">
                <a16:creationId xmlns:a16="http://schemas.microsoft.com/office/drawing/2014/main" id="{081CE74F-281B-AB29-4356-D7376CCD7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149938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69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3DBEC771-D0DB-352D-9091-3508D650A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188649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70" name="Graphic 13" descr="AWS Batch service icon.">
            <a:extLst>
              <a:ext uri="{FF2B5EF4-FFF2-40B4-BE49-F238E27FC236}">
                <a16:creationId xmlns:a16="http://schemas.microsoft.com/office/drawing/2014/main" id="{3D2FE4B7-A547-6271-2773-21FA0A8B1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6243762" y="3976714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72" name="Graphic 23" descr="Amazon DynamoDB service icon.">
            <a:extLst>
              <a:ext uri="{FF2B5EF4-FFF2-40B4-BE49-F238E27FC236}">
                <a16:creationId xmlns:a16="http://schemas.microsoft.com/office/drawing/2014/main" id="{2946D0AF-8042-A157-8733-6EC54D8E5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227360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90" name="Graphic 26" descr="Amazon Managed Streaming for Apache Kafka (Amazon MSK) service icon.">
            <a:extLst>
              <a:ext uri="{FF2B5EF4-FFF2-40B4-BE49-F238E27FC236}">
                <a16:creationId xmlns:a16="http://schemas.microsoft.com/office/drawing/2014/main" id="{8FB455AF-8A75-0410-702B-9A6389240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3046849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98" name="Graphic 21" descr="Amazon ElastiCache service icon.">
            <a:extLst>
              <a:ext uri="{FF2B5EF4-FFF2-40B4-BE49-F238E27FC236}">
                <a16:creationId xmlns:a16="http://schemas.microsoft.com/office/drawing/2014/main" id="{9E6DFD7B-357F-87BB-C37A-62AA00634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2660710" y="4131762"/>
            <a:ext cx="171989" cy="17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" name="TextBox 8601">
            <a:extLst>
              <a:ext uri="{FF2B5EF4-FFF2-40B4-BE49-F238E27FC236}">
                <a16:creationId xmlns:a16="http://schemas.microsoft.com/office/drawing/2014/main" id="{71AC626B-E7D9-9FAC-B508-C882FC979EA5}"/>
              </a:ext>
            </a:extLst>
          </p:cNvPr>
          <p:cNvSpPr txBox="1"/>
          <p:nvPr/>
        </p:nvSpPr>
        <p:spPr>
          <a:xfrm>
            <a:off x="3027530" y="4330249"/>
            <a:ext cx="2115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MSK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3" name="TextBox 8602">
            <a:extLst>
              <a:ext uri="{FF2B5EF4-FFF2-40B4-BE49-F238E27FC236}">
                <a16:creationId xmlns:a16="http://schemas.microsoft.com/office/drawing/2014/main" id="{9F70BCA4-81F8-D95F-0146-287AE733505B}"/>
              </a:ext>
            </a:extLst>
          </p:cNvPr>
          <p:cNvSpPr txBox="1"/>
          <p:nvPr/>
        </p:nvSpPr>
        <p:spPr>
          <a:xfrm>
            <a:off x="2504224" y="4330249"/>
            <a:ext cx="48496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ElastiCache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5" name="TextBox 8604">
            <a:extLst>
              <a:ext uri="{FF2B5EF4-FFF2-40B4-BE49-F238E27FC236}">
                <a16:creationId xmlns:a16="http://schemas.microsoft.com/office/drawing/2014/main" id="{EBDE9E31-7946-ABA2-A0F1-408A1E171A87}"/>
              </a:ext>
            </a:extLst>
          </p:cNvPr>
          <p:cNvSpPr txBox="1"/>
          <p:nvPr/>
        </p:nvSpPr>
        <p:spPr>
          <a:xfrm>
            <a:off x="1437133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Aurora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7" name="TextBox 8606">
            <a:extLst>
              <a:ext uri="{FF2B5EF4-FFF2-40B4-BE49-F238E27FC236}">
                <a16:creationId xmlns:a16="http://schemas.microsoft.com/office/drawing/2014/main" id="{ECF23CD8-2810-4638-5D4D-FAB91E99E6F7}"/>
              </a:ext>
            </a:extLst>
          </p:cNvPr>
          <p:cNvSpPr txBox="1"/>
          <p:nvPr/>
        </p:nvSpPr>
        <p:spPr>
          <a:xfrm>
            <a:off x="1821952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8" name="TextBox 8607">
            <a:extLst>
              <a:ext uri="{FF2B5EF4-FFF2-40B4-BE49-F238E27FC236}">
                <a16:creationId xmlns:a16="http://schemas.microsoft.com/office/drawing/2014/main" id="{9979423B-34B9-5592-6DF1-30C21FD40290}"/>
              </a:ext>
            </a:extLst>
          </p:cNvPr>
          <p:cNvSpPr txBox="1"/>
          <p:nvPr/>
        </p:nvSpPr>
        <p:spPr>
          <a:xfrm>
            <a:off x="2187600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DDB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09" name="Graphic 7" descr="Amazon Aurora service icon.">
            <a:extLst>
              <a:ext uri="{FF2B5EF4-FFF2-40B4-BE49-F238E27FC236}">
                <a16:creationId xmlns:a16="http://schemas.microsoft.com/office/drawing/2014/main" id="{AB44D759-A288-45F4-04F0-28BAE8141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398259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1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DB8E3042-3858-C68C-8D2F-3701A33B9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436970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5" name="Graphic 23" descr="Amazon DynamoDB service icon.">
            <a:extLst>
              <a:ext uri="{FF2B5EF4-FFF2-40B4-BE49-F238E27FC236}">
                <a16:creationId xmlns:a16="http://schemas.microsoft.com/office/drawing/2014/main" id="{99319744-3C51-F63A-80FE-A8F232BA8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475681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6" name="Graphic 26" descr="Amazon Managed Streaming for Apache Kafka (Amazon MSK) service icon.">
            <a:extLst>
              <a:ext uri="{FF2B5EF4-FFF2-40B4-BE49-F238E27FC236}">
                <a16:creationId xmlns:a16="http://schemas.microsoft.com/office/drawing/2014/main" id="{16EA28C8-A76F-8E86-8062-640D6FA17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5530062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7" name="Graphic 21" descr="Amazon ElastiCache service icon.">
            <a:extLst>
              <a:ext uri="{FF2B5EF4-FFF2-40B4-BE49-F238E27FC236}">
                <a16:creationId xmlns:a16="http://schemas.microsoft.com/office/drawing/2014/main" id="{DC6B12E7-5891-24E8-86B6-B3530A05F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5143923" y="4135025"/>
            <a:ext cx="171989" cy="17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18" name="TextBox 8617">
            <a:extLst>
              <a:ext uri="{FF2B5EF4-FFF2-40B4-BE49-F238E27FC236}">
                <a16:creationId xmlns:a16="http://schemas.microsoft.com/office/drawing/2014/main" id="{C36AF03D-81F5-9637-61F8-36CC0532228C}"/>
              </a:ext>
            </a:extLst>
          </p:cNvPr>
          <p:cNvSpPr txBox="1"/>
          <p:nvPr/>
        </p:nvSpPr>
        <p:spPr>
          <a:xfrm>
            <a:off x="5510743" y="4333512"/>
            <a:ext cx="2115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MSK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19" name="TextBox 8618">
            <a:extLst>
              <a:ext uri="{FF2B5EF4-FFF2-40B4-BE49-F238E27FC236}">
                <a16:creationId xmlns:a16="http://schemas.microsoft.com/office/drawing/2014/main" id="{4A12A1C5-77B7-1571-7079-DA89DCFEDE6C}"/>
              </a:ext>
            </a:extLst>
          </p:cNvPr>
          <p:cNvSpPr txBox="1"/>
          <p:nvPr/>
        </p:nvSpPr>
        <p:spPr>
          <a:xfrm>
            <a:off x="4987437" y="4333512"/>
            <a:ext cx="48496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ElastiCache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21" name="TextBox 8620">
            <a:extLst>
              <a:ext uri="{FF2B5EF4-FFF2-40B4-BE49-F238E27FC236}">
                <a16:creationId xmlns:a16="http://schemas.microsoft.com/office/drawing/2014/main" id="{56F246D0-E66E-8370-243F-545C4A5CE556}"/>
              </a:ext>
            </a:extLst>
          </p:cNvPr>
          <p:cNvSpPr txBox="1"/>
          <p:nvPr/>
        </p:nvSpPr>
        <p:spPr>
          <a:xfrm>
            <a:off x="3920346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Aurora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22" name="TextBox 8621">
            <a:extLst>
              <a:ext uri="{FF2B5EF4-FFF2-40B4-BE49-F238E27FC236}">
                <a16:creationId xmlns:a16="http://schemas.microsoft.com/office/drawing/2014/main" id="{C4515AD7-835C-1C6C-3D19-410FCEC4A8D4}"/>
              </a:ext>
            </a:extLst>
          </p:cNvPr>
          <p:cNvSpPr txBox="1"/>
          <p:nvPr/>
        </p:nvSpPr>
        <p:spPr>
          <a:xfrm>
            <a:off x="4305165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24" name="TextBox 8623">
            <a:extLst>
              <a:ext uri="{FF2B5EF4-FFF2-40B4-BE49-F238E27FC236}">
                <a16:creationId xmlns:a16="http://schemas.microsoft.com/office/drawing/2014/main" id="{BB4E67F8-657A-30B3-A4F2-13FEF3C4F873}"/>
              </a:ext>
            </a:extLst>
          </p:cNvPr>
          <p:cNvSpPr txBox="1"/>
          <p:nvPr/>
        </p:nvSpPr>
        <p:spPr>
          <a:xfrm>
            <a:off x="4670813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DDB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47" name="Rectangle 71">
            <a:extLst>
              <a:ext uri="{FF2B5EF4-FFF2-40B4-BE49-F238E27FC236}">
                <a16:creationId xmlns:a16="http://schemas.microsoft.com/office/drawing/2014/main" id="{A1FE21A3-32DF-C51C-0B07-77D544449C0D}"/>
              </a:ext>
            </a:extLst>
          </p:cNvPr>
          <p:cNvSpPr/>
          <p:nvPr/>
        </p:nvSpPr>
        <p:spPr>
          <a:xfrm>
            <a:off x="1171804" y="5014701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648" name="Graphic 72" descr="Private subnet group icon. ">
            <a:extLst>
              <a:ext uri="{FF2B5EF4-FFF2-40B4-BE49-F238E27FC236}">
                <a16:creationId xmlns:a16="http://schemas.microsoft.com/office/drawing/2014/main" id="{039EB315-0F5E-AAC9-1556-9186954FDA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5014700"/>
            <a:ext cx="178979" cy="178979"/>
          </a:xfrm>
          <a:prstGeom prst="rect">
            <a:avLst/>
          </a:prstGeom>
        </p:spPr>
      </p:pic>
      <p:sp>
        <p:nvSpPr>
          <p:cNvPr id="8649" name="TextBox 8648">
            <a:extLst>
              <a:ext uri="{FF2B5EF4-FFF2-40B4-BE49-F238E27FC236}">
                <a16:creationId xmlns:a16="http://schemas.microsoft.com/office/drawing/2014/main" id="{88CC86D7-DDEA-700E-0196-80BFC2541A89}"/>
              </a:ext>
            </a:extLst>
          </p:cNvPr>
          <p:cNvSpPr txBox="1"/>
          <p:nvPr/>
        </p:nvSpPr>
        <p:spPr>
          <a:xfrm>
            <a:off x="1390243" y="5058421"/>
            <a:ext cx="74361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50" name="Rectangle 71">
            <a:extLst>
              <a:ext uri="{FF2B5EF4-FFF2-40B4-BE49-F238E27FC236}">
                <a16:creationId xmlns:a16="http://schemas.microsoft.com/office/drawing/2014/main" id="{FF11BA15-3938-7BB5-EBF4-EE4F23B06F28}"/>
              </a:ext>
            </a:extLst>
          </p:cNvPr>
          <p:cNvSpPr/>
          <p:nvPr/>
        </p:nvSpPr>
        <p:spPr>
          <a:xfrm>
            <a:off x="3659660" y="5014701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651" name="Graphic 72" descr="Private subnet group icon. ">
            <a:extLst>
              <a:ext uri="{FF2B5EF4-FFF2-40B4-BE49-F238E27FC236}">
                <a16:creationId xmlns:a16="http://schemas.microsoft.com/office/drawing/2014/main" id="{D2148709-A47E-9D0F-C49B-94092AB1D8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5014700"/>
            <a:ext cx="178979" cy="178979"/>
          </a:xfrm>
          <a:prstGeom prst="rect">
            <a:avLst/>
          </a:prstGeom>
        </p:spPr>
      </p:pic>
      <p:sp>
        <p:nvSpPr>
          <p:cNvPr id="8652" name="TextBox 8651">
            <a:extLst>
              <a:ext uri="{FF2B5EF4-FFF2-40B4-BE49-F238E27FC236}">
                <a16:creationId xmlns:a16="http://schemas.microsoft.com/office/drawing/2014/main" id="{7C5D8EF3-A5C2-15C2-E2D5-3F88EF666A7A}"/>
              </a:ext>
            </a:extLst>
          </p:cNvPr>
          <p:cNvSpPr txBox="1"/>
          <p:nvPr/>
        </p:nvSpPr>
        <p:spPr>
          <a:xfrm>
            <a:off x="3869160" y="5058422"/>
            <a:ext cx="6897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53" name="그림 8652">
            <a:extLst>
              <a:ext uri="{FF2B5EF4-FFF2-40B4-BE49-F238E27FC236}">
                <a16:creationId xmlns:a16="http://schemas.microsoft.com/office/drawing/2014/main" id="{0F460281-F373-0981-86A0-5F4A6106A11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410" y="3785523"/>
            <a:ext cx="147653" cy="147653"/>
          </a:xfrm>
          <a:prstGeom prst="rect">
            <a:avLst/>
          </a:prstGeom>
        </p:spPr>
      </p:pic>
      <p:pic>
        <p:nvPicPr>
          <p:cNvPr id="8654" name="그림 8653">
            <a:extLst>
              <a:ext uri="{FF2B5EF4-FFF2-40B4-BE49-F238E27FC236}">
                <a16:creationId xmlns:a16="http://schemas.microsoft.com/office/drawing/2014/main" id="{A68980B2-96A0-DCF7-3485-146F3E6DA6C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070" y="3785523"/>
            <a:ext cx="147653" cy="147653"/>
          </a:xfrm>
          <a:prstGeom prst="rect">
            <a:avLst/>
          </a:prstGeom>
        </p:spPr>
      </p:pic>
      <p:pic>
        <p:nvPicPr>
          <p:cNvPr id="8655" name="그림 8654">
            <a:extLst>
              <a:ext uri="{FF2B5EF4-FFF2-40B4-BE49-F238E27FC236}">
                <a16:creationId xmlns:a16="http://schemas.microsoft.com/office/drawing/2014/main" id="{AAAC81CD-651F-EF62-7A0A-38C3CE16E21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828" y="4392281"/>
            <a:ext cx="147653" cy="147653"/>
          </a:xfrm>
          <a:prstGeom prst="rect">
            <a:avLst/>
          </a:prstGeom>
        </p:spPr>
      </p:pic>
      <p:pic>
        <p:nvPicPr>
          <p:cNvPr id="8656" name="그림 8655">
            <a:extLst>
              <a:ext uri="{FF2B5EF4-FFF2-40B4-BE49-F238E27FC236}">
                <a16:creationId xmlns:a16="http://schemas.microsoft.com/office/drawing/2014/main" id="{73BBF182-7AD1-724D-42B2-FA236F9115E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488" y="4392281"/>
            <a:ext cx="147653" cy="147653"/>
          </a:xfrm>
          <a:prstGeom prst="rect">
            <a:avLst/>
          </a:prstGeom>
        </p:spPr>
      </p:pic>
      <p:sp>
        <p:nvSpPr>
          <p:cNvPr id="8673" name="TextBox 8672">
            <a:extLst>
              <a:ext uri="{FF2B5EF4-FFF2-40B4-BE49-F238E27FC236}">
                <a16:creationId xmlns:a16="http://schemas.microsoft.com/office/drawing/2014/main" id="{924B28F3-5EB9-7E91-1A3C-8726C993FB11}"/>
              </a:ext>
            </a:extLst>
          </p:cNvPr>
          <p:cNvSpPr txBox="1"/>
          <p:nvPr/>
        </p:nvSpPr>
        <p:spPr>
          <a:xfrm>
            <a:off x="6236162" y="2571547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Lambda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74" name="Graphic 14" descr="Amazon Athena service icon.">
            <a:extLst>
              <a:ext uri="{FF2B5EF4-FFF2-40B4-BE49-F238E27FC236}">
                <a16:creationId xmlns:a16="http://schemas.microsoft.com/office/drawing/2014/main" id="{2CDACA71-D734-C6C9-63B0-54098F941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305502" y="2811273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75" name="TextBox 8674">
            <a:extLst>
              <a:ext uri="{FF2B5EF4-FFF2-40B4-BE49-F238E27FC236}">
                <a16:creationId xmlns:a16="http://schemas.microsoft.com/office/drawing/2014/main" id="{7E773BFC-74D8-5C36-C115-417CD776B634}"/>
              </a:ext>
            </a:extLst>
          </p:cNvPr>
          <p:cNvSpPr txBox="1"/>
          <p:nvPr/>
        </p:nvSpPr>
        <p:spPr>
          <a:xfrm>
            <a:off x="6227829" y="3024585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Athena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76" name="Graphic 20" descr="Amazon Elastic Container Registry (Amazon ECR) Service icon.">
            <a:extLst>
              <a:ext uri="{FF2B5EF4-FFF2-40B4-BE49-F238E27FC236}">
                <a16:creationId xmlns:a16="http://schemas.microsoft.com/office/drawing/2014/main" id="{8D3CD580-2EA3-7223-650A-B08F8BEAD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 bwMode="auto">
          <a:xfrm>
            <a:off x="6305502" y="3264723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77" name="TextBox 8676">
            <a:extLst>
              <a:ext uri="{FF2B5EF4-FFF2-40B4-BE49-F238E27FC236}">
                <a16:creationId xmlns:a16="http://schemas.microsoft.com/office/drawing/2014/main" id="{5818DA52-3E14-BBB4-DAA4-2CEA1A862632}"/>
              </a:ext>
            </a:extLst>
          </p:cNvPr>
          <p:cNvSpPr txBox="1"/>
          <p:nvPr/>
        </p:nvSpPr>
        <p:spPr>
          <a:xfrm>
            <a:off x="6161553" y="4184398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Batch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78" name="TextBox 8677">
            <a:extLst>
              <a:ext uri="{FF2B5EF4-FFF2-40B4-BE49-F238E27FC236}">
                <a16:creationId xmlns:a16="http://schemas.microsoft.com/office/drawing/2014/main" id="{0EC54338-2BAF-F6AB-2E2F-AFFF9EC68D71}"/>
              </a:ext>
            </a:extLst>
          </p:cNvPr>
          <p:cNvSpPr txBox="1"/>
          <p:nvPr/>
        </p:nvSpPr>
        <p:spPr>
          <a:xfrm>
            <a:off x="6212805" y="3484145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ECR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79" name="Rectangle 40">
            <a:extLst>
              <a:ext uri="{FF2B5EF4-FFF2-40B4-BE49-F238E27FC236}">
                <a16:creationId xmlns:a16="http://schemas.microsoft.com/office/drawing/2014/main" id="{B2CF659E-E010-0EBD-96E7-49CBC821F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0362" y="1568335"/>
            <a:ext cx="1222732" cy="2785257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80" name="Rectangle 39" descr="VPC group border">
            <a:extLst>
              <a:ext uri="{FF2B5EF4-FFF2-40B4-BE49-F238E27FC236}">
                <a16:creationId xmlns:a16="http://schemas.microsoft.com/office/drawing/2014/main" id="{D4F86C83-A3F4-6696-31C4-C6DD8268E03C}"/>
              </a:ext>
            </a:extLst>
          </p:cNvPr>
          <p:cNvSpPr/>
          <p:nvPr/>
        </p:nvSpPr>
        <p:spPr>
          <a:xfrm>
            <a:off x="734203" y="1213469"/>
            <a:ext cx="5300768" cy="4511039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681" name="Graphic 57" descr="VPC group icon.">
            <a:extLst>
              <a:ext uri="{FF2B5EF4-FFF2-40B4-BE49-F238E27FC236}">
                <a16:creationId xmlns:a16="http://schemas.microsoft.com/office/drawing/2014/main" id="{1BC2E9B9-49A3-8988-2B70-CF034F7F626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725191" y="1213470"/>
            <a:ext cx="288000" cy="288000"/>
          </a:xfrm>
          <a:prstGeom prst="rect">
            <a:avLst/>
          </a:prstGeom>
        </p:spPr>
      </p:pic>
      <p:pic>
        <p:nvPicPr>
          <p:cNvPr id="8682" name="그림 8681">
            <a:extLst>
              <a:ext uri="{FF2B5EF4-FFF2-40B4-BE49-F238E27FC236}">
                <a16:creationId xmlns:a16="http://schemas.microsoft.com/office/drawing/2014/main" id="{41C796CA-F9FE-5471-7AC8-079B1486842B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18764" y="6089727"/>
            <a:ext cx="327321" cy="318227"/>
          </a:xfrm>
          <a:prstGeom prst="rect">
            <a:avLst/>
          </a:prstGeom>
        </p:spPr>
      </p:pic>
      <p:pic>
        <p:nvPicPr>
          <p:cNvPr id="8683" name="그림 8682">
            <a:extLst>
              <a:ext uri="{FF2B5EF4-FFF2-40B4-BE49-F238E27FC236}">
                <a16:creationId xmlns:a16="http://schemas.microsoft.com/office/drawing/2014/main" id="{826C65AC-0747-ECC8-4984-ECF231C5CAC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166" y="1066429"/>
            <a:ext cx="291600" cy="291600"/>
          </a:xfrm>
          <a:prstGeom prst="rect">
            <a:avLst/>
          </a:prstGeom>
        </p:spPr>
      </p:pic>
      <p:sp>
        <p:nvSpPr>
          <p:cNvPr id="8684" name="TextBox 8683">
            <a:extLst>
              <a:ext uri="{FF2B5EF4-FFF2-40B4-BE49-F238E27FC236}">
                <a16:creationId xmlns:a16="http://schemas.microsoft.com/office/drawing/2014/main" id="{3A662866-9FBD-E27D-6574-6A2935B2D12E}"/>
              </a:ext>
            </a:extLst>
          </p:cNvPr>
          <p:cNvSpPr txBox="1"/>
          <p:nvPr/>
        </p:nvSpPr>
        <p:spPr>
          <a:xfrm>
            <a:off x="3556040" y="1240649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85" name="Graphic 21" descr="Amazon Route 53 service icon.">
            <a:extLst>
              <a:ext uri="{FF2B5EF4-FFF2-40B4-BE49-F238E27FC236}">
                <a16:creationId xmlns:a16="http://schemas.microsoft.com/office/drawing/2014/main" id="{8B0F7ED7-6D65-D993-C883-88BFA97CD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 bwMode="auto">
          <a:xfrm>
            <a:off x="6995763" y="1153687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86" name="TextBox 8685">
            <a:extLst>
              <a:ext uri="{FF2B5EF4-FFF2-40B4-BE49-F238E27FC236}">
                <a16:creationId xmlns:a16="http://schemas.microsoft.com/office/drawing/2014/main" id="{B981FF8D-56B3-7EA7-1719-1928C7EA854B}"/>
              </a:ext>
            </a:extLst>
          </p:cNvPr>
          <p:cNvSpPr txBox="1"/>
          <p:nvPr/>
        </p:nvSpPr>
        <p:spPr>
          <a:xfrm>
            <a:off x="6186635" y="2057630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WAF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87" name="Graphic 8" descr="AWS WAF service icon.">
            <a:extLst>
              <a:ext uri="{FF2B5EF4-FFF2-40B4-BE49-F238E27FC236}">
                <a16:creationId xmlns:a16="http://schemas.microsoft.com/office/drawing/2014/main" id="{C9EEF494-53F0-E051-D2A7-945427E1B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 bwMode="auto">
          <a:xfrm>
            <a:off x="6305502" y="1856335"/>
            <a:ext cx="159758" cy="1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88" name="Graphic 19" descr="Amazon GuardDuty service icon.">
            <a:extLst>
              <a:ext uri="{FF2B5EF4-FFF2-40B4-BE49-F238E27FC236}">
                <a16:creationId xmlns:a16="http://schemas.microsoft.com/office/drawing/2014/main" id="{904CA839-4B2C-AC38-61DC-CEA635E98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 bwMode="auto">
          <a:xfrm>
            <a:off x="6849201" y="1861661"/>
            <a:ext cx="159758" cy="1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89" name="TextBox 8688">
            <a:extLst>
              <a:ext uri="{FF2B5EF4-FFF2-40B4-BE49-F238E27FC236}">
                <a16:creationId xmlns:a16="http://schemas.microsoft.com/office/drawing/2014/main" id="{1C460CFD-4DF2-ECC1-70ED-8ECC7D52AFAB}"/>
              </a:ext>
            </a:extLst>
          </p:cNvPr>
          <p:cNvSpPr txBox="1"/>
          <p:nvPr/>
        </p:nvSpPr>
        <p:spPr>
          <a:xfrm>
            <a:off x="6645173" y="2065767"/>
            <a:ext cx="54043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GuardDuty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0" name="Graphic 17" descr="Amazon CloudWatch service icon.">
            <a:extLst>
              <a:ext uri="{FF2B5EF4-FFF2-40B4-BE49-F238E27FC236}">
                <a16:creationId xmlns:a16="http://schemas.microsoft.com/office/drawing/2014/main" id="{95EA1D7A-D6AD-87C3-FF32-1516224E9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 bwMode="auto">
          <a:xfrm>
            <a:off x="6849201" y="2342515"/>
            <a:ext cx="163816" cy="163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91" name="TextBox 8690">
            <a:extLst>
              <a:ext uri="{FF2B5EF4-FFF2-40B4-BE49-F238E27FC236}">
                <a16:creationId xmlns:a16="http://schemas.microsoft.com/office/drawing/2014/main" id="{8570C37F-C537-4691-88D5-AE3426FA28DD}"/>
              </a:ext>
            </a:extLst>
          </p:cNvPr>
          <p:cNvSpPr txBox="1"/>
          <p:nvPr/>
        </p:nvSpPr>
        <p:spPr>
          <a:xfrm>
            <a:off x="6679294" y="2578123"/>
            <a:ext cx="535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CloudWatch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2" name="Graphic 8" descr="AWS Config service icon.">
            <a:extLst>
              <a:ext uri="{FF2B5EF4-FFF2-40B4-BE49-F238E27FC236}">
                <a16:creationId xmlns:a16="http://schemas.microsoft.com/office/drawing/2014/main" id="{938F5D32-42DC-2E98-19B1-BD6F201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 bwMode="auto">
          <a:xfrm>
            <a:off x="6849201" y="2809598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93" name="TextBox 8692">
            <a:extLst>
              <a:ext uri="{FF2B5EF4-FFF2-40B4-BE49-F238E27FC236}">
                <a16:creationId xmlns:a16="http://schemas.microsoft.com/office/drawing/2014/main" id="{CDCAC019-98D6-0E65-C555-A4255371CDC1}"/>
              </a:ext>
            </a:extLst>
          </p:cNvPr>
          <p:cNvSpPr txBox="1"/>
          <p:nvPr/>
        </p:nvSpPr>
        <p:spPr>
          <a:xfrm>
            <a:off x="6687530" y="3024585"/>
            <a:ext cx="535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Config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4" name="Graphic 20" descr="AWS Certificate Manager (ACM) service icon.">
            <a:extLst>
              <a:ext uri="{FF2B5EF4-FFF2-40B4-BE49-F238E27FC236}">
                <a16:creationId xmlns:a16="http://schemas.microsoft.com/office/drawing/2014/main" id="{7852B9C2-7612-5FB3-6D2A-3D2050A4A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 bwMode="auto">
          <a:xfrm>
            <a:off x="6849201" y="3259822"/>
            <a:ext cx="167546" cy="167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95" name="TextBox 8694">
            <a:extLst>
              <a:ext uri="{FF2B5EF4-FFF2-40B4-BE49-F238E27FC236}">
                <a16:creationId xmlns:a16="http://schemas.microsoft.com/office/drawing/2014/main" id="{202E2381-7027-B6B4-692E-56CD813FFF86}"/>
              </a:ext>
            </a:extLst>
          </p:cNvPr>
          <p:cNvSpPr txBox="1"/>
          <p:nvPr/>
        </p:nvSpPr>
        <p:spPr>
          <a:xfrm>
            <a:off x="6810194" y="3484145"/>
            <a:ext cx="2432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ACM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96" name="TextBox 8695">
            <a:extLst>
              <a:ext uri="{FF2B5EF4-FFF2-40B4-BE49-F238E27FC236}">
                <a16:creationId xmlns:a16="http://schemas.microsoft.com/office/drawing/2014/main" id="{12BEAC71-0C91-DCD0-FB0D-2BEBEF46DBBB}"/>
              </a:ext>
            </a:extLst>
          </p:cNvPr>
          <p:cNvSpPr txBox="1"/>
          <p:nvPr/>
        </p:nvSpPr>
        <p:spPr>
          <a:xfrm>
            <a:off x="6885186" y="1342986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Route53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97" name="TextBox 8696">
            <a:extLst>
              <a:ext uri="{FF2B5EF4-FFF2-40B4-BE49-F238E27FC236}">
                <a16:creationId xmlns:a16="http://schemas.microsoft.com/office/drawing/2014/main" id="{7AAB4045-A7CB-3DA1-DB56-8ABE1E2B41F8}"/>
              </a:ext>
            </a:extLst>
          </p:cNvPr>
          <p:cNvSpPr txBox="1"/>
          <p:nvPr/>
        </p:nvSpPr>
        <p:spPr>
          <a:xfrm>
            <a:off x="6569973" y="1350449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WAF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8" name="Graphic 8" descr="AWS WAF service icon.">
            <a:extLst>
              <a:ext uri="{FF2B5EF4-FFF2-40B4-BE49-F238E27FC236}">
                <a16:creationId xmlns:a16="http://schemas.microsoft.com/office/drawing/2014/main" id="{D6362DCC-BA46-640A-BA3A-B4BB3FAF6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 bwMode="auto">
          <a:xfrm>
            <a:off x="6687530" y="1153856"/>
            <a:ext cx="173356" cy="17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99" name="그림 8698">
            <a:extLst>
              <a:ext uri="{FF2B5EF4-FFF2-40B4-BE49-F238E27FC236}">
                <a16:creationId xmlns:a16="http://schemas.microsoft.com/office/drawing/2014/main" id="{6012BC95-D40C-D3B6-ABB5-9281498DBB8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380" y="1602181"/>
            <a:ext cx="199202" cy="199202"/>
          </a:xfrm>
          <a:prstGeom prst="rect">
            <a:avLst/>
          </a:prstGeom>
        </p:spPr>
      </p:pic>
      <p:sp>
        <p:nvSpPr>
          <p:cNvPr id="8700" name="TextBox 8699">
            <a:extLst>
              <a:ext uri="{FF2B5EF4-FFF2-40B4-BE49-F238E27FC236}">
                <a16:creationId xmlns:a16="http://schemas.microsoft.com/office/drawing/2014/main" id="{FB1EF461-93BC-D774-5137-DED3186EA91E}"/>
              </a:ext>
            </a:extLst>
          </p:cNvPr>
          <p:cNvSpPr txBox="1"/>
          <p:nvPr/>
        </p:nvSpPr>
        <p:spPr>
          <a:xfrm>
            <a:off x="6426099" y="1670506"/>
            <a:ext cx="2432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01" name="Graphic 19" descr="Amazon CloudFront service icon.">
            <a:extLst>
              <a:ext uri="{FF2B5EF4-FFF2-40B4-BE49-F238E27FC236}">
                <a16:creationId xmlns:a16="http://schemas.microsoft.com/office/drawing/2014/main" id="{38749E8F-3726-1905-DA07-AF67E2C1A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 bwMode="auto">
          <a:xfrm>
            <a:off x="6305502" y="1153687"/>
            <a:ext cx="173356" cy="17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2" name="TextBox 8701">
            <a:extLst>
              <a:ext uri="{FF2B5EF4-FFF2-40B4-BE49-F238E27FC236}">
                <a16:creationId xmlns:a16="http://schemas.microsoft.com/office/drawing/2014/main" id="{E15E0276-F37F-B9D4-0E41-58E27CA9CC12}"/>
              </a:ext>
            </a:extLst>
          </p:cNvPr>
          <p:cNvSpPr txBox="1"/>
          <p:nvPr/>
        </p:nvSpPr>
        <p:spPr>
          <a:xfrm>
            <a:off x="6126477" y="1349080"/>
            <a:ext cx="52559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CloudFront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03" name="그림 8702">
            <a:extLst>
              <a:ext uri="{FF2B5EF4-FFF2-40B4-BE49-F238E27FC236}">
                <a16:creationId xmlns:a16="http://schemas.microsoft.com/office/drawing/2014/main" id="{F67C5148-7228-8C07-73BC-7F42DF057D2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186" y="5211529"/>
            <a:ext cx="162032" cy="162032"/>
          </a:xfrm>
          <a:prstGeom prst="rect">
            <a:avLst/>
          </a:prstGeom>
        </p:spPr>
      </p:pic>
      <p:pic>
        <p:nvPicPr>
          <p:cNvPr id="8320" name="그림 8319">
            <a:extLst>
              <a:ext uri="{FF2B5EF4-FFF2-40B4-BE49-F238E27FC236}">
                <a16:creationId xmlns:a16="http://schemas.microsoft.com/office/drawing/2014/main" id="{32490319-E57C-C12A-2B44-AD932C4E9165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597" y="5217246"/>
            <a:ext cx="162032" cy="162032"/>
          </a:xfrm>
          <a:prstGeom prst="rect">
            <a:avLst/>
          </a:prstGeom>
        </p:spPr>
      </p:pic>
      <p:cxnSp>
        <p:nvCxnSpPr>
          <p:cNvPr id="8321" name="꺾인 연결선[E] 8320">
            <a:extLst>
              <a:ext uri="{FF2B5EF4-FFF2-40B4-BE49-F238E27FC236}">
                <a16:creationId xmlns:a16="http://schemas.microsoft.com/office/drawing/2014/main" id="{BDCBA0F3-878B-2945-F96D-EAA79BBFDBA4}"/>
              </a:ext>
            </a:extLst>
          </p:cNvPr>
          <p:cNvCxnSpPr>
            <a:cxnSpLocks/>
            <a:stCxn id="8703" idx="2"/>
            <a:endCxn id="8389" idx="1"/>
          </p:cNvCxnSpPr>
          <p:nvPr/>
        </p:nvCxnSpPr>
        <p:spPr>
          <a:xfrm rot="16200000" flipH="1">
            <a:off x="2747575" y="5600188"/>
            <a:ext cx="783720" cy="330466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2" name="꺾인 연결선[E] 8321">
            <a:extLst>
              <a:ext uri="{FF2B5EF4-FFF2-40B4-BE49-F238E27FC236}">
                <a16:creationId xmlns:a16="http://schemas.microsoft.com/office/drawing/2014/main" id="{B2655DA0-BBB1-F142-F46B-8D6191CA6DC2}"/>
              </a:ext>
            </a:extLst>
          </p:cNvPr>
          <p:cNvCxnSpPr>
            <a:cxnSpLocks/>
            <a:stCxn id="8320" idx="2"/>
            <a:endCxn id="8387" idx="3"/>
          </p:cNvCxnSpPr>
          <p:nvPr/>
        </p:nvCxnSpPr>
        <p:spPr>
          <a:xfrm rot="5400000">
            <a:off x="3467665" y="5578332"/>
            <a:ext cx="778003" cy="379894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23" name="그림 8322">
            <a:extLst>
              <a:ext uri="{FF2B5EF4-FFF2-40B4-BE49-F238E27FC236}">
                <a16:creationId xmlns:a16="http://schemas.microsoft.com/office/drawing/2014/main" id="{4F40DC29-6BF8-501B-B0A0-623E5CB4D1FA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957571" y="5640037"/>
            <a:ext cx="162032" cy="162032"/>
          </a:xfrm>
          <a:prstGeom prst="rect">
            <a:avLst/>
          </a:prstGeom>
        </p:spPr>
      </p:pic>
      <p:pic>
        <p:nvPicPr>
          <p:cNvPr id="8324" name="그림 8323">
            <a:extLst>
              <a:ext uri="{FF2B5EF4-FFF2-40B4-BE49-F238E27FC236}">
                <a16:creationId xmlns:a16="http://schemas.microsoft.com/office/drawing/2014/main" id="{B29C361A-6563-9AB8-E649-BF864D741C95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880410" y="5641608"/>
            <a:ext cx="162032" cy="162032"/>
          </a:xfrm>
          <a:prstGeom prst="rect">
            <a:avLst/>
          </a:prstGeom>
        </p:spPr>
      </p:pic>
      <p:sp>
        <p:nvSpPr>
          <p:cNvPr id="8326" name="모서리가 둥근 직사각형 8325">
            <a:extLst>
              <a:ext uri="{FF2B5EF4-FFF2-40B4-BE49-F238E27FC236}">
                <a16:creationId xmlns:a16="http://schemas.microsoft.com/office/drawing/2014/main" id="{7A7DF1E2-D269-A9F5-4C0F-3145BC72A433}"/>
              </a:ext>
            </a:extLst>
          </p:cNvPr>
          <p:cNvSpPr/>
          <p:nvPr/>
        </p:nvSpPr>
        <p:spPr>
          <a:xfrm>
            <a:off x="3551789" y="6234455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29" name="TextBox 8328">
            <a:extLst>
              <a:ext uri="{FF2B5EF4-FFF2-40B4-BE49-F238E27FC236}">
                <a16:creationId xmlns:a16="http://schemas.microsoft.com/office/drawing/2014/main" id="{FBE7C4C0-0532-281A-0C95-6E9D0DD9A99B}"/>
              </a:ext>
            </a:extLst>
          </p:cNvPr>
          <p:cNvSpPr txBox="1"/>
          <p:nvPr/>
        </p:nvSpPr>
        <p:spPr>
          <a:xfrm>
            <a:off x="7893891" y="4756084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30" name="TextBox 8329">
            <a:extLst>
              <a:ext uri="{FF2B5EF4-FFF2-40B4-BE49-F238E27FC236}">
                <a16:creationId xmlns:a16="http://schemas.microsoft.com/office/drawing/2014/main" id="{58C4A122-385D-4C57-5CCD-67BAB5215B7F}"/>
              </a:ext>
            </a:extLst>
          </p:cNvPr>
          <p:cNvSpPr txBox="1"/>
          <p:nvPr/>
        </p:nvSpPr>
        <p:spPr>
          <a:xfrm>
            <a:off x="3047027" y="6236823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31" name="TextBox 8330">
            <a:extLst>
              <a:ext uri="{FF2B5EF4-FFF2-40B4-BE49-F238E27FC236}">
                <a16:creationId xmlns:a16="http://schemas.microsoft.com/office/drawing/2014/main" id="{A372E8EA-705C-01C8-A791-6F5D63D48EE9}"/>
              </a:ext>
            </a:extLst>
          </p:cNvPr>
          <p:cNvSpPr txBox="1"/>
          <p:nvPr/>
        </p:nvSpPr>
        <p:spPr>
          <a:xfrm>
            <a:off x="5522247" y="1398616"/>
            <a:ext cx="298922" cy="138499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C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8332" name="직선 연결선[R] 8331">
            <a:extLst>
              <a:ext uri="{FF2B5EF4-FFF2-40B4-BE49-F238E27FC236}">
                <a16:creationId xmlns:a16="http://schemas.microsoft.com/office/drawing/2014/main" id="{57731CE8-4B63-63B2-32C0-915CD58D8CDB}"/>
              </a:ext>
            </a:extLst>
          </p:cNvPr>
          <p:cNvCxnSpPr>
            <a:cxnSpLocks/>
            <a:stCxn id="8701" idx="2"/>
            <a:endCxn id="8699" idx="0"/>
          </p:cNvCxnSpPr>
          <p:nvPr/>
        </p:nvCxnSpPr>
        <p:spPr>
          <a:xfrm flipH="1">
            <a:off x="6391981" y="1327043"/>
            <a:ext cx="199" cy="275138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33" name="그림 8332">
            <a:extLst>
              <a:ext uri="{FF2B5EF4-FFF2-40B4-BE49-F238E27FC236}">
                <a16:creationId xmlns:a16="http://schemas.microsoft.com/office/drawing/2014/main" id="{C7110193-79A9-086D-9EF8-5727C48B1AA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255" y="4441205"/>
            <a:ext cx="231583" cy="231583"/>
          </a:xfrm>
          <a:prstGeom prst="rect">
            <a:avLst/>
          </a:prstGeom>
        </p:spPr>
      </p:pic>
      <p:cxnSp>
        <p:nvCxnSpPr>
          <p:cNvPr id="8336" name="꺾인 연결선[E] 8335">
            <a:extLst>
              <a:ext uri="{FF2B5EF4-FFF2-40B4-BE49-F238E27FC236}">
                <a16:creationId xmlns:a16="http://schemas.microsoft.com/office/drawing/2014/main" id="{F148DE90-4525-2AA7-3261-F5678555F531}"/>
              </a:ext>
            </a:extLst>
          </p:cNvPr>
          <p:cNvCxnSpPr>
            <a:cxnSpLocks/>
            <a:stCxn id="8333" idx="3"/>
            <a:endCxn id="8357" idx="2"/>
          </p:cNvCxnSpPr>
          <p:nvPr/>
        </p:nvCxnSpPr>
        <p:spPr>
          <a:xfrm flipV="1">
            <a:off x="6170838" y="4438105"/>
            <a:ext cx="758242" cy="118892"/>
          </a:xfrm>
          <a:prstGeom prst="bentConnector2">
            <a:avLst/>
          </a:prstGeom>
          <a:ln w="19050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43" name="그림 8342">
            <a:extLst>
              <a:ext uri="{FF2B5EF4-FFF2-40B4-BE49-F238E27FC236}">
                <a16:creationId xmlns:a16="http://schemas.microsoft.com/office/drawing/2014/main" id="{0223CAFE-6842-1BE6-D3EC-34E93009B900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819532" y="5895468"/>
            <a:ext cx="454162" cy="126156"/>
          </a:xfrm>
          <a:prstGeom prst="rect">
            <a:avLst/>
          </a:prstGeom>
        </p:spPr>
      </p:pic>
      <p:pic>
        <p:nvPicPr>
          <p:cNvPr id="8344" name="그림 8343">
            <a:extLst>
              <a:ext uri="{FF2B5EF4-FFF2-40B4-BE49-F238E27FC236}">
                <a16:creationId xmlns:a16="http://schemas.microsoft.com/office/drawing/2014/main" id="{9CB4FC8E-7FAF-DDCF-4C8B-38C50361BAEB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718317" y="5893465"/>
            <a:ext cx="454162" cy="126156"/>
          </a:xfrm>
          <a:prstGeom prst="rect">
            <a:avLst/>
          </a:prstGeom>
        </p:spPr>
      </p:pic>
      <p:cxnSp>
        <p:nvCxnSpPr>
          <p:cNvPr id="8355" name="구부러진 연결선[U] 8354">
            <a:extLst>
              <a:ext uri="{FF2B5EF4-FFF2-40B4-BE49-F238E27FC236}">
                <a16:creationId xmlns:a16="http://schemas.microsoft.com/office/drawing/2014/main" id="{01A5A35B-BC7D-F80A-7E45-01E6A094760C}"/>
              </a:ext>
            </a:extLst>
          </p:cNvPr>
          <p:cNvCxnSpPr>
            <a:cxnSpLocks/>
            <a:stCxn id="8515" idx="0"/>
            <a:endCxn id="8687" idx="0"/>
          </p:cNvCxnSpPr>
          <p:nvPr/>
        </p:nvCxnSpPr>
        <p:spPr>
          <a:xfrm rot="16200000" flipH="1">
            <a:off x="5632018" y="1102972"/>
            <a:ext cx="11745" cy="1494980"/>
          </a:xfrm>
          <a:prstGeom prst="curvedConnector3">
            <a:avLst>
              <a:gd name="adj1" fmla="val -194636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56" name="Rectangle 40">
            <a:extLst>
              <a:ext uri="{FF2B5EF4-FFF2-40B4-BE49-F238E27FC236}">
                <a16:creationId xmlns:a16="http://schemas.microsoft.com/office/drawing/2014/main" id="{7587BEC0-3938-2087-19CC-18115B1E8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0362" y="1096006"/>
            <a:ext cx="1234627" cy="402472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57" name="그림 8356">
            <a:extLst>
              <a:ext uri="{FF2B5EF4-FFF2-40B4-BE49-F238E27FC236}">
                <a16:creationId xmlns:a16="http://schemas.microsoft.com/office/drawing/2014/main" id="{35355BF9-F7CB-53A2-A893-21471D5B9F3D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609477" y="4291781"/>
            <a:ext cx="639205" cy="146324"/>
          </a:xfrm>
          <a:prstGeom prst="rect">
            <a:avLst/>
          </a:prstGeom>
        </p:spPr>
      </p:pic>
      <p:pic>
        <p:nvPicPr>
          <p:cNvPr id="8358" name="그림 8357">
            <a:extLst>
              <a:ext uri="{FF2B5EF4-FFF2-40B4-BE49-F238E27FC236}">
                <a16:creationId xmlns:a16="http://schemas.microsoft.com/office/drawing/2014/main" id="{60FCD15C-9514-85D2-F401-7920E50FCD5E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609477" y="1434129"/>
            <a:ext cx="649945" cy="147011"/>
          </a:xfrm>
          <a:prstGeom prst="rect">
            <a:avLst/>
          </a:prstGeom>
        </p:spPr>
      </p:pic>
      <p:pic>
        <p:nvPicPr>
          <p:cNvPr id="8359" name="그림 8358">
            <a:extLst>
              <a:ext uri="{FF2B5EF4-FFF2-40B4-BE49-F238E27FC236}">
                <a16:creationId xmlns:a16="http://schemas.microsoft.com/office/drawing/2014/main" id="{55D494F8-E5F5-EFA6-9A34-3CF9935554BF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183260" y="3126354"/>
            <a:ext cx="575175" cy="159386"/>
          </a:xfrm>
          <a:prstGeom prst="rect">
            <a:avLst/>
          </a:prstGeom>
        </p:spPr>
      </p:pic>
      <p:pic>
        <p:nvPicPr>
          <p:cNvPr id="8362" name="Picture 2" descr="Datadog | Slack App Directory">
            <a:extLst>
              <a:ext uri="{FF2B5EF4-FFF2-40B4-BE49-F238E27FC236}">
                <a16:creationId xmlns:a16="http://schemas.microsoft.com/office/drawing/2014/main" id="{BBAF0520-4E1E-1A80-18B6-F7FA0FF86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528" y="3179737"/>
            <a:ext cx="183850" cy="183850"/>
          </a:xfrm>
          <a:prstGeom prst="roundRect">
            <a:avLst>
              <a:gd name="adj" fmla="val 1065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63" name="그림 8362">
            <a:extLst>
              <a:ext uri="{FF2B5EF4-FFF2-40B4-BE49-F238E27FC236}">
                <a16:creationId xmlns:a16="http://schemas.microsoft.com/office/drawing/2014/main" id="{6FC0D2FA-E59F-B821-A4AA-62807E513C9B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553" y="4791922"/>
            <a:ext cx="216000" cy="216000"/>
          </a:xfrm>
          <a:prstGeom prst="rect">
            <a:avLst/>
          </a:prstGeom>
        </p:spPr>
      </p:pic>
      <p:grpSp>
        <p:nvGrpSpPr>
          <p:cNvPr id="8364" name="그룹 8363">
            <a:extLst>
              <a:ext uri="{FF2B5EF4-FFF2-40B4-BE49-F238E27FC236}">
                <a16:creationId xmlns:a16="http://schemas.microsoft.com/office/drawing/2014/main" id="{2DBEB6F7-B03E-3536-DC62-86A7A5470318}"/>
              </a:ext>
            </a:extLst>
          </p:cNvPr>
          <p:cNvGrpSpPr/>
          <p:nvPr/>
        </p:nvGrpSpPr>
        <p:grpSpPr>
          <a:xfrm>
            <a:off x="6955026" y="5562334"/>
            <a:ext cx="832847" cy="288328"/>
            <a:chOff x="4024949" y="1984841"/>
            <a:chExt cx="832847" cy="288328"/>
          </a:xfrm>
        </p:grpSpPr>
        <p:sp>
          <p:nvSpPr>
            <p:cNvPr id="8367" name="Rectangle 39" descr="VPC group border">
              <a:extLst>
                <a:ext uri="{FF2B5EF4-FFF2-40B4-BE49-F238E27FC236}">
                  <a16:creationId xmlns:a16="http://schemas.microsoft.com/office/drawing/2014/main" id="{A0E9F60D-5DAD-A720-2033-83A8FFF2DACE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68" name="Graphic 57" descr="VPC group icon.">
              <a:extLst>
                <a:ext uri="{FF2B5EF4-FFF2-40B4-BE49-F238E27FC236}">
                  <a16:creationId xmlns:a16="http://schemas.microsoft.com/office/drawing/2014/main" id="{47190899-FA4F-D66D-2F3A-53462081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369" name="TextBox 8368">
              <a:extLst>
                <a:ext uri="{FF2B5EF4-FFF2-40B4-BE49-F238E27FC236}">
                  <a16:creationId xmlns:a16="http://schemas.microsoft.com/office/drawing/2014/main" id="{BDCDB935-1A04-C0B1-A964-3F2B2A3E82E8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Seoul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grpSp>
        <p:nvGrpSpPr>
          <p:cNvPr id="8370" name="그룹 8369">
            <a:extLst>
              <a:ext uri="{FF2B5EF4-FFF2-40B4-BE49-F238E27FC236}">
                <a16:creationId xmlns:a16="http://schemas.microsoft.com/office/drawing/2014/main" id="{7969078F-78DD-BA13-D1B7-C7E6E8177F58}"/>
              </a:ext>
            </a:extLst>
          </p:cNvPr>
          <p:cNvGrpSpPr/>
          <p:nvPr/>
        </p:nvGrpSpPr>
        <p:grpSpPr>
          <a:xfrm>
            <a:off x="6955026" y="5160280"/>
            <a:ext cx="832847" cy="288328"/>
            <a:chOff x="4024949" y="1984841"/>
            <a:chExt cx="832847" cy="288328"/>
          </a:xfrm>
        </p:grpSpPr>
        <p:sp>
          <p:nvSpPr>
            <p:cNvPr id="8372" name="Rectangle 39" descr="VPC group border">
              <a:extLst>
                <a:ext uri="{FF2B5EF4-FFF2-40B4-BE49-F238E27FC236}">
                  <a16:creationId xmlns:a16="http://schemas.microsoft.com/office/drawing/2014/main" id="{5F699692-4158-1D4C-641F-4DC36F975D32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73" name="Graphic 57" descr="VPC group icon.">
              <a:extLst>
                <a:ext uri="{FF2B5EF4-FFF2-40B4-BE49-F238E27FC236}">
                  <a16:creationId xmlns:a16="http://schemas.microsoft.com/office/drawing/2014/main" id="{9E293478-EC3E-79E3-0D72-55C4A2DB4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374" name="TextBox 8373">
              <a:extLst>
                <a:ext uri="{FF2B5EF4-FFF2-40B4-BE49-F238E27FC236}">
                  <a16:creationId xmlns:a16="http://schemas.microsoft.com/office/drawing/2014/main" id="{2DDF3B8D-4517-CBF5-5CC5-24835A7CAF93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Central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grpSp>
        <p:nvGrpSpPr>
          <p:cNvPr id="8376" name="그룹 8375">
            <a:extLst>
              <a:ext uri="{FF2B5EF4-FFF2-40B4-BE49-F238E27FC236}">
                <a16:creationId xmlns:a16="http://schemas.microsoft.com/office/drawing/2014/main" id="{6D72CEB2-4863-B7DA-BC41-4219B62B4BDB}"/>
              </a:ext>
            </a:extLst>
          </p:cNvPr>
          <p:cNvGrpSpPr/>
          <p:nvPr/>
        </p:nvGrpSpPr>
        <p:grpSpPr>
          <a:xfrm>
            <a:off x="6955026" y="4758226"/>
            <a:ext cx="832847" cy="288328"/>
            <a:chOff x="4024949" y="1984841"/>
            <a:chExt cx="832847" cy="288328"/>
          </a:xfrm>
        </p:grpSpPr>
        <p:sp>
          <p:nvSpPr>
            <p:cNvPr id="8378" name="Rectangle 39" descr="VPC group border">
              <a:extLst>
                <a:ext uri="{FF2B5EF4-FFF2-40B4-BE49-F238E27FC236}">
                  <a16:creationId xmlns:a16="http://schemas.microsoft.com/office/drawing/2014/main" id="{82F68ED6-8185-B1A4-7D49-8C67ECBD0463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79" name="Graphic 57" descr="VPC group icon.">
              <a:extLst>
                <a:ext uri="{FF2B5EF4-FFF2-40B4-BE49-F238E27FC236}">
                  <a16:creationId xmlns:a16="http://schemas.microsoft.com/office/drawing/2014/main" id="{EBA44CFC-D079-824B-C9F9-463A22EA8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380" name="TextBox 8379">
              <a:extLst>
                <a:ext uri="{FF2B5EF4-FFF2-40B4-BE49-F238E27FC236}">
                  <a16:creationId xmlns:a16="http://schemas.microsoft.com/office/drawing/2014/main" id="{017B9017-E289-29C7-09BA-2999A87716D7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London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cxnSp>
        <p:nvCxnSpPr>
          <p:cNvPr id="8381" name="꺾인 연결선[E] 8380">
            <a:extLst>
              <a:ext uri="{FF2B5EF4-FFF2-40B4-BE49-F238E27FC236}">
                <a16:creationId xmlns:a16="http://schemas.microsoft.com/office/drawing/2014/main" id="{195ED611-82DB-7ECA-6E20-45D4CA30AF51}"/>
              </a:ext>
            </a:extLst>
          </p:cNvPr>
          <p:cNvCxnSpPr>
            <a:cxnSpLocks/>
            <a:stCxn id="8363" idx="3"/>
            <a:endCxn id="8373" idx="1"/>
          </p:cNvCxnSpPr>
          <p:nvPr/>
        </p:nvCxnSpPr>
        <p:spPr>
          <a:xfrm>
            <a:off x="6161553" y="4899922"/>
            <a:ext cx="793473" cy="404358"/>
          </a:xfrm>
          <a:prstGeom prst="bentConnector3">
            <a:avLst>
              <a:gd name="adj1" fmla="val 5000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2" name="직선 연결선[R] 8381">
            <a:extLst>
              <a:ext uri="{FF2B5EF4-FFF2-40B4-BE49-F238E27FC236}">
                <a16:creationId xmlns:a16="http://schemas.microsoft.com/office/drawing/2014/main" id="{3778A614-47BF-CF21-14F7-88980CA7FF75}"/>
              </a:ext>
            </a:extLst>
          </p:cNvPr>
          <p:cNvCxnSpPr>
            <a:cxnSpLocks/>
            <a:stCxn id="8363" idx="3"/>
            <a:endCxn id="8379" idx="1"/>
          </p:cNvCxnSpPr>
          <p:nvPr/>
        </p:nvCxnSpPr>
        <p:spPr>
          <a:xfrm>
            <a:off x="6161553" y="4899922"/>
            <a:ext cx="793473" cy="2304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3" name="꺾인 연결선[E] 8382">
            <a:extLst>
              <a:ext uri="{FF2B5EF4-FFF2-40B4-BE49-F238E27FC236}">
                <a16:creationId xmlns:a16="http://schemas.microsoft.com/office/drawing/2014/main" id="{15301631-91A7-2984-A226-C701C4C3D579}"/>
              </a:ext>
            </a:extLst>
          </p:cNvPr>
          <p:cNvCxnSpPr>
            <a:cxnSpLocks/>
            <a:stCxn id="8363" idx="3"/>
            <a:endCxn id="8368" idx="1"/>
          </p:cNvCxnSpPr>
          <p:nvPr/>
        </p:nvCxnSpPr>
        <p:spPr>
          <a:xfrm>
            <a:off x="6161553" y="4899922"/>
            <a:ext cx="793473" cy="806412"/>
          </a:xfrm>
          <a:prstGeom prst="bentConnector3">
            <a:avLst>
              <a:gd name="adj1" fmla="val 5000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84" name="그림 8383">
            <a:extLst>
              <a:ext uri="{FF2B5EF4-FFF2-40B4-BE49-F238E27FC236}">
                <a16:creationId xmlns:a16="http://schemas.microsoft.com/office/drawing/2014/main" id="{D530E76F-676E-5798-A2B7-FB3AF92199C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323820" y="5628555"/>
            <a:ext cx="372357" cy="153671"/>
          </a:xfrm>
          <a:prstGeom prst="rect">
            <a:avLst/>
          </a:prstGeom>
        </p:spPr>
      </p:pic>
      <p:pic>
        <p:nvPicPr>
          <p:cNvPr id="8385" name="그림 8384">
            <a:extLst>
              <a:ext uri="{FF2B5EF4-FFF2-40B4-BE49-F238E27FC236}">
                <a16:creationId xmlns:a16="http://schemas.microsoft.com/office/drawing/2014/main" id="{2123208F-C1B6-1EE0-7476-452F44E1E1C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323756" y="4842084"/>
            <a:ext cx="372357" cy="153671"/>
          </a:xfrm>
          <a:prstGeom prst="rect">
            <a:avLst/>
          </a:prstGeom>
        </p:spPr>
      </p:pic>
      <p:cxnSp>
        <p:nvCxnSpPr>
          <p:cNvPr id="8386" name="직선 연결선[R] 8385">
            <a:extLst>
              <a:ext uri="{FF2B5EF4-FFF2-40B4-BE49-F238E27FC236}">
                <a16:creationId xmlns:a16="http://schemas.microsoft.com/office/drawing/2014/main" id="{1B010B72-4FC5-0A07-46EF-A74F4B42F247}"/>
              </a:ext>
            </a:extLst>
          </p:cNvPr>
          <p:cNvCxnSpPr>
            <a:cxnSpLocks/>
            <a:stCxn id="8701" idx="3"/>
            <a:endCxn id="8698" idx="1"/>
          </p:cNvCxnSpPr>
          <p:nvPr/>
        </p:nvCxnSpPr>
        <p:spPr>
          <a:xfrm>
            <a:off x="6478858" y="1240365"/>
            <a:ext cx="208672" cy="169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87" name="모서리가 둥근 직사각형 8386">
            <a:extLst>
              <a:ext uri="{FF2B5EF4-FFF2-40B4-BE49-F238E27FC236}">
                <a16:creationId xmlns:a16="http://schemas.microsoft.com/office/drawing/2014/main" id="{9BC24BFA-B9D6-8E16-A1F2-B5611202EB65}"/>
              </a:ext>
            </a:extLst>
          </p:cNvPr>
          <p:cNvSpPr/>
          <p:nvPr/>
        </p:nvSpPr>
        <p:spPr>
          <a:xfrm>
            <a:off x="3554550" y="6097900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89" name="모서리가 둥근 직사각형 8388">
            <a:extLst>
              <a:ext uri="{FF2B5EF4-FFF2-40B4-BE49-F238E27FC236}">
                <a16:creationId xmlns:a16="http://schemas.microsoft.com/office/drawing/2014/main" id="{22EC118D-4238-B4D3-807C-56E53839A6AB}"/>
              </a:ext>
            </a:extLst>
          </p:cNvPr>
          <p:cNvSpPr/>
          <p:nvPr/>
        </p:nvSpPr>
        <p:spPr>
          <a:xfrm>
            <a:off x="3304668" y="6097900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392" name="그림 8391">
            <a:extLst>
              <a:ext uri="{FF2B5EF4-FFF2-40B4-BE49-F238E27FC236}">
                <a16:creationId xmlns:a16="http://schemas.microsoft.com/office/drawing/2014/main" id="{5446830C-966F-8A95-9839-4849CDBAA30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4803355"/>
            <a:ext cx="216000" cy="216000"/>
          </a:xfrm>
          <a:prstGeom prst="rect">
            <a:avLst/>
          </a:prstGeom>
        </p:spPr>
      </p:pic>
      <p:pic>
        <p:nvPicPr>
          <p:cNvPr id="8394" name="그림 8393">
            <a:extLst>
              <a:ext uri="{FF2B5EF4-FFF2-40B4-BE49-F238E27FC236}">
                <a16:creationId xmlns:a16="http://schemas.microsoft.com/office/drawing/2014/main" id="{CF0C16D9-3C3F-ABD3-47BE-08BABF338F6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5201757"/>
            <a:ext cx="216000" cy="216000"/>
          </a:xfrm>
          <a:prstGeom prst="rect">
            <a:avLst/>
          </a:prstGeom>
        </p:spPr>
      </p:pic>
      <p:pic>
        <p:nvPicPr>
          <p:cNvPr id="8401" name="그림 8400">
            <a:extLst>
              <a:ext uri="{FF2B5EF4-FFF2-40B4-BE49-F238E27FC236}">
                <a16:creationId xmlns:a16="http://schemas.microsoft.com/office/drawing/2014/main" id="{9EEA7C0E-E7C6-D17B-4A99-D89BCE65D32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5603832"/>
            <a:ext cx="216000" cy="216000"/>
          </a:xfrm>
          <a:prstGeom prst="rect">
            <a:avLst/>
          </a:prstGeom>
        </p:spPr>
      </p:pic>
      <p:pic>
        <p:nvPicPr>
          <p:cNvPr id="8402" name="그림 8401">
            <a:extLst>
              <a:ext uri="{FF2B5EF4-FFF2-40B4-BE49-F238E27FC236}">
                <a16:creationId xmlns:a16="http://schemas.microsoft.com/office/drawing/2014/main" id="{EBD89AE6-E0DD-F652-5652-A01C62019BC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21633" y="4798734"/>
            <a:ext cx="215999" cy="209998"/>
          </a:xfrm>
          <a:prstGeom prst="rect">
            <a:avLst/>
          </a:prstGeom>
        </p:spPr>
      </p:pic>
      <p:pic>
        <p:nvPicPr>
          <p:cNvPr id="8403" name="그림 8402">
            <a:extLst>
              <a:ext uri="{FF2B5EF4-FFF2-40B4-BE49-F238E27FC236}">
                <a16:creationId xmlns:a16="http://schemas.microsoft.com/office/drawing/2014/main" id="{B7FBD672-97D9-8CB6-168F-64699DFDDE16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07906" y="5205010"/>
            <a:ext cx="215999" cy="209998"/>
          </a:xfrm>
          <a:prstGeom prst="rect">
            <a:avLst/>
          </a:prstGeom>
        </p:spPr>
      </p:pic>
      <p:pic>
        <p:nvPicPr>
          <p:cNvPr id="8404" name="그림 8403">
            <a:extLst>
              <a:ext uri="{FF2B5EF4-FFF2-40B4-BE49-F238E27FC236}">
                <a16:creationId xmlns:a16="http://schemas.microsoft.com/office/drawing/2014/main" id="{6E19357B-ED76-724B-8058-B69948A6FF97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07906" y="5614893"/>
            <a:ext cx="215999" cy="209998"/>
          </a:xfrm>
          <a:prstGeom prst="rect">
            <a:avLst/>
          </a:prstGeom>
        </p:spPr>
      </p:pic>
      <p:pic>
        <p:nvPicPr>
          <p:cNvPr id="8407" name="그림 8406">
            <a:extLst>
              <a:ext uri="{FF2B5EF4-FFF2-40B4-BE49-F238E27FC236}">
                <a16:creationId xmlns:a16="http://schemas.microsoft.com/office/drawing/2014/main" id="{6A1F1220-8711-6EDB-EA92-678F21ADEC6A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323788" y="5243755"/>
            <a:ext cx="372357" cy="153671"/>
          </a:xfrm>
          <a:prstGeom prst="rect">
            <a:avLst/>
          </a:prstGeom>
        </p:spPr>
      </p:pic>
      <p:cxnSp>
        <p:nvCxnSpPr>
          <p:cNvPr id="8414" name="꺾인 연결선[E] 8413">
            <a:extLst>
              <a:ext uri="{FF2B5EF4-FFF2-40B4-BE49-F238E27FC236}">
                <a16:creationId xmlns:a16="http://schemas.microsoft.com/office/drawing/2014/main" id="{1D0D0D55-4C1A-9309-19A1-2E8A58FE36B3}"/>
              </a:ext>
            </a:extLst>
          </p:cNvPr>
          <p:cNvCxnSpPr>
            <a:cxnSpLocks/>
            <a:stCxn id="8402" idx="3"/>
            <a:endCxn id="8326" idx="3"/>
          </p:cNvCxnSpPr>
          <p:nvPr/>
        </p:nvCxnSpPr>
        <p:spPr>
          <a:xfrm flipH="1">
            <a:off x="3663958" y="4903733"/>
            <a:ext cx="4273674" cy="1390103"/>
          </a:xfrm>
          <a:prstGeom prst="bentConnector3">
            <a:avLst>
              <a:gd name="adj1" fmla="val -5349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5" name="꺾인 연결선[E] 8414">
            <a:extLst>
              <a:ext uri="{FF2B5EF4-FFF2-40B4-BE49-F238E27FC236}">
                <a16:creationId xmlns:a16="http://schemas.microsoft.com/office/drawing/2014/main" id="{27C6CF46-9310-4761-9BCE-5DE5D39CDD04}"/>
              </a:ext>
            </a:extLst>
          </p:cNvPr>
          <p:cNvCxnSpPr>
            <a:cxnSpLocks/>
            <a:stCxn id="8403" idx="3"/>
            <a:endCxn id="8326" idx="3"/>
          </p:cNvCxnSpPr>
          <p:nvPr/>
        </p:nvCxnSpPr>
        <p:spPr>
          <a:xfrm flipH="1">
            <a:off x="3663958" y="5310009"/>
            <a:ext cx="4259947" cy="983827"/>
          </a:xfrm>
          <a:prstGeom prst="bentConnector3">
            <a:avLst>
              <a:gd name="adj1" fmla="val -5643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7" name="꺾인 연결선[E] 8416">
            <a:extLst>
              <a:ext uri="{FF2B5EF4-FFF2-40B4-BE49-F238E27FC236}">
                <a16:creationId xmlns:a16="http://schemas.microsoft.com/office/drawing/2014/main" id="{6557CB77-3C71-6C55-9B6B-7CB6F265D77C}"/>
              </a:ext>
            </a:extLst>
          </p:cNvPr>
          <p:cNvCxnSpPr>
            <a:cxnSpLocks/>
            <a:stCxn id="8404" idx="3"/>
            <a:endCxn id="8326" idx="3"/>
          </p:cNvCxnSpPr>
          <p:nvPr/>
        </p:nvCxnSpPr>
        <p:spPr>
          <a:xfrm flipH="1">
            <a:off x="3663958" y="5719892"/>
            <a:ext cx="4259947" cy="573944"/>
          </a:xfrm>
          <a:prstGeom prst="bentConnector3">
            <a:avLst>
              <a:gd name="adj1" fmla="val -5643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19" name="그림 8418">
            <a:extLst>
              <a:ext uri="{FF2B5EF4-FFF2-40B4-BE49-F238E27FC236}">
                <a16:creationId xmlns:a16="http://schemas.microsoft.com/office/drawing/2014/main" id="{35A5124C-16FA-5B18-1911-E88C9A4A0587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811506" y="6208757"/>
            <a:ext cx="454162" cy="126156"/>
          </a:xfrm>
          <a:prstGeom prst="rect">
            <a:avLst/>
          </a:prstGeom>
        </p:spPr>
      </p:pic>
      <p:sp>
        <p:nvSpPr>
          <p:cNvPr id="8422" name="TextBox 8421">
            <a:extLst>
              <a:ext uri="{FF2B5EF4-FFF2-40B4-BE49-F238E27FC236}">
                <a16:creationId xmlns:a16="http://schemas.microsoft.com/office/drawing/2014/main" id="{592D4658-8F07-6674-2223-412E2AF1C1D5}"/>
              </a:ext>
            </a:extLst>
          </p:cNvPr>
          <p:cNvSpPr txBox="1"/>
          <p:nvPr/>
        </p:nvSpPr>
        <p:spPr>
          <a:xfrm>
            <a:off x="7887773" y="517470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423" name="TextBox 8422">
            <a:extLst>
              <a:ext uri="{FF2B5EF4-FFF2-40B4-BE49-F238E27FC236}">
                <a16:creationId xmlns:a16="http://schemas.microsoft.com/office/drawing/2014/main" id="{53494168-F785-B4E9-A7EA-458D1719FE6D}"/>
              </a:ext>
            </a:extLst>
          </p:cNvPr>
          <p:cNvSpPr txBox="1"/>
          <p:nvPr/>
        </p:nvSpPr>
        <p:spPr>
          <a:xfrm>
            <a:off x="7887772" y="5587190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30" name="그림 8429">
            <a:extLst>
              <a:ext uri="{FF2B5EF4-FFF2-40B4-BE49-F238E27FC236}">
                <a16:creationId xmlns:a16="http://schemas.microsoft.com/office/drawing/2014/main" id="{EEDA845D-CE5A-E1C4-1096-DF8164CF65EA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884926" y="2516425"/>
            <a:ext cx="895307" cy="628935"/>
          </a:xfrm>
          <a:prstGeom prst="rect">
            <a:avLst/>
          </a:prstGeom>
        </p:spPr>
      </p:pic>
      <p:pic>
        <p:nvPicPr>
          <p:cNvPr id="8432" name="그림 8431">
            <a:extLst>
              <a:ext uri="{FF2B5EF4-FFF2-40B4-BE49-F238E27FC236}">
                <a16:creationId xmlns:a16="http://schemas.microsoft.com/office/drawing/2014/main" id="{231040B3-F3EE-3810-BE61-10692ACD315B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426762" y="2429036"/>
            <a:ext cx="348474" cy="131392"/>
          </a:xfrm>
          <a:prstGeom prst="rect">
            <a:avLst/>
          </a:prstGeom>
        </p:spPr>
      </p:pic>
      <p:sp>
        <p:nvSpPr>
          <p:cNvPr id="8433" name="TextBox 8432">
            <a:extLst>
              <a:ext uri="{FF2B5EF4-FFF2-40B4-BE49-F238E27FC236}">
                <a16:creationId xmlns:a16="http://schemas.microsoft.com/office/drawing/2014/main" id="{BF0EE908-367E-EEE8-F682-E1DBA0837E4C}"/>
              </a:ext>
            </a:extLst>
          </p:cNvPr>
          <p:cNvSpPr txBox="1"/>
          <p:nvPr/>
        </p:nvSpPr>
        <p:spPr>
          <a:xfrm>
            <a:off x="985677" y="1217981"/>
            <a:ext cx="7378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Tokyo VPC</a:t>
            </a:r>
            <a:endParaRPr kumimoji="1" lang="ko-KR" altLang="en-US" sz="10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51885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EE8E866-0941-27F7-3E99-D870A54B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당근 </a:t>
            </a:r>
            <a:r>
              <a:rPr lang="en-US" altLang="ko-KR" dirty="0"/>
              <a:t>Production VPC </a:t>
            </a:r>
            <a:r>
              <a:rPr lang="ko-KR" altLang="en-US" dirty="0"/>
              <a:t>아키텍쳐 구성도</a:t>
            </a:r>
            <a:r>
              <a:rPr lang="en-US" altLang="ko-KR" dirty="0"/>
              <a:t> – </a:t>
            </a:r>
            <a:r>
              <a:rPr lang="ko-KR" altLang="en-US" dirty="0"/>
              <a:t>센트럴 리전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662C53B-6BDF-5FBC-EE33-47C9C4E25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19</a:t>
            </a:fld>
            <a:endParaRPr lang="en-US" altLang="ko-KR"/>
          </a:p>
        </p:txBody>
      </p:sp>
      <p:grpSp>
        <p:nvGrpSpPr>
          <p:cNvPr id="2" name="Group 1" descr="AWS Cloud group with AWS logo.">
            <a:extLst>
              <a:ext uri="{FF2B5EF4-FFF2-40B4-BE49-F238E27FC236}">
                <a16:creationId xmlns:a16="http://schemas.microsoft.com/office/drawing/2014/main" id="{F8EDE7E5-1668-B4AB-9632-973F65AC8912}"/>
              </a:ext>
            </a:extLst>
          </p:cNvPr>
          <p:cNvGrpSpPr/>
          <p:nvPr/>
        </p:nvGrpSpPr>
        <p:grpSpPr>
          <a:xfrm>
            <a:off x="416058" y="1029643"/>
            <a:ext cx="7872537" cy="5519511"/>
            <a:chOff x="355600" y="1891715"/>
            <a:chExt cx="7872537" cy="5519511"/>
          </a:xfrm>
        </p:grpSpPr>
        <p:sp>
          <p:nvSpPr>
            <p:cNvPr id="17" name="Rectangle 54">
              <a:extLst>
                <a:ext uri="{FF2B5EF4-FFF2-40B4-BE49-F238E27FC236}">
                  <a16:creationId xmlns:a16="http://schemas.microsoft.com/office/drawing/2014/main" id="{91BBF291-F346-9A7B-5E8F-AF2C0F4C3CAB}"/>
                </a:ext>
              </a:extLst>
            </p:cNvPr>
            <p:cNvSpPr/>
            <p:nvPr/>
          </p:nvSpPr>
          <p:spPr>
            <a:xfrm>
              <a:off x="355601" y="1894195"/>
              <a:ext cx="7872536" cy="551703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Graphic 55" descr="AWS Cloud group icon with AWS logo.">
              <a:extLst>
                <a:ext uri="{FF2B5EF4-FFF2-40B4-BE49-F238E27FC236}">
                  <a16:creationId xmlns:a16="http://schemas.microsoft.com/office/drawing/2014/main" id="{B673BBF8-35D1-D3FA-F583-46B48F714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55600" y="1891715"/>
              <a:ext cx="288000" cy="288000"/>
            </a:xfrm>
            <a:prstGeom prst="rect">
              <a:avLst/>
            </a:prstGeom>
          </p:spPr>
        </p:pic>
      </p:grpSp>
      <p:sp>
        <p:nvSpPr>
          <p:cNvPr id="19" name="Rectangle 73">
            <a:extLst>
              <a:ext uri="{FF2B5EF4-FFF2-40B4-BE49-F238E27FC236}">
                <a16:creationId xmlns:a16="http://schemas.microsoft.com/office/drawing/2014/main" id="{B183F800-CD5E-C85F-A427-C5AA6B70708E}"/>
              </a:ext>
            </a:extLst>
          </p:cNvPr>
          <p:cNvSpPr/>
          <p:nvPr/>
        </p:nvSpPr>
        <p:spPr>
          <a:xfrm>
            <a:off x="1171804" y="1568335"/>
            <a:ext cx="2151530" cy="605154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0" name="Graphic 74" descr="Public subnet group icon. ">
            <a:extLst>
              <a:ext uri="{FF2B5EF4-FFF2-40B4-BE49-F238E27FC236}">
                <a16:creationId xmlns:a16="http://schemas.microsoft.com/office/drawing/2014/main" id="{838C6E66-8ACD-262E-9548-B175E2D50E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71804" y="1568335"/>
            <a:ext cx="178979" cy="1789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48DC1F-3486-C16D-E1D5-438BF110254B}"/>
              </a:ext>
            </a:extLst>
          </p:cNvPr>
          <p:cNvSpPr txBox="1"/>
          <p:nvPr/>
        </p:nvSpPr>
        <p:spPr>
          <a:xfrm>
            <a:off x="1387622" y="1604947"/>
            <a:ext cx="661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Public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2" name="Rectangle 71">
            <a:extLst>
              <a:ext uri="{FF2B5EF4-FFF2-40B4-BE49-F238E27FC236}">
                <a16:creationId xmlns:a16="http://schemas.microsoft.com/office/drawing/2014/main" id="{D8838375-F8AF-99D5-A2EA-C335361AFA11}"/>
              </a:ext>
            </a:extLst>
          </p:cNvPr>
          <p:cNvSpPr/>
          <p:nvPr/>
        </p:nvSpPr>
        <p:spPr>
          <a:xfrm>
            <a:off x="1171804" y="2249948"/>
            <a:ext cx="2151530" cy="16385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3" name="Graphic 72" descr="Private subnet group icon. ">
            <a:extLst>
              <a:ext uri="{FF2B5EF4-FFF2-40B4-BE49-F238E27FC236}">
                <a16:creationId xmlns:a16="http://schemas.microsoft.com/office/drawing/2014/main" id="{100DF008-02CA-CC66-AE22-6A568ECCA4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2249949"/>
            <a:ext cx="178979" cy="1789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8C2358-1182-FDDC-E6ED-4CC74EB89155}"/>
              </a:ext>
            </a:extLst>
          </p:cNvPr>
          <p:cNvSpPr txBox="1"/>
          <p:nvPr/>
        </p:nvSpPr>
        <p:spPr>
          <a:xfrm>
            <a:off x="1387622" y="2293670"/>
            <a:ext cx="11414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5" name="Rectangle 71">
            <a:extLst>
              <a:ext uri="{FF2B5EF4-FFF2-40B4-BE49-F238E27FC236}">
                <a16:creationId xmlns:a16="http://schemas.microsoft.com/office/drawing/2014/main" id="{5A4A72C0-8054-4C3C-91C8-AAFC2E906B2B}"/>
              </a:ext>
            </a:extLst>
          </p:cNvPr>
          <p:cNvSpPr/>
          <p:nvPr/>
        </p:nvSpPr>
        <p:spPr>
          <a:xfrm>
            <a:off x="1171804" y="3962805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49D4781D-AE30-1327-69B4-55B56B67C6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3962804"/>
            <a:ext cx="178979" cy="17897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4EB7C2C-49FC-6BD5-DD80-0B89C6A1E3A8}"/>
              </a:ext>
            </a:extLst>
          </p:cNvPr>
          <p:cNvSpPr txBox="1"/>
          <p:nvPr/>
        </p:nvSpPr>
        <p:spPr>
          <a:xfrm>
            <a:off x="1390243" y="3991752"/>
            <a:ext cx="64487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8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CA96C197-A817-9E52-DC7C-0EBC35CCDBC6}"/>
              </a:ext>
            </a:extLst>
          </p:cNvPr>
          <p:cNvSpPr/>
          <p:nvPr/>
        </p:nvSpPr>
        <p:spPr bwMode="auto">
          <a:xfrm>
            <a:off x="1068184" y="1493086"/>
            <a:ext cx="2358095" cy="4106454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7E20F2-16B2-4FFC-F78D-74119120B81B}"/>
              </a:ext>
            </a:extLst>
          </p:cNvPr>
          <p:cNvSpPr txBox="1"/>
          <p:nvPr/>
        </p:nvSpPr>
        <p:spPr>
          <a:xfrm>
            <a:off x="1164946" y="1397397"/>
            <a:ext cx="298922" cy="138499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A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0" name="Rectangle 73">
            <a:extLst>
              <a:ext uri="{FF2B5EF4-FFF2-40B4-BE49-F238E27FC236}">
                <a16:creationId xmlns:a16="http://schemas.microsoft.com/office/drawing/2014/main" id="{9A367A02-070C-A9B7-D3F9-CC092E17E960}"/>
              </a:ext>
            </a:extLst>
          </p:cNvPr>
          <p:cNvSpPr/>
          <p:nvPr/>
        </p:nvSpPr>
        <p:spPr>
          <a:xfrm>
            <a:off x="3659660" y="1568335"/>
            <a:ext cx="2151530" cy="605154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31" name="Graphic 74" descr="Public subnet group icon. ">
            <a:extLst>
              <a:ext uri="{FF2B5EF4-FFF2-40B4-BE49-F238E27FC236}">
                <a16:creationId xmlns:a16="http://schemas.microsoft.com/office/drawing/2014/main" id="{ACF4D4BB-63B1-ADDF-B2FA-0E2FEF55E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59660" y="1568335"/>
            <a:ext cx="178979" cy="17897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3E64D07-8928-85A1-31B4-92EE05102AB9}"/>
              </a:ext>
            </a:extLst>
          </p:cNvPr>
          <p:cNvSpPr txBox="1"/>
          <p:nvPr/>
        </p:nvSpPr>
        <p:spPr>
          <a:xfrm>
            <a:off x="3869160" y="1604947"/>
            <a:ext cx="661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Public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3" name="Rectangle 71">
            <a:extLst>
              <a:ext uri="{FF2B5EF4-FFF2-40B4-BE49-F238E27FC236}">
                <a16:creationId xmlns:a16="http://schemas.microsoft.com/office/drawing/2014/main" id="{F7737E29-F0D9-A09A-6415-E692D90C96F3}"/>
              </a:ext>
            </a:extLst>
          </p:cNvPr>
          <p:cNvSpPr/>
          <p:nvPr/>
        </p:nvSpPr>
        <p:spPr>
          <a:xfrm>
            <a:off x="3659660" y="2249948"/>
            <a:ext cx="2151530" cy="16385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34" name="Graphic 72" descr="Private subnet group icon. ">
            <a:extLst>
              <a:ext uri="{FF2B5EF4-FFF2-40B4-BE49-F238E27FC236}">
                <a16:creationId xmlns:a16="http://schemas.microsoft.com/office/drawing/2014/main" id="{287B75C7-8AD7-6111-6AB8-DD65176F1B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2249949"/>
            <a:ext cx="178979" cy="17897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3804FA7-8BA6-EA5F-F250-47EBF01E7AAC}"/>
              </a:ext>
            </a:extLst>
          </p:cNvPr>
          <p:cNvSpPr txBox="1"/>
          <p:nvPr/>
        </p:nvSpPr>
        <p:spPr>
          <a:xfrm>
            <a:off x="3869160" y="2293670"/>
            <a:ext cx="84427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6" name="Rectangle 71">
            <a:extLst>
              <a:ext uri="{FF2B5EF4-FFF2-40B4-BE49-F238E27FC236}">
                <a16:creationId xmlns:a16="http://schemas.microsoft.com/office/drawing/2014/main" id="{F9E31618-C9AC-BDF8-7695-0C6487462617}"/>
              </a:ext>
            </a:extLst>
          </p:cNvPr>
          <p:cNvSpPr/>
          <p:nvPr/>
        </p:nvSpPr>
        <p:spPr>
          <a:xfrm>
            <a:off x="3659660" y="3962805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37" name="Graphic 72" descr="Private subnet group icon. ">
            <a:extLst>
              <a:ext uri="{FF2B5EF4-FFF2-40B4-BE49-F238E27FC236}">
                <a16:creationId xmlns:a16="http://schemas.microsoft.com/office/drawing/2014/main" id="{EA4D8A4D-7C64-D284-2D4B-8DE844E6C4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3962804"/>
            <a:ext cx="178979" cy="17897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EC3072A-BD9D-BA33-945C-CB85299D6050}"/>
              </a:ext>
            </a:extLst>
          </p:cNvPr>
          <p:cNvSpPr txBox="1"/>
          <p:nvPr/>
        </p:nvSpPr>
        <p:spPr>
          <a:xfrm>
            <a:off x="3869160" y="3991752"/>
            <a:ext cx="62853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AF9D6769-4287-10DF-2965-569FEBAC56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675" y="1837594"/>
            <a:ext cx="216000" cy="216000"/>
          </a:xfrm>
          <a:prstGeom prst="rect">
            <a:avLst/>
          </a:prstGeom>
        </p:spPr>
      </p:pic>
      <p:sp>
        <p:nvSpPr>
          <p:cNvPr id="40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95EC529C-5FEB-1DEA-6BC8-50F474F459B2}"/>
              </a:ext>
            </a:extLst>
          </p:cNvPr>
          <p:cNvSpPr/>
          <p:nvPr/>
        </p:nvSpPr>
        <p:spPr bwMode="auto">
          <a:xfrm>
            <a:off x="3556040" y="1493086"/>
            <a:ext cx="2364789" cy="4106454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84C33757-13AA-50E1-1B88-361F61D323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337" y="2688375"/>
            <a:ext cx="216000" cy="21600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A733806-2136-1259-0741-C591A4A52424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65065" y="2319813"/>
            <a:ext cx="198545" cy="2160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E90DBEB-C48E-B39E-A1EB-E54FC77FDB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337" y="1837594"/>
            <a:ext cx="216000" cy="216000"/>
          </a:xfrm>
          <a:prstGeom prst="rect">
            <a:avLst/>
          </a:prstGeom>
        </p:spPr>
      </p:pic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4599BBB-ED29-BC91-2315-82D9E0F77CDF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2764337" y="2053594"/>
            <a:ext cx="1" cy="266219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9D61C4D-A38F-7242-9E29-6F5AC48BF675}"/>
              </a:ext>
            </a:extLst>
          </p:cNvPr>
          <p:cNvCxnSpPr>
            <a:cxnSpLocks/>
            <a:stCxn id="42" idx="2"/>
            <a:endCxn id="41" idx="0"/>
          </p:cNvCxnSpPr>
          <p:nvPr/>
        </p:nvCxnSpPr>
        <p:spPr>
          <a:xfrm flipH="1">
            <a:off x="2764337" y="2535813"/>
            <a:ext cx="1" cy="15256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8F22D73D-D956-4659-E075-35FDA2F926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9510" y="3220013"/>
            <a:ext cx="4507169" cy="56075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D975982-EF6C-FA0C-A738-06EAB528A2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16097" y="3186489"/>
            <a:ext cx="107950" cy="1651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EA91A6AB-3885-9F82-6B5E-33DCFFBAF0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9685" y="3180352"/>
            <a:ext cx="107950" cy="165100"/>
          </a:xfrm>
          <a:prstGeom prst="rect">
            <a:avLst/>
          </a:prstGeom>
        </p:spPr>
      </p:pic>
      <p:cxnSp>
        <p:nvCxnSpPr>
          <p:cNvPr id="49" name="구부러진 연결선[U] 48">
            <a:extLst>
              <a:ext uri="{FF2B5EF4-FFF2-40B4-BE49-F238E27FC236}">
                <a16:creationId xmlns:a16="http://schemas.microsoft.com/office/drawing/2014/main" id="{CDBB6277-5DC8-9318-BF41-872B89A03078}"/>
              </a:ext>
            </a:extLst>
          </p:cNvPr>
          <p:cNvCxnSpPr>
            <a:stCxn id="41" idx="3"/>
            <a:endCxn id="47" idx="0"/>
          </p:cNvCxnSpPr>
          <p:nvPr/>
        </p:nvCxnSpPr>
        <p:spPr>
          <a:xfrm>
            <a:off x="2872337" y="2796375"/>
            <a:ext cx="297735" cy="39011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7D45C409-E0D1-1535-AC1A-1E049E574A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874" y="2689598"/>
            <a:ext cx="216000" cy="2160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D9A34E6A-5F64-4AA1-B866-9C975E37D79A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0602" y="2321036"/>
            <a:ext cx="198545" cy="2160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68F9B03-7183-570C-20F5-A980BC75C6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874" y="1844590"/>
            <a:ext cx="216000" cy="216000"/>
          </a:xfrm>
          <a:prstGeom prst="rect">
            <a:avLst/>
          </a:prstGeom>
        </p:spPr>
      </p:pic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5EFB8BD-D642-7365-B297-42CDA29E659F}"/>
              </a:ext>
            </a:extLst>
          </p:cNvPr>
          <p:cNvCxnSpPr>
            <a:stCxn id="52" idx="2"/>
            <a:endCxn id="51" idx="0"/>
          </p:cNvCxnSpPr>
          <p:nvPr/>
        </p:nvCxnSpPr>
        <p:spPr>
          <a:xfrm>
            <a:off x="4199874" y="2060590"/>
            <a:ext cx="1" cy="260446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369BE59-1A9B-7B2C-F9D3-67137D665036}"/>
              </a:ext>
            </a:extLst>
          </p:cNvPr>
          <p:cNvCxnSpPr>
            <a:cxnSpLocks/>
            <a:stCxn id="51" idx="2"/>
            <a:endCxn id="50" idx="0"/>
          </p:cNvCxnSpPr>
          <p:nvPr/>
        </p:nvCxnSpPr>
        <p:spPr>
          <a:xfrm flipH="1">
            <a:off x="4199874" y="2537036"/>
            <a:ext cx="1" cy="15256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구부러진 연결선[U] 54">
            <a:extLst>
              <a:ext uri="{FF2B5EF4-FFF2-40B4-BE49-F238E27FC236}">
                <a16:creationId xmlns:a16="http://schemas.microsoft.com/office/drawing/2014/main" id="{773E045E-AAF4-1939-E00B-F35F637F89C5}"/>
              </a:ext>
            </a:extLst>
          </p:cNvPr>
          <p:cNvCxnSpPr>
            <a:cxnSpLocks/>
            <a:stCxn id="50" idx="1"/>
            <a:endCxn id="48" idx="0"/>
          </p:cNvCxnSpPr>
          <p:nvPr/>
        </p:nvCxnSpPr>
        <p:spPr>
          <a:xfrm rot="10800000" flipV="1">
            <a:off x="3803660" y="2797598"/>
            <a:ext cx="288214" cy="38275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그림 55">
            <a:extLst>
              <a:ext uri="{FF2B5EF4-FFF2-40B4-BE49-F238E27FC236}">
                <a16:creationId xmlns:a16="http://schemas.microsoft.com/office/drawing/2014/main" id="{38E9F41D-D278-A859-C4AA-0E7F056E648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571" y="1832911"/>
            <a:ext cx="216000" cy="2160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BA5B48E-662E-6248-8D8F-038427B721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073" y="1827898"/>
            <a:ext cx="216000" cy="216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F3171AF7-0FAD-E675-3A1A-50D651186A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1999" y="2841076"/>
            <a:ext cx="312676" cy="104225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2F141E79-9FCC-FC19-5A3D-5E6E98B396D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25911" y="2849317"/>
            <a:ext cx="312676" cy="10422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47E064D2-A9A4-1A7C-1B0A-9CB603D172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2682" y="3432803"/>
            <a:ext cx="364346" cy="10481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A566A25-9CB0-A22A-4945-9E7E82287BF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3392" y="3432803"/>
            <a:ext cx="364346" cy="106268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EDD473D6-7E12-2A5A-F4A3-B82E12DF06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3115" y="3432803"/>
            <a:ext cx="364347" cy="106268"/>
          </a:xfrm>
          <a:prstGeom prst="rect">
            <a:avLst/>
          </a:prstGeom>
        </p:spPr>
      </p:pic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A5AF8CF-F0F5-90A8-3312-98F85C0F5A49}"/>
              </a:ext>
            </a:extLst>
          </p:cNvPr>
          <p:cNvCxnSpPr>
            <a:cxnSpLocks/>
            <a:stCxn id="56" idx="2"/>
            <a:endCxn id="61" idx="0"/>
          </p:cNvCxnSpPr>
          <p:nvPr/>
        </p:nvCxnSpPr>
        <p:spPr>
          <a:xfrm flipH="1">
            <a:off x="2065565" y="2048911"/>
            <a:ext cx="12006" cy="138389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2" name="직선 화살표 연결선 8511">
            <a:extLst>
              <a:ext uri="{FF2B5EF4-FFF2-40B4-BE49-F238E27FC236}">
                <a16:creationId xmlns:a16="http://schemas.microsoft.com/office/drawing/2014/main" id="{B64890C7-0839-76EA-5658-A0BA34C108DF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flipH="1">
            <a:off x="2414855" y="2043898"/>
            <a:ext cx="4218" cy="1388905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14" name="그림 8513">
            <a:extLst>
              <a:ext uri="{FF2B5EF4-FFF2-40B4-BE49-F238E27FC236}">
                <a16:creationId xmlns:a16="http://schemas.microsoft.com/office/drawing/2014/main" id="{B19FE44B-E994-9F24-E2B3-50031A93CC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138" y="1844590"/>
            <a:ext cx="216000" cy="216000"/>
          </a:xfrm>
          <a:prstGeom prst="rect">
            <a:avLst/>
          </a:prstGeom>
        </p:spPr>
      </p:pic>
      <p:pic>
        <p:nvPicPr>
          <p:cNvPr id="8515" name="그림 8514">
            <a:extLst>
              <a:ext uri="{FF2B5EF4-FFF2-40B4-BE49-F238E27FC236}">
                <a16:creationId xmlns:a16="http://schemas.microsoft.com/office/drawing/2014/main" id="{E1BEFE6C-99AC-7A1B-96FF-601DD697D6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401" y="1844590"/>
            <a:ext cx="216000" cy="216000"/>
          </a:xfrm>
          <a:prstGeom prst="rect">
            <a:avLst/>
          </a:prstGeom>
        </p:spPr>
      </p:pic>
      <p:cxnSp>
        <p:nvCxnSpPr>
          <p:cNvPr id="8516" name="직선 화살표 연결선 8515">
            <a:extLst>
              <a:ext uri="{FF2B5EF4-FFF2-40B4-BE49-F238E27FC236}">
                <a16:creationId xmlns:a16="http://schemas.microsoft.com/office/drawing/2014/main" id="{061D687F-2E9C-82BF-0067-B1E2FDC6E8CF}"/>
              </a:ext>
            </a:extLst>
          </p:cNvPr>
          <p:cNvCxnSpPr>
            <a:cxnSpLocks/>
            <a:stCxn id="8514" idx="2"/>
            <a:endCxn id="8522" idx="0"/>
          </p:cNvCxnSpPr>
          <p:nvPr/>
        </p:nvCxnSpPr>
        <p:spPr>
          <a:xfrm flipH="1">
            <a:off x="4544992" y="2060590"/>
            <a:ext cx="146" cy="1372213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7" name="직선 화살표 연결선 8516">
            <a:extLst>
              <a:ext uri="{FF2B5EF4-FFF2-40B4-BE49-F238E27FC236}">
                <a16:creationId xmlns:a16="http://schemas.microsoft.com/office/drawing/2014/main" id="{A9C95D05-1D94-9893-7CF0-3306982F0EAB}"/>
              </a:ext>
            </a:extLst>
          </p:cNvPr>
          <p:cNvCxnSpPr>
            <a:cxnSpLocks/>
            <a:stCxn id="8515" idx="2"/>
            <a:endCxn id="8524" idx="0"/>
          </p:cNvCxnSpPr>
          <p:nvPr/>
        </p:nvCxnSpPr>
        <p:spPr>
          <a:xfrm flipH="1">
            <a:off x="4882422" y="2060590"/>
            <a:ext cx="7979" cy="1372213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18" name="그림 8517">
            <a:extLst>
              <a:ext uri="{FF2B5EF4-FFF2-40B4-BE49-F238E27FC236}">
                <a16:creationId xmlns:a16="http://schemas.microsoft.com/office/drawing/2014/main" id="{94234257-3B8A-92D6-D8E7-F67F2DB93FE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06348" y="3432803"/>
            <a:ext cx="364347" cy="106268"/>
          </a:xfrm>
          <a:prstGeom prst="rect">
            <a:avLst/>
          </a:prstGeom>
        </p:spPr>
      </p:pic>
      <p:cxnSp>
        <p:nvCxnSpPr>
          <p:cNvPr id="8519" name="구부러진 연결선[U] 8518">
            <a:extLst>
              <a:ext uri="{FF2B5EF4-FFF2-40B4-BE49-F238E27FC236}">
                <a16:creationId xmlns:a16="http://schemas.microsoft.com/office/drawing/2014/main" id="{883E19E7-4ECD-7EFA-DEF5-A438EB4D3C39}"/>
              </a:ext>
            </a:extLst>
          </p:cNvPr>
          <p:cNvCxnSpPr>
            <a:cxnSpLocks/>
            <a:stCxn id="47" idx="1"/>
            <a:endCxn id="62" idx="0"/>
          </p:cNvCxnSpPr>
          <p:nvPr/>
        </p:nvCxnSpPr>
        <p:spPr>
          <a:xfrm rot="10800000" flipV="1">
            <a:off x="2875289" y="3269039"/>
            <a:ext cx="240808" cy="16376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1" name="구부러진 연결선[U] 8520">
            <a:extLst>
              <a:ext uri="{FF2B5EF4-FFF2-40B4-BE49-F238E27FC236}">
                <a16:creationId xmlns:a16="http://schemas.microsoft.com/office/drawing/2014/main" id="{FB4DD005-546A-6C1D-0819-1164359ED5CB}"/>
              </a:ext>
            </a:extLst>
          </p:cNvPr>
          <p:cNvCxnSpPr>
            <a:cxnSpLocks/>
            <a:stCxn id="48" idx="3"/>
            <a:endCxn id="8518" idx="0"/>
          </p:cNvCxnSpPr>
          <p:nvPr/>
        </p:nvCxnSpPr>
        <p:spPr>
          <a:xfrm>
            <a:off x="3857635" y="3262902"/>
            <a:ext cx="230887" cy="169901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22" name="그림 8521">
            <a:extLst>
              <a:ext uri="{FF2B5EF4-FFF2-40B4-BE49-F238E27FC236}">
                <a16:creationId xmlns:a16="http://schemas.microsoft.com/office/drawing/2014/main" id="{AFCBDDAD-CD61-0AA0-B7B8-8B6B2E60782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2819" y="3432803"/>
            <a:ext cx="364346" cy="104812"/>
          </a:xfrm>
          <a:prstGeom prst="rect">
            <a:avLst/>
          </a:prstGeom>
        </p:spPr>
      </p:pic>
      <p:pic>
        <p:nvPicPr>
          <p:cNvPr id="8524" name="그림 8523">
            <a:extLst>
              <a:ext uri="{FF2B5EF4-FFF2-40B4-BE49-F238E27FC236}">
                <a16:creationId xmlns:a16="http://schemas.microsoft.com/office/drawing/2014/main" id="{523CC5AD-187D-5FBF-DB6F-291AFFE3BB3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0249" y="3432803"/>
            <a:ext cx="364346" cy="106268"/>
          </a:xfrm>
          <a:prstGeom prst="rect">
            <a:avLst/>
          </a:prstGeom>
        </p:spPr>
      </p:pic>
      <p:sp>
        <p:nvSpPr>
          <p:cNvPr id="8525" name="TextBox 8524">
            <a:extLst>
              <a:ext uri="{FF2B5EF4-FFF2-40B4-BE49-F238E27FC236}">
                <a16:creationId xmlns:a16="http://schemas.microsoft.com/office/drawing/2014/main" id="{1D1FF17F-16F1-EEF8-9C04-3DB07D6276DE}"/>
              </a:ext>
            </a:extLst>
          </p:cNvPr>
          <p:cNvSpPr txBox="1"/>
          <p:nvPr/>
        </p:nvSpPr>
        <p:spPr>
          <a:xfrm>
            <a:off x="2564385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6" name="TextBox 8525">
            <a:extLst>
              <a:ext uri="{FF2B5EF4-FFF2-40B4-BE49-F238E27FC236}">
                <a16:creationId xmlns:a16="http://schemas.microsoft.com/office/drawing/2014/main" id="{C7F5CBD5-8B23-0370-4DA1-2359A28B7CE8}"/>
              </a:ext>
            </a:extLst>
          </p:cNvPr>
          <p:cNvSpPr txBox="1"/>
          <p:nvPr/>
        </p:nvSpPr>
        <p:spPr>
          <a:xfrm>
            <a:off x="2203952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7" name="TextBox 8526">
            <a:extLst>
              <a:ext uri="{FF2B5EF4-FFF2-40B4-BE49-F238E27FC236}">
                <a16:creationId xmlns:a16="http://schemas.microsoft.com/office/drawing/2014/main" id="{B97DF404-E8C4-950F-E3B9-82D7277CEDD0}"/>
              </a:ext>
            </a:extLst>
          </p:cNvPr>
          <p:cNvSpPr txBox="1"/>
          <p:nvPr/>
        </p:nvSpPr>
        <p:spPr>
          <a:xfrm>
            <a:off x="1854982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8" name="TextBox 8527">
            <a:extLst>
              <a:ext uri="{FF2B5EF4-FFF2-40B4-BE49-F238E27FC236}">
                <a16:creationId xmlns:a16="http://schemas.microsoft.com/office/drawing/2014/main" id="{62E36C1B-6E1F-5BF2-3359-B6E13506CBC7}"/>
              </a:ext>
            </a:extLst>
          </p:cNvPr>
          <p:cNvSpPr txBox="1"/>
          <p:nvPr/>
        </p:nvSpPr>
        <p:spPr>
          <a:xfrm>
            <a:off x="3986995" y="2057630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9" name="TextBox 8528">
            <a:extLst>
              <a:ext uri="{FF2B5EF4-FFF2-40B4-BE49-F238E27FC236}">
                <a16:creationId xmlns:a16="http://schemas.microsoft.com/office/drawing/2014/main" id="{B11EAD28-46FE-8591-0922-06FEA82694BF}"/>
              </a:ext>
            </a:extLst>
          </p:cNvPr>
          <p:cNvSpPr txBox="1"/>
          <p:nvPr/>
        </p:nvSpPr>
        <p:spPr>
          <a:xfrm>
            <a:off x="4301872" y="2051355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31" name="TextBox 8530">
            <a:extLst>
              <a:ext uri="{FF2B5EF4-FFF2-40B4-BE49-F238E27FC236}">
                <a16:creationId xmlns:a16="http://schemas.microsoft.com/office/drawing/2014/main" id="{10028352-0E16-F757-CF13-A102EDBD08C2}"/>
              </a:ext>
            </a:extLst>
          </p:cNvPr>
          <p:cNvSpPr txBox="1"/>
          <p:nvPr/>
        </p:nvSpPr>
        <p:spPr>
          <a:xfrm>
            <a:off x="4667947" y="2057576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538" name="그림 8537">
            <a:extLst>
              <a:ext uri="{FF2B5EF4-FFF2-40B4-BE49-F238E27FC236}">
                <a16:creationId xmlns:a16="http://schemas.microsoft.com/office/drawing/2014/main" id="{0144AE67-476B-8721-EDAB-EA60D4ED2C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807" y="1837594"/>
            <a:ext cx="216000" cy="216000"/>
          </a:xfrm>
          <a:prstGeom prst="rect">
            <a:avLst/>
          </a:prstGeom>
        </p:spPr>
      </p:pic>
      <p:sp>
        <p:nvSpPr>
          <p:cNvPr id="8539" name="TextBox 8538">
            <a:extLst>
              <a:ext uri="{FF2B5EF4-FFF2-40B4-BE49-F238E27FC236}">
                <a16:creationId xmlns:a16="http://schemas.microsoft.com/office/drawing/2014/main" id="{1F458AF8-0171-745B-7027-A8CE797999E0}"/>
              </a:ext>
            </a:extLst>
          </p:cNvPr>
          <p:cNvSpPr txBox="1"/>
          <p:nvPr/>
        </p:nvSpPr>
        <p:spPr>
          <a:xfrm>
            <a:off x="2961426" y="2060830"/>
            <a:ext cx="3432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40" name="TextBox 8539">
            <a:extLst>
              <a:ext uri="{FF2B5EF4-FFF2-40B4-BE49-F238E27FC236}">
                <a16:creationId xmlns:a16="http://schemas.microsoft.com/office/drawing/2014/main" id="{63F7800F-7980-9D4F-E955-EFF500765DF1}"/>
              </a:ext>
            </a:extLst>
          </p:cNvPr>
          <p:cNvSpPr txBox="1"/>
          <p:nvPr/>
        </p:nvSpPr>
        <p:spPr>
          <a:xfrm>
            <a:off x="5112658" y="2060489"/>
            <a:ext cx="3432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541" name="그림 8540">
            <a:extLst>
              <a:ext uri="{FF2B5EF4-FFF2-40B4-BE49-F238E27FC236}">
                <a16:creationId xmlns:a16="http://schemas.microsoft.com/office/drawing/2014/main" id="{8F5F17CB-9BF4-A3F2-F8CA-3125957B46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02" y="2344729"/>
            <a:ext cx="173883" cy="173883"/>
          </a:xfrm>
          <a:prstGeom prst="rect">
            <a:avLst/>
          </a:prstGeom>
        </p:spPr>
      </p:pic>
      <p:pic>
        <p:nvPicPr>
          <p:cNvPr id="8553" name="Graphic 7" descr="Amazon Aurora service icon.">
            <a:extLst>
              <a:ext uri="{FF2B5EF4-FFF2-40B4-BE49-F238E27FC236}">
                <a16:creationId xmlns:a16="http://schemas.microsoft.com/office/drawing/2014/main" id="{081CE74F-281B-AB29-4356-D7376CCD7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149938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69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3DBEC771-D0DB-352D-9091-3508D650A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188649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70" name="Graphic 13" descr="AWS Batch service icon.">
            <a:extLst>
              <a:ext uri="{FF2B5EF4-FFF2-40B4-BE49-F238E27FC236}">
                <a16:creationId xmlns:a16="http://schemas.microsoft.com/office/drawing/2014/main" id="{3D2FE4B7-A547-6271-2773-21FA0A8B1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6243762" y="3976714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72" name="Graphic 23" descr="Amazon DynamoDB service icon.">
            <a:extLst>
              <a:ext uri="{FF2B5EF4-FFF2-40B4-BE49-F238E27FC236}">
                <a16:creationId xmlns:a16="http://schemas.microsoft.com/office/drawing/2014/main" id="{2946D0AF-8042-A157-8733-6EC54D8E5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227360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90" name="Graphic 26" descr="Amazon Managed Streaming for Apache Kafka (Amazon MSK) service icon.">
            <a:extLst>
              <a:ext uri="{FF2B5EF4-FFF2-40B4-BE49-F238E27FC236}">
                <a16:creationId xmlns:a16="http://schemas.microsoft.com/office/drawing/2014/main" id="{8FB455AF-8A75-0410-702B-9A6389240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3046849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98" name="Graphic 21" descr="Amazon ElastiCache service icon.">
            <a:extLst>
              <a:ext uri="{FF2B5EF4-FFF2-40B4-BE49-F238E27FC236}">
                <a16:creationId xmlns:a16="http://schemas.microsoft.com/office/drawing/2014/main" id="{9E6DFD7B-357F-87BB-C37A-62AA00634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2660710" y="4131762"/>
            <a:ext cx="171989" cy="17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" name="TextBox 8601">
            <a:extLst>
              <a:ext uri="{FF2B5EF4-FFF2-40B4-BE49-F238E27FC236}">
                <a16:creationId xmlns:a16="http://schemas.microsoft.com/office/drawing/2014/main" id="{71AC626B-E7D9-9FAC-B508-C882FC979EA5}"/>
              </a:ext>
            </a:extLst>
          </p:cNvPr>
          <p:cNvSpPr txBox="1"/>
          <p:nvPr/>
        </p:nvSpPr>
        <p:spPr>
          <a:xfrm>
            <a:off x="3027530" y="4330249"/>
            <a:ext cx="2115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MSK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3" name="TextBox 8602">
            <a:extLst>
              <a:ext uri="{FF2B5EF4-FFF2-40B4-BE49-F238E27FC236}">
                <a16:creationId xmlns:a16="http://schemas.microsoft.com/office/drawing/2014/main" id="{9F70BCA4-81F8-D95F-0146-287AE733505B}"/>
              </a:ext>
            </a:extLst>
          </p:cNvPr>
          <p:cNvSpPr txBox="1"/>
          <p:nvPr/>
        </p:nvSpPr>
        <p:spPr>
          <a:xfrm>
            <a:off x="2504224" y="4330249"/>
            <a:ext cx="48496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ElastiCache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5" name="TextBox 8604">
            <a:extLst>
              <a:ext uri="{FF2B5EF4-FFF2-40B4-BE49-F238E27FC236}">
                <a16:creationId xmlns:a16="http://schemas.microsoft.com/office/drawing/2014/main" id="{EBDE9E31-7946-ABA2-A0F1-408A1E171A87}"/>
              </a:ext>
            </a:extLst>
          </p:cNvPr>
          <p:cNvSpPr txBox="1"/>
          <p:nvPr/>
        </p:nvSpPr>
        <p:spPr>
          <a:xfrm>
            <a:off x="1437133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Aurora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7" name="TextBox 8606">
            <a:extLst>
              <a:ext uri="{FF2B5EF4-FFF2-40B4-BE49-F238E27FC236}">
                <a16:creationId xmlns:a16="http://schemas.microsoft.com/office/drawing/2014/main" id="{ECF23CD8-2810-4638-5D4D-FAB91E99E6F7}"/>
              </a:ext>
            </a:extLst>
          </p:cNvPr>
          <p:cNvSpPr txBox="1"/>
          <p:nvPr/>
        </p:nvSpPr>
        <p:spPr>
          <a:xfrm>
            <a:off x="1821952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8" name="TextBox 8607">
            <a:extLst>
              <a:ext uri="{FF2B5EF4-FFF2-40B4-BE49-F238E27FC236}">
                <a16:creationId xmlns:a16="http://schemas.microsoft.com/office/drawing/2014/main" id="{9979423B-34B9-5592-6DF1-30C21FD40290}"/>
              </a:ext>
            </a:extLst>
          </p:cNvPr>
          <p:cNvSpPr txBox="1"/>
          <p:nvPr/>
        </p:nvSpPr>
        <p:spPr>
          <a:xfrm>
            <a:off x="2187600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DDB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09" name="Graphic 7" descr="Amazon Aurora service icon.">
            <a:extLst>
              <a:ext uri="{FF2B5EF4-FFF2-40B4-BE49-F238E27FC236}">
                <a16:creationId xmlns:a16="http://schemas.microsoft.com/office/drawing/2014/main" id="{AB44D759-A288-45F4-04F0-28BAE8141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398259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1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DB8E3042-3858-C68C-8D2F-3701A33B9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436970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5" name="Graphic 23" descr="Amazon DynamoDB service icon.">
            <a:extLst>
              <a:ext uri="{FF2B5EF4-FFF2-40B4-BE49-F238E27FC236}">
                <a16:creationId xmlns:a16="http://schemas.microsoft.com/office/drawing/2014/main" id="{99319744-3C51-F63A-80FE-A8F232BA8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475681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6" name="Graphic 26" descr="Amazon Managed Streaming for Apache Kafka (Amazon MSK) service icon.">
            <a:extLst>
              <a:ext uri="{FF2B5EF4-FFF2-40B4-BE49-F238E27FC236}">
                <a16:creationId xmlns:a16="http://schemas.microsoft.com/office/drawing/2014/main" id="{16EA28C8-A76F-8E86-8062-640D6FA17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5530062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7" name="Graphic 21" descr="Amazon ElastiCache service icon.">
            <a:extLst>
              <a:ext uri="{FF2B5EF4-FFF2-40B4-BE49-F238E27FC236}">
                <a16:creationId xmlns:a16="http://schemas.microsoft.com/office/drawing/2014/main" id="{DC6B12E7-5891-24E8-86B6-B3530A05F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5143923" y="4135025"/>
            <a:ext cx="171989" cy="17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18" name="TextBox 8617">
            <a:extLst>
              <a:ext uri="{FF2B5EF4-FFF2-40B4-BE49-F238E27FC236}">
                <a16:creationId xmlns:a16="http://schemas.microsoft.com/office/drawing/2014/main" id="{C36AF03D-81F5-9637-61F8-36CC0532228C}"/>
              </a:ext>
            </a:extLst>
          </p:cNvPr>
          <p:cNvSpPr txBox="1"/>
          <p:nvPr/>
        </p:nvSpPr>
        <p:spPr>
          <a:xfrm>
            <a:off x="5510743" y="4333512"/>
            <a:ext cx="2115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MSK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19" name="TextBox 8618">
            <a:extLst>
              <a:ext uri="{FF2B5EF4-FFF2-40B4-BE49-F238E27FC236}">
                <a16:creationId xmlns:a16="http://schemas.microsoft.com/office/drawing/2014/main" id="{4A12A1C5-77B7-1571-7079-DA89DCFEDE6C}"/>
              </a:ext>
            </a:extLst>
          </p:cNvPr>
          <p:cNvSpPr txBox="1"/>
          <p:nvPr/>
        </p:nvSpPr>
        <p:spPr>
          <a:xfrm>
            <a:off x="4987437" y="4333512"/>
            <a:ext cx="48496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ElastiCache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21" name="TextBox 8620">
            <a:extLst>
              <a:ext uri="{FF2B5EF4-FFF2-40B4-BE49-F238E27FC236}">
                <a16:creationId xmlns:a16="http://schemas.microsoft.com/office/drawing/2014/main" id="{56F246D0-E66E-8370-243F-545C4A5CE556}"/>
              </a:ext>
            </a:extLst>
          </p:cNvPr>
          <p:cNvSpPr txBox="1"/>
          <p:nvPr/>
        </p:nvSpPr>
        <p:spPr>
          <a:xfrm>
            <a:off x="3920346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Aurora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22" name="TextBox 8621">
            <a:extLst>
              <a:ext uri="{FF2B5EF4-FFF2-40B4-BE49-F238E27FC236}">
                <a16:creationId xmlns:a16="http://schemas.microsoft.com/office/drawing/2014/main" id="{C4515AD7-835C-1C6C-3D19-410FCEC4A8D4}"/>
              </a:ext>
            </a:extLst>
          </p:cNvPr>
          <p:cNvSpPr txBox="1"/>
          <p:nvPr/>
        </p:nvSpPr>
        <p:spPr>
          <a:xfrm>
            <a:off x="4305165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24" name="TextBox 8623">
            <a:extLst>
              <a:ext uri="{FF2B5EF4-FFF2-40B4-BE49-F238E27FC236}">
                <a16:creationId xmlns:a16="http://schemas.microsoft.com/office/drawing/2014/main" id="{BB4E67F8-657A-30B3-A4F2-13FEF3C4F873}"/>
              </a:ext>
            </a:extLst>
          </p:cNvPr>
          <p:cNvSpPr txBox="1"/>
          <p:nvPr/>
        </p:nvSpPr>
        <p:spPr>
          <a:xfrm>
            <a:off x="4670813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DDB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47" name="Rectangle 71">
            <a:extLst>
              <a:ext uri="{FF2B5EF4-FFF2-40B4-BE49-F238E27FC236}">
                <a16:creationId xmlns:a16="http://schemas.microsoft.com/office/drawing/2014/main" id="{A1FE21A3-32DF-C51C-0B07-77D544449C0D}"/>
              </a:ext>
            </a:extLst>
          </p:cNvPr>
          <p:cNvSpPr/>
          <p:nvPr/>
        </p:nvSpPr>
        <p:spPr>
          <a:xfrm>
            <a:off x="1171804" y="5014701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648" name="Graphic 72" descr="Private subnet group icon. ">
            <a:extLst>
              <a:ext uri="{FF2B5EF4-FFF2-40B4-BE49-F238E27FC236}">
                <a16:creationId xmlns:a16="http://schemas.microsoft.com/office/drawing/2014/main" id="{039EB315-0F5E-AAC9-1556-9186954FDA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5014700"/>
            <a:ext cx="178979" cy="178979"/>
          </a:xfrm>
          <a:prstGeom prst="rect">
            <a:avLst/>
          </a:prstGeom>
        </p:spPr>
      </p:pic>
      <p:sp>
        <p:nvSpPr>
          <p:cNvPr id="8649" name="TextBox 8648">
            <a:extLst>
              <a:ext uri="{FF2B5EF4-FFF2-40B4-BE49-F238E27FC236}">
                <a16:creationId xmlns:a16="http://schemas.microsoft.com/office/drawing/2014/main" id="{88CC86D7-DDEA-700E-0196-80BFC2541A89}"/>
              </a:ext>
            </a:extLst>
          </p:cNvPr>
          <p:cNvSpPr txBox="1"/>
          <p:nvPr/>
        </p:nvSpPr>
        <p:spPr>
          <a:xfrm>
            <a:off x="1390243" y="5058421"/>
            <a:ext cx="74361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50" name="Rectangle 71">
            <a:extLst>
              <a:ext uri="{FF2B5EF4-FFF2-40B4-BE49-F238E27FC236}">
                <a16:creationId xmlns:a16="http://schemas.microsoft.com/office/drawing/2014/main" id="{FF11BA15-3938-7BB5-EBF4-EE4F23B06F28}"/>
              </a:ext>
            </a:extLst>
          </p:cNvPr>
          <p:cNvSpPr/>
          <p:nvPr/>
        </p:nvSpPr>
        <p:spPr>
          <a:xfrm>
            <a:off x="3659660" y="5014701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651" name="Graphic 72" descr="Private subnet group icon. ">
            <a:extLst>
              <a:ext uri="{FF2B5EF4-FFF2-40B4-BE49-F238E27FC236}">
                <a16:creationId xmlns:a16="http://schemas.microsoft.com/office/drawing/2014/main" id="{D2148709-A47E-9D0F-C49B-94092AB1D8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5014700"/>
            <a:ext cx="178979" cy="178979"/>
          </a:xfrm>
          <a:prstGeom prst="rect">
            <a:avLst/>
          </a:prstGeom>
        </p:spPr>
      </p:pic>
      <p:sp>
        <p:nvSpPr>
          <p:cNvPr id="8652" name="TextBox 8651">
            <a:extLst>
              <a:ext uri="{FF2B5EF4-FFF2-40B4-BE49-F238E27FC236}">
                <a16:creationId xmlns:a16="http://schemas.microsoft.com/office/drawing/2014/main" id="{7C5D8EF3-A5C2-15C2-E2D5-3F88EF666A7A}"/>
              </a:ext>
            </a:extLst>
          </p:cNvPr>
          <p:cNvSpPr txBox="1"/>
          <p:nvPr/>
        </p:nvSpPr>
        <p:spPr>
          <a:xfrm>
            <a:off x="3869160" y="5058422"/>
            <a:ext cx="6897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53" name="그림 8652">
            <a:extLst>
              <a:ext uri="{FF2B5EF4-FFF2-40B4-BE49-F238E27FC236}">
                <a16:creationId xmlns:a16="http://schemas.microsoft.com/office/drawing/2014/main" id="{0F460281-F373-0981-86A0-5F4A6106A11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410" y="3785523"/>
            <a:ext cx="147653" cy="147653"/>
          </a:xfrm>
          <a:prstGeom prst="rect">
            <a:avLst/>
          </a:prstGeom>
        </p:spPr>
      </p:pic>
      <p:pic>
        <p:nvPicPr>
          <p:cNvPr id="8654" name="그림 8653">
            <a:extLst>
              <a:ext uri="{FF2B5EF4-FFF2-40B4-BE49-F238E27FC236}">
                <a16:creationId xmlns:a16="http://schemas.microsoft.com/office/drawing/2014/main" id="{A68980B2-96A0-DCF7-3485-146F3E6DA6C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070" y="3785523"/>
            <a:ext cx="147653" cy="147653"/>
          </a:xfrm>
          <a:prstGeom prst="rect">
            <a:avLst/>
          </a:prstGeom>
        </p:spPr>
      </p:pic>
      <p:pic>
        <p:nvPicPr>
          <p:cNvPr id="8655" name="그림 8654">
            <a:extLst>
              <a:ext uri="{FF2B5EF4-FFF2-40B4-BE49-F238E27FC236}">
                <a16:creationId xmlns:a16="http://schemas.microsoft.com/office/drawing/2014/main" id="{AAAC81CD-651F-EF62-7A0A-38C3CE16E21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828" y="4392281"/>
            <a:ext cx="147653" cy="147653"/>
          </a:xfrm>
          <a:prstGeom prst="rect">
            <a:avLst/>
          </a:prstGeom>
        </p:spPr>
      </p:pic>
      <p:pic>
        <p:nvPicPr>
          <p:cNvPr id="8656" name="그림 8655">
            <a:extLst>
              <a:ext uri="{FF2B5EF4-FFF2-40B4-BE49-F238E27FC236}">
                <a16:creationId xmlns:a16="http://schemas.microsoft.com/office/drawing/2014/main" id="{73BBF182-7AD1-724D-42B2-FA236F9115E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488" y="4392281"/>
            <a:ext cx="147653" cy="147653"/>
          </a:xfrm>
          <a:prstGeom prst="rect">
            <a:avLst/>
          </a:prstGeom>
        </p:spPr>
      </p:pic>
      <p:sp>
        <p:nvSpPr>
          <p:cNvPr id="8673" name="TextBox 8672">
            <a:extLst>
              <a:ext uri="{FF2B5EF4-FFF2-40B4-BE49-F238E27FC236}">
                <a16:creationId xmlns:a16="http://schemas.microsoft.com/office/drawing/2014/main" id="{924B28F3-5EB9-7E91-1A3C-8726C993FB11}"/>
              </a:ext>
            </a:extLst>
          </p:cNvPr>
          <p:cNvSpPr txBox="1"/>
          <p:nvPr/>
        </p:nvSpPr>
        <p:spPr>
          <a:xfrm>
            <a:off x="6236162" y="2571547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Lambda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74" name="Graphic 14" descr="Amazon Athena service icon.">
            <a:extLst>
              <a:ext uri="{FF2B5EF4-FFF2-40B4-BE49-F238E27FC236}">
                <a16:creationId xmlns:a16="http://schemas.microsoft.com/office/drawing/2014/main" id="{2CDACA71-D734-C6C9-63B0-54098F941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305502" y="2811273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75" name="TextBox 8674">
            <a:extLst>
              <a:ext uri="{FF2B5EF4-FFF2-40B4-BE49-F238E27FC236}">
                <a16:creationId xmlns:a16="http://schemas.microsoft.com/office/drawing/2014/main" id="{7E773BFC-74D8-5C36-C115-417CD776B634}"/>
              </a:ext>
            </a:extLst>
          </p:cNvPr>
          <p:cNvSpPr txBox="1"/>
          <p:nvPr/>
        </p:nvSpPr>
        <p:spPr>
          <a:xfrm>
            <a:off x="6227829" y="3024585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Athena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76" name="Graphic 20" descr="Amazon Elastic Container Registry (Amazon ECR) Service icon.">
            <a:extLst>
              <a:ext uri="{FF2B5EF4-FFF2-40B4-BE49-F238E27FC236}">
                <a16:creationId xmlns:a16="http://schemas.microsoft.com/office/drawing/2014/main" id="{8D3CD580-2EA3-7223-650A-B08F8BEAD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 bwMode="auto">
          <a:xfrm>
            <a:off x="6305502" y="3264723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77" name="TextBox 8676">
            <a:extLst>
              <a:ext uri="{FF2B5EF4-FFF2-40B4-BE49-F238E27FC236}">
                <a16:creationId xmlns:a16="http://schemas.microsoft.com/office/drawing/2014/main" id="{5818DA52-3E14-BBB4-DAA4-2CEA1A862632}"/>
              </a:ext>
            </a:extLst>
          </p:cNvPr>
          <p:cNvSpPr txBox="1"/>
          <p:nvPr/>
        </p:nvSpPr>
        <p:spPr>
          <a:xfrm>
            <a:off x="6161553" y="4184398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Batch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78" name="TextBox 8677">
            <a:extLst>
              <a:ext uri="{FF2B5EF4-FFF2-40B4-BE49-F238E27FC236}">
                <a16:creationId xmlns:a16="http://schemas.microsoft.com/office/drawing/2014/main" id="{0EC54338-2BAF-F6AB-2E2F-AFFF9EC68D71}"/>
              </a:ext>
            </a:extLst>
          </p:cNvPr>
          <p:cNvSpPr txBox="1"/>
          <p:nvPr/>
        </p:nvSpPr>
        <p:spPr>
          <a:xfrm>
            <a:off x="6212805" y="3484145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ECR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79" name="Rectangle 40">
            <a:extLst>
              <a:ext uri="{FF2B5EF4-FFF2-40B4-BE49-F238E27FC236}">
                <a16:creationId xmlns:a16="http://schemas.microsoft.com/office/drawing/2014/main" id="{B2CF659E-E010-0EBD-96E7-49CBC821F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0362" y="1568335"/>
            <a:ext cx="1222732" cy="2785257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80" name="Rectangle 39" descr="VPC group border">
            <a:extLst>
              <a:ext uri="{FF2B5EF4-FFF2-40B4-BE49-F238E27FC236}">
                <a16:creationId xmlns:a16="http://schemas.microsoft.com/office/drawing/2014/main" id="{D4F86C83-A3F4-6696-31C4-C6DD8268E03C}"/>
              </a:ext>
            </a:extLst>
          </p:cNvPr>
          <p:cNvSpPr/>
          <p:nvPr/>
        </p:nvSpPr>
        <p:spPr>
          <a:xfrm>
            <a:off x="734203" y="1213469"/>
            <a:ext cx="5300768" cy="4511039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681" name="Graphic 57" descr="VPC group icon.">
            <a:extLst>
              <a:ext uri="{FF2B5EF4-FFF2-40B4-BE49-F238E27FC236}">
                <a16:creationId xmlns:a16="http://schemas.microsoft.com/office/drawing/2014/main" id="{1BC2E9B9-49A3-8988-2B70-CF034F7F626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725191" y="1213470"/>
            <a:ext cx="288000" cy="288000"/>
          </a:xfrm>
          <a:prstGeom prst="rect">
            <a:avLst/>
          </a:prstGeom>
        </p:spPr>
      </p:pic>
      <p:pic>
        <p:nvPicPr>
          <p:cNvPr id="8682" name="그림 8681">
            <a:extLst>
              <a:ext uri="{FF2B5EF4-FFF2-40B4-BE49-F238E27FC236}">
                <a16:creationId xmlns:a16="http://schemas.microsoft.com/office/drawing/2014/main" id="{41C796CA-F9FE-5471-7AC8-079B1486842B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18764" y="6089727"/>
            <a:ext cx="327321" cy="318227"/>
          </a:xfrm>
          <a:prstGeom prst="rect">
            <a:avLst/>
          </a:prstGeom>
        </p:spPr>
      </p:pic>
      <p:pic>
        <p:nvPicPr>
          <p:cNvPr id="8683" name="그림 8682">
            <a:extLst>
              <a:ext uri="{FF2B5EF4-FFF2-40B4-BE49-F238E27FC236}">
                <a16:creationId xmlns:a16="http://schemas.microsoft.com/office/drawing/2014/main" id="{826C65AC-0747-ECC8-4984-ECF231C5CAC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166" y="1066429"/>
            <a:ext cx="291600" cy="291600"/>
          </a:xfrm>
          <a:prstGeom prst="rect">
            <a:avLst/>
          </a:prstGeom>
        </p:spPr>
      </p:pic>
      <p:sp>
        <p:nvSpPr>
          <p:cNvPr id="8684" name="TextBox 8683">
            <a:extLst>
              <a:ext uri="{FF2B5EF4-FFF2-40B4-BE49-F238E27FC236}">
                <a16:creationId xmlns:a16="http://schemas.microsoft.com/office/drawing/2014/main" id="{3A662866-9FBD-E27D-6574-6A2935B2D12E}"/>
              </a:ext>
            </a:extLst>
          </p:cNvPr>
          <p:cNvSpPr txBox="1"/>
          <p:nvPr/>
        </p:nvSpPr>
        <p:spPr>
          <a:xfrm>
            <a:off x="3556040" y="1240649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85" name="Graphic 21" descr="Amazon Route 53 service icon.">
            <a:extLst>
              <a:ext uri="{FF2B5EF4-FFF2-40B4-BE49-F238E27FC236}">
                <a16:creationId xmlns:a16="http://schemas.microsoft.com/office/drawing/2014/main" id="{8B0F7ED7-6D65-D993-C883-88BFA97CD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 bwMode="auto">
          <a:xfrm>
            <a:off x="6995763" y="1153687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86" name="TextBox 8685">
            <a:extLst>
              <a:ext uri="{FF2B5EF4-FFF2-40B4-BE49-F238E27FC236}">
                <a16:creationId xmlns:a16="http://schemas.microsoft.com/office/drawing/2014/main" id="{B981FF8D-56B3-7EA7-1719-1928C7EA854B}"/>
              </a:ext>
            </a:extLst>
          </p:cNvPr>
          <p:cNvSpPr txBox="1"/>
          <p:nvPr/>
        </p:nvSpPr>
        <p:spPr>
          <a:xfrm>
            <a:off x="6186635" y="2057630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WAF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87" name="Graphic 8" descr="AWS WAF service icon.">
            <a:extLst>
              <a:ext uri="{FF2B5EF4-FFF2-40B4-BE49-F238E27FC236}">
                <a16:creationId xmlns:a16="http://schemas.microsoft.com/office/drawing/2014/main" id="{C9EEF494-53F0-E051-D2A7-945427E1B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 bwMode="auto">
          <a:xfrm>
            <a:off x="6305502" y="1856335"/>
            <a:ext cx="159758" cy="1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88" name="Graphic 19" descr="Amazon GuardDuty service icon.">
            <a:extLst>
              <a:ext uri="{FF2B5EF4-FFF2-40B4-BE49-F238E27FC236}">
                <a16:creationId xmlns:a16="http://schemas.microsoft.com/office/drawing/2014/main" id="{904CA839-4B2C-AC38-61DC-CEA635E98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 bwMode="auto">
          <a:xfrm>
            <a:off x="6849201" y="1861661"/>
            <a:ext cx="159758" cy="1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89" name="TextBox 8688">
            <a:extLst>
              <a:ext uri="{FF2B5EF4-FFF2-40B4-BE49-F238E27FC236}">
                <a16:creationId xmlns:a16="http://schemas.microsoft.com/office/drawing/2014/main" id="{1C460CFD-4DF2-ECC1-70ED-8ECC7D52AFAB}"/>
              </a:ext>
            </a:extLst>
          </p:cNvPr>
          <p:cNvSpPr txBox="1"/>
          <p:nvPr/>
        </p:nvSpPr>
        <p:spPr>
          <a:xfrm>
            <a:off x="6645173" y="2065767"/>
            <a:ext cx="54043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GuardDuty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0" name="Graphic 17" descr="Amazon CloudWatch service icon.">
            <a:extLst>
              <a:ext uri="{FF2B5EF4-FFF2-40B4-BE49-F238E27FC236}">
                <a16:creationId xmlns:a16="http://schemas.microsoft.com/office/drawing/2014/main" id="{95EA1D7A-D6AD-87C3-FF32-1516224E9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 bwMode="auto">
          <a:xfrm>
            <a:off x="6849201" y="2342515"/>
            <a:ext cx="163816" cy="163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91" name="TextBox 8690">
            <a:extLst>
              <a:ext uri="{FF2B5EF4-FFF2-40B4-BE49-F238E27FC236}">
                <a16:creationId xmlns:a16="http://schemas.microsoft.com/office/drawing/2014/main" id="{8570C37F-C537-4691-88D5-AE3426FA28DD}"/>
              </a:ext>
            </a:extLst>
          </p:cNvPr>
          <p:cNvSpPr txBox="1"/>
          <p:nvPr/>
        </p:nvSpPr>
        <p:spPr>
          <a:xfrm>
            <a:off x="6679294" y="2578123"/>
            <a:ext cx="535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CloudWatch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2" name="Graphic 8" descr="AWS Config service icon.">
            <a:extLst>
              <a:ext uri="{FF2B5EF4-FFF2-40B4-BE49-F238E27FC236}">
                <a16:creationId xmlns:a16="http://schemas.microsoft.com/office/drawing/2014/main" id="{938F5D32-42DC-2E98-19B1-BD6F201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 bwMode="auto">
          <a:xfrm>
            <a:off x="6849201" y="2809598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93" name="TextBox 8692">
            <a:extLst>
              <a:ext uri="{FF2B5EF4-FFF2-40B4-BE49-F238E27FC236}">
                <a16:creationId xmlns:a16="http://schemas.microsoft.com/office/drawing/2014/main" id="{CDCAC019-98D6-0E65-C555-A4255371CDC1}"/>
              </a:ext>
            </a:extLst>
          </p:cNvPr>
          <p:cNvSpPr txBox="1"/>
          <p:nvPr/>
        </p:nvSpPr>
        <p:spPr>
          <a:xfrm>
            <a:off x="6687530" y="3024585"/>
            <a:ext cx="535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Config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4" name="Graphic 20" descr="AWS Certificate Manager (ACM) service icon.">
            <a:extLst>
              <a:ext uri="{FF2B5EF4-FFF2-40B4-BE49-F238E27FC236}">
                <a16:creationId xmlns:a16="http://schemas.microsoft.com/office/drawing/2014/main" id="{7852B9C2-7612-5FB3-6D2A-3D2050A4A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 bwMode="auto">
          <a:xfrm>
            <a:off x="6849201" y="3259822"/>
            <a:ext cx="167546" cy="167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95" name="TextBox 8694">
            <a:extLst>
              <a:ext uri="{FF2B5EF4-FFF2-40B4-BE49-F238E27FC236}">
                <a16:creationId xmlns:a16="http://schemas.microsoft.com/office/drawing/2014/main" id="{202E2381-7027-B6B4-692E-56CD813FFF86}"/>
              </a:ext>
            </a:extLst>
          </p:cNvPr>
          <p:cNvSpPr txBox="1"/>
          <p:nvPr/>
        </p:nvSpPr>
        <p:spPr>
          <a:xfrm>
            <a:off x="6810194" y="3484145"/>
            <a:ext cx="2432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ACM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96" name="TextBox 8695">
            <a:extLst>
              <a:ext uri="{FF2B5EF4-FFF2-40B4-BE49-F238E27FC236}">
                <a16:creationId xmlns:a16="http://schemas.microsoft.com/office/drawing/2014/main" id="{12BEAC71-0C91-DCD0-FB0D-2BEBEF46DBBB}"/>
              </a:ext>
            </a:extLst>
          </p:cNvPr>
          <p:cNvSpPr txBox="1"/>
          <p:nvPr/>
        </p:nvSpPr>
        <p:spPr>
          <a:xfrm>
            <a:off x="6885186" y="1342986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Route53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97" name="TextBox 8696">
            <a:extLst>
              <a:ext uri="{FF2B5EF4-FFF2-40B4-BE49-F238E27FC236}">
                <a16:creationId xmlns:a16="http://schemas.microsoft.com/office/drawing/2014/main" id="{7AAB4045-A7CB-3DA1-DB56-8ABE1E2B41F8}"/>
              </a:ext>
            </a:extLst>
          </p:cNvPr>
          <p:cNvSpPr txBox="1"/>
          <p:nvPr/>
        </p:nvSpPr>
        <p:spPr>
          <a:xfrm>
            <a:off x="6569973" y="1350449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WAF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8" name="Graphic 8" descr="AWS WAF service icon.">
            <a:extLst>
              <a:ext uri="{FF2B5EF4-FFF2-40B4-BE49-F238E27FC236}">
                <a16:creationId xmlns:a16="http://schemas.microsoft.com/office/drawing/2014/main" id="{D6362DCC-BA46-640A-BA3A-B4BB3FAF6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 bwMode="auto">
          <a:xfrm>
            <a:off x="6687530" y="1153856"/>
            <a:ext cx="173356" cy="17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99" name="그림 8698">
            <a:extLst>
              <a:ext uri="{FF2B5EF4-FFF2-40B4-BE49-F238E27FC236}">
                <a16:creationId xmlns:a16="http://schemas.microsoft.com/office/drawing/2014/main" id="{6012BC95-D40C-D3B6-ABB5-9281498DBB8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380" y="1602181"/>
            <a:ext cx="199202" cy="199202"/>
          </a:xfrm>
          <a:prstGeom prst="rect">
            <a:avLst/>
          </a:prstGeom>
        </p:spPr>
      </p:pic>
      <p:sp>
        <p:nvSpPr>
          <p:cNvPr id="8700" name="TextBox 8699">
            <a:extLst>
              <a:ext uri="{FF2B5EF4-FFF2-40B4-BE49-F238E27FC236}">
                <a16:creationId xmlns:a16="http://schemas.microsoft.com/office/drawing/2014/main" id="{FB1EF461-93BC-D774-5137-DED3186EA91E}"/>
              </a:ext>
            </a:extLst>
          </p:cNvPr>
          <p:cNvSpPr txBox="1"/>
          <p:nvPr/>
        </p:nvSpPr>
        <p:spPr>
          <a:xfrm>
            <a:off x="6426099" y="1670506"/>
            <a:ext cx="2432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01" name="Graphic 19" descr="Amazon CloudFront service icon.">
            <a:extLst>
              <a:ext uri="{FF2B5EF4-FFF2-40B4-BE49-F238E27FC236}">
                <a16:creationId xmlns:a16="http://schemas.microsoft.com/office/drawing/2014/main" id="{38749E8F-3726-1905-DA07-AF67E2C1A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 bwMode="auto">
          <a:xfrm>
            <a:off x="6305502" y="1153687"/>
            <a:ext cx="173356" cy="17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2" name="TextBox 8701">
            <a:extLst>
              <a:ext uri="{FF2B5EF4-FFF2-40B4-BE49-F238E27FC236}">
                <a16:creationId xmlns:a16="http://schemas.microsoft.com/office/drawing/2014/main" id="{E15E0276-F37F-B9D4-0E41-58E27CA9CC12}"/>
              </a:ext>
            </a:extLst>
          </p:cNvPr>
          <p:cNvSpPr txBox="1"/>
          <p:nvPr/>
        </p:nvSpPr>
        <p:spPr>
          <a:xfrm>
            <a:off x="6126477" y="1349080"/>
            <a:ext cx="52559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CloudFront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03" name="그림 8702">
            <a:extLst>
              <a:ext uri="{FF2B5EF4-FFF2-40B4-BE49-F238E27FC236}">
                <a16:creationId xmlns:a16="http://schemas.microsoft.com/office/drawing/2014/main" id="{F67C5148-7228-8C07-73BC-7F42DF057D2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186" y="5211529"/>
            <a:ext cx="162032" cy="162032"/>
          </a:xfrm>
          <a:prstGeom prst="rect">
            <a:avLst/>
          </a:prstGeom>
        </p:spPr>
      </p:pic>
      <p:pic>
        <p:nvPicPr>
          <p:cNvPr id="8320" name="그림 8319">
            <a:extLst>
              <a:ext uri="{FF2B5EF4-FFF2-40B4-BE49-F238E27FC236}">
                <a16:creationId xmlns:a16="http://schemas.microsoft.com/office/drawing/2014/main" id="{32490319-E57C-C12A-2B44-AD932C4E9165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597" y="5217246"/>
            <a:ext cx="162032" cy="162032"/>
          </a:xfrm>
          <a:prstGeom prst="rect">
            <a:avLst/>
          </a:prstGeom>
        </p:spPr>
      </p:pic>
      <p:cxnSp>
        <p:nvCxnSpPr>
          <p:cNvPr id="8321" name="꺾인 연결선[E] 8320">
            <a:extLst>
              <a:ext uri="{FF2B5EF4-FFF2-40B4-BE49-F238E27FC236}">
                <a16:creationId xmlns:a16="http://schemas.microsoft.com/office/drawing/2014/main" id="{BDCBA0F3-878B-2945-F96D-EAA79BBFDBA4}"/>
              </a:ext>
            </a:extLst>
          </p:cNvPr>
          <p:cNvCxnSpPr>
            <a:cxnSpLocks/>
            <a:stCxn id="8703" idx="2"/>
            <a:endCxn id="8389" idx="1"/>
          </p:cNvCxnSpPr>
          <p:nvPr/>
        </p:nvCxnSpPr>
        <p:spPr>
          <a:xfrm rot="16200000" flipH="1">
            <a:off x="2747575" y="5600188"/>
            <a:ext cx="783720" cy="330466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2" name="꺾인 연결선[E] 8321">
            <a:extLst>
              <a:ext uri="{FF2B5EF4-FFF2-40B4-BE49-F238E27FC236}">
                <a16:creationId xmlns:a16="http://schemas.microsoft.com/office/drawing/2014/main" id="{B2655DA0-BBB1-F142-F46B-8D6191CA6DC2}"/>
              </a:ext>
            </a:extLst>
          </p:cNvPr>
          <p:cNvCxnSpPr>
            <a:cxnSpLocks/>
            <a:stCxn id="8320" idx="2"/>
            <a:endCxn id="8387" idx="3"/>
          </p:cNvCxnSpPr>
          <p:nvPr/>
        </p:nvCxnSpPr>
        <p:spPr>
          <a:xfrm rot="5400000">
            <a:off x="3467665" y="5578332"/>
            <a:ext cx="778003" cy="379894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23" name="그림 8322">
            <a:extLst>
              <a:ext uri="{FF2B5EF4-FFF2-40B4-BE49-F238E27FC236}">
                <a16:creationId xmlns:a16="http://schemas.microsoft.com/office/drawing/2014/main" id="{4F40DC29-6BF8-501B-B0A0-623E5CB4D1FA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957571" y="5640037"/>
            <a:ext cx="162032" cy="162032"/>
          </a:xfrm>
          <a:prstGeom prst="rect">
            <a:avLst/>
          </a:prstGeom>
        </p:spPr>
      </p:pic>
      <p:pic>
        <p:nvPicPr>
          <p:cNvPr id="8324" name="그림 8323">
            <a:extLst>
              <a:ext uri="{FF2B5EF4-FFF2-40B4-BE49-F238E27FC236}">
                <a16:creationId xmlns:a16="http://schemas.microsoft.com/office/drawing/2014/main" id="{B29C361A-6563-9AB8-E649-BF864D741C95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880410" y="5641608"/>
            <a:ext cx="162032" cy="162032"/>
          </a:xfrm>
          <a:prstGeom prst="rect">
            <a:avLst/>
          </a:prstGeom>
        </p:spPr>
      </p:pic>
      <p:sp>
        <p:nvSpPr>
          <p:cNvPr id="8326" name="모서리가 둥근 직사각형 8325">
            <a:extLst>
              <a:ext uri="{FF2B5EF4-FFF2-40B4-BE49-F238E27FC236}">
                <a16:creationId xmlns:a16="http://schemas.microsoft.com/office/drawing/2014/main" id="{7A7DF1E2-D269-A9F5-4C0F-3145BC72A433}"/>
              </a:ext>
            </a:extLst>
          </p:cNvPr>
          <p:cNvSpPr/>
          <p:nvPr/>
        </p:nvSpPr>
        <p:spPr>
          <a:xfrm>
            <a:off x="3551789" y="6234455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29" name="TextBox 8328">
            <a:extLst>
              <a:ext uri="{FF2B5EF4-FFF2-40B4-BE49-F238E27FC236}">
                <a16:creationId xmlns:a16="http://schemas.microsoft.com/office/drawing/2014/main" id="{FBE7C4C0-0532-281A-0C95-6E9D0DD9A99B}"/>
              </a:ext>
            </a:extLst>
          </p:cNvPr>
          <p:cNvSpPr txBox="1"/>
          <p:nvPr/>
        </p:nvSpPr>
        <p:spPr>
          <a:xfrm>
            <a:off x="7893891" y="4756084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30" name="TextBox 8329">
            <a:extLst>
              <a:ext uri="{FF2B5EF4-FFF2-40B4-BE49-F238E27FC236}">
                <a16:creationId xmlns:a16="http://schemas.microsoft.com/office/drawing/2014/main" id="{58C4A122-385D-4C57-5CCD-67BAB5215B7F}"/>
              </a:ext>
            </a:extLst>
          </p:cNvPr>
          <p:cNvSpPr txBox="1"/>
          <p:nvPr/>
        </p:nvSpPr>
        <p:spPr>
          <a:xfrm>
            <a:off x="3047027" y="6236823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31" name="TextBox 8330">
            <a:extLst>
              <a:ext uri="{FF2B5EF4-FFF2-40B4-BE49-F238E27FC236}">
                <a16:creationId xmlns:a16="http://schemas.microsoft.com/office/drawing/2014/main" id="{A372E8EA-705C-01C8-A791-6F5D63D48EE9}"/>
              </a:ext>
            </a:extLst>
          </p:cNvPr>
          <p:cNvSpPr txBox="1"/>
          <p:nvPr/>
        </p:nvSpPr>
        <p:spPr>
          <a:xfrm>
            <a:off x="5522247" y="1398616"/>
            <a:ext cx="298922" cy="138499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C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8332" name="직선 연결선[R] 8331">
            <a:extLst>
              <a:ext uri="{FF2B5EF4-FFF2-40B4-BE49-F238E27FC236}">
                <a16:creationId xmlns:a16="http://schemas.microsoft.com/office/drawing/2014/main" id="{57731CE8-4B63-63B2-32C0-915CD58D8CDB}"/>
              </a:ext>
            </a:extLst>
          </p:cNvPr>
          <p:cNvCxnSpPr>
            <a:cxnSpLocks/>
            <a:stCxn id="8701" idx="2"/>
            <a:endCxn id="8699" idx="0"/>
          </p:cNvCxnSpPr>
          <p:nvPr/>
        </p:nvCxnSpPr>
        <p:spPr>
          <a:xfrm flipH="1">
            <a:off x="6391981" y="1327043"/>
            <a:ext cx="199" cy="275138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33" name="그림 8332">
            <a:extLst>
              <a:ext uri="{FF2B5EF4-FFF2-40B4-BE49-F238E27FC236}">
                <a16:creationId xmlns:a16="http://schemas.microsoft.com/office/drawing/2014/main" id="{C7110193-79A9-086D-9EF8-5727C48B1AA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255" y="4441205"/>
            <a:ext cx="231583" cy="231583"/>
          </a:xfrm>
          <a:prstGeom prst="rect">
            <a:avLst/>
          </a:prstGeom>
        </p:spPr>
      </p:pic>
      <p:cxnSp>
        <p:nvCxnSpPr>
          <p:cNvPr id="8336" name="꺾인 연결선[E] 8335">
            <a:extLst>
              <a:ext uri="{FF2B5EF4-FFF2-40B4-BE49-F238E27FC236}">
                <a16:creationId xmlns:a16="http://schemas.microsoft.com/office/drawing/2014/main" id="{F148DE90-4525-2AA7-3261-F5678555F531}"/>
              </a:ext>
            </a:extLst>
          </p:cNvPr>
          <p:cNvCxnSpPr>
            <a:cxnSpLocks/>
            <a:stCxn id="8333" idx="3"/>
            <a:endCxn id="8357" idx="2"/>
          </p:cNvCxnSpPr>
          <p:nvPr/>
        </p:nvCxnSpPr>
        <p:spPr>
          <a:xfrm flipV="1">
            <a:off x="6170838" y="4438105"/>
            <a:ext cx="758242" cy="118892"/>
          </a:xfrm>
          <a:prstGeom prst="bentConnector2">
            <a:avLst/>
          </a:prstGeom>
          <a:ln w="19050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43" name="그림 8342">
            <a:extLst>
              <a:ext uri="{FF2B5EF4-FFF2-40B4-BE49-F238E27FC236}">
                <a16:creationId xmlns:a16="http://schemas.microsoft.com/office/drawing/2014/main" id="{0223CAFE-6842-1BE6-D3EC-34E93009B900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819532" y="5895468"/>
            <a:ext cx="454162" cy="126156"/>
          </a:xfrm>
          <a:prstGeom prst="rect">
            <a:avLst/>
          </a:prstGeom>
        </p:spPr>
      </p:pic>
      <p:pic>
        <p:nvPicPr>
          <p:cNvPr id="8344" name="그림 8343">
            <a:extLst>
              <a:ext uri="{FF2B5EF4-FFF2-40B4-BE49-F238E27FC236}">
                <a16:creationId xmlns:a16="http://schemas.microsoft.com/office/drawing/2014/main" id="{9CB4FC8E-7FAF-DDCF-4C8B-38C50361BAEB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718317" y="5893465"/>
            <a:ext cx="454162" cy="126156"/>
          </a:xfrm>
          <a:prstGeom prst="rect">
            <a:avLst/>
          </a:prstGeom>
        </p:spPr>
      </p:pic>
      <p:cxnSp>
        <p:nvCxnSpPr>
          <p:cNvPr id="8355" name="구부러진 연결선[U] 8354">
            <a:extLst>
              <a:ext uri="{FF2B5EF4-FFF2-40B4-BE49-F238E27FC236}">
                <a16:creationId xmlns:a16="http://schemas.microsoft.com/office/drawing/2014/main" id="{01A5A35B-BC7D-F80A-7E45-01E6A094760C}"/>
              </a:ext>
            </a:extLst>
          </p:cNvPr>
          <p:cNvCxnSpPr>
            <a:cxnSpLocks/>
            <a:stCxn id="8515" idx="0"/>
            <a:endCxn id="8687" idx="0"/>
          </p:cNvCxnSpPr>
          <p:nvPr/>
        </p:nvCxnSpPr>
        <p:spPr>
          <a:xfrm rot="16200000" flipH="1">
            <a:off x="5632018" y="1102972"/>
            <a:ext cx="11745" cy="1494980"/>
          </a:xfrm>
          <a:prstGeom prst="curvedConnector3">
            <a:avLst>
              <a:gd name="adj1" fmla="val -194636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56" name="Rectangle 40">
            <a:extLst>
              <a:ext uri="{FF2B5EF4-FFF2-40B4-BE49-F238E27FC236}">
                <a16:creationId xmlns:a16="http://schemas.microsoft.com/office/drawing/2014/main" id="{7587BEC0-3938-2087-19CC-18115B1E8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0362" y="1096006"/>
            <a:ext cx="1234627" cy="402472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57" name="그림 8356">
            <a:extLst>
              <a:ext uri="{FF2B5EF4-FFF2-40B4-BE49-F238E27FC236}">
                <a16:creationId xmlns:a16="http://schemas.microsoft.com/office/drawing/2014/main" id="{35355BF9-F7CB-53A2-A893-21471D5B9F3D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609477" y="4291781"/>
            <a:ext cx="639205" cy="146324"/>
          </a:xfrm>
          <a:prstGeom prst="rect">
            <a:avLst/>
          </a:prstGeom>
        </p:spPr>
      </p:pic>
      <p:pic>
        <p:nvPicPr>
          <p:cNvPr id="8358" name="그림 8357">
            <a:extLst>
              <a:ext uri="{FF2B5EF4-FFF2-40B4-BE49-F238E27FC236}">
                <a16:creationId xmlns:a16="http://schemas.microsoft.com/office/drawing/2014/main" id="{60FCD15C-9514-85D2-F401-7920E50FCD5E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609477" y="1434129"/>
            <a:ext cx="649945" cy="147011"/>
          </a:xfrm>
          <a:prstGeom prst="rect">
            <a:avLst/>
          </a:prstGeom>
        </p:spPr>
      </p:pic>
      <p:pic>
        <p:nvPicPr>
          <p:cNvPr id="8359" name="그림 8358">
            <a:extLst>
              <a:ext uri="{FF2B5EF4-FFF2-40B4-BE49-F238E27FC236}">
                <a16:creationId xmlns:a16="http://schemas.microsoft.com/office/drawing/2014/main" id="{55D494F8-E5F5-EFA6-9A34-3CF9935554BF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183260" y="3126354"/>
            <a:ext cx="575175" cy="159386"/>
          </a:xfrm>
          <a:prstGeom prst="rect">
            <a:avLst/>
          </a:prstGeom>
        </p:spPr>
      </p:pic>
      <p:pic>
        <p:nvPicPr>
          <p:cNvPr id="8362" name="Picture 2" descr="Datadog | Slack App Directory">
            <a:extLst>
              <a:ext uri="{FF2B5EF4-FFF2-40B4-BE49-F238E27FC236}">
                <a16:creationId xmlns:a16="http://schemas.microsoft.com/office/drawing/2014/main" id="{BBAF0520-4E1E-1A80-18B6-F7FA0FF86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528" y="3179737"/>
            <a:ext cx="183850" cy="183850"/>
          </a:xfrm>
          <a:prstGeom prst="roundRect">
            <a:avLst>
              <a:gd name="adj" fmla="val 1065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63" name="그림 8362">
            <a:extLst>
              <a:ext uri="{FF2B5EF4-FFF2-40B4-BE49-F238E27FC236}">
                <a16:creationId xmlns:a16="http://schemas.microsoft.com/office/drawing/2014/main" id="{6FC0D2FA-E59F-B821-A4AA-62807E513C9B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553" y="4791922"/>
            <a:ext cx="216000" cy="216000"/>
          </a:xfrm>
          <a:prstGeom prst="rect">
            <a:avLst/>
          </a:prstGeom>
        </p:spPr>
      </p:pic>
      <p:grpSp>
        <p:nvGrpSpPr>
          <p:cNvPr id="8364" name="그룹 8363">
            <a:extLst>
              <a:ext uri="{FF2B5EF4-FFF2-40B4-BE49-F238E27FC236}">
                <a16:creationId xmlns:a16="http://schemas.microsoft.com/office/drawing/2014/main" id="{2DBEB6F7-B03E-3536-DC62-86A7A5470318}"/>
              </a:ext>
            </a:extLst>
          </p:cNvPr>
          <p:cNvGrpSpPr/>
          <p:nvPr/>
        </p:nvGrpSpPr>
        <p:grpSpPr>
          <a:xfrm>
            <a:off x="6955026" y="5562334"/>
            <a:ext cx="832847" cy="288328"/>
            <a:chOff x="4024949" y="1984841"/>
            <a:chExt cx="832847" cy="288328"/>
          </a:xfrm>
        </p:grpSpPr>
        <p:sp>
          <p:nvSpPr>
            <p:cNvPr id="8367" name="Rectangle 39" descr="VPC group border">
              <a:extLst>
                <a:ext uri="{FF2B5EF4-FFF2-40B4-BE49-F238E27FC236}">
                  <a16:creationId xmlns:a16="http://schemas.microsoft.com/office/drawing/2014/main" id="{A0E9F60D-5DAD-A720-2033-83A8FFF2DACE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68" name="Graphic 57" descr="VPC group icon.">
              <a:extLst>
                <a:ext uri="{FF2B5EF4-FFF2-40B4-BE49-F238E27FC236}">
                  <a16:creationId xmlns:a16="http://schemas.microsoft.com/office/drawing/2014/main" id="{47190899-FA4F-D66D-2F3A-53462081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369" name="TextBox 8368">
              <a:extLst>
                <a:ext uri="{FF2B5EF4-FFF2-40B4-BE49-F238E27FC236}">
                  <a16:creationId xmlns:a16="http://schemas.microsoft.com/office/drawing/2014/main" id="{BDCDB935-1A04-C0B1-A964-3F2B2A3E82E8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Seoul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grpSp>
        <p:nvGrpSpPr>
          <p:cNvPr id="8370" name="그룹 8369">
            <a:extLst>
              <a:ext uri="{FF2B5EF4-FFF2-40B4-BE49-F238E27FC236}">
                <a16:creationId xmlns:a16="http://schemas.microsoft.com/office/drawing/2014/main" id="{7969078F-78DD-BA13-D1B7-C7E6E8177F58}"/>
              </a:ext>
            </a:extLst>
          </p:cNvPr>
          <p:cNvGrpSpPr/>
          <p:nvPr/>
        </p:nvGrpSpPr>
        <p:grpSpPr>
          <a:xfrm>
            <a:off x="6955026" y="5160280"/>
            <a:ext cx="832847" cy="288328"/>
            <a:chOff x="4024949" y="1984841"/>
            <a:chExt cx="832847" cy="288328"/>
          </a:xfrm>
        </p:grpSpPr>
        <p:sp>
          <p:nvSpPr>
            <p:cNvPr id="8372" name="Rectangle 39" descr="VPC group border">
              <a:extLst>
                <a:ext uri="{FF2B5EF4-FFF2-40B4-BE49-F238E27FC236}">
                  <a16:creationId xmlns:a16="http://schemas.microsoft.com/office/drawing/2014/main" id="{5F699692-4158-1D4C-641F-4DC36F975D32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73" name="Graphic 57" descr="VPC group icon.">
              <a:extLst>
                <a:ext uri="{FF2B5EF4-FFF2-40B4-BE49-F238E27FC236}">
                  <a16:creationId xmlns:a16="http://schemas.microsoft.com/office/drawing/2014/main" id="{9E293478-EC3E-79E3-0D72-55C4A2DB4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374" name="TextBox 8373">
              <a:extLst>
                <a:ext uri="{FF2B5EF4-FFF2-40B4-BE49-F238E27FC236}">
                  <a16:creationId xmlns:a16="http://schemas.microsoft.com/office/drawing/2014/main" id="{2DDF3B8D-4517-CBF5-5CC5-24835A7CAF93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Tokyo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grpSp>
        <p:nvGrpSpPr>
          <p:cNvPr id="8376" name="그룹 8375">
            <a:extLst>
              <a:ext uri="{FF2B5EF4-FFF2-40B4-BE49-F238E27FC236}">
                <a16:creationId xmlns:a16="http://schemas.microsoft.com/office/drawing/2014/main" id="{6D72CEB2-4863-B7DA-BC41-4219B62B4BDB}"/>
              </a:ext>
            </a:extLst>
          </p:cNvPr>
          <p:cNvGrpSpPr/>
          <p:nvPr/>
        </p:nvGrpSpPr>
        <p:grpSpPr>
          <a:xfrm>
            <a:off x="6955026" y="4758226"/>
            <a:ext cx="832847" cy="288328"/>
            <a:chOff x="4024949" y="1984841"/>
            <a:chExt cx="832847" cy="288328"/>
          </a:xfrm>
        </p:grpSpPr>
        <p:sp>
          <p:nvSpPr>
            <p:cNvPr id="8378" name="Rectangle 39" descr="VPC group border">
              <a:extLst>
                <a:ext uri="{FF2B5EF4-FFF2-40B4-BE49-F238E27FC236}">
                  <a16:creationId xmlns:a16="http://schemas.microsoft.com/office/drawing/2014/main" id="{82F68ED6-8185-B1A4-7D49-8C67ECBD0463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79" name="Graphic 57" descr="VPC group icon.">
              <a:extLst>
                <a:ext uri="{FF2B5EF4-FFF2-40B4-BE49-F238E27FC236}">
                  <a16:creationId xmlns:a16="http://schemas.microsoft.com/office/drawing/2014/main" id="{EBA44CFC-D079-824B-C9F9-463A22EA8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380" name="TextBox 8379">
              <a:extLst>
                <a:ext uri="{FF2B5EF4-FFF2-40B4-BE49-F238E27FC236}">
                  <a16:creationId xmlns:a16="http://schemas.microsoft.com/office/drawing/2014/main" id="{017B9017-E289-29C7-09BA-2999A87716D7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London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cxnSp>
        <p:nvCxnSpPr>
          <p:cNvPr id="8381" name="꺾인 연결선[E] 8380">
            <a:extLst>
              <a:ext uri="{FF2B5EF4-FFF2-40B4-BE49-F238E27FC236}">
                <a16:creationId xmlns:a16="http://schemas.microsoft.com/office/drawing/2014/main" id="{195ED611-82DB-7ECA-6E20-45D4CA30AF51}"/>
              </a:ext>
            </a:extLst>
          </p:cNvPr>
          <p:cNvCxnSpPr>
            <a:cxnSpLocks/>
            <a:stCxn id="8363" idx="3"/>
            <a:endCxn id="8373" idx="1"/>
          </p:cNvCxnSpPr>
          <p:nvPr/>
        </p:nvCxnSpPr>
        <p:spPr>
          <a:xfrm>
            <a:off x="6161553" y="4899922"/>
            <a:ext cx="793473" cy="404358"/>
          </a:xfrm>
          <a:prstGeom prst="bentConnector3">
            <a:avLst>
              <a:gd name="adj1" fmla="val 5000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2" name="직선 연결선[R] 8381">
            <a:extLst>
              <a:ext uri="{FF2B5EF4-FFF2-40B4-BE49-F238E27FC236}">
                <a16:creationId xmlns:a16="http://schemas.microsoft.com/office/drawing/2014/main" id="{3778A614-47BF-CF21-14F7-88980CA7FF75}"/>
              </a:ext>
            </a:extLst>
          </p:cNvPr>
          <p:cNvCxnSpPr>
            <a:cxnSpLocks/>
            <a:stCxn id="8363" idx="3"/>
            <a:endCxn id="8379" idx="1"/>
          </p:cNvCxnSpPr>
          <p:nvPr/>
        </p:nvCxnSpPr>
        <p:spPr>
          <a:xfrm>
            <a:off x="6161553" y="4899922"/>
            <a:ext cx="793473" cy="2304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3" name="꺾인 연결선[E] 8382">
            <a:extLst>
              <a:ext uri="{FF2B5EF4-FFF2-40B4-BE49-F238E27FC236}">
                <a16:creationId xmlns:a16="http://schemas.microsoft.com/office/drawing/2014/main" id="{15301631-91A7-2984-A226-C701C4C3D579}"/>
              </a:ext>
            </a:extLst>
          </p:cNvPr>
          <p:cNvCxnSpPr>
            <a:cxnSpLocks/>
            <a:stCxn id="8363" idx="3"/>
            <a:endCxn id="8368" idx="1"/>
          </p:cNvCxnSpPr>
          <p:nvPr/>
        </p:nvCxnSpPr>
        <p:spPr>
          <a:xfrm>
            <a:off x="6161553" y="4899922"/>
            <a:ext cx="793473" cy="806412"/>
          </a:xfrm>
          <a:prstGeom prst="bentConnector3">
            <a:avLst>
              <a:gd name="adj1" fmla="val 5000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84" name="그림 8383">
            <a:extLst>
              <a:ext uri="{FF2B5EF4-FFF2-40B4-BE49-F238E27FC236}">
                <a16:creationId xmlns:a16="http://schemas.microsoft.com/office/drawing/2014/main" id="{D530E76F-676E-5798-A2B7-FB3AF92199C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323820" y="5628555"/>
            <a:ext cx="372357" cy="153671"/>
          </a:xfrm>
          <a:prstGeom prst="rect">
            <a:avLst/>
          </a:prstGeom>
        </p:spPr>
      </p:pic>
      <p:pic>
        <p:nvPicPr>
          <p:cNvPr id="8385" name="그림 8384">
            <a:extLst>
              <a:ext uri="{FF2B5EF4-FFF2-40B4-BE49-F238E27FC236}">
                <a16:creationId xmlns:a16="http://schemas.microsoft.com/office/drawing/2014/main" id="{2123208F-C1B6-1EE0-7476-452F44E1E1C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323756" y="4842084"/>
            <a:ext cx="372357" cy="153671"/>
          </a:xfrm>
          <a:prstGeom prst="rect">
            <a:avLst/>
          </a:prstGeom>
        </p:spPr>
      </p:pic>
      <p:cxnSp>
        <p:nvCxnSpPr>
          <p:cNvPr id="8386" name="직선 연결선[R] 8385">
            <a:extLst>
              <a:ext uri="{FF2B5EF4-FFF2-40B4-BE49-F238E27FC236}">
                <a16:creationId xmlns:a16="http://schemas.microsoft.com/office/drawing/2014/main" id="{1B010B72-4FC5-0A07-46EF-A74F4B42F247}"/>
              </a:ext>
            </a:extLst>
          </p:cNvPr>
          <p:cNvCxnSpPr>
            <a:cxnSpLocks/>
            <a:stCxn id="8701" idx="3"/>
            <a:endCxn id="8698" idx="1"/>
          </p:cNvCxnSpPr>
          <p:nvPr/>
        </p:nvCxnSpPr>
        <p:spPr>
          <a:xfrm>
            <a:off x="6478858" y="1240365"/>
            <a:ext cx="208672" cy="169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87" name="모서리가 둥근 직사각형 8386">
            <a:extLst>
              <a:ext uri="{FF2B5EF4-FFF2-40B4-BE49-F238E27FC236}">
                <a16:creationId xmlns:a16="http://schemas.microsoft.com/office/drawing/2014/main" id="{9BC24BFA-B9D6-8E16-A1F2-B5611202EB65}"/>
              </a:ext>
            </a:extLst>
          </p:cNvPr>
          <p:cNvSpPr/>
          <p:nvPr/>
        </p:nvSpPr>
        <p:spPr>
          <a:xfrm>
            <a:off x="3554550" y="6097900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89" name="모서리가 둥근 직사각형 8388">
            <a:extLst>
              <a:ext uri="{FF2B5EF4-FFF2-40B4-BE49-F238E27FC236}">
                <a16:creationId xmlns:a16="http://schemas.microsoft.com/office/drawing/2014/main" id="{22EC118D-4238-B4D3-807C-56E53839A6AB}"/>
              </a:ext>
            </a:extLst>
          </p:cNvPr>
          <p:cNvSpPr/>
          <p:nvPr/>
        </p:nvSpPr>
        <p:spPr>
          <a:xfrm>
            <a:off x="3304668" y="6097900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392" name="그림 8391">
            <a:extLst>
              <a:ext uri="{FF2B5EF4-FFF2-40B4-BE49-F238E27FC236}">
                <a16:creationId xmlns:a16="http://schemas.microsoft.com/office/drawing/2014/main" id="{5446830C-966F-8A95-9839-4849CDBAA30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4803355"/>
            <a:ext cx="216000" cy="216000"/>
          </a:xfrm>
          <a:prstGeom prst="rect">
            <a:avLst/>
          </a:prstGeom>
        </p:spPr>
      </p:pic>
      <p:pic>
        <p:nvPicPr>
          <p:cNvPr id="8394" name="그림 8393">
            <a:extLst>
              <a:ext uri="{FF2B5EF4-FFF2-40B4-BE49-F238E27FC236}">
                <a16:creationId xmlns:a16="http://schemas.microsoft.com/office/drawing/2014/main" id="{CF0C16D9-3C3F-ABD3-47BE-08BABF338F6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5201757"/>
            <a:ext cx="216000" cy="216000"/>
          </a:xfrm>
          <a:prstGeom prst="rect">
            <a:avLst/>
          </a:prstGeom>
        </p:spPr>
      </p:pic>
      <p:pic>
        <p:nvPicPr>
          <p:cNvPr id="8401" name="그림 8400">
            <a:extLst>
              <a:ext uri="{FF2B5EF4-FFF2-40B4-BE49-F238E27FC236}">
                <a16:creationId xmlns:a16="http://schemas.microsoft.com/office/drawing/2014/main" id="{9EEA7C0E-E7C6-D17B-4A99-D89BCE65D32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5603832"/>
            <a:ext cx="216000" cy="216000"/>
          </a:xfrm>
          <a:prstGeom prst="rect">
            <a:avLst/>
          </a:prstGeom>
        </p:spPr>
      </p:pic>
      <p:pic>
        <p:nvPicPr>
          <p:cNvPr id="8402" name="그림 8401">
            <a:extLst>
              <a:ext uri="{FF2B5EF4-FFF2-40B4-BE49-F238E27FC236}">
                <a16:creationId xmlns:a16="http://schemas.microsoft.com/office/drawing/2014/main" id="{EBD89AE6-E0DD-F652-5652-A01C62019BC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21633" y="4798734"/>
            <a:ext cx="215999" cy="209998"/>
          </a:xfrm>
          <a:prstGeom prst="rect">
            <a:avLst/>
          </a:prstGeom>
        </p:spPr>
      </p:pic>
      <p:pic>
        <p:nvPicPr>
          <p:cNvPr id="8403" name="그림 8402">
            <a:extLst>
              <a:ext uri="{FF2B5EF4-FFF2-40B4-BE49-F238E27FC236}">
                <a16:creationId xmlns:a16="http://schemas.microsoft.com/office/drawing/2014/main" id="{B7FBD672-97D9-8CB6-168F-64699DFDDE16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07906" y="5205010"/>
            <a:ext cx="215999" cy="209998"/>
          </a:xfrm>
          <a:prstGeom prst="rect">
            <a:avLst/>
          </a:prstGeom>
        </p:spPr>
      </p:pic>
      <p:pic>
        <p:nvPicPr>
          <p:cNvPr id="8404" name="그림 8403">
            <a:extLst>
              <a:ext uri="{FF2B5EF4-FFF2-40B4-BE49-F238E27FC236}">
                <a16:creationId xmlns:a16="http://schemas.microsoft.com/office/drawing/2014/main" id="{6E19357B-ED76-724B-8058-B69948A6FF97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07906" y="5614893"/>
            <a:ext cx="215999" cy="209998"/>
          </a:xfrm>
          <a:prstGeom prst="rect">
            <a:avLst/>
          </a:prstGeom>
        </p:spPr>
      </p:pic>
      <p:pic>
        <p:nvPicPr>
          <p:cNvPr id="8407" name="그림 8406">
            <a:extLst>
              <a:ext uri="{FF2B5EF4-FFF2-40B4-BE49-F238E27FC236}">
                <a16:creationId xmlns:a16="http://schemas.microsoft.com/office/drawing/2014/main" id="{6A1F1220-8711-6EDB-EA92-678F21ADEC6A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323788" y="5243755"/>
            <a:ext cx="372357" cy="153671"/>
          </a:xfrm>
          <a:prstGeom prst="rect">
            <a:avLst/>
          </a:prstGeom>
        </p:spPr>
      </p:pic>
      <p:cxnSp>
        <p:nvCxnSpPr>
          <p:cNvPr id="8414" name="꺾인 연결선[E] 8413">
            <a:extLst>
              <a:ext uri="{FF2B5EF4-FFF2-40B4-BE49-F238E27FC236}">
                <a16:creationId xmlns:a16="http://schemas.microsoft.com/office/drawing/2014/main" id="{1D0D0D55-4C1A-9309-19A1-2E8A58FE36B3}"/>
              </a:ext>
            </a:extLst>
          </p:cNvPr>
          <p:cNvCxnSpPr>
            <a:cxnSpLocks/>
            <a:stCxn id="8402" idx="3"/>
            <a:endCxn id="8326" idx="3"/>
          </p:cNvCxnSpPr>
          <p:nvPr/>
        </p:nvCxnSpPr>
        <p:spPr>
          <a:xfrm flipH="1">
            <a:off x="3663958" y="4903733"/>
            <a:ext cx="4273674" cy="1390103"/>
          </a:xfrm>
          <a:prstGeom prst="bentConnector3">
            <a:avLst>
              <a:gd name="adj1" fmla="val -5349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5" name="꺾인 연결선[E] 8414">
            <a:extLst>
              <a:ext uri="{FF2B5EF4-FFF2-40B4-BE49-F238E27FC236}">
                <a16:creationId xmlns:a16="http://schemas.microsoft.com/office/drawing/2014/main" id="{27C6CF46-9310-4761-9BCE-5DE5D39CDD04}"/>
              </a:ext>
            </a:extLst>
          </p:cNvPr>
          <p:cNvCxnSpPr>
            <a:cxnSpLocks/>
            <a:stCxn id="8403" idx="3"/>
            <a:endCxn id="8326" idx="3"/>
          </p:cNvCxnSpPr>
          <p:nvPr/>
        </p:nvCxnSpPr>
        <p:spPr>
          <a:xfrm flipH="1">
            <a:off x="3663958" y="5310009"/>
            <a:ext cx="4259947" cy="983827"/>
          </a:xfrm>
          <a:prstGeom prst="bentConnector3">
            <a:avLst>
              <a:gd name="adj1" fmla="val -5643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7" name="꺾인 연결선[E] 8416">
            <a:extLst>
              <a:ext uri="{FF2B5EF4-FFF2-40B4-BE49-F238E27FC236}">
                <a16:creationId xmlns:a16="http://schemas.microsoft.com/office/drawing/2014/main" id="{6557CB77-3C71-6C55-9B6B-7CB6F265D77C}"/>
              </a:ext>
            </a:extLst>
          </p:cNvPr>
          <p:cNvCxnSpPr>
            <a:cxnSpLocks/>
            <a:stCxn id="8404" idx="3"/>
            <a:endCxn id="8326" idx="3"/>
          </p:cNvCxnSpPr>
          <p:nvPr/>
        </p:nvCxnSpPr>
        <p:spPr>
          <a:xfrm flipH="1">
            <a:off x="3663958" y="5719892"/>
            <a:ext cx="4259947" cy="573944"/>
          </a:xfrm>
          <a:prstGeom prst="bentConnector3">
            <a:avLst>
              <a:gd name="adj1" fmla="val -5643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19" name="그림 8418">
            <a:extLst>
              <a:ext uri="{FF2B5EF4-FFF2-40B4-BE49-F238E27FC236}">
                <a16:creationId xmlns:a16="http://schemas.microsoft.com/office/drawing/2014/main" id="{35A5124C-16FA-5B18-1911-E88C9A4A0587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811506" y="6208757"/>
            <a:ext cx="454162" cy="126156"/>
          </a:xfrm>
          <a:prstGeom prst="rect">
            <a:avLst/>
          </a:prstGeom>
        </p:spPr>
      </p:pic>
      <p:sp>
        <p:nvSpPr>
          <p:cNvPr id="8422" name="TextBox 8421">
            <a:extLst>
              <a:ext uri="{FF2B5EF4-FFF2-40B4-BE49-F238E27FC236}">
                <a16:creationId xmlns:a16="http://schemas.microsoft.com/office/drawing/2014/main" id="{592D4658-8F07-6674-2223-412E2AF1C1D5}"/>
              </a:ext>
            </a:extLst>
          </p:cNvPr>
          <p:cNvSpPr txBox="1"/>
          <p:nvPr/>
        </p:nvSpPr>
        <p:spPr>
          <a:xfrm>
            <a:off x="7887773" y="517470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423" name="TextBox 8422">
            <a:extLst>
              <a:ext uri="{FF2B5EF4-FFF2-40B4-BE49-F238E27FC236}">
                <a16:creationId xmlns:a16="http://schemas.microsoft.com/office/drawing/2014/main" id="{53494168-F785-B4E9-A7EA-458D1719FE6D}"/>
              </a:ext>
            </a:extLst>
          </p:cNvPr>
          <p:cNvSpPr txBox="1"/>
          <p:nvPr/>
        </p:nvSpPr>
        <p:spPr>
          <a:xfrm>
            <a:off x="7887772" y="5587190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30" name="그림 8429">
            <a:extLst>
              <a:ext uri="{FF2B5EF4-FFF2-40B4-BE49-F238E27FC236}">
                <a16:creationId xmlns:a16="http://schemas.microsoft.com/office/drawing/2014/main" id="{EEDA845D-CE5A-E1C4-1096-DF8164CF65EA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884926" y="2516425"/>
            <a:ext cx="895307" cy="628935"/>
          </a:xfrm>
          <a:prstGeom prst="rect">
            <a:avLst/>
          </a:prstGeom>
        </p:spPr>
      </p:pic>
      <p:pic>
        <p:nvPicPr>
          <p:cNvPr id="8432" name="그림 8431">
            <a:extLst>
              <a:ext uri="{FF2B5EF4-FFF2-40B4-BE49-F238E27FC236}">
                <a16:creationId xmlns:a16="http://schemas.microsoft.com/office/drawing/2014/main" id="{231040B3-F3EE-3810-BE61-10692ACD315B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426762" y="2429036"/>
            <a:ext cx="348474" cy="131392"/>
          </a:xfrm>
          <a:prstGeom prst="rect">
            <a:avLst/>
          </a:prstGeom>
        </p:spPr>
      </p:pic>
      <p:sp>
        <p:nvSpPr>
          <p:cNvPr id="8433" name="TextBox 8432">
            <a:extLst>
              <a:ext uri="{FF2B5EF4-FFF2-40B4-BE49-F238E27FC236}">
                <a16:creationId xmlns:a16="http://schemas.microsoft.com/office/drawing/2014/main" id="{BF0EE908-367E-EEE8-F682-E1DBA0837E4C}"/>
              </a:ext>
            </a:extLst>
          </p:cNvPr>
          <p:cNvSpPr txBox="1"/>
          <p:nvPr/>
        </p:nvSpPr>
        <p:spPr>
          <a:xfrm>
            <a:off x="1041707" y="1217981"/>
            <a:ext cx="7378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Central VPC</a:t>
            </a:r>
            <a:endParaRPr kumimoji="1" lang="ko-KR" altLang="en-US" sz="10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0002106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EE8E866-0941-27F7-3E99-D870A54B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당근 </a:t>
            </a:r>
            <a:r>
              <a:rPr lang="en-US" altLang="ko-KR" dirty="0"/>
              <a:t>Production VPC </a:t>
            </a:r>
            <a:r>
              <a:rPr lang="ko-KR" altLang="en-US" dirty="0"/>
              <a:t>아키텍쳐 구성도</a:t>
            </a:r>
            <a:r>
              <a:rPr lang="en-US" altLang="ko-KR" dirty="0"/>
              <a:t> – </a:t>
            </a:r>
            <a:r>
              <a:rPr lang="ko-KR" altLang="en-US" dirty="0"/>
              <a:t>런던 리전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662C53B-6BDF-5FBC-EE33-47C9C4E25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20</a:t>
            </a:fld>
            <a:endParaRPr lang="en-US" altLang="ko-KR"/>
          </a:p>
        </p:txBody>
      </p:sp>
      <p:grpSp>
        <p:nvGrpSpPr>
          <p:cNvPr id="2" name="Group 1" descr="AWS Cloud group with AWS logo.">
            <a:extLst>
              <a:ext uri="{FF2B5EF4-FFF2-40B4-BE49-F238E27FC236}">
                <a16:creationId xmlns:a16="http://schemas.microsoft.com/office/drawing/2014/main" id="{F8EDE7E5-1668-B4AB-9632-973F65AC8912}"/>
              </a:ext>
            </a:extLst>
          </p:cNvPr>
          <p:cNvGrpSpPr/>
          <p:nvPr/>
        </p:nvGrpSpPr>
        <p:grpSpPr>
          <a:xfrm>
            <a:off x="416058" y="1029643"/>
            <a:ext cx="7872537" cy="5519511"/>
            <a:chOff x="355600" y="1891715"/>
            <a:chExt cx="7872537" cy="5519511"/>
          </a:xfrm>
        </p:grpSpPr>
        <p:sp>
          <p:nvSpPr>
            <p:cNvPr id="17" name="Rectangle 54">
              <a:extLst>
                <a:ext uri="{FF2B5EF4-FFF2-40B4-BE49-F238E27FC236}">
                  <a16:creationId xmlns:a16="http://schemas.microsoft.com/office/drawing/2014/main" id="{91BBF291-F346-9A7B-5E8F-AF2C0F4C3CAB}"/>
                </a:ext>
              </a:extLst>
            </p:cNvPr>
            <p:cNvSpPr/>
            <p:nvPr/>
          </p:nvSpPr>
          <p:spPr>
            <a:xfrm>
              <a:off x="355601" y="1894195"/>
              <a:ext cx="7872536" cy="5517031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Graphic 55" descr="AWS Cloud group icon with AWS logo.">
              <a:extLst>
                <a:ext uri="{FF2B5EF4-FFF2-40B4-BE49-F238E27FC236}">
                  <a16:creationId xmlns:a16="http://schemas.microsoft.com/office/drawing/2014/main" id="{B673BBF8-35D1-D3FA-F583-46B48F714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55600" y="1891715"/>
              <a:ext cx="288000" cy="288000"/>
            </a:xfrm>
            <a:prstGeom prst="rect">
              <a:avLst/>
            </a:prstGeom>
          </p:spPr>
        </p:pic>
      </p:grpSp>
      <p:sp>
        <p:nvSpPr>
          <p:cNvPr id="19" name="Rectangle 73">
            <a:extLst>
              <a:ext uri="{FF2B5EF4-FFF2-40B4-BE49-F238E27FC236}">
                <a16:creationId xmlns:a16="http://schemas.microsoft.com/office/drawing/2014/main" id="{B183F800-CD5E-C85F-A427-C5AA6B70708E}"/>
              </a:ext>
            </a:extLst>
          </p:cNvPr>
          <p:cNvSpPr/>
          <p:nvPr/>
        </p:nvSpPr>
        <p:spPr>
          <a:xfrm>
            <a:off x="1171804" y="1568335"/>
            <a:ext cx="2151530" cy="605154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0" name="Graphic 74" descr="Public subnet group icon. ">
            <a:extLst>
              <a:ext uri="{FF2B5EF4-FFF2-40B4-BE49-F238E27FC236}">
                <a16:creationId xmlns:a16="http://schemas.microsoft.com/office/drawing/2014/main" id="{838C6E66-8ACD-262E-9548-B175E2D50E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71804" y="1568335"/>
            <a:ext cx="178979" cy="1789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648DC1F-3486-C16D-E1D5-438BF110254B}"/>
              </a:ext>
            </a:extLst>
          </p:cNvPr>
          <p:cNvSpPr txBox="1"/>
          <p:nvPr/>
        </p:nvSpPr>
        <p:spPr>
          <a:xfrm>
            <a:off x="1387622" y="1604947"/>
            <a:ext cx="661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Public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2" name="Rectangle 71">
            <a:extLst>
              <a:ext uri="{FF2B5EF4-FFF2-40B4-BE49-F238E27FC236}">
                <a16:creationId xmlns:a16="http://schemas.microsoft.com/office/drawing/2014/main" id="{D8838375-F8AF-99D5-A2EA-C335361AFA11}"/>
              </a:ext>
            </a:extLst>
          </p:cNvPr>
          <p:cNvSpPr/>
          <p:nvPr/>
        </p:nvSpPr>
        <p:spPr>
          <a:xfrm>
            <a:off x="1171804" y="2249948"/>
            <a:ext cx="2151530" cy="16385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3" name="Graphic 72" descr="Private subnet group icon. ">
            <a:extLst>
              <a:ext uri="{FF2B5EF4-FFF2-40B4-BE49-F238E27FC236}">
                <a16:creationId xmlns:a16="http://schemas.microsoft.com/office/drawing/2014/main" id="{100DF008-02CA-CC66-AE22-6A568ECCA4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2249949"/>
            <a:ext cx="178979" cy="1789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8C2358-1182-FDDC-E6ED-4CC74EB89155}"/>
              </a:ext>
            </a:extLst>
          </p:cNvPr>
          <p:cNvSpPr txBox="1"/>
          <p:nvPr/>
        </p:nvSpPr>
        <p:spPr>
          <a:xfrm>
            <a:off x="1387622" y="2293670"/>
            <a:ext cx="11414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5" name="Rectangle 71">
            <a:extLst>
              <a:ext uri="{FF2B5EF4-FFF2-40B4-BE49-F238E27FC236}">
                <a16:creationId xmlns:a16="http://schemas.microsoft.com/office/drawing/2014/main" id="{5A4A72C0-8054-4C3C-91C8-AAFC2E906B2B}"/>
              </a:ext>
            </a:extLst>
          </p:cNvPr>
          <p:cNvSpPr/>
          <p:nvPr/>
        </p:nvSpPr>
        <p:spPr>
          <a:xfrm>
            <a:off x="1171804" y="3962805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26" name="Graphic 72" descr="Private subnet group icon. ">
            <a:extLst>
              <a:ext uri="{FF2B5EF4-FFF2-40B4-BE49-F238E27FC236}">
                <a16:creationId xmlns:a16="http://schemas.microsoft.com/office/drawing/2014/main" id="{49D4781D-AE30-1327-69B4-55B56B67C6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3962804"/>
            <a:ext cx="178979" cy="17897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4EB7C2C-49FC-6BD5-DD80-0B89C6A1E3A8}"/>
              </a:ext>
            </a:extLst>
          </p:cNvPr>
          <p:cNvSpPr txBox="1"/>
          <p:nvPr/>
        </p:nvSpPr>
        <p:spPr>
          <a:xfrm>
            <a:off x="1390243" y="3991752"/>
            <a:ext cx="64487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8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CA96C197-A817-9E52-DC7C-0EBC35CCDBC6}"/>
              </a:ext>
            </a:extLst>
          </p:cNvPr>
          <p:cNvSpPr/>
          <p:nvPr/>
        </p:nvSpPr>
        <p:spPr bwMode="auto">
          <a:xfrm>
            <a:off x="1068184" y="1493086"/>
            <a:ext cx="2358095" cy="4106454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7E20F2-16B2-4FFC-F78D-74119120B81B}"/>
              </a:ext>
            </a:extLst>
          </p:cNvPr>
          <p:cNvSpPr txBox="1"/>
          <p:nvPr/>
        </p:nvSpPr>
        <p:spPr>
          <a:xfrm>
            <a:off x="1164946" y="1397397"/>
            <a:ext cx="298922" cy="138499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A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0" name="Rectangle 73">
            <a:extLst>
              <a:ext uri="{FF2B5EF4-FFF2-40B4-BE49-F238E27FC236}">
                <a16:creationId xmlns:a16="http://schemas.microsoft.com/office/drawing/2014/main" id="{9A367A02-070C-A9B7-D3F9-CC092E17E960}"/>
              </a:ext>
            </a:extLst>
          </p:cNvPr>
          <p:cNvSpPr/>
          <p:nvPr/>
        </p:nvSpPr>
        <p:spPr>
          <a:xfrm>
            <a:off x="3659660" y="1568335"/>
            <a:ext cx="2151530" cy="605154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31" name="Graphic 74" descr="Public subnet group icon. ">
            <a:extLst>
              <a:ext uri="{FF2B5EF4-FFF2-40B4-BE49-F238E27FC236}">
                <a16:creationId xmlns:a16="http://schemas.microsoft.com/office/drawing/2014/main" id="{ACF4D4BB-63B1-ADDF-B2FA-0E2FEF55E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59660" y="1568335"/>
            <a:ext cx="178979" cy="17897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3E64D07-8928-85A1-31B4-92EE05102AB9}"/>
              </a:ext>
            </a:extLst>
          </p:cNvPr>
          <p:cNvSpPr txBox="1"/>
          <p:nvPr/>
        </p:nvSpPr>
        <p:spPr>
          <a:xfrm>
            <a:off x="3869160" y="1604947"/>
            <a:ext cx="6614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Public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3" name="Rectangle 71">
            <a:extLst>
              <a:ext uri="{FF2B5EF4-FFF2-40B4-BE49-F238E27FC236}">
                <a16:creationId xmlns:a16="http://schemas.microsoft.com/office/drawing/2014/main" id="{F7737E29-F0D9-A09A-6415-E692D90C96F3}"/>
              </a:ext>
            </a:extLst>
          </p:cNvPr>
          <p:cNvSpPr/>
          <p:nvPr/>
        </p:nvSpPr>
        <p:spPr>
          <a:xfrm>
            <a:off x="3659660" y="2249948"/>
            <a:ext cx="2151530" cy="16385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34" name="Graphic 72" descr="Private subnet group icon. ">
            <a:extLst>
              <a:ext uri="{FF2B5EF4-FFF2-40B4-BE49-F238E27FC236}">
                <a16:creationId xmlns:a16="http://schemas.microsoft.com/office/drawing/2014/main" id="{287B75C7-8AD7-6111-6AB8-DD65176F1B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2249949"/>
            <a:ext cx="178979" cy="17897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3804FA7-8BA6-EA5F-F250-47EBF01E7AAC}"/>
              </a:ext>
            </a:extLst>
          </p:cNvPr>
          <p:cNvSpPr txBox="1"/>
          <p:nvPr/>
        </p:nvSpPr>
        <p:spPr>
          <a:xfrm>
            <a:off x="3869160" y="2293670"/>
            <a:ext cx="84427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6" name="Rectangle 71">
            <a:extLst>
              <a:ext uri="{FF2B5EF4-FFF2-40B4-BE49-F238E27FC236}">
                <a16:creationId xmlns:a16="http://schemas.microsoft.com/office/drawing/2014/main" id="{F9E31618-C9AC-BDF8-7695-0C6487462617}"/>
              </a:ext>
            </a:extLst>
          </p:cNvPr>
          <p:cNvSpPr/>
          <p:nvPr/>
        </p:nvSpPr>
        <p:spPr>
          <a:xfrm>
            <a:off x="3659660" y="3962805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37" name="Graphic 72" descr="Private subnet group icon. ">
            <a:extLst>
              <a:ext uri="{FF2B5EF4-FFF2-40B4-BE49-F238E27FC236}">
                <a16:creationId xmlns:a16="http://schemas.microsoft.com/office/drawing/2014/main" id="{EA4D8A4D-7C64-D284-2D4B-8DE844E6C4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3962804"/>
            <a:ext cx="178979" cy="17897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EC3072A-BD9D-BA33-945C-CB85299D6050}"/>
              </a:ext>
            </a:extLst>
          </p:cNvPr>
          <p:cNvSpPr txBox="1"/>
          <p:nvPr/>
        </p:nvSpPr>
        <p:spPr>
          <a:xfrm>
            <a:off x="3869160" y="3991752"/>
            <a:ext cx="62853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AF9D6769-4287-10DF-2965-569FEBAC56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675" y="1837594"/>
            <a:ext cx="216000" cy="216000"/>
          </a:xfrm>
          <a:prstGeom prst="rect">
            <a:avLst/>
          </a:prstGeom>
        </p:spPr>
      </p:pic>
      <p:sp>
        <p:nvSpPr>
          <p:cNvPr id="40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95EC529C-5FEB-1DEA-6BC8-50F474F459B2}"/>
              </a:ext>
            </a:extLst>
          </p:cNvPr>
          <p:cNvSpPr/>
          <p:nvPr/>
        </p:nvSpPr>
        <p:spPr bwMode="auto">
          <a:xfrm>
            <a:off x="3556040" y="1493086"/>
            <a:ext cx="2364789" cy="4106454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84C33757-13AA-50E1-1B88-361F61D323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337" y="2688375"/>
            <a:ext cx="216000" cy="21600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A733806-2136-1259-0741-C591A4A52424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65065" y="2319813"/>
            <a:ext cx="198545" cy="2160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E90DBEB-C48E-B39E-A1EB-E54FC77FDB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337" y="1837594"/>
            <a:ext cx="216000" cy="216000"/>
          </a:xfrm>
          <a:prstGeom prst="rect">
            <a:avLst/>
          </a:prstGeom>
        </p:spPr>
      </p:pic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4599BBB-ED29-BC91-2315-82D9E0F77CDF}"/>
              </a:ext>
            </a:extLst>
          </p:cNvPr>
          <p:cNvCxnSpPr>
            <a:stCxn id="43" idx="2"/>
            <a:endCxn id="42" idx="0"/>
          </p:cNvCxnSpPr>
          <p:nvPr/>
        </p:nvCxnSpPr>
        <p:spPr>
          <a:xfrm>
            <a:off x="2764337" y="2053594"/>
            <a:ext cx="1" cy="266219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9D61C4D-A38F-7242-9E29-6F5AC48BF675}"/>
              </a:ext>
            </a:extLst>
          </p:cNvPr>
          <p:cNvCxnSpPr>
            <a:cxnSpLocks/>
            <a:stCxn id="42" idx="2"/>
            <a:endCxn id="41" idx="0"/>
          </p:cNvCxnSpPr>
          <p:nvPr/>
        </p:nvCxnSpPr>
        <p:spPr>
          <a:xfrm flipH="1">
            <a:off x="2764337" y="2535813"/>
            <a:ext cx="1" cy="15256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8F22D73D-D956-4659-E075-35FDA2F926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9510" y="3220013"/>
            <a:ext cx="4507169" cy="56075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D975982-EF6C-FA0C-A738-06EAB528A2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16097" y="3186489"/>
            <a:ext cx="107950" cy="1651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EA91A6AB-3885-9F82-6B5E-33DCFFBAF0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9685" y="3180352"/>
            <a:ext cx="107950" cy="165100"/>
          </a:xfrm>
          <a:prstGeom prst="rect">
            <a:avLst/>
          </a:prstGeom>
        </p:spPr>
      </p:pic>
      <p:cxnSp>
        <p:nvCxnSpPr>
          <p:cNvPr id="49" name="구부러진 연결선[U] 48">
            <a:extLst>
              <a:ext uri="{FF2B5EF4-FFF2-40B4-BE49-F238E27FC236}">
                <a16:creationId xmlns:a16="http://schemas.microsoft.com/office/drawing/2014/main" id="{CDBB6277-5DC8-9318-BF41-872B89A03078}"/>
              </a:ext>
            </a:extLst>
          </p:cNvPr>
          <p:cNvCxnSpPr>
            <a:stCxn id="41" idx="3"/>
            <a:endCxn id="47" idx="0"/>
          </p:cNvCxnSpPr>
          <p:nvPr/>
        </p:nvCxnSpPr>
        <p:spPr>
          <a:xfrm>
            <a:off x="2872337" y="2796375"/>
            <a:ext cx="297735" cy="39011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7D45C409-E0D1-1535-AC1A-1E049E574A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874" y="2689598"/>
            <a:ext cx="216000" cy="2160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D9A34E6A-5F64-4AA1-B866-9C975E37D79A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0602" y="2321036"/>
            <a:ext cx="198545" cy="2160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68F9B03-7183-570C-20F5-A980BC75C6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874" y="1844590"/>
            <a:ext cx="216000" cy="216000"/>
          </a:xfrm>
          <a:prstGeom prst="rect">
            <a:avLst/>
          </a:prstGeom>
        </p:spPr>
      </p:pic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5EFB8BD-D642-7365-B297-42CDA29E659F}"/>
              </a:ext>
            </a:extLst>
          </p:cNvPr>
          <p:cNvCxnSpPr>
            <a:stCxn id="52" idx="2"/>
            <a:endCxn id="51" idx="0"/>
          </p:cNvCxnSpPr>
          <p:nvPr/>
        </p:nvCxnSpPr>
        <p:spPr>
          <a:xfrm>
            <a:off x="4199874" y="2060590"/>
            <a:ext cx="1" cy="260446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369BE59-1A9B-7B2C-F9D3-67137D665036}"/>
              </a:ext>
            </a:extLst>
          </p:cNvPr>
          <p:cNvCxnSpPr>
            <a:cxnSpLocks/>
            <a:stCxn id="51" idx="2"/>
            <a:endCxn id="50" idx="0"/>
          </p:cNvCxnSpPr>
          <p:nvPr/>
        </p:nvCxnSpPr>
        <p:spPr>
          <a:xfrm flipH="1">
            <a:off x="4199874" y="2537036"/>
            <a:ext cx="1" cy="15256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구부러진 연결선[U] 54">
            <a:extLst>
              <a:ext uri="{FF2B5EF4-FFF2-40B4-BE49-F238E27FC236}">
                <a16:creationId xmlns:a16="http://schemas.microsoft.com/office/drawing/2014/main" id="{773E045E-AAF4-1939-E00B-F35F637F89C5}"/>
              </a:ext>
            </a:extLst>
          </p:cNvPr>
          <p:cNvCxnSpPr>
            <a:cxnSpLocks/>
            <a:stCxn id="50" idx="1"/>
            <a:endCxn id="48" idx="0"/>
          </p:cNvCxnSpPr>
          <p:nvPr/>
        </p:nvCxnSpPr>
        <p:spPr>
          <a:xfrm rot="10800000" flipV="1">
            <a:off x="3803660" y="2797598"/>
            <a:ext cx="288214" cy="38275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그림 55">
            <a:extLst>
              <a:ext uri="{FF2B5EF4-FFF2-40B4-BE49-F238E27FC236}">
                <a16:creationId xmlns:a16="http://schemas.microsoft.com/office/drawing/2014/main" id="{38E9F41D-D278-A859-C4AA-0E7F056E648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571" y="1832911"/>
            <a:ext cx="216000" cy="2160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BA5B48E-662E-6248-8D8F-038427B721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073" y="1827898"/>
            <a:ext cx="216000" cy="216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F3171AF7-0FAD-E675-3A1A-50D651186A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1999" y="2841076"/>
            <a:ext cx="312676" cy="104225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2F141E79-9FCC-FC19-5A3D-5E6E98B396D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25911" y="2849317"/>
            <a:ext cx="312676" cy="10422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47E064D2-A9A4-1A7C-1B0A-9CB603D172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2682" y="3432803"/>
            <a:ext cx="364346" cy="10481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A566A25-9CB0-A22A-4945-9E7E82287BF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3392" y="3432803"/>
            <a:ext cx="364346" cy="106268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EDD473D6-7E12-2A5A-F4A3-B82E12DF06D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3115" y="3432803"/>
            <a:ext cx="364347" cy="106268"/>
          </a:xfrm>
          <a:prstGeom prst="rect">
            <a:avLst/>
          </a:prstGeom>
        </p:spPr>
      </p:pic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A5AF8CF-F0F5-90A8-3312-98F85C0F5A49}"/>
              </a:ext>
            </a:extLst>
          </p:cNvPr>
          <p:cNvCxnSpPr>
            <a:cxnSpLocks/>
            <a:stCxn id="56" idx="2"/>
            <a:endCxn id="61" idx="0"/>
          </p:cNvCxnSpPr>
          <p:nvPr/>
        </p:nvCxnSpPr>
        <p:spPr>
          <a:xfrm flipH="1">
            <a:off x="2065565" y="2048911"/>
            <a:ext cx="12006" cy="138389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2" name="직선 화살표 연결선 8511">
            <a:extLst>
              <a:ext uri="{FF2B5EF4-FFF2-40B4-BE49-F238E27FC236}">
                <a16:creationId xmlns:a16="http://schemas.microsoft.com/office/drawing/2014/main" id="{B64890C7-0839-76EA-5658-A0BA34C108DF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flipH="1">
            <a:off x="2414855" y="2043898"/>
            <a:ext cx="4218" cy="1388905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14" name="그림 8513">
            <a:extLst>
              <a:ext uri="{FF2B5EF4-FFF2-40B4-BE49-F238E27FC236}">
                <a16:creationId xmlns:a16="http://schemas.microsoft.com/office/drawing/2014/main" id="{B19FE44B-E994-9F24-E2B3-50031A93CC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138" y="1844590"/>
            <a:ext cx="216000" cy="216000"/>
          </a:xfrm>
          <a:prstGeom prst="rect">
            <a:avLst/>
          </a:prstGeom>
        </p:spPr>
      </p:pic>
      <p:pic>
        <p:nvPicPr>
          <p:cNvPr id="8515" name="그림 8514">
            <a:extLst>
              <a:ext uri="{FF2B5EF4-FFF2-40B4-BE49-F238E27FC236}">
                <a16:creationId xmlns:a16="http://schemas.microsoft.com/office/drawing/2014/main" id="{E1BEFE6C-99AC-7A1B-96FF-601DD697D66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401" y="1844590"/>
            <a:ext cx="216000" cy="216000"/>
          </a:xfrm>
          <a:prstGeom prst="rect">
            <a:avLst/>
          </a:prstGeom>
        </p:spPr>
      </p:pic>
      <p:cxnSp>
        <p:nvCxnSpPr>
          <p:cNvPr id="8516" name="직선 화살표 연결선 8515">
            <a:extLst>
              <a:ext uri="{FF2B5EF4-FFF2-40B4-BE49-F238E27FC236}">
                <a16:creationId xmlns:a16="http://schemas.microsoft.com/office/drawing/2014/main" id="{061D687F-2E9C-82BF-0067-B1E2FDC6E8CF}"/>
              </a:ext>
            </a:extLst>
          </p:cNvPr>
          <p:cNvCxnSpPr>
            <a:cxnSpLocks/>
            <a:stCxn id="8514" idx="2"/>
            <a:endCxn id="8522" idx="0"/>
          </p:cNvCxnSpPr>
          <p:nvPr/>
        </p:nvCxnSpPr>
        <p:spPr>
          <a:xfrm flipH="1">
            <a:off x="4544992" y="2060590"/>
            <a:ext cx="146" cy="1372213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17" name="직선 화살표 연결선 8516">
            <a:extLst>
              <a:ext uri="{FF2B5EF4-FFF2-40B4-BE49-F238E27FC236}">
                <a16:creationId xmlns:a16="http://schemas.microsoft.com/office/drawing/2014/main" id="{A9C95D05-1D94-9893-7CF0-3306982F0EAB}"/>
              </a:ext>
            </a:extLst>
          </p:cNvPr>
          <p:cNvCxnSpPr>
            <a:cxnSpLocks/>
            <a:stCxn id="8515" idx="2"/>
            <a:endCxn id="8524" idx="0"/>
          </p:cNvCxnSpPr>
          <p:nvPr/>
        </p:nvCxnSpPr>
        <p:spPr>
          <a:xfrm flipH="1">
            <a:off x="4882422" y="2060590"/>
            <a:ext cx="7979" cy="1372213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18" name="그림 8517">
            <a:extLst>
              <a:ext uri="{FF2B5EF4-FFF2-40B4-BE49-F238E27FC236}">
                <a16:creationId xmlns:a16="http://schemas.microsoft.com/office/drawing/2014/main" id="{94234257-3B8A-92D6-D8E7-F67F2DB93FE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06348" y="3432803"/>
            <a:ext cx="364347" cy="106268"/>
          </a:xfrm>
          <a:prstGeom prst="rect">
            <a:avLst/>
          </a:prstGeom>
        </p:spPr>
      </p:pic>
      <p:cxnSp>
        <p:nvCxnSpPr>
          <p:cNvPr id="8519" name="구부러진 연결선[U] 8518">
            <a:extLst>
              <a:ext uri="{FF2B5EF4-FFF2-40B4-BE49-F238E27FC236}">
                <a16:creationId xmlns:a16="http://schemas.microsoft.com/office/drawing/2014/main" id="{883E19E7-4ECD-7EFA-DEF5-A438EB4D3C39}"/>
              </a:ext>
            </a:extLst>
          </p:cNvPr>
          <p:cNvCxnSpPr>
            <a:cxnSpLocks/>
            <a:stCxn id="47" idx="1"/>
            <a:endCxn id="62" idx="0"/>
          </p:cNvCxnSpPr>
          <p:nvPr/>
        </p:nvCxnSpPr>
        <p:spPr>
          <a:xfrm rot="10800000" flipV="1">
            <a:off x="2875289" y="3269039"/>
            <a:ext cx="240808" cy="16376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1" name="구부러진 연결선[U] 8520">
            <a:extLst>
              <a:ext uri="{FF2B5EF4-FFF2-40B4-BE49-F238E27FC236}">
                <a16:creationId xmlns:a16="http://schemas.microsoft.com/office/drawing/2014/main" id="{FB4DD005-546A-6C1D-0819-1164359ED5CB}"/>
              </a:ext>
            </a:extLst>
          </p:cNvPr>
          <p:cNvCxnSpPr>
            <a:cxnSpLocks/>
            <a:stCxn id="48" idx="3"/>
            <a:endCxn id="8518" idx="0"/>
          </p:cNvCxnSpPr>
          <p:nvPr/>
        </p:nvCxnSpPr>
        <p:spPr>
          <a:xfrm>
            <a:off x="3857635" y="3262902"/>
            <a:ext cx="230887" cy="169901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22" name="그림 8521">
            <a:extLst>
              <a:ext uri="{FF2B5EF4-FFF2-40B4-BE49-F238E27FC236}">
                <a16:creationId xmlns:a16="http://schemas.microsoft.com/office/drawing/2014/main" id="{AFCBDDAD-CD61-0AA0-B7B8-8B6B2E60782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2819" y="3432803"/>
            <a:ext cx="364346" cy="104812"/>
          </a:xfrm>
          <a:prstGeom prst="rect">
            <a:avLst/>
          </a:prstGeom>
        </p:spPr>
      </p:pic>
      <p:pic>
        <p:nvPicPr>
          <p:cNvPr id="8524" name="그림 8523">
            <a:extLst>
              <a:ext uri="{FF2B5EF4-FFF2-40B4-BE49-F238E27FC236}">
                <a16:creationId xmlns:a16="http://schemas.microsoft.com/office/drawing/2014/main" id="{523CC5AD-187D-5FBF-DB6F-291AFFE3BB3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0249" y="3432803"/>
            <a:ext cx="364346" cy="106268"/>
          </a:xfrm>
          <a:prstGeom prst="rect">
            <a:avLst/>
          </a:prstGeom>
        </p:spPr>
      </p:pic>
      <p:sp>
        <p:nvSpPr>
          <p:cNvPr id="8525" name="TextBox 8524">
            <a:extLst>
              <a:ext uri="{FF2B5EF4-FFF2-40B4-BE49-F238E27FC236}">
                <a16:creationId xmlns:a16="http://schemas.microsoft.com/office/drawing/2014/main" id="{1D1FF17F-16F1-EEF8-9C04-3DB07D6276DE}"/>
              </a:ext>
            </a:extLst>
          </p:cNvPr>
          <p:cNvSpPr txBox="1"/>
          <p:nvPr/>
        </p:nvSpPr>
        <p:spPr>
          <a:xfrm>
            <a:off x="2564385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6" name="TextBox 8525">
            <a:extLst>
              <a:ext uri="{FF2B5EF4-FFF2-40B4-BE49-F238E27FC236}">
                <a16:creationId xmlns:a16="http://schemas.microsoft.com/office/drawing/2014/main" id="{C7F5CBD5-8B23-0370-4DA1-2359A28B7CE8}"/>
              </a:ext>
            </a:extLst>
          </p:cNvPr>
          <p:cNvSpPr txBox="1"/>
          <p:nvPr/>
        </p:nvSpPr>
        <p:spPr>
          <a:xfrm>
            <a:off x="2203952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7" name="TextBox 8526">
            <a:extLst>
              <a:ext uri="{FF2B5EF4-FFF2-40B4-BE49-F238E27FC236}">
                <a16:creationId xmlns:a16="http://schemas.microsoft.com/office/drawing/2014/main" id="{B97DF404-E8C4-950F-E3B9-82D7277CEDD0}"/>
              </a:ext>
            </a:extLst>
          </p:cNvPr>
          <p:cNvSpPr txBox="1"/>
          <p:nvPr/>
        </p:nvSpPr>
        <p:spPr>
          <a:xfrm>
            <a:off x="1854982" y="205837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8" name="TextBox 8527">
            <a:extLst>
              <a:ext uri="{FF2B5EF4-FFF2-40B4-BE49-F238E27FC236}">
                <a16:creationId xmlns:a16="http://schemas.microsoft.com/office/drawing/2014/main" id="{62E36C1B-6E1F-5BF2-3359-B6E13506CBC7}"/>
              </a:ext>
            </a:extLst>
          </p:cNvPr>
          <p:cNvSpPr txBox="1"/>
          <p:nvPr/>
        </p:nvSpPr>
        <p:spPr>
          <a:xfrm>
            <a:off x="3986995" y="2057630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29" name="TextBox 8528">
            <a:extLst>
              <a:ext uri="{FF2B5EF4-FFF2-40B4-BE49-F238E27FC236}">
                <a16:creationId xmlns:a16="http://schemas.microsoft.com/office/drawing/2014/main" id="{B11EAD28-46FE-8591-0922-06FEA82694BF}"/>
              </a:ext>
            </a:extLst>
          </p:cNvPr>
          <p:cNvSpPr txBox="1"/>
          <p:nvPr/>
        </p:nvSpPr>
        <p:spPr>
          <a:xfrm>
            <a:off x="4301872" y="2051355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31" name="TextBox 8530">
            <a:extLst>
              <a:ext uri="{FF2B5EF4-FFF2-40B4-BE49-F238E27FC236}">
                <a16:creationId xmlns:a16="http://schemas.microsoft.com/office/drawing/2014/main" id="{10028352-0E16-F757-CF13-A102EDBD08C2}"/>
              </a:ext>
            </a:extLst>
          </p:cNvPr>
          <p:cNvSpPr txBox="1"/>
          <p:nvPr/>
        </p:nvSpPr>
        <p:spPr>
          <a:xfrm>
            <a:off x="4667947" y="2057576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538" name="그림 8537">
            <a:extLst>
              <a:ext uri="{FF2B5EF4-FFF2-40B4-BE49-F238E27FC236}">
                <a16:creationId xmlns:a16="http://schemas.microsoft.com/office/drawing/2014/main" id="{0144AE67-476B-8721-EDAB-EA60D4ED2C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807" y="1837594"/>
            <a:ext cx="216000" cy="216000"/>
          </a:xfrm>
          <a:prstGeom prst="rect">
            <a:avLst/>
          </a:prstGeom>
        </p:spPr>
      </p:pic>
      <p:sp>
        <p:nvSpPr>
          <p:cNvPr id="8539" name="TextBox 8538">
            <a:extLst>
              <a:ext uri="{FF2B5EF4-FFF2-40B4-BE49-F238E27FC236}">
                <a16:creationId xmlns:a16="http://schemas.microsoft.com/office/drawing/2014/main" id="{1F458AF8-0171-745B-7027-A8CE797999E0}"/>
              </a:ext>
            </a:extLst>
          </p:cNvPr>
          <p:cNvSpPr txBox="1"/>
          <p:nvPr/>
        </p:nvSpPr>
        <p:spPr>
          <a:xfrm>
            <a:off x="2961426" y="2060830"/>
            <a:ext cx="3432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540" name="TextBox 8539">
            <a:extLst>
              <a:ext uri="{FF2B5EF4-FFF2-40B4-BE49-F238E27FC236}">
                <a16:creationId xmlns:a16="http://schemas.microsoft.com/office/drawing/2014/main" id="{63F7800F-7980-9D4F-E955-EFF500765DF1}"/>
              </a:ext>
            </a:extLst>
          </p:cNvPr>
          <p:cNvSpPr txBox="1"/>
          <p:nvPr/>
        </p:nvSpPr>
        <p:spPr>
          <a:xfrm>
            <a:off x="5112658" y="2060489"/>
            <a:ext cx="3432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541" name="그림 8540">
            <a:extLst>
              <a:ext uri="{FF2B5EF4-FFF2-40B4-BE49-F238E27FC236}">
                <a16:creationId xmlns:a16="http://schemas.microsoft.com/office/drawing/2014/main" id="{8F5F17CB-9BF4-A3F2-F8CA-3125957B46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502" y="2344729"/>
            <a:ext cx="173883" cy="173883"/>
          </a:xfrm>
          <a:prstGeom prst="rect">
            <a:avLst/>
          </a:prstGeom>
        </p:spPr>
      </p:pic>
      <p:pic>
        <p:nvPicPr>
          <p:cNvPr id="8553" name="Graphic 7" descr="Amazon Aurora service icon.">
            <a:extLst>
              <a:ext uri="{FF2B5EF4-FFF2-40B4-BE49-F238E27FC236}">
                <a16:creationId xmlns:a16="http://schemas.microsoft.com/office/drawing/2014/main" id="{081CE74F-281B-AB29-4356-D7376CCD7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149938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69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3DBEC771-D0DB-352D-9091-3508D650A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188649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70" name="Graphic 13" descr="AWS Batch service icon.">
            <a:extLst>
              <a:ext uri="{FF2B5EF4-FFF2-40B4-BE49-F238E27FC236}">
                <a16:creationId xmlns:a16="http://schemas.microsoft.com/office/drawing/2014/main" id="{3D2FE4B7-A547-6271-2773-21FA0A8B1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6243762" y="3976714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72" name="Graphic 23" descr="Amazon DynamoDB service icon.">
            <a:extLst>
              <a:ext uri="{FF2B5EF4-FFF2-40B4-BE49-F238E27FC236}">
                <a16:creationId xmlns:a16="http://schemas.microsoft.com/office/drawing/2014/main" id="{2946D0AF-8042-A157-8733-6EC54D8E5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2273600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90" name="Graphic 26" descr="Amazon Managed Streaming for Apache Kafka (Amazon MSK) service icon.">
            <a:extLst>
              <a:ext uri="{FF2B5EF4-FFF2-40B4-BE49-F238E27FC236}">
                <a16:creationId xmlns:a16="http://schemas.microsoft.com/office/drawing/2014/main" id="{8FB455AF-8A75-0410-702B-9A6389240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3046849" y="4131762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98" name="Graphic 21" descr="Amazon ElastiCache service icon.">
            <a:extLst>
              <a:ext uri="{FF2B5EF4-FFF2-40B4-BE49-F238E27FC236}">
                <a16:creationId xmlns:a16="http://schemas.microsoft.com/office/drawing/2014/main" id="{9E6DFD7B-357F-87BB-C37A-62AA00634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2660710" y="4131762"/>
            <a:ext cx="171989" cy="17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" name="TextBox 8601">
            <a:extLst>
              <a:ext uri="{FF2B5EF4-FFF2-40B4-BE49-F238E27FC236}">
                <a16:creationId xmlns:a16="http://schemas.microsoft.com/office/drawing/2014/main" id="{71AC626B-E7D9-9FAC-B508-C882FC979EA5}"/>
              </a:ext>
            </a:extLst>
          </p:cNvPr>
          <p:cNvSpPr txBox="1"/>
          <p:nvPr/>
        </p:nvSpPr>
        <p:spPr>
          <a:xfrm>
            <a:off x="3027530" y="4330249"/>
            <a:ext cx="2115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MSK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3" name="TextBox 8602">
            <a:extLst>
              <a:ext uri="{FF2B5EF4-FFF2-40B4-BE49-F238E27FC236}">
                <a16:creationId xmlns:a16="http://schemas.microsoft.com/office/drawing/2014/main" id="{9F70BCA4-81F8-D95F-0146-287AE733505B}"/>
              </a:ext>
            </a:extLst>
          </p:cNvPr>
          <p:cNvSpPr txBox="1"/>
          <p:nvPr/>
        </p:nvSpPr>
        <p:spPr>
          <a:xfrm>
            <a:off x="2504224" y="4330249"/>
            <a:ext cx="48496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ElastiCache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5" name="TextBox 8604">
            <a:extLst>
              <a:ext uri="{FF2B5EF4-FFF2-40B4-BE49-F238E27FC236}">
                <a16:creationId xmlns:a16="http://schemas.microsoft.com/office/drawing/2014/main" id="{EBDE9E31-7946-ABA2-A0F1-408A1E171A87}"/>
              </a:ext>
            </a:extLst>
          </p:cNvPr>
          <p:cNvSpPr txBox="1"/>
          <p:nvPr/>
        </p:nvSpPr>
        <p:spPr>
          <a:xfrm>
            <a:off x="1437133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Aurora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7" name="TextBox 8606">
            <a:extLst>
              <a:ext uri="{FF2B5EF4-FFF2-40B4-BE49-F238E27FC236}">
                <a16:creationId xmlns:a16="http://schemas.microsoft.com/office/drawing/2014/main" id="{ECF23CD8-2810-4638-5D4D-FAB91E99E6F7}"/>
              </a:ext>
            </a:extLst>
          </p:cNvPr>
          <p:cNvSpPr txBox="1"/>
          <p:nvPr/>
        </p:nvSpPr>
        <p:spPr>
          <a:xfrm>
            <a:off x="1821952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08" name="TextBox 8607">
            <a:extLst>
              <a:ext uri="{FF2B5EF4-FFF2-40B4-BE49-F238E27FC236}">
                <a16:creationId xmlns:a16="http://schemas.microsoft.com/office/drawing/2014/main" id="{9979423B-34B9-5592-6DF1-30C21FD40290}"/>
              </a:ext>
            </a:extLst>
          </p:cNvPr>
          <p:cNvSpPr txBox="1"/>
          <p:nvPr/>
        </p:nvSpPr>
        <p:spPr>
          <a:xfrm>
            <a:off x="2187600" y="433024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DDB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09" name="Graphic 7" descr="Amazon Aurora service icon.">
            <a:extLst>
              <a:ext uri="{FF2B5EF4-FFF2-40B4-BE49-F238E27FC236}">
                <a16:creationId xmlns:a16="http://schemas.microsoft.com/office/drawing/2014/main" id="{AB44D759-A288-45F4-04F0-28BAE8141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398259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1" name="Graphic 6" descr="Amazon Relational Database Service (Amazon RDS) service icon.">
            <a:extLst>
              <a:ext uri="{FF2B5EF4-FFF2-40B4-BE49-F238E27FC236}">
                <a16:creationId xmlns:a16="http://schemas.microsoft.com/office/drawing/2014/main" id="{DB8E3042-3858-C68C-8D2F-3701A33B9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436970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5" name="Graphic 23" descr="Amazon DynamoDB service icon.">
            <a:extLst>
              <a:ext uri="{FF2B5EF4-FFF2-40B4-BE49-F238E27FC236}">
                <a16:creationId xmlns:a16="http://schemas.microsoft.com/office/drawing/2014/main" id="{99319744-3C51-F63A-80FE-A8F232BA8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 bwMode="auto">
          <a:xfrm>
            <a:off x="4756813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6" name="Graphic 26" descr="Amazon Managed Streaming for Apache Kafka (Amazon MSK) service icon.">
            <a:extLst>
              <a:ext uri="{FF2B5EF4-FFF2-40B4-BE49-F238E27FC236}">
                <a16:creationId xmlns:a16="http://schemas.microsoft.com/office/drawing/2014/main" id="{16EA28C8-A76F-8E86-8062-640D6FA17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 bwMode="auto">
          <a:xfrm>
            <a:off x="5530062" y="413502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17" name="Graphic 21" descr="Amazon ElastiCache service icon.">
            <a:extLst>
              <a:ext uri="{FF2B5EF4-FFF2-40B4-BE49-F238E27FC236}">
                <a16:creationId xmlns:a16="http://schemas.microsoft.com/office/drawing/2014/main" id="{DC6B12E7-5891-24E8-86B6-B3530A05F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 bwMode="auto">
          <a:xfrm>
            <a:off x="5143923" y="4135025"/>
            <a:ext cx="171989" cy="17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18" name="TextBox 8617">
            <a:extLst>
              <a:ext uri="{FF2B5EF4-FFF2-40B4-BE49-F238E27FC236}">
                <a16:creationId xmlns:a16="http://schemas.microsoft.com/office/drawing/2014/main" id="{C36AF03D-81F5-9637-61F8-36CC0532228C}"/>
              </a:ext>
            </a:extLst>
          </p:cNvPr>
          <p:cNvSpPr txBox="1"/>
          <p:nvPr/>
        </p:nvSpPr>
        <p:spPr>
          <a:xfrm>
            <a:off x="5510743" y="4333512"/>
            <a:ext cx="2115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MSK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19" name="TextBox 8618">
            <a:extLst>
              <a:ext uri="{FF2B5EF4-FFF2-40B4-BE49-F238E27FC236}">
                <a16:creationId xmlns:a16="http://schemas.microsoft.com/office/drawing/2014/main" id="{4A12A1C5-77B7-1571-7079-DA89DCFEDE6C}"/>
              </a:ext>
            </a:extLst>
          </p:cNvPr>
          <p:cNvSpPr txBox="1"/>
          <p:nvPr/>
        </p:nvSpPr>
        <p:spPr>
          <a:xfrm>
            <a:off x="4987437" y="4333512"/>
            <a:ext cx="48496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ElastiCache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21" name="TextBox 8620">
            <a:extLst>
              <a:ext uri="{FF2B5EF4-FFF2-40B4-BE49-F238E27FC236}">
                <a16:creationId xmlns:a16="http://schemas.microsoft.com/office/drawing/2014/main" id="{56F246D0-E66E-8370-243F-545C4A5CE556}"/>
              </a:ext>
            </a:extLst>
          </p:cNvPr>
          <p:cNvSpPr txBox="1"/>
          <p:nvPr/>
        </p:nvSpPr>
        <p:spPr>
          <a:xfrm>
            <a:off x="3920346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Aurora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22" name="TextBox 8621">
            <a:extLst>
              <a:ext uri="{FF2B5EF4-FFF2-40B4-BE49-F238E27FC236}">
                <a16:creationId xmlns:a16="http://schemas.microsoft.com/office/drawing/2014/main" id="{C4515AD7-835C-1C6C-3D19-410FCEC4A8D4}"/>
              </a:ext>
            </a:extLst>
          </p:cNvPr>
          <p:cNvSpPr txBox="1"/>
          <p:nvPr/>
        </p:nvSpPr>
        <p:spPr>
          <a:xfrm>
            <a:off x="4305165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RDS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24" name="TextBox 8623">
            <a:extLst>
              <a:ext uri="{FF2B5EF4-FFF2-40B4-BE49-F238E27FC236}">
                <a16:creationId xmlns:a16="http://schemas.microsoft.com/office/drawing/2014/main" id="{BB4E67F8-657A-30B3-A4F2-13FEF3C4F873}"/>
              </a:ext>
            </a:extLst>
          </p:cNvPr>
          <p:cNvSpPr txBox="1"/>
          <p:nvPr/>
        </p:nvSpPr>
        <p:spPr>
          <a:xfrm>
            <a:off x="4670813" y="433351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DDB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47" name="Rectangle 71">
            <a:extLst>
              <a:ext uri="{FF2B5EF4-FFF2-40B4-BE49-F238E27FC236}">
                <a16:creationId xmlns:a16="http://schemas.microsoft.com/office/drawing/2014/main" id="{A1FE21A3-32DF-C51C-0B07-77D544449C0D}"/>
              </a:ext>
            </a:extLst>
          </p:cNvPr>
          <p:cNvSpPr/>
          <p:nvPr/>
        </p:nvSpPr>
        <p:spPr>
          <a:xfrm>
            <a:off x="1171804" y="5014701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648" name="Graphic 72" descr="Private subnet group icon. ">
            <a:extLst>
              <a:ext uri="{FF2B5EF4-FFF2-40B4-BE49-F238E27FC236}">
                <a16:creationId xmlns:a16="http://schemas.microsoft.com/office/drawing/2014/main" id="{039EB315-0F5E-AAC9-1556-9186954FDA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804" y="5014700"/>
            <a:ext cx="178979" cy="178979"/>
          </a:xfrm>
          <a:prstGeom prst="rect">
            <a:avLst/>
          </a:prstGeom>
        </p:spPr>
      </p:pic>
      <p:sp>
        <p:nvSpPr>
          <p:cNvPr id="8649" name="TextBox 8648">
            <a:extLst>
              <a:ext uri="{FF2B5EF4-FFF2-40B4-BE49-F238E27FC236}">
                <a16:creationId xmlns:a16="http://schemas.microsoft.com/office/drawing/2014/main" id="{88CC86D7-DDEA-700E-0196-80BFC2541A89}"/>
              </a:ext>
            </a:extLst>
          </p:cNvPr>
          <p:cNvSpPr txBox="1"/>
          <p:nvPr/>
        </p:nvSpPr>
        <p:spPr>
          <a:xfrm>
            <a:off x="1390243" y="5058421"/>
            <a:ext cx="74361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50" name="Rectangle 71">
            <a:extLst>
              <a:ext uri="{FF2B5EF4-FFF2-40B4-BE49-F238E27FC236}">
                <a16:creationId xmlns:a16="http://schemas.microsoft.com/office/drawing/2014/main" id="{FF11BA15-3938-7BB5-EBF4-EE4F23B06F28}"/>
              </a:ext>
            </a:extLst>
          </p:cNvPr>
          <p:cNvSpPr/>
          <p:nvPr/>
        </p:nvSpPr>
        <p:spPr>
          <a:xfrm>
            <a:off x="3659660" y="5014701"/>
            <a:ext cx="2151530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651" name="Graphic 72" descr="Private subnet group icon. ">
            <a:extLst>
              <a:ext uri="{FF2B5EF4-FFF2-40B4-BE49-F238E27FC236}">
                <a16:creationId xmlns:a16="http://schemas.microsoft.com/office/drawing/2014/main" id="{D2148709-A47E-9D0F-C49B-94092AB1D8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59660" y="5014700"/>
            <a:ext cx="178979" cy="178979"/>
          </a:xfrm>
          <a:prstGeom prst="rect">
            <a:avLst/>
          </a:prstGeom>
        </p:spPr>
      </p:pic>
      <p:sp>
        <p:nvSpPr>
          <p:cNvPr id="8652" name="TextBox 8651">
            <a:extLst>
              <a:ext uri="{FF2B5EF4-FFF2-40B4-BE49-F238E27FC236}">
                <a16:creationId xmlns:a16="http://schemas.microsoft.com/office/drawing/2014/main" id="{7C5D8EF3-A5C2-15C2-E2D5-3F88EF666A7A}"/>
              </a:ext>
            </a:extLst>
          </p:cNvPr>
          <p:cNvSpPr txBox="1"/>
          <p:nvPr/>
        </p:nvSpPr>
        <p:spPr>
          <a:xfrm>
            <a:off x="3869160" y="5058422"/>
            <a:ext cx="6897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 Subnet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53" name="그림 8652">
            <a:extLst>
              <a:ext uri="{FF2B5EF4-FFF2-40B4-BE49-F238E27FC236}">
                <a16:creationId xmlns:a16="http://schemas.microsoft.com/office/drawing/2014/main" id="{0F460281-F373-0981-86A0-5F4A6106A11C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410" y="3785523"/>
            <a:ext cx="147653" cy="147653"/>
          </a:xfrm>
          <a:prstGeom prst="rect">
            <a:avLst/>
          </a:prstGeom>
        </p:spPr>
      </p:pic>
      <p:pic>
        <p:nvPicPr>
          <p:cNvPr id="8654" name="그림 8653">
            <a:extLst>
              <a:ext uri="{FF2B5EF4-FFF2-40B4-BE49-F238E27FC236}">
                <a16:creationId xmlns:a16="http://schemas.microsoft.com/office/drawing/2014/main" id="{A68980B2-96A0-DCF7-3485-146F3E6DA6C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070" y="3785523"/>
            <a:ext cx="147653" cy="147653"/>
          </a:xfrm>
          <a:prstGeom prst="rect">
            <a:avLst/>
          </a:prstGeom>
        </p:spPr>
      </p:pic>
      <p:pic>
        <p:nvPicPr>
          <p:cNvPr id="8655" name="그림 8654">
            <a:extLst>
              <a:ext uri="{FF2B5EF4-FFF2-40B4-BE49-F238E27FC236}">
                <a16:creationId xmlns:a16="http://schemas.microsoft.com/office/drawing/2014/main" id="{AAAC81CD-651F-EF62-7A0A-38C3CE16E21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828" y="4392281"/>
            <a:ext cx="147653" cy="147653"/>
          </a:xfrm>
          <a:prstGeom prst="rect">
            <a:avLst/>
          </a:prstGeom>
        </p:spPr>
      </p:pic>
      <p:pic>
        <p:nvPicPr>
          <p:cNvPr id="8656" name="그림 8655">
            <a:extLst>
              <a:ext uri="{FF2B5EF4-FFF2-40B4-BE49-F238E27FC236}">
                <a16:creationId xmlns:a16="http://schemas.microsoft.com/office/drawing/2014/main" id="{73BBF182-7AD1-724D-42B2-FA236F9115E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488" y="4392281"/>
            <a:ext cx="147653" cy="147653"/>
          </a:xfrm>
          <a:prstGeom prst="rect">
            <a:avLst/>
          </a:prstGeom>
        </p:spPr>
      </p:pic>
      <p:sp>
        <p:nvSpPr>
          <p:cNvPr id="8673" name="TextBox 8672">
            <a:extLst>
              <a:ext uri="{FF2B5EF4-FFF2-40B4-BE49-F238E27FC236}">
                <a16:creationId xmlns:a16="http://schemas.microsoft.com/office/drawing/2014/main" id="{924B28F3-5EB9-7E91-1A3C-8726C993FB11}"/>
              </a:ext>
            </a:extLst>
          </p:cNvPr>
          <p:cNvSpPr txBox="1"/>
          <p:nvPr/>
        </p:nvSpPr>
        <p:spPr>
          <a:xfrm>
            <a:off x="6236162" y="2571547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Lambda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74" name="Graphic 14" descr="Amazon Athena service icon.">
            <a:extLst>
              <a:ext uri="{FF2B5EF4-FFF2-40B4-BE49-F238E27FC236}">
                <a16:creationId xmlns:a16="http://schemas.microsoft.com/office/drawing/2014/main" id="{2CDACA71-D734-C6C9-63B0-54098F941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6305502" y="2811273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75" name="TextBox 8674">
            <a:extLst>
              <a:ext uri="{FF2B5EF4-FFF2-40B4-BE49-F238E27FC236}">
                <a16:creationId xmlns:a16="http://schemas.microsoft.com/office/drawing/2014/main" id="{7E773BFC-74D8-5C36-C115-417CD776B634}"/>
              </a:ext>
            </a:extLst>
          </p:cNvPr>
          <p:cNvSpPr txBox="1"/>
          <p:nvPr/>
        </p:nvSpPr>
        <p:spPr>
          <a:xfrm>
            <a:off x="6227829" y="3024585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Athena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76" name="Graphic 20" descr="Amazon Elastic Container Registry (Amazon ECR) Service icon.">
            <a:extLst>
              <a:ext uri="{FF2B5EF4-FFF2-40B4-BE49-F238E27FC236}">
                <a16:creationId xmlns:a16="http://schemas.microsoft.com/office/drawing/2014/main" id="{8D3CD580-2EA3-7223-650A-B08F8BEAD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 bwMode="auto">
          <a:xfrm>
            <a:off x="6305502" y="3264723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77" name="TextBox 8676">
            <a:extLst>
              <a:ext uri="{FF2B5EF4-FFF2-40B4-BE49-F238E27FC236}">
                <a16:creationId xmlns:a16="http://schemas.microsoft.com/office/drawing/2014/main" id="{5818DA52-3E14-BBB4-DAA4-2CEA1A862632}"/>
              </a:ext>
            </a:extLst>
          </p:cNvPr>
          <p:cNvSpPr txBox="1"/>
          <p:nvPr/>
        </p:nvSpPr>
        <p:spPr>
          <a:xfrm>
            <a:off x="6161553" y="4184398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Batch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78" name="TextBox 8677">
            <a:extLst>
              <a:ext uri="{FF2B5EF4-FFF2-40B4-BE49-F238E27FC236}">
                <a16:creationId xmlns:a16="http://schemas.microsoft.com/office/drawing/2014/main" id="{0EC54338-2BAF-F6AB-2E2F-AFFF9EC68D71}"/>
              </a:ext>
            </a:extLst>
          </p:cNvPr>
          <p:cNvSpPr txBox="1"/>
          <p:nvPr/>
        </p:nvSpPr>
        <p:spPr>
          <a:xfrm>
            <a:off x="6212805" y="3484145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ECR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79" name="Rectangle 40">
            <a:extLst>
              <a:ext uri="{FF2B5EF4-FFF2-40B4-BE49-F238E27FC236}">
                <a16:creationId xmlns:a16="http://schemas.microsoft.com/office/drawing/2014/main" id="{B2CF659E-E010-0EBD-96E7-49CBC821F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0362" y="1568335"/>
            <a:ext cx="1222732" cy="2785257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80" name="Rectangle 39" descr="VPC group border">
            <a:extLst>
              <a:ext uri="{FF2B5EF4-FFF2-40B4-BE49-F238E27FC236}">
                <a16:creationId xmlns:a16="http://schemas.microsoft.com/office/drawing/2014/main" id="{D4F86C83-A3F4-6696-31C4-C6DD8268E03C}"/>
              </a:ext>
            </a:extLst>
          </p:cNvPr>
          <p:cNvSpPr/>
          <p:nvPr/>
        </p:nvSpPr>
        <p:spPr>
          <a:xfrm>
            <a:off x="734203" y="1213469"/>
            <a:ext cx="5300768" cy="4511039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681" name="Graphic 57" descr="VPC group icon.">
            <a:extLst>
              <a:ext uri="{FF2B5EF4-FFF2-40B4-BE49-F238E27FC236}">
                <a16:creationId xmlns:a16="http://schemas.microsoft.com/office/drawing/2014/main" id="{1BC2E9B9-49A3-8988-2B70-CF034F7F626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725191" y="1213470"/>
            <a:ext cx="288000" cy="288000"/>
          </a:xfrm>
          <a:prstGeom prst="rect">
            <a:avLst/>
          </a:prstGeom>
        </p:spPr>
      </p:pic>
      <p:pic>
        <p:nvPicPr>
          <p:cNvPr id="8682" name="그림 8681">
            <a:extLst>
              <a:ext uri="{FF2B5EF4-FFF2-40B4-BE49-F238E27FC236}">
                <a16:creationId xmlns:a16="http://schemas.microsoft.com/office/drawing/2014/main" id="{41C796CA-F9FE-5471-7AC8-079B1486842B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18764" y="6089727"/>
            <a:ext cx="327321" cy="318227"/>
          </a:xfrm>
          <a:prstGeom prst="rect">
            <a:avLst/>
          </a:prstGeom>
        </p:spPr>
      </p:pic>
      <p:pic>
        <p:nvPicPr>
          <p:cNvPr id="8683" name="그림 8682">
            <a:extLst>
              <a:ext uri="{FF2B5EF4-FFF2-40B4-BE49-F238E27FC236}">
                <a16:creationId xmlns:a16="http://schemas.microsoft.com/office/drawing/2014/main" id="{826C65AC-0747-ECC8-4984-ECF231C5CAC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166" y="1066429"/>
            <a:ext cx="291600" cy="291600"/>
          </a:xfrm>
          <a:prstGeom prst="rect">
            <a:avLst/>
          </a:prstGeom>
        </p:spPr>
      </p:pic>
      <p:sp>
        <p:nvSpPr>
          <p:cNvPr id="8684" name="TextBox 8683">
            <a:extLst>
              <a:ext uri="{FF2B5EF4-FFF2-40B4-BE49-F238E27FC236}">
                <a16:creationId xmlns:a16="http://schemas.microsoft.com/office/drawing/2014/main" id="{3A662866-9FBD-E27D-6574-6A2935B2D12E}"/>
              </a:ext>
            </a:extLst>
          </p:cNvPr>
          <p:cNvSpPr txBox="1"/>
          <p:nvPr/>
        </p:nvSpPr>
        <p:spPr>
          <a:xfrm>
            <a:off x="3556040" y="1240649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85" name="Graphic 21" descr="Amazon Route 53 service icon.">
            <a:extLst>
              <a:ext uri="{FF2B5EF4-FFF2-40B4-BE49-F238E27FC236}">
                <a16:creationId xmlns:a16="http://schemas.microsoft.com/office/drawing/2014/main" id="{8B0F7ED7-6D65-D993-C883-88BFA97CD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 bwMode="auto">
          <a:xfrm>
            <a:off x="6995763" y="1153687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86" name="TextBox 8685">
            <a:extLst>
              <a:ext uri="{FF2B5EF4-FFF2-40B4-BE49-F238E27FC236}">
                <a16:creationId xmlns:a16="http://schemas.microsoft.com/office/drawing/2014/main" id="{B981FF8D-56B3-7EA7-1719-1928C7EA854B}"/>
              </a:ext>
            </a:extLst>
          </p:cNvPr>
          <p:cNvSpPr txBox="1"/>
          <p:nvPr/>
        </p:nvSpPr>
        <p:spPr>
          <a:xfrm>
            <a:off x="6186635" y="2057630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WAF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87" name="Graphic 8" descr="AWS WAF service icon.">
            <a:extLst>
              <a:ext uri="{FF2B5EF4-FFF2-40B4-BE49-F238E27FC236}">
                <a16:creationId xmlns:a16="http://schemas.microsoft.com/office/drawing/2014/main" id="{C9EEF494-53F0-E051-D2A7-945427E1B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 bwMode="auto">
          <a:xfrm>
            <a:off x="6305502" y="1856335"/>
            <a:ext cx="159758" cy="1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88" name="Graphic 19" descr="Amazon GuardDuty service icon.">
            <a:extLst>
              <a:ext uri="{FF2B5EF4-FFF2-40B4-BE49-F238E27FC236}">
                <a16:creationId xmlns:a16="http://schemas.microsoft.com/office/drawing/2014/main" id="{904CA839-4B2C-AC38-61DC-CEA635E98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 bwMode="auto">
          <a:xfrm>
            <a:off x="6849201" y="1861661"/>
            <a:ext cx="159758" cy="1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89" name="TextBox 8688">
            <a:extLst>
              <a:ext uri="{FF2B5EF4-FFF2-40B4-BE49-F238E27FC236}">
                <a16:creationId xmlns:a16="http://schemas.microsoft.com/office/drawing/2014/main" id="{1C460CFD-4DF2-ECC1-70ED-8ECC7D52AFAB}"/>
              </a:ext>
            </a:extLst>
          </p:cNvPr>
          <p:cNvSpPr txBox="1"/>
          <p:nvPr/>
        </p:nvSpPr>
        <p:spPr>
          <a:xfrm>
            <a:off x="6645173" y="2065767"/>
            <a:ext cx="54043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GuardDuty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0" name="Graphic 17" descr="Amazon CloudWatch service icon.">
            <a:extLst>
              <a:ext uri="{FF2B5EF4-FFF2-40B4-BE49-F238E27FC236}">
                <a16:creationId xmlns:a16="http://schemas.microsoft.com/office/drawing/2014/main" id="{95EA1D7A-D6AD-87C3-FF32-1516224E9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 bwMode="auto">
          <a:xfrm>
            <a:off x="6849201" y="2342515"/>
            <a:ext cx="163816" cy="163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91" name="TextBox 8690">
            <a:extLst>
              <a:ext uri="{FF2B5EF4-FFF2-40B4-BE49-F238E27FC236}">
                <a16:creationId xmlns:a16="http://schemas.microsoft.com/office/drawing/2014/main" id="{8570C37F-C537-4691-88D5-AE3426FA28DD}"/>
              </a:ext>
            </a:extLst>
          </p:cNvPr>
          <p:cNvSpPr txBox="1"/>
          <p:nvPr/>
        </p:nvSpPr>
        <p:spPr>
          <a:xfrm>
            <a:off x="6679294" y="2578123"/>
            <a:ext cx="535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CloudWatch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2" name="Graphic 8" descr="AWS Config service icon.">
            <a:extLst>
              <a:ext uri="{FF2B5EF4-FFF2-40B4-BE49-F238E27FC236}">
                <a16:creationId xmlns:a16="http://schemas.microsoft.com/office/drawing/2014/main" id="{938F5D32-42DC-2E98-19B1-BD6F201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 bwMode="auto">
          <a:xfrm>
            <a:off x="6849201" y="2809598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93" name="TextBox 8692">
            <a:extLst>
              <a:ext uri="{FF2B5EF4-FFF2-40B4-BE49-F238E27FC236}">
                <a16:creationId xmlns:a16="http://schemas.microsoft.com/office/drawing/2014/main" id="{CDCAC019-98D6-0E65-C555-A4255371CDC1}"/>
              </a:ext>
            </a:extLst>
          </p:cNvPr>
          <p:cNvSpPr txBox="1"/>
          <p:nvPr/>
        </p:nvSpPr>
        <p:spPr>
          <a:xfrm>
            <a:off x="6687530" y="3024585"/>
            <a:ext cx="535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Config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4" name="Graphic 20" descr="AWS Certificate Manager (ACM) service icon.">
            <a:extLst>
              <a:ext uri="{FF2B5EF4-FFF2-40B4-BE49-F238E27FC236}">
                <a16:creationId xmlns:a16="http://schemas.microsoft.com/office/drawing/2014/main" id="{7852B9C2-7612-5FB3-6D2A-3D2050A4A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 bwMode="auto">
          <a:xfrm>
            <a:off x="6849201" y="3259822"/>
            <a:ext cx="167546" cy="167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95" name="TextBox 8694">
            <a:extLst>
              <a:ext uri="{FF2B5EF4-FFF2-40B4-BE49-F238E27FC236}">
                <a16:creationId xmlns:a16="http://schemas.microsoft.com/office/drawing/2014/main" id="{202E2381-7027-B6B4-692E-56CD813FFF86}"/>
              </a:ext>
            </a:extLst>
          </p:cNvPr>
          <p:cNvSpPr txBox="1"/>
          <p:nvPr/>
        </p:nvSpPr>
        <p:spPr>
          <a:xfrm>
            <a:off x="6810194" y="3484145"/>
            <a:ext cx="2432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ACM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96" name="TextBox 8695">
            <a:extLst>
              <a:ext uri="{FF2B5EF4-FFF2-40B4-BE49-F238E27FC236}">
                <a16:creationId xmlns:a16="http://schemas.microsoft.com/office/drawing/2014/main" id="{12BEAC71-0C91-DCD0-FB0D-2BEBEF46DBBB}"/>
              </a:ext>
            </a:extLst>
          </p:cNvPr>
          <p:cNvSpPr txBox="1"/>
          <p:nvPr/>
        </p:nvSpPr>
        <p:spPr>
          <a:xfrm>
            <a:off x="6885186" y="1342986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Route53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697" name="TextBox 8696">
            <a:extLst>
              <a:ext uri="{FF2B5EF4-FFF2-40B4-BE49-F238E27FC236}">
                <a16:creationId xmlns:a16="http://schemas.microsoft.com/office/drawing/2014/main" id="{7AAB4045-A7CB-3DA1-DB56-8ABE1E2B41F8}"/>
              </a:ext>
            </a:extLst>
          </p:cNvPr>
          <p:cNvSpPr txBox="1"/>
          <p:nvPr/>
        </p:nvSpPr>
        <p:spPr>
          <a:xfrm>
            <a:off x="6569973" y="1350449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WAF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698" name="Graphic 8" descr="AWS WAF service icon.">
            <a:extLst>
              <a:ext uri="{FF2B5EF4-FFF2-40B4-BE49-F238E27FC236}">
                <a16:creationId xmlns:a16="http://schemas.microsoft.com/office/drawing/2014/main" id="{D6362DCC-BA46-640A-BA3A-B4BB3FAF6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 bwMode="auto">
          <a:xfrm>
            <a:off x="6687530" y="1153856"/>
            <a:ext cx="173356" cy="17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99" name="그림 8698">
            <a:extLst>
              <a:ext uri="{FF2B5EF4-FFF2-40B4-BE49-F238E27FC236}">
                <a16:creationId xmlns:a16="http://schemas.microsoft.com/office/drawing/2014/main" id="{6012BC95-D40C-D3B6-ABB5-9281498DBB8A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380" y="1602181"/>
            <a:ext cx="199202" cy="199202"/>
          </a:xfrm>
          <a:prstGeom prst="rect">
            <a:avLst/>
          </a:prstGeom>
        </p:spPr>
      </p:pic>
      <p:sp>
        <p:nvSpPr>
          <p:cNvPr id="8700" name="TextBox 8699">
            <a:extLst>
              <a:ext uri="{FF2B5EF4-FFF2-40B4-BE49-F238E27FC236}">
                <a16:creationId xmlns:a16="http://schemas.microsoft.com/office/drawing/2014/main" id="{FB1EF461-93BC-D774-5137-DED3186EA91E}"/>
              </a:ext>
            </a:extLst>
          </p:cNvPr>
          <p:cNvSpPr txBox="1"/>
          <p:nvPr/>
        </p:nvSpPr>
        <p:spPr>
          <a:xfrm>
            <a:off x="6426099" y="1670506"/>
            <a:ext cx="2432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01" name="Graphic 19" descr="Amazon CloudFront service icon.">
            <a:extLst>
              <a:ext uri="{FF2B5EF4-FFF2-40B4-BE49-F238E27FC236}">
                <a16:creationId xmlns:a16="http://schemas.microsoft.com/office/drawing/2014/main" id="{38749E8F-3726-1905-DA07-AF67E2C1A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 bwMode="auto">
          <a:xfrm>
            <a:off x="6305502" y="1153687"/>
            <a:ext cx="173356" cy="17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2" name="TextBox 8701">
            <a:extLst>
              <a:ext uri="{FF2B5EF4-FFF2-40B4-BE49-F238E27FC236}">
                <a16:creationId xmlns:a16="http://schemas.microsoft.com/office/drawing/2014/main" id="{E15E0276-F37F-B9D4-0E41-58E27CA9CC12}"/>
              </a:ext>
            </a:extLst>
          </p:cNvPr>
          <p:cNvSpPr txBox="1"/>
          <p:nvPr/>
        </p:nvSpPr>
        <p:spPr>
          <a:xfrm>
            <a:off x="6126477" y="1349080"/>
            <a:ext cx="52559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CloudFront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703" name="그림 8702">
            <a:extLst>
              <a:ext uri="{FF2B5EF4-FFF2-40B4-BE49-F238E27FC236}">
                <a16:creationId xmlns:a16="http://schemas.microsoft.com/office/drawing/2014/main" id="{F67C5148-7228-8C07-73BC-7F42DF057D2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186" y="5211529"/>
            <a:ext cx="162032" cy="162032"/>
          </a:xfrm>
          <a:prstGeom prst="rect">
            <a:avLst/>
          </a:prstGeom>
        </p:spPr>
      </p:pic>
      <p:pic>
        <p:nvPicPr>
          <p:cNvPr id="8320" name="그림 8319">
            <a:extLst>
              <a:ext uri="{FF2B5EF4-FFF2-40B4-BE49-F238E27FC236}">
                <a16:creationId xmlns:a16="http://schemas.microsoft.com/office/drawing/2014/main" id="{32490319-E57C-C12A-2B44-AD932C4E9165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597" y="5217246"/>
            <a:ext cx="162032" cy="162032"/>
          </a:xfrm>
          <a:prstGeom prst="rect">
            <a:avLst/>
          </a:prstGeom>
        </p:spPr>
      </p:pic>
      <p:cxnSp>
        <p:nvCxnSpPr>
          <p:cNvPr id="8321" name="꺾인 연결선[E] 8320">
            <a:extLst>
              <a:ext uri="{FF2B5EF4-FFF2-40B4-BE49-F238E27FC236}">
                <a16:creationId xmlns:a16="http://schemas.microsoft.com/office/drawing/2014/main" id="{BDCBA0F3-878B-2945-F96D-EAA79BBFDBA4}"/>
              </a:ext>
            </a:extLst>
          </p:cNvPr>
          <p:cNvCxnSpPr>
            <a:cxnSpLocks/>
            <a:stCxn id="8703" idx="2"/>
            <a:endCxn id="8389" idx="1"/>
          </p:cNvCxnSpPr>
          <p:nvPr/>
        </p:nvCxnSpPr>
        <p:spPr>
          <a:xfrm rot="16200000" flipH="1">
            <a:off x="2747575" y="5600188"/>
            <a:ext cx="783720" cy="330466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2" name="꺾인 연결선[E] 8321">
            <a:extLst>
              <a:ext uri="{FF2B5EF4-FFF2-40B4-BE49-F238E27FC236}">
                <a16:creationId xmlns:a16="http://schemas.microsoft.com/office/drawing/2014/main" id="{B2655DA0-BBB1-F142-F46B-8D6191CA6DC2}"/>
              </a:ext>
            </a:extLst>
          </p:cNvPr>
          <p:cNvCxnSpPr>
            <a:cxnSpLocks/>
            <a:stCxn id="8320" idx="2"/>
            <a:endCxn id="8387" idx="3"/>
          </p:cNvCxnSpPr>
          <p:nvPr/>
        </p:nvCxnSpPr>
        <p:spPr>
          <a:xfrm rot="5400000">
            <a:off x="3467665" y="5578332"/>
            <a:ext cx="778003" cy="379894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23" name="그림 8322">
            <a:extLst>
              <a:ext uri="{FF2B5EF4-FFF2-40B4-BE49-F238E27FC236}">
                <a16:creationId xmlns:a16="http://schemas.microsoft.com/office/drawing/2014/main" id="{4F40DC29-6BF8-501B-B0A0-623E5CB4D1FA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957571" y="5640037"/>
            <a:ext cx="162032" cy="162032"/>
          </a:xfrm>
          <a:prstGeom prst="rect">
            <a:avLst/>
          </a:prstGeom>
        </p:spPr>
      </p:pic>
      <p:pic>
        <p:nvPicPr>
          <p:cNvPr id="8324" name="그림 8323">
            <a:extLst>
              <a:ext uri="{FF2B5EF4-FFF2-40B4-BE49-F238E27FC236}">
                <a16:creationId xmlns:a16="http://schemas.microsoft.com/office/drawing/2014/main" id="{B29C361A-6563-9AB8-E649-BF864D741C95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880410" y="5641608"/>
            <a:ext cx="162032" cy="162032"/>
          </a:xfrm>
          <a:prstGeom prst="rect">
            <a:avLst/>
          </a:prstGeom>
        </p:spPr>
      </p:pic>
      <p:sp>
        <p:nvSpPr>
          <p:cNvPr id="8326" name="모서리가 둥근 직사각형 8325">
            <a:extLst>
              <a:ext uri="{FF2B5EF4-FFF2-40B4-BE49-F238E27FC236}">
                <a16:creationId xmlns:a16="http://schemas.microsoft.com/office/drawing/2014/main" id="{7A7DF1E2-D269-A9F5-4C0F-3145BC72A433}"/>
              </a:ext>
            </a:extLst>
          </p:cNvPr>
          <p:cNvSpPr/>
          <p:nvPr/>
        </p:nvSpPr>
        <p:spPr>
          <a:xfrm>
            <a:off x="3551789" y="6234455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29" name="TextBox 8328">
            <a:extLst>
              <a:ext uri="{FF2B5EF4-FFF2-40B4-BE49-F238E27FC236}">
                <a16:creationId xmlns:a16="http://schemas.microsoft.com/office/drawing/2014/main" id="{FBE7C4C0-0532-281A-0C95-6E9D0DD9A99B}"/>
              </a:ext>
            </a:extLst>
          </p:cNvPr>
          <p:cNvSpPr txBox="1"/>
          <p:nvPr/>
        </p:nvSpPr>
        <p:spPr>
          <a:xfrm>
            <a:off x="7893891" y="4756084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30" name="TextBox 8329">
            <a:extLst>
              <a:ext uri="{FF2B5EF4-FFF2-40B4-BE49-F238E27FC236}">
                <a16:creationId xmlns:a16="http://schemas.microsoft.com/office/drawing/2014/main" id="{58C4A122-385D-4C57-5CCD-67BAB5215B7F}"/>
              </a:ext>
            </a:extLst>
          </p:cNvPr>
          <p:cNvSpPr txBox="1"/>
          <p:nvPr/>
        </p:nvSpPr>
        <p:spPr>
          <a:xfrm>
            <a:off x="3047027" y="6236823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31" name="TextBox 8330">
            <a:extLst>
              <a:ext uri="{FF2B5EF4-FFF2-40B4-BE49-F238E27FC236}">
                <a16:creationId xmlns:a16="http://schemas.microsoft.com/office/drawing/2014/main" id="{A372E8EA-705C-01C8-A791-6F5D63D48EE9}"/>
              </a:ext>
            </a:extLst>
          </p:cNvPr>
          <p:cNvSpPr txBox="1"/>
          <p:nvPr/>
        </p:nvSpPr>
        <p:spPr>
          <a:xfrm>
            <a:off x="5522247" y="1398616"/>
            <a:ext cx="298922" cy="138499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C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8332" name="직선 연결선[R] 8331">
            <a:extLst>
              <a:ext uri="{FF2B5EF4-FFF2-40B4-BE49-F238E27FC236}">
                <a16:creationId xmlns:a16="http://schemas.microsoft.com/office/drawing/2014/main" id="{57731CE8-4B63-63B2-32C0-915CD58D8CDB}"/>
              </a:ext>
            </a:extLst>
          </p:cNvPr>
          <p:cNvCxnSpPr>
            <a:cxnSpLocks/>
            <a:stCxn id="8701" idx="2"/>
            <a:endCxn id="8699" idx="0"/>
          </p:cNvCxnSpPr>
          <p:nvPr/>
        </p:nvCxnSpPr>
        <p:spPr>
          <a:xfrm flipH="1">
            <a:off x="6391981" y="1327043"/>
            <a:ext cx="199" cy="275138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33" name="그림 8332">
            <a:extLst>
              <a:ext uri="{FF2B5EF4-FFF2-40B4-BE49-F238E27FC236}">
                <a16:creationId xmlns:a16="http://schemas.microsoft.com/office/drawing/2014/main" id="{C7110193-79A9-086D-9EF8-5727C48B1AA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255" y="4441205"/>
            <a:ext cx="231583" cy="231583"/>
          </a:xfrm>
          <a:prstGeom prst="rect">
            <a:avLst/>
          </a:prstGeom>
        </p:spPr>
      </p:pic>
      <p:cxnSp>
        <p:nvCxnSpPr>
          <p:cNvPr id="8336" name="꺾인 연결선[E] 8335">
            <a:extLst>
              <a:ext uri="{FF2B5EF4-FFF2-40B4-BE49-F238E27FC236}">
                <a16:creationId xmlns:a16="http://schemas.microsoft.com/office/drawing/2014/main" id="{F148DE90-4525-2AA7-3261-F5678555F531}"/>
              </a:ext>
            </a:extLst>
          </p:cNvPr>
          <p:cNvCxnSpPr>
            <a:cxnSpLocks/>
            <a:stCxn id="8333" idx="3"/>
            <a:endCxn id="8357" idx="2"/>
          </p:cNvCxnSpPr>
          <p:nvPr/>
        </p:nvCxnSpPr>
        <p:spPr>
          <a:xfrm flipV="1">
            <a:off x="6170838" y="4438105"/>
            <a:ext cx="758242" cy="118892"/>
          </a:xfrm>
          <a:prstGeom prst="bentConnector2">
            <a:avLst/>
          </a:prstGeom>
          <a:ln w="19050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43" name="그림 8342">
            <a:extLst>
              <a:ext uri="{FF2B5EF4-FFF2-40B4-BE49-F238E27FC236}">
                <a16:creationId xmlns:a16="http://schemas.microsoft.com/office/drawing/2014/main" id="{0223CAFE-6842-1BE6-D3EC-34E93009B900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819532" y="5895468"/>
            <a:ext cx="454162" cy="126156"/>
          </a:xfrm>
          <a:prstGeom prst="rect">
            <a:avLst/>
          </a:prstGeom>
        </p:spPr>
      </p:pic>
      <p:pic>
        <p:nvPicPr>
          <p:cNvPr id="8344" name="그림 8343">
            <a:extLst>
              <a:ext uri="{FF2B5EF4-FFF2-40B4-BE49-F238E27FC236}">
                <a16:creationId xmlns:a16="http://schemas.microsoft.com/office/drawing/2014/main" id="{9CB4FC8E-7FAF-DDCF-4C8B-38C50361BAEB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718317" y="5893465"/>
            <a:ext cx="454162" cy="126156"/>
          </a:xfrm>
          <a:prstGeom prst="rect">
            <a:avLst/>
          </a:prstGeom>
        </p:spPr>
      </p:pic>
      <p:cxnSp>
        <p:nvCxnSpPr>
          <p:cNvPr id="8355" name="구부러진 연결선[U] 8354">
            <a:extLst>
              <a:ext uri="{FF2B5EF4-FFF2-40B4-BE49-F238E27FC236}">
                <a16:creationId xmlns:a16="http://schemas.microsoft.com/office/drawing/2014/main" id="{01A5A35B-BC7D-F80A-7E45-01E6A094760C}"/>
              </a:ext>
            </a:extLst>
          </p:cNvPr>
          <p:cNvCxnSpPr>
            <a:cxnSpLocks/>
            <a:stCxn id="8515" idx="0"/>
            <a:endCxn id="8687" idx="0"/>
          </p:cNvCxnSpPr>
          <p:nvPr/>
        </p:nvCxnSpPr>
        <p:spPr>
          <a:xfrm rot="16200000" flipH="1">
            <a:off x="5632018" y="1102972"/>
            <a:ext cx="11745" cy="1494980"/>
          </a:xfrm>
          <a:prstGeom prst="curvedConnector3">
            <a:avLst>
              <a:gd name="adj1" fmla="val -194636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56" name="Rectangle 40">
            <a:extLst>
              <a:ext uri="{FF2B5EF4-FFF2-40B4-BE49-F238E27FC236}">
                <a16:creationId xmlns:a16="http://schemas.microsoft.com/office/drawing/2014/main" id="{7587BEC0-3938-2087-19CC-18115B1E8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0362" y="1096006"/>
            <a:ext cx="1234627" cy="402472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57" name="그림 8356">
            <a:extLst>
              <a:ext uri="{FF2B5EF4-FFF2-40B4-BE49-F238E27FC236}">
                <a16:creationId xmlns:a16="http://schemas.microsoft.com/office/drawing/2014/main" id="{35355BF9-F7CB-53A2-A893-21471D5B9F3D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609477" y="4291781"/>
            <a:ext cx="639205" cy="146324"/>
          </a:xfrm>
          <a:prstGeom prst="rect">
            <a:avLst/>
          </a:prstGeom>
        </p:spPr>
      </p:pic>
      <p:pic>
        <p:nvPicPr>
          <p:cNvPr id="8358" name="그림 8357">
            <a:extLst>
              <a:ext uri="{FF2B5EF4-FFF2-40B4-BE49-F238E27FC236}">
                <a16:creationId xmlns:a16="http://schemas.microsoft.com/office/drawing/2014/main" id="{60FCD15C-9514-85D2-F401-7920E50FCD5E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609477" y="1434129"/>
            <a:ext cx="649945" cy="147011"/>
          </a:xfrm>
          <a:prstGeom prst="rect">
            <a:avLst/>
          </a:prstGeom>
        </p:spPr>
      </p:pic>
      <p:pic>
        <p:nvPicPr>
          <p:cNvPr id="8359" name="그림 8358">
            <a:extLst>
              <a:ext uri="{FF2B5EF4-FFF2-40B4-BE49-F238E27FC236}">
                <a16:creationId xmlns:a16="http://schemas.microsoft.com/office/drawing/2014/main" id="{55D494F8-E5F5-EFA6-9A34-3CF9935554BF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1183260" y="3126354"/>
            <a:ext cx="575175" cy="159386"/>
          </a:xfrm>
          <a:prstGeom prst="rect">
            <a:avLst/>
          </a:prstGeom>
        </p:spPr>
      </p:pic>
      <p:pic>
        <p:nvPicPr>
          <p:cNvPr id="8362" name="Picture 2" descr="Datadog | Slack App Directory">
            <a:extLst>
              <a:ext uri="{FF2B5EF4-FFF2-40B4-BE49-F238E27FC236}">
                <a16:creationId xmlns:a16="http://schemas.microsoft.com/office/drawing/2014/main" id="{BBAF0520-4E1E-1A80-18B6-F7FA0FF86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528" y="3179737"/>
            <a:ext cx="183850" cy="183850"/>
          </a:xfrm>
          <a:prstGeom prst="roundRect">
            <a:avLst>
              <a:gd name="adj" fmla="val 1065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63" name="그림 8362">
            <a:extLst>
              <a:ext uri="{FF2B5EF4-FFF2-40B4-BE49-F238E27FC236}">
                <a16:creationId xmlns:a16="http://schemas.microsoft.com/office/drawing/2014/main" id="{6FC0D2FA-E59F-B821-A4AA-62807E513C9B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553" y="4791922"/>
            <a:ext cx="216000" cy="216000"/>
          </a:xfrm>
          <a:prstGeom prst="rect">
            <a:avLst/>
          </a:prstGeom>
        </p:spPr>
      </p:pic>
      <p:grpSp>
        <p:nvGrpSpPr>
          <p:cNvPr id="8364" name="그룹 8363">
            <a:extLst>
              <a:ext uri="{FF2B5EF4-FFF2-40B4-BE49-F238E27FC236}">
                <a16:creationId xmlns:a16="http://schemas.microsoft.com/office/drawing/2014/main" id="{2DBEB6F7-B03E-3536-DC62-86A7A5470318}"/>
              </a:ext>
            </a:extLst>
          </p:cNvPr>
          <p:cNvGrpSpPr/>
          <p:nvPr/>
        </p:nvGrpSpPr>
        <p:grpSpPr>
          <a:xfrm>
            <a:off x="6955026" y="5562334"/>
            <a:ext cx="832847" cy="288328"/>
            <a:chOff x="4024949" y="1984841"/>
            <a:chExt cx="832847" cy="288328"/>
          </a:xfrm>
        </p:grpSpPr>
        <p:sp>
          <p:nvSpPr>
            <p:cNvPr id="8367" name="Rectangle 39" descr="VPC group border">
              <a:extLst>
                <a:ext uri="{FF2B5EF4-FFF2-40B4-BE49-F238E27FC236}">
                  <a16:creationId xmlns:a16="http://schemas.microsoft.com/office/drawing/2014/main" id="{A0E9F60D-5DAD-A720-2033-83A8FFF2DACE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68" name="Graphic 57" descr="VPC group icon.">
              <a:extLst>
                <a:ext uri="{FF2B5EF4-FFF2-40B4-BE49-F238E27FC236}">
                  <a16:creationId xmlns:a16="http://schemas.microsoft.com/office/drawing/2014/main" id="{47190899-FA4F-D66D-2F3A-53462081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369" name="TextBox 8368">
              <a:extLst>
                <a:ext uri="{FF2B5EF4-FFF2-40B4-BE49-F238E27FC236}">
                  <a16:creationId xmlns:a16="http://schemas.microsoft.com/office/drawing/2014/main" id="{BDCDB935-1A04-C0B1-A964-3F2B2A3E82E8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Seoul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grpSp>
        <p:nvGrpSpPr>
          <p:cNvPr id="8370" name="그룹 8369">
            <a:extLst>
              <a:ext uri="{FF2B5EF4-FFF2-40B4-BE49-F238E27FC236}">
                <a16:creationId xmlns:a16="http://schemas.microsoft.com/office/drawing/2014/main" id="{7969078F-78DD-BA13-D1B7-C7E6E8177F58}"/>
              </a:ext>
            </a:extLst>
          </p:cNvPr>
          <p:cNvGrpSpPr/>
          <p:nvPr/>
        </p:nvGrpSpPr>
        <p:grpSpPr>
          <a:xfrm>
            <a:off x="6955026" y="5160280"/>
            <a:ext cx="832847" cy="288328"/>
            <a:chOff x="4024949" y="1984841"/>
            <a:chExt cx="832847" cy="288328"/>
          </a:xfrm>
        </p:grpSpPr>
        <p:sp>
          <p:nvSpPr>
            <p:cNvPr id="8372" name="Rectangle 39" descr="VPC group border">
              <a:extLst>
                <a:ext uri="{FF2B5EF4-FFF2-40B4-BE49-F238E27FC236}">
                  <a16:creationId xmlns:a16="http://schemas.microsoft.com/office/drawing/2014/main" id="{5F699692-4158-1D4C-641F-4DC36F975D32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73" name="Graphic 57" descr="VPC group icon.">
              <a:extLst>
                <a:ext uri="{FF2B5EF4-FFF2-40B4-BE49-F238E27FC236}">
                  <a16:creationId xmlns:a16="http://schemas.microsoft.com/office/drawing/2014/main" id="{9E293478-EC3E-79E3-0D72-55C4A2DB4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374" name="TextBox 8373">
              <a:extLst>
                <a:ext uri="{FF2B5EF4-FFF2-40B4-BE49-F238E27FC236}">
                  <a16:creationId xmlns:a16="http://schemas.microsoft.com/office/drawing/2014/main" id="{2DDF3B8D-4517-CBF5-5CC5-24835A7CAF93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Tokyo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grpSp>
        <p:nvGrpSpPr>
          <p:cNvPr id="8376" name="그룹 8375">
            <a:extLst>
              <a:ext uri="{FF2B5EF4-FFF2-40B4-BE49-F238E27FC236}">
                <a16:creationId xmlns:a16="http://schemas.microsoft.com/office/drawing/2014/main" id="{6D72CEB2-4863-B7DA-BC41-4219B62B4BDB}"/>
              </a:ext>
            </a:extLst>
          </p:cNvPr>
          <p:cNvGrpSpPr/>
          <p:nvPr/>
        </p:nvGrpSpPr>
        <p:grpSpPr>
          <a:xfrm>
            <a:off x="6955026" y="4758226"/>
            <a:ext cx="832847" cy="288328"/>
            <a:chOff x="4024949" y="1984841"/>
            <a:chExt cx="832847" cy="288328"/>
          </a:xfrm>
        </p:grpSpPr>
        <p:sp>
          <p:nvSpPr>
            <p:cNvPr id="8378" name="Rectangle 39" descr="VPC group border">
              <a:extLst>
                <a:ext uri="{FF2B5EF4-FFF2-40B4-BE49-F238E27FC236}">
                  <a16:creationId xmlns:a16="http://schemas.microsoft.com/office/drawing/2014/main" id="{82F68ED6-8185-B1A4-7D49-8C67ECBD0463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379" name="Graphic 57" descr="VPC group icon.">
              <a:extLst>
                <a:ext uri="{FF2B5EF4-FFF2-40B4-BE49-F238E27FC236}">
                  <a16:creationId xmlns:a16="http://schemas.microsoft.com/office/drawing/2014/main" id="{EBA44CFC-D079-824B-C9F9-463A22EA8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8380" name="TextBox 8379">
              <a:extLst>
                <a:ext uri="{FF2B5EF4-FFF2-40B4-BE49-F238E27FC236}">
                  <a16:creationId xmlns:a16="http://schemas.microsoft.com/office/drawing/2014/main" id="{017B9017-E289-29C7-09BA-2999A87716D7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8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Central </a:t>
              </a:r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cxnSp>
        <p:nvCxnSpPr>
          <p:cNvPr id="8381" name="꺾인 연결선[E] 8380">
            <a:extLst>
              <a:ext uri="{FF2B5EF4-FFF2-40B4-BE49-F238E27FC236}">
                <a16:creationId xmlns:a16="http://schemas.microsoft.com/office/drawing/2014/main" id="{195ED611-82DB-7ECA-6E20-45D4CA30AF51}"/>
              </a:ext>
            </a:extLst>
          </p:cNvPr>
          <p:cNvCxnSpPr>
            <a:cxnSpLocks/>
            <a:stCxn id="8363" idx="3"/>
            <a:endCxn id="8373" idx="1"/>
          </p:cNvCxnSpPr>
          <p:nvPr/>
        </p:nvCxnSpPr>
        <p:spPr>
          <a:xfrm>
            <a:off x="6161553" y="4899922"/>
            <a:ext cx="793473" cy="404358"/>
          </a:xfrm>
          <a:prstGeom prst="bentConnector3">
            <a:avLst>
              <a:gd name="adj1" fmla="val 5000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2" name="직선 연결선[R] 8381">
            <a:extLst>
              <a:ext uri="{FF2B5EF4-FFF2-40B4-BE49-F238E27FC236}">
                <a16:creationId xmlns:a16="http://schemas.microsoft.com/office/drawing/2014/main" id="{3778A614-47BF-CF21-14F7-88980CA7FF75}"/>
              </a:ext>
            </a:extLst>
          </p:cNvPr>
          <p:cNvCxnSpPr>
            <a:cxnSpLocks/>
            <a:stCxn id="8363" idx="3"/>
            <a:endCxn id="8379" idx="1"/>
          </p:cNvCxnSpPr>
          <p:nvPr/>
        </p:nvCxnSpPr>
        <p:spPr>
          <a:xfrm>
            <a:off x="6161553" y="4899922"/>
            <a:ext cx="793473" cy="2304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3" name="꺾인 연결선[E] 8382">
            <a:extLst>
              <a:ext uri="{FF2B5EF4-FFF2-40B4-BE49-F238E27FC236}">
                <a16:creationId xmlns:a16="http://schemas.microsoft.com/office/drawing/2014/main" id="{15301631-91A7-2984-A226-C701C4C3D579}"/>
              </a:ext>
            </a:extLst>
          </p:cNvPr>
          <p:cNvCxnSpPr>
            <a:cxnSpLocks/>
            <a:stCxn id="8363" idx="3"/>
            <a:endCxn id="8368" idx="1"/>
          </p:cNvCxnSpPr>
          <p:nvPr/>
        </p:nvCxnSpPr>
        <p:spPr>
          <a:xfrm>
            <a:off x="6161553" y="4899922"/>
            <a:ext cx="793473" cy="806412"/>
          </a:xfrm>
          <a:prstGeom prst="bentConnector3">
            <a:avLst>
              <a:gd name="adj1" fmla="val 5000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84" name="그림 8383">
            <a:extLst>
              <a:ext uri="{FF2B5EF4-FFF2-40B4-BE49-F238E27FC236}">
                <a16:creationId xmlns:a16="http://schemas.microsoft.com/office/drawing/2014/main" id="{D530E76F-676E-5798-A2B7-FB3AF92199C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323820" y="5628555"/>
            <a:ext cx="372357" cy="153671"/>
          </a:xfrm>
          <a:prstGeom prst="rect">
            <a:avLst/>
          </a:prstGeom>
        </p:spPr>
      </p:pic>
      <p:pic>
        <p:nvPicPr>
          <p:cNvPr id="8385" name="그림 8384">
            <a:extLst>
              <a:ext uri="{FF2B5EF4-FFF2-40B4-BE49-F238E27FC236}">
                <a16:creationId xmlns:a16="http://schemas.microsoft.com/office/drawing/2014/main" id="{2123208F-C1B6-1EE0-7476-452F44E1E1C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323756" y="4842084"/>
            <a:ext cx="372357" cy="153671"/>
          </a:xfrm>
          <a:prstGeom prst="rect">
            <a:avLst/>
          </a:prstGeom>
        </p:spPr>
      </p:pic>
      <p:cxnSp>
        <p:nvCxnSpPr>
          <p:cNvPr id="8386" name="직선 연결선[R] 8385">
            <a:extLst>
              <a:ext uri="{FF2B5EF4-FFF2-40B4-BE49-F238E27FC236}">
                <a16:creationId xmlns:a16="http://schemas.microsoft.com/office/drawing/2014/main" id="{1B010B72-4FC5-0A07-46EF-A74F4B42F247}"/>
              </a:ext>
            </a:extLst>
          </p:cNvPr>
          <p:cNvCxnSpPr>
            <a:cxnSpLocks/>
            <a:stCxn id="8701" idx="3"/>
            <a:endCxn id="8698" idx="1"/>
          </p:cNvCxnSpPr>
          <p:nvPr/>
        </p:nvCxnSpPr>
        <p:spPr>
          <a:xfrm>
            <a:off x="6478858" y="1240365"/>
            <a:ext cx="208672" cy="169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87" name="모서리가 둥근 직사각형 8386">
            <a:extLst>
              <a:ext uri="{FF2B5EF4-FFF2-40B4-BE49-F238E27FC236}">
                <a16:creationId xmlns:a16="http://schemas.microsoft.com/office/drawing/2014/main" id="{9BC24BFA-B9D6-8E16-A1F2-B5611202EB65}"/>
              </a:ext>
            </a:extLst>
          </p:cNvPr>
          <p:cNvSpPr/>
          <p:nvPr/>
        </p:nvSpPr>
        <p:spPr>
          <a:xfrm>
            <a:off x="3554550" y="6097900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389" name="모서리가 둥근 직사각형 8388">
            <a:extLst>
              <a:ext uri="{FF2B5EF4-FFF2-40B4-BE49-F238E27FC236}">
                <a16:creationId xmlns:a16="http://schemas.microsoft.com/office/drawing/2014/main" id="{22EC118D-4238-B4D3-807C-56E53839A6AB}"/>
              </a:ext>
            </a:extLst>
          </p:cNvPr>
          <p:cNvSpPr/>
          <p:nvPr/>
        </p:nvSpPr>
        <p:spPr>
          <a:xfrm>
            <a:off x="3304668" y="6097900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392" name="그림 8391">
            <a:extLst>
              <a:ext uri="{FF2B5EF4-FFF2-40B4-BE49-F238E27FC236}">
                <a16:creationId xmlns:a16="http://schemas.microsoft.com/office/drawing/2014/main" id="{5446830C-966F-8A95-9839-4849CDBAA30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4803355"/>
            <a:ext cx="216000" cy="216000"/>
          </a:xfrm>
          <a:prstGeom prst="rect">
            <a:avLst/>
          </a:prstGeom>
        </p:spPr>
      </p:pic>
      <p:pic>
        <p:nvPicPr>
          <p:cNvPr id="8394" name="그림 8393">
            <a:extLst>
              <a:ext uri="{FF2B5EF4-FFF2-40B4-BE49-F238E27FC236}">
                <a16:creationId xmlns:a16="http://schemas.microsoft.com/office/drawing/2014/main" id="{CF0C16D9-3C3F-ABD3-47BE-08BABF338F6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5201757"/>
            <a:ext cx="216000" cy="216000"/>
          </a:xfrm>
          <a:prstGeom prst="rect">
            <a:avLst/>
          </a:prstGeom>
        </p:spPr>
      </p:pic>
      <p:pic>
        <p:nvPicPr>
          <p:cNvPr id="8401" name="그림 8400">
            <a:extLst>
              <a:ext uri="{FF2B5EF4-FFF2-40B4-BE49-F238E27FC236}">
                <a16:creationId xmlns:a16="http://schemas.microsoft.com/office/drawing/2014/main" id="{9EEA7C0E-E7C6-D17B-4A99-D89BCE65D326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201" y="5603832"/>
            <a:ext cx="216000" cy="216000"/>
          </a:xfrm>
          <a:prstGeom prst="rect">
            <a:avLst/>
          </a:prstGeom>
        </p:spPr>
      </p:pic>
      <p:pic>
        <p:nvPicPr>
          <p:cNvPr id="8402" name="그림 8401">
            <a:extLst>
              <a:ext uri="{FF2B5EF4-FFF2-40B4-BE49-F238E27FC236}">
                <a16:creationId xmlns:a16="http://schemas.microsoft.com/office/drawing/2014/main" id="{EBD89AE6-E0DD-F652-5652-A01C62019BC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21633" y="4798734"/>
            <a:ext cx="215999" cy="209998"/>
          </a:xfrm>
          <a:prstGeom prst="rect">
            <a:avLst/>
          </a:prstGeom>
        </p:spPr>
      </p:pic>
      <p:pic>
        <p:nvPicPr>
          <p:cNvPr id="8403" name="그림 8402">
            <a:extLst>
              <a:ext uri="{FF2B5EF4-FFF2-40B4-BE49-F238E27FC236}">
                <a16:creationId xmlns:a16="http://schemas.microsoft.com/office/drawing/2014/main" id="{B7FBD672-97D9-8CB6-168F-64699DFDDE16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07906" y="5205010"/>
            <a:ext cx="215999" cy="209998"/>
          </a:xfrm>
          <a:prstGeom prst="rect">
            <a:avLst/>
          </a:prstGeom>
        </p:spPr>
      </p:pic>
      <p:pic>
        <p:nvPicPr>
          <p:cNvPr id="8404" name="그림 8403">
            <a:extLst>
              <a:ext uri="{FF2B5EF4-FFF2-40B4-BE49-F238E27FC236}">
                <a16:creationId xmlns:a16="http://schemas.microsoft.com/office/drawing/2014/main" id="{6E19357B-ED76-724B-8058-B69948A6FF97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07906" y="5614893"/>
            <a:ext cx="215999" cy="209998"/>
          </a:xfrm>
          <a:prstGeom prst="rect">
            <a:avLst/>
          </a:prstGeom>
        </p:spPr>
      </p:pic>
      <p:pic>
        <p:nvPicPr>
          <p:cNvPr id="8407" name="그림 8406">
            <a:extLst>
              <a:ext uri="{FF2B5EF4-FFF2-40B4-BE49-F238E27FC236}">
                <a16:creationId xmlns:a16="http://schemas.microsoft.com/office/drawing/2014/main" id="{6A1F1220-8711-6EDB-EA92-678F21ADEC6A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323788" y="5243755"/>
            <a:ext cx="372357" cy="153671"/>
          </a:xfrm>
          <a:prstGeom prst="rect">
            <a:avLst/>
          </a:prstGeom>
        </p:spPr>
      </p:pic>
      <p:cxnSp>
        <p:nvCxnSpPr>
          <p:cNvPr id="8414" name="꺾인 연결선[E] 8413">
            <a:extLst>
              <a:ext uri="{FF2B5EF4-FFF2-40B4-BE49-F238E27FC236}">
                <a16:creationId xmlns:a16="http://schemas.microsoft.com/office/drawing/2014/main" id="{1D0D0D55-4C1A-9309-19A1-2E8A58FE36B3}"/>
              </a:ext>
            </a:extLst>
          </p:cNvPr>
          <p:cNvCxnSpPr>
            <a:cxnSpLocks/>
            <a:stCxn id="8402" idx="3"/>
            <a:endCxn id="8326" idx="3"/>
          </p:cNvCxnSpPr>
          <p:nvPr/>
        </p:nvCxnSpPr>
        <p:spPr>
          <a:xfrm flipH="1">
            <a:off x="3663958" y="4903733"/>
            <a:ext cx="4273674" cy="1390103"/>
          </a:xfrm>
          <a:prstGeom prst="bentConnector3">
            <a:avLst>
              <a:gd name="adj1" fmla="val -5349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5" name="꺾인 연결선[E] 8414">
            <a:extLst>
              <a:ext uri="{FF2B5EF4-FFF2-40B4-BE49-F238E27FC236}">
                <a16:creationId xmlns:a16="http://schemas.microsoft.com/office/drawing/2014/main" id="{27C6CF46-9310-4761-9BCE-5DE5D39CDD04}"/>
              </a:ext>
            </a:extLst>
          </p:cNvPr>
          <p:cNvCxnSpPr>
            <a:cxnSpLocks/>
            <a:stCxn id="8403" idx="3"/>
            <a:endCxn id="8326" idx="3"/>
          </p:cNvCxnSpPr>
          <p:nvPr/>
        </p:nvCxnSpPr>
        <p:spPr>
          <a:xfrm flipH="1">
            <a:off x="3663958" y="5310009"/>
            <a:ext cx="4259947" cy="983827"/>
          </a:xfrm>
          <a:prstGeom prst="bentConnector3">
            <a:avLst>
              <a:gd name="adj1" fmla="val -5643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7" name="꺾인 연결선[E] 8416">
            <a:extLst>
              <a:ext uri="{FF2B5EF4-FFF2-40B4-BE49-F238E27FC236}">
                <a16:creationId xmlns:a16="http://schemas.microsoft.com/office/drawing/2014/main" id="{6557CB77-3C71-6C55-9B6B-7CB6F265D77C}"/>
              </a:ext>
            </a:extLst>
          </p:cNvPr>
          <p:cNvCxnSpPr>
            <a:cxnSpLocks/>
            <a:stCxn id="8404" idx="3"/>
            <a:endCxn id="8326" idx="3"/>
          </p:cNvCxnSpPr>
          <p:nvPr/>
        </p:nvCxnSpPr>
        <p:spPr>
          <a:xfrm flipH="1">
            <a:off x="3663958" y="5719892"/>
            <a:ext cx="4259947" cy="573944"/>
          </a:xfrm>
          <a:prstGeom prst="bentConnector3">
            <a:avLst>
              <a:gd name="adj1" fmla="val -5643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19" name="그림 8418">
            <a:extLst>
              <a:ext uri="{FF2B5EF4-FFF2-40B4-BE49-F238E27FC236}">
                <a16:creationId xmlns:a16="http://schemas.microsoft.com/office/drawing/2014/main" id="{35A5124C-16FA-5B18-1911-E88C9A4A0587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811506" y="6208757"/>
            <a:ext cx="454162" cy="126156"/>
          </a:xfrm>
          <a:prstGeom prst="rect">
            <a:avLst/>
          </a:prstGeom>
        </p:spPr>
      </p:pic>
      <p:sp>
        <p:nvSpPr>
          <p:cNvPr id="8422" name="TextBox 8421">
            <a:extLst>
              <a:ext uri="{FF2B5EF4-FFF2-40B4-BE49-F238E27FC236}">
                <a16:creationId xmlns:a16="http://schemas.microsoft.com/office/drawing/2014/main" id="{592D4658-8F07-6674-2223-412E2AF1C1D5}"/>
              </a:ext>
            </a:extLst>
          </p:cNvPr>
          <p:cNvSpPr txBox="1"/>
          <p:nvPr/>
        </p:nvSpPr>
        <p:spPr>
          <a:xfrm>
            <a:off x="7887773" y="5174709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8423" name="TextBox 8422">
            <a:extLst>
              <a:ext uri="{FF2B5EF4-FFF2-40B4-BE49-F238E27FC236}">
                <a16:creationId xmlns:a16="http://schemas.microsoft.com/office/drawing/2014/main" id="{53494168-F785-B4E9-A7EA-458D1719FE6D}"/>
              </a:ext>
            </a:extLst>
          </p:cNvPr>
          <p:cNvSpPr txBox="1"/>
          <p:nvPr/>
        </p:nvSpPr>
        <p:spPr>
          <a:xfrm>
            <a:off x="7887772" y="5587190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430" name="그림 8429">
            <a:extLst>
              <a:ext uri="{FF2B5EF4-FFF2-40B4-BE49-F238E27FC236}">
                <a16:creationId xmlns:a16="http://schemas.microsoft.com/office/drawing/2014/main" id="{EEDA845D-CE5A-E1C4-1096-DF8164CF65EA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884926" y="2516425"/>
            <a:ext cx="895307" cy="628935"/>
          </a:xfrm>
          <a:prstGeom prst="rect">
            <a:avLst/>
          </a:prstGeom>
        </p:spPr>
      </p:pic>
      <p:pic>
        <p:nvPicPr>
          <p:cNvPr id="8432" name="그림 8431">
            <a:extLst>
              <a:ext uri="{FF2B5EF4-FFF2-40B4-BE49-F238E27FC236}">
                <a16:creationId xmlns:a16="http://schemas.microsoft.com/office/drawing/2014/main" id="{231040B3-F3EE-3810-BE61-10692ACD315B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426762" y="2429036"/>
            <a:ext cx="348474" cy="131392"/>
          </a:xfrm>
          <a:prstGeom prst="rect">
            <a:avLst/>
          </a:prstGeom>
        </p:spPr>
      </p:pic>
      <p:sp>
        <p:nvSpPr>
          <p:cNvPr id="8433" name="TextBox 8432">
            <a:extLst>
              <a:ext uri="{FF2B5EF4-FFF2-40B4-BE49-F238E27FC236}">
                <a16:creationId xmlns:a16="http://schemas.microsoft.com/office/drawing/2014/main" id="{BF0EE908-367E-EEE8-F682-E1DBA0837E4C}"/>
              </a:ext>
            </a:extLst>
          </p:cNvPr>
          <p:cNvSpPr txBox="1"/>
          <p:nvPr/>
        </p:nvSpPr>
        <p:spPr>
          <a:xfrm>
            <a:off x="1041707" y="1217981"/>
            <a:ext cx="7378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London VPC</a:t>
            </a:r>
            <a:endParaRPr kumimoji="1" lang="ko-KR" altLang="en-US" sz="10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4426957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VPC </a:t>
            </a:r>
            <a:r>
              <a:rPr kumimoji="1" lang="ko-KR" altLang="en-US" dirty="0"/>
              <a:t>구조 분석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21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</a:t>
            </a:r>
            <a:endParaRPr lang="ko-KR" altLang="en-US" sz="1600" b="1" i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7108259" y="1686634"/>
            <a:ext cx="3851984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 상세 분석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구조는 퍼블릭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프라이빗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NAT, Isolation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서브넷으로 구성됩니다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퍼블릭 서브넷에는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ALB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통해 다양한 서비스에 액세스할 수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프라이빗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서브넷에는 데이터를 직접 가지고 있지 않은 리소스와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EKS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클러스터가 배치됩니다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프라이빗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서브넷에는 데이터베이스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캐싱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검색 등의 데이터 저장소 리소스가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Isolation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서브넷에는 고객 민감 데이터를 처리하는 서버가 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통신이 제한됩니다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7" name="Rectangle 287">
            <a:extLst>
              <a:ext uri="{FF2B5EF4-FFF2-40B4-BE49-F238E27FC236}">
                <a16:creationId xmlns:a16="http://schemas.microsoft.com/office/drawing/2014/main" id="{4CB4D793-3566-34EF-2B76-0E6FCF02C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963" y="204774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Public Subnet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ALB – </a:t>
            </a: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Karrot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API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서비스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Rocket Chat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서비스 연결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NLB – Istio Ingress GW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연결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MSA 100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개 이상 서비스 연결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NATGW – Outbound Traffic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처리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Private NAT Subnet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데이터를 직접 가지고 있지 않은 리소스 배치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PROD EKS Cluster –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메인 서비스 제공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P-01 EKS Cluster – Observability, CD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관련 서비스 제공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(Prometheus, Grafana, Cortex, Loki, </a:t>
            </a: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ArgoCD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Private Subnet 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RDS, Aurora, DDB, ElastiCache, OpenSearch, MSK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등 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Isolation Subnet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고객 민감 데이터를 다루는 서버들이 위치한 리소스 </a:t>
            </a: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(Outbound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통신도 특정 예외 도메인을 제외하고 불가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lang="ko-KR" altLang="en-US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pic>
        <p:nvPicPr>
          <p:cNvPr id="232" name="그림 231">
            <a:extLst>
              <a:ext uri="{FF2B5EF4-FFF2-40B4-BE49-F238E27FC236}">
                <a16:creationId xmlns:a16="http://schemas.microsoft.com/office/drawing/2014/main" id="{9A63CA8A-4EAD-EF38-4257-9549A2970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96" y="2371991"/>
            <a:ext cx="5354267" cy="3770368"/>
          </a:xfrm>
          <a:prstGeom prst="rect">
            <a:avLst/>
          </a:prstGeom>
        </p:spPr>
      </p:pic>
      <p:pic>
        <p:nvPicPr>
          <p:cNvPr id="2" name="그림 16">
            <a:extLst>
              <a:ext uri="{FF2B5EF4-FFF2-40B4-BE49-F238E27FC236}">
                <a16:creationId xmlns:a16="http://schemas.microsoft.com/office/drawing/2014/main" id="{9BE18A6E-84C4-F43E-E4FB-6D05176547E0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25770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8E929A7-14D3-A30E-5A80-DDEA18A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VPC </a:t>
            </a:r>
            <a:r>
              <a:rPr kumimoji="1" lang="ko-KR" altLang="en-US" dirty="0"/>
              <a:t>구조 분석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57CBCA-3B20-CE46-06B8-F660DCCD4D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5CE15-64F5-BE42-A38D-D39AAC54C8F7}" type="slidenum">
              <a:rPr lang="en-US" altLang="ko-KR" smtClean="0"/>
              <a:pPr/>
              <a:t>22</a:t>
            </a:fld>
            <a:endParaRPr lang="en-US" altLang="ko-KR"/>
          </a:p>
        </p:txBody>
      </p:sp>
      <p:sp>
        <p:nvSpPr>
          <p:cNvPr id="21" name="Rectangle 49">
            <a:extLst>
              <a:ext uri="{FF2B5EF4-FFF2-40B4-BE49-F238E27FC236}">
                <a16:creationId xmlns:a16="http://schemas.microsoft.com/office/drawing/2014/main" id="{BE6B17EC-3D2C-340C-4EE2-1DD2422425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03148" y="1725264"/>
            <a:ext cx="213623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4D4D4D"/>
                </a:solidFill>
              </a14:hiddenFill>
            </a:ext>
            <a:ext uri="{91240B29-F687-4f45-9708-019B960494DF}">
              <a14:hiddenLine xmlns="" xmlns:a14="http://schemas.microsoft.com/office/drawing/2010/main" w="3175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rgbClr val="2E2E2E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1pPr>
            <a:lvl2pPr marL="742950" indent="-285750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2pPr>
            <a:lvl3pPr marL="1143000" indent="-230188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3pPr>
            <a:lvl4pPr marL="15986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4pPr>
            <a:lvl5pPr marL="2055813" indent="-227013" defTabSz="1317625" eaLnBrk="0" hangingPunct="0"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5pPr>
            <a:lvl6pPr marL="25130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6pPr>
            <a:lvl7pPr marL="29702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7pPr>
            <a:lvl8pPr marL="34274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8pPr>
            <a:lvl9pPr marL="3884613" indent="-227013" defTabSz="1317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-윤명조330" panose="02030504000101010101" pitchFamily="18" charset="-127"/>
                <a:ea typeface="-윤명조330" panose="02030504000101010101" pitchFamily="18" charset="-127"/>
              </a:defRPr>
            </a:lvl9pPr>
          </a:lstStyle>
          <a:p>
            <a:pPr algn="ctr" defTabSz="914400" eaLnBrk="1" fontAlgn="t" hangingPunct="1">
              <a:buClr>
                <a:srgbClr val="759E00"/>
              </a:buClr>
              <a:buSzPct val="90000"/>
              <a:buFont typeface="Wingdings" panose="05000000000000000000" pitchFamily="2" charset="2"/>
              <a:buNone/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프로젝트 추진 배경</a:t>
            </a: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43925F1E-5871-E221-767E-730D2C63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0" name="AutoShape 51">
            <a:extLst>
              <a:ext uri="{FF2B5EF4-FFF2-40B4-BE49-F238E27FC236}">
                <a16:creationId xmlns:a16="http://schemas.microsoft.com/office/drawing/2014/main" id="{200A850C-1951-92A5-74BB-BB6BA890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4E4BF50-FD97-4C69-12E2-7A3CD05A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863293"/>
            <a:ext cx="5492521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C4AF0-C838-F265-514B-51CAAC3F8D4F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연결 구조</a:t>
            </a:r>
            <a:endParaRPr lang="ko-KR" altLang="en-US" sz="1600" b="1" i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2" name="AutoShape 51">
            <a:extLst>
              <a:ext uri="{FF2B5EF4-FFF2-40B4-BE49-F238E27FC236}">
                <a16:creationId xmlns:a16="http://schemas.microsoft.com/office/drawing/2014/main" id="{04B18A80-40EE-47C7-575D-24A754B1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1" y="1658816"/>
            <a:ext cx="5492521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A4F624-BF80-26FC-9142-E320217481D2}"/>
              </a:ext>
            </a:extLst>
          </p:cNvPr>
          <p:cNvSpPr txBox="1"/>
          <p:nvPr/>
        </p:nvSpPr>
        <p:spPr>
          <a:xfrm>
            <a:off x="6287992" y="1686634"/>
            <a:ext cx="5492520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연결 구조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상세 분석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96E691-05F7-C903-5633-5ABBF0E0342D}"/>
              </a:ext>
            </a:extLst>
          </p:cNvPr>
          <p:cNvSpPr txBox="1"/>
          <p:nvPr/>
        </p:nvSpPr>
        <p:spPr>
          <a:xfrm>
            <a:off x="160666" y="562871"/>
            <a:ext cx="117646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연결은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피어링과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트랜짓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게이트웨이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(TGW)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구성되어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VPC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간의 서비스 트래픽은 전체 메시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(Full Mesh)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구조의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피어링을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통해 처리됩니다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각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리전의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온프레미스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데이터센터와의 연결 시 사용되며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알파 환경에 해당합니다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라우팅 테이블은 사전에 정의된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프리픽스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리스트를 활용하여 관리됩니다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7" name="Rectangle 287">
            <a:extLst>
              <a:ext uri="{FF2B5EF4-FFF2-40B4-BE49-F238E27FC236}">
                <a16:creationId xmlns:a16="http://schemas.microsoft.com/office/drawing/2014/main" id="{4CB4D793-3566-34EF-2B76-0E6FCF02C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963" y="2047746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각 </a:t>
            </a:r>
            <a:r>
              <a:rPr lang="ko-KR" altLang="en-US" sz="1200" b="1" i="0" u="sng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리전별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연결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Peering &amp; TGW(Transit </a:t>
            </a: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GateWay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구성되어 있음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간의 서비스 트래픽은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Peering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을 통해서 처리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(Full Mesh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각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리전의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TGW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OnPrem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데이터센터 연결시에 사용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Alpah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해당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라우팅 테이블은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Prefix List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사전에 정의해 두고 활용</a:t>
            </a: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06363" lvl="1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lang="ko-KR" altLang="en-US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A2931969-D6B4-8FB6-1CBC-9B652960F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21" y="2117521"/>
            <a:ext cx="4947854" cy="4326548"/>
          </a:xfrm>
          <a:prstGeom prst="rect">
            <a:avLst/>
          </a:prstGeom>
        </p:spPr>
      </p:pic>
      <p:pic>
        <p:nvPicPr>
          <p:cNvPr id="2" name="그림 16">
            <a:extLst>
              <a:ext uri="{FF2B5EF4-FFF2-40B4-BE49-F238E27FC236}">
                <a16:creationId xmlns:a16="http://schemas.microsoft.com/office/drawing/2014/main" id="{7C4442F1-2F39-9116-356D-8AB5DE6ABDDB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77685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479C15B-BA0D-16EE-EDE1-3146119EA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15920"/>
            <a:ext cx="11303651" cy="1426160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당근 </a:t>
            </a:r>
            <a:r>
              <a:rPr lang="en-US" altLang="ko-KR" dirty="0"/>
              <a:t>VPC Architecture To-Be</a:t>
            </a:r>
            <a:r>
              <a:rPr lang="ko-KR" altLang="en-US" dirty="0"/>
              <a:t> 모델 제언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D379A-34FD-7FEB-2443-2B27E9EEF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25123-0BE0-0B49-AC9E-53D67095655F}" type="slidenum">
              <a:rPr lang="en-US" altLang="ko-KR" smtClean="0"/>
              <a:pPr/>
              <a:t>23</a:t>
            </a:fld>
            <a:endParaRPr lang="en-US" altLang="ko-KR"/>
          </a:p>
        </p:txBody>
      </p:sp>
      <p:pic>
        <p:nvPicPr>
          <p:cNvPr id="2" name="Picture 2" descr="중고거래, 동네생활 질문글, 알바와 동네업체">
            <a:extLst>
              <a:ext uri="{FF2B5EF4-FFF2-40B4-BE49-F238E27FC236}">
                <a16:creationId xmlns:a16="http://schemas.microsoft.com/office/drawing/2014/main" id="{8074D94F-1A78-11EE-9342-647C1E528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561" y="-214853"/>
            <a:ext cx="171569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499552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27683-861D-0674-7C9C-9C70CC52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당근을 위한 </a:t>
            </a:r>
            <a:r>
              <a:rPr kumimoji="1" lang="en-US" altLang="ko-KR" dirty="0"/>
              <a:t>Super Cell </a:t>
            </a:r>
            <a:r>
              <a:rPr kumimoji="1" lang="ko-KR" altLang="en-US" dirty="0"/>
              <a:t>기반</a:t>
            </a:r>
            <a:r>
              <a:rPr kumimoji="1" lang="en-US" altLang="ko-KR" dirty="0"/>
              <a:t> EKS VPC </a:t>
            </a:r>
            <a:r>
              <a:rPr kumimoji="1" lang="ko-KR" altLang="en-US" dirty="0"/>
              <a:t>아키텍쳐 제언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FDE248B-9064-1799-32FD-386D9102B8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24</a:t>
            </a:fld>
            <a:endParaRPr lang="en-US" altLang="ko-KR"/>
          </a:p>
        </p:txBody>
      </p:sp>
      <p:sp>
        <p:nvSpPr>
          <p:cNvPr id="31" name="Rectangle 39" descr="VPC group border">
            <a:extLst>
              <a:ext uri="{FF2B5EF4-FFF2-40B4-BE49-F238E27FC236}">
                <a16:creationId xmlns:a16="http://schemas.microsoft.com/office/drawing/2014/main" id="{8A136AAD-2460-EDD5-B0F3-A5534E9A013F}"/>
              </a:ext>
            </a:extLst>
          </p:cNvPr>
          <p:cNvSpPr/>
          <p:nvPr/>
        </p:nvSpPr>
        <p:spPr>
          <a:xfrm>
            <a:off x="694948" y="1172328"/>
            <a:ext cx="7504713" cy="1116593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Graphic 57" descr="VPC group icon.">
            <a:extLst>
              <a:ext uri="{FF2B5EF4-FFF2-40B4-BE49-F238E27FC236}">
                <a16:creationId xmlns:a16="http://schemas.microsoft.com/office/drawing/2014/main" id="{AA860337-E8F1-E944-9818-3CF359787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85938" y="1172329"/>
            <a:ext cx="288000" cy="288000"/>
          </a:xfrm>
          <a:prstGeom prst="rect">
            <a:avLst/>
          </a:prstGeom>
        </p:spPr>
      </p:pic>
      <p:sp>
        <p:nvSpPr>
          <p:cNvPr id="33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6FBF5D5F-1E2C-C680-F175-701FC9942FE3}"/>
              </a:ext>
            </a:extLst>
          </p:cNvPr>
          <p:cNvSpPr/>
          <p:nvPr/>
        </p:nvSpPr>
        <p:spPr bwMode="auto">
          <a:xfrm>
            <a:off x="892564" y="1399251"/>
            <a:ext cx="3513634" cy="4694889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34" name="Rectangle 73">
            <a:extLst>
              <a:ext uri="{FF2B5EF4-FFF2-40B4-BE49-F238E27FC236}">
                <a16:creationId xmlns:a16="http://schemas.microsoft.com/office/drawing/2014/main" id="{E4B0643C-97F2-2E61-F39D-0D268A58BC51}"/>
              </a:ext>
            </a:extLst>
          </p:cNvPr>
          <p:cNvSpPr/>
          <p:nvPr/>
        </p:nvSpPr>
        <p:spPr>
          <a:xfrm>
            <a:off x="994552" y="1864121"/>
            <a:ext cx="1871459" cy="373072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35" name="Graphic 74" descr="Public subnet group icon. ">
            <a:extLst>
              <a:ext uri="{FF2B5EF4-FFF2-40B4-BE49-F238E27FC236}">
                <a16:creationId xmlns:a16="http://schemas.microsoft.com/office/drawing/2014/main" id="{E540224C-C180-EE6C-A9D4-58B3204A8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94552" y="1867736"/>
            <a:ext cx="178979" cy="17897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82AAAF7-7349-4736-4095-3D0B77EC86E8}"/>
              </a:ext>
            </a:extLst>
          </p:cNvPr>
          <p:cNvSpPr txBox="1"/>
          <p:nvPr/>
        </p:nvSpPr>
        <p:spPr>
          <a:xfrm>
            <a:off x="1211650" y="1865306"/>
            <a:ext cx="757832" cy="1438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Public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BB0EDC98-365B-02DE-A78C-80668C186B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214" y="1509348"/>
            <a:ext cx="216000" cy="2160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2A2EDFC-D839-9A5C-A352-F424FFD39B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611" y="1939314"/>
            <a:ext cx="216000" cy="216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D490DC7-0948-8E78-EAD3-7E82329F0471}"/>
              </a:ext>
            </a:extLst>
          </p:cNvPr>
          <p:cNvSpPr txBox="1"/>
          <p:nvPr/>
        </p:nvSpPr>
        <p:spPr>
          <a:xfrm>
            <a:off x="2235127" y="2142516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E0257E27-CEC8-A590-2132-ABC9C39BEF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822" y="1509404"/>
            <a:ext cx="216000" cy="216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5E6E9A2-C710-D181-3E6D-310982E5F163}"/>
              </a:ext>
            </a:extLst>
          </p:cNvPr>
          <p:cNvSpPr txBox="1"/>
          <p:nvPr/>
        </p:nvSpPr>
        <p:spPr>
          <a:xfrm>
            <a:off x="3956994" y="1721998"/>
            <a:ext cx="3432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9CD274-CFCA-ADD2-0CFC-C936A2801FFE}"/>
              </a:ext>
            </a:extLst>
          </p:cNvPr>
          <p:cNvSpPr txBox="1"/>
          <p:nvPr/>
        </p:nvSpPr>
        <p:spPr>
          <a:xfrm>
            <a:off x="7672282" y="1710549"/>
            <a:ext cx="3432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ABCFC1-863D-FC47-2D12-22F74CC69A11}"/>
              </a:ext>
            </a:extLst>
          </p:cNvPr>
          <p:cNvSpPr txBox="1"/>
          <p:nvPr/>
        </p:nvSpPr>
        <p:spPr>
          <a:xfrm>
            <a:off x="1004082" y="1179157"/>
            <a:ext cx="133320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Routing Layer </a:t>
            </a:r>
            <a:endParaRPr kumimoji="1" lang="ko-KR" altLang="en-US" sz="10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4" name="Rectangle 39" descr="VPC group border">
            <a:extLst>
              <a:ext uri="{FF2B5EF4-FFF2-40B4-BE49-F238E27FC236}">
                <a16:creationId xmlns:a16="http://schemas.microsoft.com/office/drawing/2014/main" id="{DECB8C54-4F42-EE8F-9164-BFA13BC01EA5}"/>
              </a:ext>
            </a:extLst>
          </p:cNvPr>
          <p:cNvSpPr/>
          <p:nvPr/>
        </p:nvSpPr>
        <p:spPr>
          <a:xfrm>
            <a:off x="694948" y="2374543"/>
            <a:ext cx="3660167" cy="2553163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Graphic 57" descr="VPC group icon.">
            <a:extLst>
              <a:ext uri="{FF2B5EF4-FFF2-40B4-BE49-F238E27FC236}">
                <a16:creationId xmlns:a16="http://schemas.microsoft.com/office/drawing/2014/main" id="{7B346B3C-C499-25E9-942F-82EB60D6C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86346" y="2365723"/>
            <a:ext cx="288000" cy="2880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0D6E954-91AF-365E-07D4-6BF5973439E0}"/>
              </a:ext>
            </a:extLst>
          </p:cNvPr>
          <p:cNvSpPr txBox="1"/>
          <p:nvPr/>
        </p:nvSpPr>
        <p:spPr>
          <a:xfrm>
            <a:off x="1004490" y="2372551"/>
            <a:ext cx="4429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</a:t>
            </a:r>
            <a:r>
              <a:rPr kumimoji="1" lang="ko-KR" altLang="en-US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en-US" altLang="ko-KR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</a:t>
            </a:r>
            <a:endParaRPr kumimoji="1" lang="ko-KR" altLang="en-US" sz="10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7" name="Rectangle 39" descr="VPC group border">
            <a:extLst>
              <a:ext uri="{FF2B5EF4-FFF2-40B4-BE49-F238E27FC236}">
                <a16:creationId xmlns:a16="http://schemas.microsoft.com/office/drawing/2014/main" id="{CBD4F05D-B697-9BBA-38BC-10F700C19AA1}"/>
              </a:ext>
            </a:extLst>
          </p:cNvPr>
          <p:cNvSpPr/>
          <p:nvPr/>
        </p:nvSpPr>
        <p:spPr>
          <a:xfrm>
            <a:off x="4552731" y="2372551"/>
            <a:ext cx="3646931" cy="2553163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Graphic 57" descr="VPC group icon.">
            <a:extLst>
              <a:ext uri="{FF2B5EF4-FFF2-40B4-BE49-F238E27FC236}">
                <a16:creationId xmlns:a16="http://schemas.microsoft.com/office/drawing/2014/main" id="{2233DAFD-220E-ACDA-9AA4-54B43B78A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557133" y="2372552"/>
            <a:ext cx="288000" cy="2880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79691CD-7058-F2D4-B53B-115E31D0352C}"/>
              </a:ext>
            </a:extLst>
          </p:cNvPr>
          <p:cNvSpPr txBox="1"/>
          <p:nvPr/>
        </p:nvSpPr>
        <p:spPr>
          <a:xfrm>
            <a:off x="4881644" y="2376608"/>
            <a:ext cx="39900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2</a:t>
            </a:r>
            <a:endParaRPr kumimoji="1" lang="ko-KR" altLang="en-US" sz="10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50" name="Rectangle 71">
            <a:extLst>
              <a:ext uri="{FF2B5EF4-FFF2-40B4-BE49-F238E27FC236}">
                <a16:creationId xmlns:a16="http://schemas.microsoft.com/office/drawing/2014/main" id="{A7B30F9C-C4DF-A2B1-A108-3F29C33C6EC7}"/>
              </a:ext>
            </a:extLst>
          </p:cNvPr>
          <p:cNvSpPr/>
          <p:nvPr/>
        </p:nvSpPr>
        <p:spPr>
          <a:xfrm>
            <a:off x="973937" y="2559233"/>
            <a:ext cx="3363387" cy="16385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51" name="Graphic 72" descr="Private subnet group icon. ">
            <a:extLst>
              <a:ext uri="{FF2B5EF4-FFF2-40B4-BE49-F238E27FC236}">
                <a16:creationId xmlns:a16="http://schemas.microsoft.com/office/drawing/2014/main" id="{49910ADD-1F7F-B98D-9A77-EC5FB89E27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73938" y="2559234"/>
            <a:ext cx="178979" cy="17897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0299D472-DD52-4746-57C1-97F8679AF195}"/>
              </a:ext>
            </a:extLst>
          </p:cNvPr>
          <p:cNvSpPr txBox="1"/>
          <p:nvPr/>
        </p:nvSpPr>
        <p:spPr>
          <a:xfrm>
            <a:off x="1189756" y="2602955"/>
            <a:ext cx="114140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53" name="Graphic 72" descr="Private subnet group icon. ">
            <a:extLst>
              <a:ext uri="{FF2B5EF4-FFF2-40B4-BE49-F238E27FC236}">
                <a16:creationId xmlns:a16="http://schemas.microsoft.com/office/drawing/2014/main" id="{9885B6DC-6FF3-F7AE-1262-6A2054D1A7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674080" y="2583847"/>
            <a:ext cx="178979" cy="17897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B98E424-E959-511E-DB3A-404364DB7C26}"/>
              </a:ext>
            </a:extLst>
          </p:cNvPr>
          <p:cNvSpPr txBox="1"/>
          <p:nvPr/>
        </p:nvSpPr>
        <p:spPr>
          <a:xfrm>
            <a:off x="6933914" y="2627568"/>
            <a:ext cx="114140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271156EA-23AD-8BF4-2AD0-E12962FC99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52" y="3063256"/>
            <a:ext cx="216000" cy="216000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BEDD5B3D-9077-480A-C6D8-F312FDA5AD1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97480" y="2694694"/>
            <a:ext cx="198545" cy="216000"/>
          </a:xfrm>
          <a:prstGeom prst="rect">
            <a:avLst/>
          </a:prstGeom>
        </p:spPr>
      </p:pic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627F9483-80D9-AAB1-7046-6CD2EDC134F6}"/>
              </a:ext>
            </a:extLst>
          </p:cNvPr>
          <p:cNvCxnSpPr>
            <a:cxnSpLocks/>
            <a:stCxn id="56" idx="2"/>
            <a:endCxn id="55" idx="0"/>
          </p:cNvCxnSpPr>
          <p:nvPr/>
        </p:nvCxnSpPr>
        <p:spPr>
          <a:xfrm flipH="1">
            <a:off x="3496752" y="2910694"/>
            <a:ext cx="1" cy="15256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그림 57">
            <a:extLst>
              <a:ext uri="{FF2B5EF4-FFF2-40B4-BE49-F238E27FC236}">
                <a16:creationId xmlns:a16="http://schemas.microsoft.com/office/drawing/2014/main" id="{0A3A93A7-2F91-A327-D91A-180A52008C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817" y="3077844"/>
            <a:ext cx="216000" cy="21600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4AD7536-816B-E264-384B-5148F6972D61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08545" y="2709282"/>
            <a:ext cx="198545" cy="216000"/>
          </a:xfrm>
          <a:prstGeom prst="rect">
            <a:avLst/>
          </a:prstGeom>
        </p:spPr>
      </p:pic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B32F5FA-77C3-6BA4-6061-6F4575D93A57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 flipH="1">
            <a:off x="5307817" y="2925282"/>
            <a:ext cx="1" cy="152562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그림 60">
            <a:extLst>
              <a:ext uri="{FF2B5EF4-FFF2-40B4-BE49-F238E27FC236}">
                <a16:creationId xmlns:a16="http://schemas.microsoft.com/office/drawing/2014/main" id="{7DCD6B57-C6DD-7B2B-66BD-933A426364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97642" y="3554795"/>
            <a:ext cx="1386571" cy="591959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8B96406B-F248-8A3F-6943-79B4D24C27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5871" y="3554795"/>
            <a:ext cx="1830140" cy="587323"/>
          </a:xfrm>
          <a:prstGeom prst="rect">
            <a:avLst/>
          </a:prstGeom>
        </p:spPr>
      </p:pic>
      <p:sp>
        <p:nvSpPr>
          <p:cNvPr id="63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A5F9FB31-9144-FA7C-B66E-7715B59EA9ED}"/>
              </a:ext>
            </a:extLst>
          </p:cNvPr>
          <p:cNvSpPr/>
          <p:nvPr/>
        </p:nvSpPr>
        <p:spPr bwMode="auto">
          <a:xfrm>
            <a:off x="4591264" y="1397549"/>
            <a:ext cx="3513633" cy="4694889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64" name="Rectangle 71">
            <a:extLst>
              <a:ext uri="{FF2B5EF4-FFF2-40B4-BE49-F238E27FC236}">
                <a16:creationId xmlns:a16="http://schemas.microsoft.com/office/drawing/2014/main" id="{438B4C20-3116-07FF-A384-056351E59FE7}"/>
              </a:ext>
            </a:extLst>
          </p:cNvPr>
          <p:cNvSpPr/>
          <p:nvPr/>
        </p:nvSpPr>
        <p:spPr>
          <a:xfrm>
            <a:off x="4664552" y="2580440"/>
            <a:ext cx="3363387" cy="1638572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F013F07F-D9C0-D2BF-4EB4-5FFFB3D33A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1750" y="3567064"/>
            <a:ext cx="1386571" cy="591959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AD265740-986E-389B-0644-835C518D5B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2870" y="3569383"/>
            <a:ext cx="1830140" cy="587323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0100B5B8-4DCB-9F8A-00A8-52D78B60BC2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5391" y="3346368"/>
            <a:ext cx="552386" cy="184128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4C113BB3-D295-486D-3B53-FD81B351B9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4836" y="3443125"/>
            <a:ext cx="640061" cy="18412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DF4AFF5D-05A8-F470-860F-4374BDBC5C4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02932" y="3440568"/>
            <a:ext cx="640061" cy="186685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96C2EC1E-3DF9-9794-ED7A-7FFC9BCF680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30593" y="3440568"/>
            <a:ext cx="640062" cy="186685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88A2F088-53A3-BFFC-EA68-E078BC3DE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41229" y="3694597"/>
            <a:ext cx="107950" cy="16510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8B9E2F15-5C21-CAAE-1274-6B9AFEE2EE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55949" y="3704554"/>
            <a:ext cx="107950" cy="165100"/>
          </a:xfrm>
          <a:prstGeom prst="rect">
            <a:avLst/>
          </a:prstGeom>
        </p:spPr>
      </p:pic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C389FDA3-FF7B-210F-8480-E5BCEE28E73E}"/>
              </a:ext>
            </a:extLst>
          </p:cNvPr>
          <p:cNvCxnSpPr>
            <a:cxnSpLocks/>
            <a:stCxn id="55" idx="2"/>
            <a:endCxn id="71" idx="0"/>
          </p:cNvCxnSpPr>
          <p:nvPr/>
        </p:nvCxnSpPr>
        <p:spPr>
          <a:xfrm flipH="1">
            <a:off x="3495204" y="3279256"/>
            <a:ext cx="1548" cy="415341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807E9063-14C1-C70A-F8CE-8C8DE67FE763}"/>
              </a:ext>
            </a:extLst>
          </p:cNvPr>
          <p:cNvCxnSpPr>
            <a:cxnSpLocks/>
            <a:stCxn id="58" idx="2"/>
            <a:endCxn id="72" idx="0"/>
          </p:cNvCxnSpPr>
          <p:nvPr/>
        </p:nvCxnSpPr>
        <p:spPr>
          <a:xfrm>
            <a:off x="5307817" y="3293844"/>
            <a:ext cx="2107" cy="410710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그림 74">
            <a:extLst>
              <a:ext uri="{FF2B5EF4-FFF2-40B4-BE49-F238E27FC236}">
                <a16:creationId xmlns:a16="http://schemas.microsoft.com/office/drawing/2014/main" id="{7FAF104A-633C-DC42-46C9-3ACA320F3C6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25404" y="3331780"/>
            <a:ext cx="552386" cy="184128"/>
          </a:xfrm>
          <a:prstGeom prst="rect">
            <a:avLst/>
          </a:prstGeom>
        </p:spPr>
      </p:pic>
      <p:cxnSp>
        <p:nvCxnSpPr>
          <p:cNvPr id="76" name="구부러진 연결선[U] 75">
            <a:extLst>
              <a:ext uri="{FF2B5EF4-FFF2-40B4-BE49-F238E27FC236}">
                <a16:creationId xmlns:a16="http://schemas.microsoft.com/office/drawing/2014/main" id="{F1AEE564-C1DE-E47C-3B8F-1498A4293A43}"/>
              </a:ext>
            </a:extLst>
          </p:cNvPr>
          <p:cNvCxnSpPr>
            <a:cxnSpLocks/>
            <a:stCxn id="75" idx="1"/>
            <a:endCxn id="70" idx="0"/>
          </p:cNvCxnSpPr>
          <p:nvPr/>
        </p:nvCxnSpPr>
        <p:spPr>
          <a:xfrm rot="10800000" flipV="1">
            <a:off x="2550624" y="3423844"/>
            <a:ext cx="674780" cy="16724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그림 76">
            <a:extLst>
              <a:ext uri="{FF2B5EF4-FFF2-40B4-BE49-F238E27FC236}">
                <a16:creationId xmlns:a16="http://schemas.microsoft.com/office/drawing/2014/main" id="{907A2AC6-EDB3-3B7F-F0D6-24E3767F739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3943" y="3440568"/>
            <a:ext cx="640062" cy="186685"/>
          </a:xfrm>
          <a:prstGeom prst="rect">
            <a:avLst/>
          </a:prstGeom>
        </p:spPr>
      </p:pic>
      <p:cxnSp>
        <p:nvCxnSpPr>
          <p:cNvPr id="78" name="구부러진 연결선[U] 77">
            <a:extLst>
              <a:ext uri="{FF2B5EF4-FFF2-40B4-BE49-F238E27FC236}">
                <a16:creationId xmlns:a16="http://schemas.microsoft.com/office/drawing/2014/main" id="{5C27698D-89EE-5258-957F-8A5D6E2A5011}"/>
              </a:ext>
            </a:extLst>
          </p:cNvPr>
          <p:cNvCxnSpPr>
            <a:cxnSpLocks/>
            <a:stCxn id="67" idx="3"/>
            <a:endCxn id="77" idx="0"/>
          </p:cNvCxnSpPr>
          <p:nvPr/>
        </p:nvCxnSpPr>
        <p:spPr>
          <a:xfrm>
            <a:off x="5587777" y="3438432"/>
            <a:ext cx="876197" cy="2136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그림 78">
            <a:extLst>
              <a:ext uri="{FF2B5EF4-FFF2-40B4-BE49-F238E27FC236}">
                <a16:creationId xmlns:a16="http://schemas.microsoft.com/office/drawing/2014/main" id="{D726C4B8-8D00-BCF0-BB31-2BB1BEF11CA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393" y="3443125"/>
            <a:ext cx="640061" cy="184128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D2572519-5865-29D8-E1A3-F8D5AA9FC6C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71265" y="3440568"/>
            <a:ext cx="640061" cy="186685"/>
          </a:xfrm>
          <a:prstGeom prst="rect">
            <a:avLst/>
          </a:prstGeom>
        </p:spPr>
      </p:pic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54FFAB9-FE10-7ABA-6D4D-9F46C2FFEF44}"/>
              </a:ext>
            </a:extLst>
          </p:cNvPr>
          <p:cNvCxnSpPr>
            <a:cxnSpLocks/>
            <a:endCxn id="79" idx="0"/>
          </p:cNvCxnSpPr>
          <p:nvPr/>
        </p:nvCxnSpPr>
        <p:spPr>
          <a:xfrm flipH="1">
            <a:off x="1238424" y="3115276"/>
            <a:ext cx="1583" cy="327849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DBB7FDE-35C4-EA47-DDB1-8E61EF48E3D2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1888319" y="3120860"/>
            <a:ext cx="2977" cy="319708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0142A2B0-62D6-19D0-99AE-5799EAD88466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7120896" y="3110158"/>
            <a:ext cx="2067" cy="330410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F0526FD7-1FA8-CB4A-C7BB-6325BEF0B8CE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7779384" y="3110158"/>
            <a:ext cx="5483" cy="332967"/>
          </a:xfrm>
          <a:prstGeom prst="straightConnector1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71">
            <a:extLst>
              <a:ext uri="{FF2B5EF4-FFF2-40B4-BE49-F238E27FC236}">
                <a16:creationId xmlns:a16="http://schemas.microsoft.com/office/drawing/2014/main" id="{3EFEEC2C-A28B-F987-6AA8-2B0FB40D3D87}"/>
              </a:ext>
            </a:extLst>
          </p:cNvPr>
          <p:cNvSpPr/>
          <p:nvPr/>
        </p:nvSpPr>
        <p:spPr>
          <a:xfrm>
            <a:off x="989200" y="4295800"/>
            <a:ext cx="3348123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86" name="Graphic 72" descr="Private subnet group icon. ">
            <a:extLst>
              <a:ext uri="{FF2B5EF4-FFF2-40B4-BE49-F238E27FC236}">
                <a16:creationId xmlns:a16="http://schemas.microsoft.com/office/drawing/2014/main" id="{40840893-FA55-244A-6013-0AD8B5F0B9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89201" y="4295799"/>
            <a:ext cx="178979" cy="178979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3A366D7B-EB53-1BC2-8106-E2EF7BE9248B}"/>
              </a:ext>
            </a:extLst>
          </p:cNvPr>
          <p:cNvSpPr txBox="1"/>
          <p:nvPr/>
        </p:nvSpPr>
        <p:spPr>
          <a:xfrm>
            <a:off x="1207640" y="4339520"/>
            <a:ext cx="98629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Isolation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BE30587C-DB06-67D8-88AB-85DA6273E1A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536" y="4396159"/>
            <a:ext cx="257416" cy="257416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450B740D-2D01-14B1-5905-25348A48EC6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52676" y="4676430"/>
            <a:ext cx="368946" cy="106135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5220FC83-39BF-9FB3-2144-5A7DEE8795D8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53903" y="4388958"/>
            <a:ext cx="256929" cy="279517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21E8D322-B527-92BF-2A94-90975C9A20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71143" y="4388958"/>
            <a:ext cx="1226508" cy="393607"/>
          </a:xfrm>
          <a:prstGeom prst="rect">
            <a:avLst/>
          </a:prstGeom>
        </p:spPr>
      </p:pic>
      <p:sp>
        <p:nvSpPr>
          <p:cNvPr id="92" name="Rectangle 71">
            <a:extLst>
              <a:ext uri="{FF2B5EF4-FFF2-40B4-BE49-F238E27FC236}">
                <a16:creationId xmlns:a16="http://schemas.microsoft.com/office/drawing/2014/main" id="{8F8654AF-47B4-24FF-9F38-A464B1A428A3}"/>
              </a:ext>
            </a:extLst>
          </p:cNvPr>
          <p:cNvSpPr/>
          <p:nvPr/>
        </p:nvSpPr>
        <p:spPr>
          <a:xfrm>
            <a:off x="4674080" y="4302642"/>
            <a:ext cx="3348123" cy="502845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93" name="Graphic 72" descr="Private subnet group icon. ">
            <a:extLst>
              <a:ext uri="{FF2B5EF4-FFF2-40B4-BE49-F238E27FC236}">
                <a16:creationId xmlns:a16="http://schemas.microsoft.com/office/drawing/2014/main" id="{3AB864BE-661B-A979-75C7-EC27E34955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674081" y="4302641"/>
            <a:ext cx="178979" cy="178979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4CE2415E-6760-4827-D290-10A3FF9C20BC}"/>
              </a:ext>
            </a:extLst>
          </p:cNvPr>
          <p:cNvSpPr txBox="1"/>
          <p:nvPr/>
        </p:nvSpPr>
        <p:spPr>
          <a:xfrm>
            <a:off x="7094975" y="4346362"/>
            <a:ext cx="89133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Isolation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C01C49CB-7A67-2118-A89F-BFC5F28AE15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235" y="4396159"/>
            <a:ext cx="257416" cy="257416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78BF916D-274A-C13D-5FA5-ACE5944AD2B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51375" y="4676430"/>
            <a:ext cx="368946" cy="106135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5D424141-A178-5AA7-2C54-A7DE02B40DAE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52602" y="4388958"/>
            <a:ext cx="256929" cy="279517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3BC49DE6-6F35-6554-BA15-85428B11A7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9842" y="4388958"/>
            <a:ext cx="1226508" cy="393607"/>
          </a:xfrm>
          <a:prstGeom prst="rect">
            <a:avLst/>
          </a:prstGeom>
        </p:spPr>
      </p:pic>
      <p:sp>
        <p:nvSpPr>
          <p:cNvPr id="99" name="Rectangle 71">
            <a:extLst>
              <a:ext uri="{FF2B5EF4-FFF2-40B4-BE49-F238E27FC236}">
                <a16:creationId xmlns:a16="http://schemas.microsoft.com/office/drawing/2014/main" id="{C2DD398D-DBBC-D08D-5054-8E2C58ED4632}"/>
              </a:ext>
            </a:extLst>
          </p:cNvPr>
          <p:cNvSpPr/>
          <p:nvPr/>
        </p:nvSpPr>
        <p:spPr>
          <a:xfrm>
            <a:off x="987729" y="5245656"/>
            <a:ext cx="3349594" cy="606224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00" name="Graphic 72" descr="Private subnet group icon. ">
            <a:extLst>
              <a:ext uri="{FF2B5EF4-FFF2-40B4-BE49-F238E27FC236}">
                <a16:creationId xmlns:a16="http://schemas.microsoft.com/office/drawing/2014/main" id="{447F5D8D-476B-B4C0-2336-2A9C7B3349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87729" y="5245655"/>
            <a:ext cx="178979" cy="178979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ABFE2F1B-1993-7091-A82C-D9994989AB81}"/>
              </a:ext>
            </a:extLst>
          </p:cNvPr>
          <p:cNvSpPr txBox="1"/>
          <p:nvPr/>
        </p:nvSpPr>
        <p:spPr>
          <a:xfrm>
            <a:off x="1206168" y="5274603"/>
            <a:ext cx="9974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7D33EDE6-6913-C49D-0A16-B2C52BDB7BEE}"/>
              </a:ext>
            </a:extLst>
          </p:cNvPr>
          <p:cNvGrpSpPr/>
          <p:nvPr/>
        </p:nvGrpSpPr>
        <p:grpSpPr>
          <a:xfrm>
            <a:off x="1253058" y="5414614"/>
            <a:ext cx="2827020" cy="449892"/>
            <a:chOff x="953453" y="5040660"/>
            <a:chExt cx="1801992" cy="286769"/>
          </a:xfrm>
        </p:grpSpPr>
        <p:pic>
          <p:nvPicPr>
            <p:cNvPr id="103" name="Graphic 7" descr="Amazon Aurora service icon.">
              <a:extLst>
                <a:ext uri="{FF2B5EF4-FFF2-40B4-BE49-F238E27FC236}">
                  <a16:creationId xmlns:a16="http://schemas.microsoft.com/office/drawing/2014/main" id="{5A53BC52-AFBB-EFD0-E626-5D398A7E0B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 bwMode="auto">
            <a:xfrm>
              <a:off x="1015700" y="5040660"/>
              <a:ext cx="172959" cy="172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Graphic 6" descr="Amazon Relational Database Service (Amazon RDS) service icon.">
              <a:extLst>
                <a:ext uri="{FF2B5EF4-FFF2-40B4-BE49-F238E27FC236}">
                  <a16:creationId xmlns:a16="http://schemas.microsoft.com/office/drawing/2014/main" id="{43F6E004-219B-8459-D664-3C57EC3CB4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 bwMode="auto">
            <a:xfrm>
              <a:off x="1402810" y="5040660"/>
              <a:ext cx="172959" cy="172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Graphic 23" descr="Amazon DynamoDB service icon.">
              <a:extLst>
                <a:ext uri="{FF2B5EF4-FFF2-40B4-BE49-F238E27FC236}">
                  <a16:creationId xmlns:a16="http://schemas.microsoft.com/office/drawing/2014/main" id="{1CFC316B-D68D-75F6-8E9F-CA6B36B99E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 bwMode="auto">
            <a:xfrm>
              <a:off x="1789920" y="5040660"/>
              <a:ext cx="172959" cy="172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Graphic 26" descr="Amazon Managed Streaming for Apache Kafka (Amazon MSK) service icon.">
              <a:extLst>
                <a:ext uri="{FF2B5EF4-FFF2-40B4-BE49-F238E27FC236}">
                  <a16:creationId xmlns:a16="http://schemas.microsoft.com/office/drawing/2014/main" id="{ECD875C2-6430-387F-4F33-D858B5692D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/>
            <a:stretch/>
          </p:blipFill>
          <p:spPr bwMode="auto">
            <a:xfrm>
              <a:off x="2563169" y="5040660"/>
              <a:ext cx="172959" cy="172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" name="Graphic 21" descr="Amazon ElastiCache service icon.">
              <a:extLst>
                <a:ext uri="{FF2B5EF4-FFF2-40B4-BE49-F238E27FC236}">
                  <a16:creationId xmlns:a16="http://schemas.microsoft.com/office/drawing/2014/main" id="{8F5CF3AD-7502-09DF-9EF9-2E84F07138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 bwMode="auto">
            <a:xfrm>
              <a:off x="2177030" y="5040660"/>
              <a:ext cx="171989" cy="171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3FA8694-FF83-ABA4-2C78-EC2E266BAD77}"/>
                </a:ext>
              </a:extLst>
            </p:cNvPr>
            <p:cNvSpPr txBox="1"/>
            <p:nvPr/>
          </p:nvSpPr>
          <p:spPr>
            <a:xfrm>
              <a:off x="2543850" y="5239147"/>
              <a:ext cx="211595" cy="882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MSK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3FB9E5B-EA1F-94C7-9DE1-B56EBB19604D}"/>
                </a:ext>
              </a:extLst>
            </p:cNvPr>
            <p:cNvSpPr txBox="1"/>
            <p:nvPr/>
          </p:nvSpPr>
          <p:spPr>
            <a:xfrm>
              <a:off x="2020544" y="5239147"/>
              <a:ext cx="484960" cy="882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ElastiCache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1902524-7CC3-182B-6193-5D054B58CEAE}"/>
                </a:ext>
              </a:extLst>
            </p:cNvPr>
            <p:cNvSpPr txBox="1"/>
            <p:nvPr/>
          </p:nvSpPr>
          <p:spPr>
            <a:xfrm>
              <a:off x="953453" y="5239147"/>
              <a:ext cx="297451" cy="882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Aurora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E159ABF-E266-1993-5E31-F904E9AF6A0D}"/>
                </a:ext>
              </a:extLst>
            </p:cNvPr>
            <p:cNvSpPr txBox="1"/>
            <p:nvPr/>
          </p:nvSpPr>
          <p:spPr>
            <a:xfrm>
              <a:off x="1338272" y="5239147"/>
              <a:ext cx="297451" cy="882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RDS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24C774B-51EB-9D4B-E9C3-7409EC974022}"/>
                </a:ext>
              </a:extLst>
            </p:cNvPr>
            <p:cNvSpPr txBox="1"/>
            <p:nvPr/>
          </p:nvSpPr>
          <p:spPr>
            <a:xfrm>
              <a:off x="1703920" y="5239147"/>
              <a:ext cx="297451" cy="882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DDB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sp>
        <p:nvSpPr>
          <p:cNvPr id="113" name="Rectangle 39" descr="VPC group border">
            <a:extLst>
              <a:ext uri="{FF2B5EF4-FFF2-40B4-BE49-F238E27FC236}">
                <a16:creationId xmlns:a16="http://schemas.microsoft.com/office/drawing/2014/main" id="{8ADEEE03-0028-E401-20B2-8E3595720B79}"/>
              </a:ext>
            </a:extLst>
          </p:cNvPr>
          <p:cNvSpPr/>
          <p:nvPr/>
        </p:nvSpPr>
        <p:spPr>
          <a:xfrm>
            <a:off x="693936" y="5018110"/>
            <a:ext cx="7504713" cy="946707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4" name="Graphic 57" descr="VPC group icon.">
            <a:extLst>
              <a:ext uri="{FF2B5EF4-FFF2-40B4-BE49-F238E27FC236}">
                <a16:creationId xmlns:a16="http://schemas.microsoft.com/office/drawing/2014/main" id="{83972C1E-EEF9-D88A-7978-FF0F7AC59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85334" y="5009291"/>
            <a:ext cx="288000" cy="288000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965B9FB3-7F53-69F4-995C-038B7457F03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552" y="3063256"/>
            <a:ext cx="229125" cy="229125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51F88D09-5B88-3259-9C95-87FC58D0CF0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771" y="3053162"/>
            <a:ext cx="229125" cy="229125"/>
          </a:xfrm>
          <a:prstGeom prst="rect">
            <a:avLst/>
          </a:pr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B23B0E52-9101-9170-F005-EDC602F2BF3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258" y="4415611"/>
            <a:ext cx="229125" cy="229125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7746A0B0-5028-0756-04C1-BF11205A9CE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639" y="4415501"/>
            <a:ext cx="229125" cy="229125"/>
          </a:xfrm>
          <a:prstGeom prst="rect">
            <a:avLst/>
          </a:pr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56ED87B6-77B4-23B0-0B1F-20689B9C0A9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933" y="5424466"/>
            <a:ext cx="229125" cy="229125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FB010603-4A34-EA5F-82AA-C99ECC497F07}"/>
              </a:ext>
            </a:extLst>
          </p:cNvPr>
          <p:cNvSpPr txBox="1"/>
          <p:nvPr/>
        </p:nvSpPr>
        <p:spPr>
          <a:xfrm>
            <a:off x="1004490" y="5057080"/>
            <a:ext cx="10077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Data Layer </a:t>
            </a:r>
            <a:endParaRPr kumimoji="1" lang="ko-KR" altLang="en-US" sz="10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21" name="Rectangle 71">
            <a:extLst>
              <a:ext uri="{FF2B5EF4-FFF2-40B4-BE49-F238E27FC236}">
                <a16:creationId xmlns:a16="http://schemas.microsoft.com/office/drawing/2014/main" id="{51E54C03-872F-FFCE-D1C5-061851E97B73}"/>
              </a:ext>
            </a:extLst>
          </p:cNvPr>
          <p:cNvSpPr/>
          <p:nvPr/>
        </p:nvSpPr>
        <p:spPr>
          <a:xfrm>
            <a:off x="4651529" y="5244144"/>
            <a:ext cx="3349594" cy="606224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22" name="Graphic 72" descr="Private subnet group icon. ">
            <a:extLst>
              <a:ext uri="{FF2B5EF4-FFF2-40B4-BE49-F238E27FC236}">
                <a16:creationId xmlns:a16="http://schemas.microsoft.com/office/drawing/2014/main" id="{172620A7-51FA-165C-6A72-1F44D5AE9B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651529" y="5244143"/>
            <a:ext cx="178979" cy="178979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6118851C-2ADF-7300-A852-C3A1E5DBD663}"/>
              </a:ext>
            </a:extLst>
          </p:cNvPr>
          <p:cNvSpPr txBox="1"/>
          <p:nvPr/>
        </p:nvSpPr>
        <p:spPr>
          <a:xfrm>
            <a:off x="4869968" y="5273091"/>
            <a:ext cx="9974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FD6E4DA7-AAE4-A1B1-235C-912F6BF93061}"/>
              </a:ext>
            </a:extLst>
          </p:cNvPr>
          <p:cNvGrpSpPr/>
          <p:nvPr/>
        </p:nvGrpSpPr>
        <p:grpSpPr>
          <a:xfrm>
            <a:off x="4916858" y="5413102"/>
            <a:ext cx="2827020" cy="449892"/>
            <a:chOff x="953453" y="5040660"/>
            <a:chExt cx="1801992" cy="286769"/>
          </a:xfrm>
        </p:grpSpPr>
        <p:pic>
          <p:nvPicPr>
            <p:cNvPr id="125" name="Graphic 7" descr="Amazon Aurora service icon.">
              <a:extLst>
                <a:ext uri="{FF2B5EF4-FFF2-40B4-BE49-F238E27FC236}">
                  <a16:creationId xmlns:a16="http://schemas.microsoft.com/office/drawing/2014/main" id="{4E36C390-E140-14B2-B9D8-C4FC359047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 bwMode="auto">
            <a:xfrm>
              <a:off x="1015700" y="5040660"/>
              <a:ext cx="172959" cy="172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6" name="Graphic 6" descr="Amazon Relational Database Service (Amazon RDS) service icon.">
              <a:extLst>
                <a:ext uri="{FF2B5EF4-FFF2-40B4-BE49-F238E27FC236}">
                  <a16:creationId xmlns:a16="http://schemas.microsoft.com/office/drawing/2014/main" id="{4B8AD5B6-6887-5A4E-DA1D-27DAE200F5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 bwMode="auto">
            <a:xfrm>
              <a:off x="1402810" y="5040660"/>
              <a:ext cx="172959" cy="172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7" name="Graphic 23" descr="Amazon DynamoDB service icon.">
              <a:extLst>
                <a:ext uri="{FF2B5EF4-FFF2-40B4-BE49-F238E27FC236}">
                  <a16:creationId xmlns:a16="http://schemas.microsoft.com/office/drawing/2014/main" id="{76093A71-5CA8-9E4B-F191-F637177878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 bwMode="auto">
            <a:xfrm>
              <a:off x="1789920" y="5040660"/>
              <a:ext cx="172959" cy="172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Graphic 26" descr="Amazon Managed Streaming for Apache Kafka (Amazon MSK) service icon.">
              <a:extLst>
                <a:ext uri="{FF2B5EF4-FFF2-40B4-BE49-F238E27FC236}">
                  <a16:creationId xmlns:a16="http://schemas.microsoft.com/office/drawing/2014/main" id="{A1B2D750-1A5E-FD9C-49AF-110438A545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/>
            <a:stretch/>
          </p:blipFill>
          <p:spPr bwMode="auto">
            <a:xfrm>
              <a:off x="2563169" y="5040660"/>
              <a:ext cx="172959" cy="172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" name="Graphic 21" descr="Amazon ElastiCache service icon.">
              <a:extLst>
                <a:ext uri="{FF2B5EF4-FFF2-40B4-BE49-F238E27FC236}">
                  <a16:creationId xmlns:a16="http://schemas.microsoft.com/office/drawing/2014/main" id="{84A8ABC9-4412-C669-7818-45E0106E81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 bwMode="auto">
            <a:xfrm>
              <a:off x="2177030" y="5040660"/>
              <a:ext cx="171989" cy="171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136CF47-935A-40E3-D5A9-C295485126C9}"/>
                </a:ext>
              </a:extLst>
            </p:cNvPr>
            <p:cNvSpPr txBox="1"/>
            <p:nvPr/>
          </p:nvSpPr>
          <p:spPr>
            <a:xfrm>
              <a:off x="2543850" y="5239147"/>
              <a:ext cx="211595" cy="882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MSK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830D41B-5367-BD91-8894-69F5B6C17A81}"/>
                </a:ext>
              </a:extLst>
            </p:cNvPr>
            <p:cNvSpPr txBox="1"/>
            <p:nvPr/>
          </p:nvSpPr>
          <p:spPr>
            <a:xfrm>
              <a:off x="2020544" y="5239147"/>
              <a:ext cx="484960" cy="882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ElastiCache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753A30E-1195-78DC-689A-283C1C3BF9D8}"/>
                </a:ext>
              </a:extLst>
            </p:cNvPr>
            <p:cNvSpPr txBox="1"/>
            <p:nvPr/>
          </p:nvSpPr>
          <p:spPr>
            <a:xfrm>
              <a:off x="953453" y="5239147"/>
              <a:ext cx="297451" cy="882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Aurora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82B3BDC-5175-7BE8-B1C4-B8B38832EB31}"/>
                </a:ext>
              </a:extLst>
            </p:cNvPr>
            <p:cNvSpPr txBox="1"/>
            <p:nvPr/>
          </p:nvSpPr>
          <p:spPr>
            <a:xfrm>
              <a:off x="1338272" y="5239147"/>
              <a:ext cx="297451" cy="882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RDS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F70A4E5-BEE5-FADF-0D5C-DB204BB64E90}"/>
                </a:ext>
              </a:extLst>
            </p:cNvPr>
            <p:cNvSpPr txBox="1"/>
            <p:nvPr/>
          </p:nvSpPr>
          <p:spPr>
            <a:xfrm>
              <a:off x="1703920" y="5239147"/>
              <a:ext cx="297451" cy="882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DDB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pic>
        <p:nvPicPr>
          <p:cNvPr id="135" name="그림 134">
            <a:extLst>
              <a:ext uri="{FF2B5EF4-FFF2-40B4-BE49-F238E27FC236}">
                <a16:creationId xmlns:a16="http://schemas.microsoft.com/office/drawing/2014/main" id="{147A8121-2953-1EFD-226F-F758F5BE337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733" y="5422954"/>
            <a:ext cx="229125" cy="229125"/>
          </a:xfrm>
          <a:prstGeom prst="rect">
            <a:avLst/>
          </a:prstGeom>
        </p:spPr>
      </p:pic>
      <p:sp>
        <p:nvSpPr>
          <p:cNvPr id="136" name="Rectangle 54">
            <a:extLst>
              <a:ext uri="{FF2B5EF4-FFF2-40B4-BE49-F238E27FC236}">
                <a16:creationId xmlns:a16="http://schemas.microsoft.com/office/drawing/2014/main" id="{467C81B5-32F9-AE4C-879E-0A91FD2BDFE0}"/>
              </a:ext>
            </a:extLst>
          </p:cNvPr>
          <p:cNvSpPr/>
          <p:nvPr/>
        </p:nvSpPr>
        <p:spPr>
          <a:xfrm>
            <a:off x="283611" y="893183"/>
            <a:ext cx="10249651" cy="56559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7" name="Graphic 55" descr="AWS Cloud group icon with AWS logo.">
            <a:extLst>
              <a:ext uri="{FF2B5EF4-FFF2-40B4-BE49-F238E27FC236}">
                <a16:creationId xmlns:a16="http://schemas.microsoft.com/office/drawing/2014/main" id="{A179CD7F-0637-66C5-15A3-1D196692A79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283611" y="897882"/>
            <a:ext cx="288000" cy="288000"/>
          </a:xfrm>
          <a:prstGeom prst="rect">
            <a:avLst/>
          </a:prstGeom>
        </p:spPr>
      </p:pic>
      <p:sp>
        <p:nvSpPr>
          <p:cNvPr id="138" name="모서리가 둥근 직사각형 137">
            <a:extLst>
              <a:ext uri="{FF2B5EF4-FFF2-40B4-BE49-F238E27FC236}">
                <a16:creationId xmlns:a16="http://schemas.microsoft.com/office/drawing/2014/main" id="{A68A699F-3B9D-30A0-4D44-5E0BA948BC9D}"/>
              </a:ext>
            </a:extLst>
          </p:cNvPr>
          <p:cNvSpPr/>
          <p:nvPr/>
        </p:nvSpPr>
        <p:spPr>
          <a:xfrm>
            <a:off x="2311014" y="6004766"/>
            <a:ext cx="505269" cy="194828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9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A</a:t>
            </a:r>
            <a:endParaRPr kumimoji="1" lang="ko-KR" altLang="en-US" sz="9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39" name="모서리가 둥근 직사각형 138">
            <a:extLst>
              <a:ext uri="{FF2B5EF4-FFF2-40B4-BE49-F238E27FC236}">
                <a16:creationId xmlns:a16="http://schemas.microsoft.com/office/drawing/2014/main" id="{A6BA716B-79E8-4A5E-21B7-3FDC5121DC10}"/>
              </a:ext>
            </a:extLst>
          </p:cNvPr>
          <p:cNvSpPr/>
          <p:nvPr/>
        </p:nvSpPr>
        <p:spPr>
          <a:xfrm>
            <a:off x="5916175" y="6003843"/>
            <a:ext cx="505269" cy="194828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kumimoji="1" lang="en-US" altLang="ko-KR" sz="9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C</a:t>
            </a:r>
            <a:endParaRPr kumimoji="1" lang="ko-KR" altLang="en-US" sz="9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140" name="그림 139">
            <a:extLst>
              <a:ext uri="{FF2B5EF4-FFF2-40B4-BE49-F238E27FC236}">
                <a16:creationId xmlns:a16="http://schemas.microsoft.com/office/drawing/2014/main" id="{8B70AC95-2C97-391D-B425-DAEEA27AD3D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347" y="1032859"/>
            <a:ext cx="291600" cy="291600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03B9C422-9504-FCC2-BF31-7E7AB6F8F5DA}"/>
              </a:ext>
            </a:extLst>
          </p:cNvPr>
          <p:cNvSpPr txBox="1"/>
          <p:nvPr/>
        </p:nvSpPr>
        <p:spPr>
          <a:xfrm>
            <a:off x="4661231" y="1199712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142" name="구부러진 연결선[U] 141">
            <a:extLst>
              <a:ext uri="{FF2B5EF4-FFF2-40B4-BE49-F238E27FC236}">
                <a16:creationId xmlns:a16="http://schemas.microsoft.com/office/drawing/2014/main" id="{1BC54330-FBE1-0859-D332-D230BCC7938E}"/>
              </a:ext>
            </a:extLst>
          </p:cNvPr>
          <p:cNvCxnSpPr>
            <a:cxnSpLocks/>
            <a:stCxn id="38" idx="3"/>
            <a:endCxn id="56" idx="0"/>
          </p:cNvCxnSpPr>
          <p:nvPr/>
        </p:nvCxnSpPr>
        <p:spPr>
          <a:xfrm>
            <a:off x="2419611" y="2047314"/>
            <a:ext cx="1077142" cy="647380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구부러진 연결선[U] 142">
            <a:extLst>
              <a:ext uri="{FF2B5EF4-FFF2-40B4-BE49-F238E27FC236}">
                <a16:creationId xmlns:a16="http://schemas.microsoft.com/office/drawing/2014/main" id="{B34F4548-BBAF-1B44-84C3-7D77B76B2191}"/>
              </a:ext>
            </a:extLst>
          </p:cNvPr>
          <p:cNvCxnSpPr>
            <a:cxnSpLocks/>
            <a:stCxn id="38" idx="1"/>
            <a:endCxn id="175" idx="0"/>
          </p:cNvCxnSpPr>
          <p:nvPr/>
        </p:nvCxnSpPr>
        <p:spPr>
          <a:xfrm rot="10800000" flipV="1">
            <a:off x="1232459" y="2047314"/>
            <a:ext cx="971153" cy="853706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구부러진 연결선[U] 143">
            <a:extLst>
              <a:ext uri="{FF2B5EF4-FFF2-40B4-BE49-F238E27FC236}">
                <a16:creationId xmlns:a16="http://schemas.microsoft.com/office/drawing/2014/main" id="{F36942D3-69F5-9F2E-E136-A39794EF545E}"/>
              </a:ext>
            </a:extLst>
          </p:cNvPr>
          <p:cNvCxnSpPr>
            <a:cxnSpLocks/>
            <a:stCxn id="38" idx="1"/>
            <a:endCxn id="176" idx="0"/>
          </p:cNvCxnSpPr>
          <p:nvPr/>
        </p:nvCxnSpPr>
        <p:spPr>
          <a:xfrm rot="10800000" flipV="1">
            <a:off x="1886377" y="2047314"/>
            <a:ext cx="317235" cy="853706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73">
            <a:extLst>
              <a:ext uri="{FF2B5EF4-FFF2-40B4-BE49-F238E27FC236}">
                <a16:creationId xmlns:a16="http://schemas.microsoft.com/office/drawing/2014/main" id="{F5A0A058-B05B-6131-8FDF-7AF1C705AE6C}"/>
              </a:ext>
            </a:extLst>
          </p:cNvPr>
          <p:cNvSpPr/>
          <p:nvPr/>
        </p:nvSpPr>
        <p:spPr>
          <a:xfrm>
            <a:off x="4689405" y="1862904"/>
            <a:ext cx="1871459" cy="373072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46" name="Graphic 74" descr="Public subnet group icon. ">
            <a:extLst>
              <a:ext uri="{FF2B5EF4-FFF2-40B4-BE49-F238E27FC236}">
                <a16:creationId xmlns:a16="http://schemas.microsoft.com/office/drawing/2014/main" id="{184836AC-CBD1-A098-0DD4-1EB08C78F1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689405" y="1866519"/>
            <a:ext cx="178979" cy="178979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A9B4567C-EA25-325D-80BF-3FCBE249CFDF}"/>
              </a:ext>
            </a:extLst>
          </p:cNvPr>
          <p:cNvSpPr txBox="1"/>
          <p:nvPr/>
        </p:nvSpPr>
        <p:spPr>
          <a:xfrm>
            <a:off x="4906503" y="1864089"/>
            <a:ext cx="757832" cy="1438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Public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148" name="그림 147">
            <a:extLst>
              <a:ext uri="{FF2B5EF4-FFF2-40B4-BE49-F238E27FC236}">
                <a16:creationId xmlns:a16="http://schemas.microsoft.com/office/drawing/2014/main" id="{F54B545B-12D7-8BA0-F463-04C0A6E288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464" y="1938097"/>
            <a:ext cx="216000" cy="216000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448F9C2C-F67C-BCC1-F172-FA259B9A3ACB}"/>
              </a:ext>
            </a:extLst>
          </p:cNvPr>
          <p:cNvSpPr txBox="1"/>
          <p:nvPr/>
        </p:nvSpPr>
        <p:spPr>
          <a:xfrm>
            <a:off x="5929980" y="2141299"/>
            <a:ext cx="18390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150" name="구부러진 연결선[U] 149">
            <a:extLst>
              <a:ext uri="{FF2B5EF4-FFF2-40B4-BE49-F238E27FC236}">
                <a16:creationId xmlns:a16="http://schemas.microsoft.com/office/drawing/2014/main" id="{CC7D35F8-D3B0-6B95-B513-59AF9EA1119D}"/>
              </a:ext>
            </a:extLst>
          </p:cNvPr>
          <p:cNvCxnSpPr>
            <a:cxnSpLocks/>
            <a:stCxn id="148" idx="1"/>
            <a:endCxn id="59" idx="0"/>
          </p:cNvCxnSpPr>
          <p:nvPr/>
        </p:nvCxnSpPr>
        <p:spPr>
          <a:xfrm rot="10800000" flipV="1">
            <a:off x="5307818" y="2046096"/>
            <a:ext cx="590646" cy="663185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구부러진 연결선[U] 150">
            <a:extLst>
              <a:ext uri="{FF2B5EF4-FFF2-40B4-BE49-F238E27FC236}">
                <a16:creationId xmlns:a16="http://schemas.microsoft.com/office/drawing/2014/main" id="{A2A64B74-510B-6D3F-0D02-945E0D5CE9A9}"/>
              </a:ext>
            </a:extLst>
          </p:cNvPr>
          <p:cNvCxnSpPr>
            <a:cxnSpLocks/>
            <a:stCxn id="148" idx="3"/>
            <a:endCxn id="177" idx="0"/>
          </p:cNvCxnSpPr>
          <p:nvPr/>
        </p:nvCxnSpPr>
        <p:spPr>
          <a:xfrm>
            <a:off x="6114464" y="2046097"/>
            <a:ext cx="1014735" cy="853189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구부러진 연결선[U] 151">
            <a:extLst>
              <a:ext uri="{FF2B5EF4-FFF2-40B4-BE49-F238E27FC236}">
                <a16:creationId xmlns:a16="http://schemas.microsoft.com/office/drawing/2014/main" id="{BF81CE4E-FF9D-3519-BD46-E71B7B4A52A6}"/>
              </a:ext>
            </a:extLst>
          </p:cNvPr>
          <p:cNvCxnSpPr>
            <a:cxnSpLocks/>
            <a:stCxn id="148" idx="3"/>
            <a:endCxn id="178" idx="0"/>
          </p:cNvCxnSpPr>
          <p:nvPr/>
        </p:nvCxnSpPr>
        <p:spPr>
          <a:xfrm>
            <a:off x="6114464" y="2046097"/>
            <a:ext cx="1668653" cy="853189"/>
          </a:xfrm>
          <a:prstGeom prst="curvedConnector2">
            <a:avLst/>
          </a:prstGeom>
          <a:ln w="9525" cap="rnd">
            <a:solidFill>
              <a:srgbClr val="FF6F0E"/>
            </a:solidFill>
            <a:prstDash val="sysDash"/>
            <a:round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73">
            <a:extLst>
              <a:ext uri="{FF2B5EF4-FFF2-40B4-BE49-F238E27FC236}">
                <a16:creationId xmlns:a16="http://schemas.microsoft.com/office/drawing/2014/main" id="{734CBFDD-785B-339E-694C-F2CE84E7ABE8}"/>
              </a:ext>
            </a:extLst>
          </p:cNvPr>
          <p:cNvSpPr/>
          <p:nvPr/>
        </p:nvSpPr>
        <p:spPr>
          <a:xfrm>
            <a:off x="994552" y="1449740"/>
            <a:ext cx="1871459" cy="373072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54" name="Graphic 74" descr="Public subnet group icon. ">
            <a:extLst>
              <a:ext uri="{FF2B5EF4-FFF2-40B4-BE49-F238E27FC236}">
                <a16:creationId xmlns:a16="http://schemas.microsoft.com/office/drawing/2014/main" id="{8ACFEF9B-6236-95A9-4B65-454B5DE5A0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94552" y="1453355"/>
            <a:ext cx="178979" cy="178979"/>
          </a:xfrm>
          <a:prstGeom prst="rect">
            <a:avLst/>
          </a:prstGeom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BA885A05-B654-D7E2-1D77-BD6EC2C10B9C}"/>
              </a:ext>
            </a:extLst>
          </p:cNvPr>
          <p:cNvSpPr txBox="1"/>
          <p:nvPr/>
        </p:nvSpPr>
        <p:spPr>
          <a:xfrm>
            <a:off x="1211650" y="1450925"/>
            <a:ext cx="91866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56" name="Rectangle 73">
            <a:extLst>
              <a:ext uri="{FF2B5EF4-FFF2-40B4-BE49-F238E27FC236}">
                <a16:creationId xmlns:a16="http://schemas.microsoft.com/office/drawing/2014/main" id="{F81026C8-13C9-E925-B846-A3EC562584B8}"/>
              </a:ext>
            </a:extLst>
          </p:cNvPr>
          <p:cNvSpPr/>
          <p:nvPr/>
        </p:nvSpPr>
        <p:spPr>
          <a:xfrm>
            <a:off x="2917980" y="1871591"/>
            <a:ext cx="1419344" cy="373072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57" name="Graphic 74" descr="Public subnet group icon. ">
            <a:extLst>
              <a:ext uri="{FF2B5EF4-FFF2-40B4-BE49-F238E27FC236}">
                <a16:creationId xmlns:a16="http://schemas.microsoft.com/office/drawing/2014/main" id="{9BC0867F-5690-5184-CAFE-ED8B9977AC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917979" y="1875206"/>
            <a:ext cx="178979" cy="178979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AEBFC5BE-9946-A09E-591C-AE2E1C5D2198}"/>
              </a:ext>
            </a:extLst>
          </p:cNvPr>
          <p:cNvSpPr txBox="1"/>
          <p:nvPr/>
        </p:nvSpPr>
        <p:spPr>
          <a:xfrm>
            <a:off x="3135077" y="1872776"/>
            <a:ext cx="89584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Egress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59" name="Rectangle 73">
            <a:extLst>
              <a:ext uri="{FF2B5EF4-FFF2-40B4-BE49-F238E27FC236}">
                <a16:creationId xmlns:a16="http://schemas.microsoft.com/office/drawing/2014/main" id="{B800E75C-4840-F785-3923-32D69653358E}"/>
              </a:ext>
            </a:extLst>
          </p:cNvPr>
          <p:cNvSpPr/>
          <p:nvPr/>
        </p:nvSpPr>
        <p:spPr>
          <a:xfrm>
            <a:off x="2917980" y="1457210"/>
            <a:ext cx="1419344" cy="373072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60" name="Graphic 74" descr="Public subnet group icon. ">
            <a:extLst>
              <a:ext uri="{FF2B5EF4-FFF2-40B4-BE49-F238E27FC236}">
                <a16:creationId xmlns:a16="http://schemas.microsoft.com/office/drawing/2014/main" id="{B36288E2-A44F-60D6-89C3-28B19CA4F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917979" y="1460825"/>
            <a:ext cx="178979" cy="178979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9C2F3845-D016-062B-56A9-1DFDB25BFE9F}"/>
              </a:ext>
            </a:extLst>
          </p:cNvPr>
          <p:cNvSpPr txBox="1"/>
          <p:nvPr/>
        </p:nvSpPr>
        <p:spPr>
          <a:xfrm>
            <a:off x="3135077" y="1458395"/>
            <a:ext cx="84913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62" name="Rectangle 73">
            <a:extLst>
              <a:ext uri="{FF2B5EF4-FFF2-40B4-BE49-F238E27FC236}">
                <a16:creationId xmlns:a16="http://schemas.microsoft.com/office/drawing/2014/main" id="{34054653-4421-FFD7-1186-6B6C111DE8B6}"/>
              </a:ext>
            </a:extLst>
          </p:cNvPr>
          <p:cNvSpPr/>
          <p:nvPr/>
        </p:nvSpPr>
        <p:spPr>
          <a:xfrm>
            <a:off x="4690518" y="1448231"/>
            <a:ext cx="1871459" cy="373072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63" name="Graphic 74" descr="Public subnet group icon. ">
            <a:extLst>
              <a:ext uri="{FF2B5EF4-FFF2-40B4-BE49-F238E27FC236}">
                <a16:creationId xmlns:a16="http://schemas.microsoft.com/office/drawing/2014/main" id="{64C694BF-4E0F-80D8-F236-2C1338F857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690518" y="1451846"/>
            <a:ext cx="178979" cy="178979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DB0919AD-D8D1-7DA7-BBA6-2D8586BF6B1E}"/>
              </a:ext>
            </a:extLst>
          </p:cNvPr>
          <p:cNvSpPr txBox="1"/>
          <p:nvPr/>
        </p:nvSpPr>
        <p:spPr>
          <a:xfrm>
            <a:off x="4907616" y="1449416"/>
            <a:ext cx="75783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65" name="Rectangle 73">
            <a:extLst>
              <a:ext uri="{FF2B5EF4-FFF2-40B4-BE49-F238E27FC236}">
                <a16:creationId xmlns:a16="http://schemas.microsoft.com/office/drawing/2014/main" id="{4B4C4903-8231-B966-07A6-D97AF23AC396}"/>
              </a:ext>
            </a:extLst>
          </p:cNvPr>
          <p:cNvSpPr/>
          <p:nvPr/>
        </p:nvSpPr>
        <p:spPr>
          <a:xfrm>
            <a:off x="6613946" y="1870082"/>
            <a:ext cx="1419344" cy="373072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66" name="Graphic 74" descr="Public subnet group icon. ">
            <a:extLst>
              <a:ext uri="{FF2B5EF4-FFF2-40B4-BE49-F238E27FC236}">
                <a16:creationId xmlns:a16="http://schemas.microsoft.com/office/drawing/2014/main" id="{3BA58D8C-000D-B98D-2890-0FF02911F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613945" y="1873697"/>
            <a:ext cx="178979" cy="178979"/>
          </a:xfrm>
          <a:prstGeom prst="rect">
            <a:avLst/>
          </a:prstGeom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A4B1DBFD-43AE-D675-97F6-1948F75DE966}"/>
              </a:ext>
            </a:extLst>
          </p:cNvPr>
          <p:cNvSpPr txBox="1"/>
          <p:nvPr/>
        </p:nvSpPr>
        <p:spPr>
          <a:xfrm>
            <a:off x="6831042" y="1871267"/>
            <a:ext cx="83342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Egress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68" name="Rectangle 73">
            <a:extLst>
              <a:ext uri="{FF2B5EF4-FFF2-40B4-BE49-F238E27FC236}">
                <a16:creationId xmlns:a16="http://schemas.microsoft.com/office/drawing/2014/main" id="{27208CA2-52EC-BA6C-ACE4-2D0D9770811E}"/>
              </a:ext>
            </a:extLst>
          </p:cNvPr>
          <p:cNvSpPr/>
          <p:nvPr/>
        </p:nvSpPr>
        <p:spPr>
          <a:xfrm>
            <a:off x="6613946" y="1455701"/>
            <a:ext cx="1419344" cy="373072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69" name="Graphic 74" descr="Public subnet group icon. ">
            <a:extLst>
              <a:ext uri="{FF2B5EF4-FFF2-40B4-BE49-F238E27FC236}">
                <a16:creationId xmlns:a16="http://schemas.microsoft.com/office/drawing/2014/main" id="{7401474C-5E7E-4CD2-A1A2-FA0F8B08A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613945" y="1459316"/>
            <a:ext cx="178979" cy="178979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12B04FAA-D242-39EA-823B-AD6AE8D8EDCC}"/>
              </a:ext>
            </a:extLst>
          </p:cNvPr>
          <p:cNvSpPr txBox="1"/>
          <p:nvPr/>
        </p:nvSpPr>
        <p:spPr>
          <a:xfrm>
            <a:off x="6831043" y="1456886"/>
            <a:ext cx="8864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 Subnet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171" name="그림 170">
            <a:extLst>
              <a:ext uri="{FF2B5EF4-FFF2-40B4-BE49-F238E27FC236}">
                <a16:creationId xmlns:a16="http://schemas.microsoft.com/office/drawing/2014/main" id="{6B58D0A7-D0A4-9595-AD44-7C052AC3D51D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3966" y="1944578"/>
            <a:ext cx="229125" cy="229125"/>
          </a:xfrm>
          <a:prstGeom prst="rect">
            <a:avLst/>
          </a:prstGeom>
        </p:spPr>
      </p:pic>
      <p:pic>
        <p:nvPicPr>
          <p:cNvPr id="172" name="그림 171">
            <a:extLst>
              <a:ext uri="{FF2B5EF4-FFF2-40B4-BE49-F238E27FC236}">
                <a16:creationId xmlns:a16="http://schemas.microsoft.com/office/drawing/2014/main" id="{0CF444DA-088E-F6A3-5D53-403C3F2A33C5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901" y="1510055"/>
            <a:ext cx="229125" cy="229125"/>
          </a:xfrm>
          <a:prstGeom prst="rect">
            <a:avLst/>
          </a:prstGeom>
        </p:spPr>
      </p:pic>
      <p:pic>
        <p:nvPicPr>
          <p:cNvPr id="173" name="그림 172">
            <a:extLst>
              <a:ext uri="{FF2B5EF4-FFF2-40B4-BE49-F238E27FC236}">
                <a16:creationId xmlns:a16="http://schemas.microsoft.com/office/drawing/2014/main" id="{5F65E932-7770-3323-82F5-1DEED4D332E6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937" y="1508768"/>
            <a:ext cx="229125" cy="229125"/>
          </a:xfrm>
          <a:prstGeom prst="rect">
            <a:avLst/>
          </a:prstGeom>
        </p:spPr>
      </p:pic>
      <p:pic>
        <p:nvPicPr>
          <p:cNvPr id="174" name="그림 173">
            <a:extLst>
              <a:ext uri="{FF2B5EF4-FFF2-40B4-BE49-F238E27FC236}">
                <a16:creationId xmlns:a16="http://schemas.microsoft.com/office/drawing/2014/main" id="{9780DA2B-7E73-7070-393D-832D54042DB8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031" y="1959225"/>
            <a:ext cx="229125" cy="229125"/>
          </a:xfrm>
          <a:prstGeom prst="rect">
            <a:avLst/>
          </a:prstGeom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AFB29500-54FE-7BCC-E4ED-D9D6C0A63B4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3185" y="2901020"/>
            <a:ext cx="198545" cy="216000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AD3A3FAA-8E23-E07F-8F6C-6B436799B489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87103" y="2901020"/>
            <a:ext cx="198545" cy="216000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4AF75E0E-2D83-8157-7F06-848525DA3EF6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29926" y="2899286"/>
            <a:ext cx="198545" cy="216000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52FF5C6C-9B22-142E-A2E4-75C1CD6D2B70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3844" y="2899286"/>
            <a:ext cx="198545" cy="216000"/>
          </a:xfrm>
          <a:prstGeom prst="rect">
            <a:avLst/>
          </a:prstGeom>
        </p:spPr>
      </p:pic>
      <p:sp>
        <p:nvSpPr>
          <p:cNvPr id="179" name="TextBox 178">
            <a:extLst>
              <a:ext uri="{FF2B5EF4-FFF2-40B4-BE49-F238E27FC236}">
                <a16:creationId xmlns:a16="http://schemas.microsoft.com/office/drawing/2014/main" id="{1F7AA347-26AF-2CC1-B157-E3F8BAAF2540}"/>
              </a:ext>
            </a:extLst>
          </p:cNvPr>
          <p:cNvSpPr txBox="1"/>
          <p:nvPr/>
        </p:nvSpPr>
        <p:spPr>
          <a:xfrm>
            <a:off x="2144745" y="1721610"/>
            <a:ext cx="3900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GWLBEP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5643308E-2FA5-AAB7-F368-6A4D119D8D14}"/>
              </a:ext>
            </a:extLst>
          </p:cNvPr>
          <p:cNvSpPr txBox="1"/>
          <p:nvPr/>
        </p:nvSpPr>
        <p:spPr>
          <a:xfrm>
            <a:off x="3926519" y="2153300"/>
            <a:ext cx="3900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GWLBEP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CD1BFF9-FDB5-0E9E-BD09-2ACF6C8D7487}"/>
              </a:ext>
            </a:extLst>
          </p:cNvPr>
          <p:cNvSpPr txBox="1"/>
          <p:nvPr/>
        </p:nvSpPr>
        <p:spPr>
          <a:xfrm>
            <a:off x="7642145" y="2152092"/>
            <a:ext cx="39009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GWLBEP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182" name="그림 181">
            <a:extLst>
              <a:ext uri="{FF2B5EF4-FFF2-40B4-BE49-F238E27FC236}">
                <a16:creationId xmlns:a16="http://schemas.microsoft.com/office/drawing/2014/main" id="{8017752F-6B07-390E-531E-0CAF1F7E736D}"/>
              </a:ext>
            </a:extLst>
          </p:cNvPr>
          <p:cNvPicPr>
            <a:picLocks noChangeAspect="1"/>
          </p:cNvPicPr>
          <p:nvPr/>
        </p:nvPicPr>
        <p:blipFill>
          <a:blip r:embed="rId3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309" y="1610509"/>
            <a:ext cx="239663" cy="239663"/>
          </a:xfrm>
          <a:prstGeom prst="rect">
            <a:avLst/>
          </a:prstGeom>
        </p:spPr>
      </p:pic>
      <p:pic>
        <p:nvPicPr>
          <p:cNvPr id="183" name="그림 182">
            <a:extLst>
              <a:ext uri="{FF2B5EF4-FFF2-40B4-BE49-F238E27FC236}">
                <a16:creationId xmlns:a16="http://schemas.microsoft.com/office/drawing/2014/main" id="{015E4292-7889-7C41-38B6-E94CE4B6935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4468" y="3145704"/>
            <a:ext cx="173883" cy="173883"/>
          </a:xfrm>
          <a:prstGeom prst="rect">
            <a:avLst/>
          </a:prstGeom>
        </p:spPr>
      </p:pic>
      <p:pic>
        <p:nvPicPr>
          <p:cNvPr id="184" name="Graphic 13" descr="AWS Batch service icon.">
            <a:extLst>
              <a:ext uri="{FF2B5EF4-FFF2-40B4-BE49-F238E27FC236}">
                <a16:creationId xmlns:a16="http://schemas.microsoft.com/office/drawing/2014/main" id="{A0B9BA9F-4826-C07A-D9E9-A72D73DE2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 bwMode="auto">
          <a:xfrm>
            <a:off x="9872754" y="4582934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5" name="TextBox 184">
            <a:extLst>
              <a:ext uri="{FF2B5EF4-FFF2-40B4-BE49-F238E27FC236}">
                <a16:creationId xmlns:a16="http://schemas.microsoft.com/office/drawing/2014/main" id="{96AF3253-CFB1-956F-0088-BA917282003E}"/>
              </a:ext>
            </a:extLst>
          </p:cNvPr>
          <p:cNvSpPr txBox="1"/>
          <p:nvPr/>
        </p:nvSpPr>
        <p:spPr>
          <a:xfrm>
            <a:off x="9265128" y="3372522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Lambda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186" name="Graphic 14" descr="Amazon Athena service icon.">
            <a:extLst>
              <a:ext uri="{FF2B5EF4-FFF2-40B4-BE49-F238E27FC236}">
                <a16:creationId xmlns:a16="http://schemas.microsoft.com/office/drawing/2014/main" id="{CD9228B8-B4C4-34DC-D949-B5F4DFBF1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 bwMode="auto">
          <a:xfrm>
            <a:off x="9334468" y="3612248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9EBB82CE-BFBF-2F4A-8EDE-967E41C65A33}"/>
              </a:ext>
            </a:extLst>
          </p:cNvPr>
          <p:cNvSpPr txBox="1"/>
          <p:nvPr/>
        </p:nvSpPr>
        <p:spPr>
          <a:xfrm>
            <a:off x="9256795" y="3825560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Athena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188" name="Graphic 20" descr="Amazon Elastic Container Registry (Amazon ECR) Service icon.">
            <a:extLst>
              <a:ext uri="{FF2B5EF4-FFF2-40B4-BE49-F238E27FC236}">
                <a16:creationId xmlns:a16="http://schemas.microsoft.com/office/drawing/2014/main" id="{EE8F60BE-E8FE-9641-F053-BBCFF74DB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 bwMode="auto">
          <a:xfrm>
            <a:off x="9334468" y="4065698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3239694E-189C-189C-53F7-F41344551665}"/>
              </a:ext>
            </a:extLst>
          </p:cNvPr>
          <p:cNvSpPr txBox="1"/>
          <p:nvPr/>
        </p:nvSpPr>
        <p:spPr>
          <a:xfrm>
            <a:off x="9790545" y="4790618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Batch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24EE92A-FA51-7044-4C41-3BE154C20600}"/>
              </a:ext>
            </a:extLst>
          </p:cNvPr>
          <p:cNvSpPr txBox="1"/>
          <p:nvPr/>
        </p:nvSpPr>
        <p:spPr>
          <a:xfrm>
            <a:off x="9241771" y="4285120"/>
            <a:ext cx="3484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ECR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1" name="Rectangle 40">
            <a:extLst>
              <a:ext uri="{FF2B5EF4-FFF2-40B4-BE49-F238E27FC236}">
                <a16:creationId xmlns:a16="http://schemas.microsoft.com/office/drawing/2014/main" id="{71A92287-563F-50BC-E422-E4E540C92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39328" y="2369310"/>
            <a:ext cx="1222732" cy="2648800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2" name="Graphic 21" descr="Amazon Route 53 service icon.">
            <a:extLst>
              <a:ext uri="{FF2B5EF4-FFF2-40B4-BE49-F238E27FC236}">
                <a16:creationId xmlns:a16="http://schemas.microsoft.com/office/drawing/2014/main" id="{7A80F5B4-A348-941B-7C3C-A6872D3B3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 bwMode="auto">
          <a:xfrm>
            <a:off x="10024729" y="1117215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3" name="TextBox 192">
            <a:extLst>
              <a:ext uri="{FF2B5EF4-FFF2-40B4-BE49-F238E27FC236}">
                <a16:creationId xmlns:a16="http://schemas.microsoft.com/office/drawing/2014/main" id="{D84899EA-9574-21C9-ED2F-4D97C5261C60}"/>
              </a:ext>
            </a:extLst>
          </p:cNvPr>
          <p:cNvSpPr txBox="1"/>
          <p:nvPr/>
        </p:nvSpPr>
        <p:spPr>
          <a:xfrm>
            <a:off x="9215601" y="2858605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WAF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194" name="Graphic 8" descr="AWS WAF service icon.">
            <a:extLst>
              <a:ext uri="{FF2B5EF4-FFF2-40B4-BE49-F238E27FC236}">
                <a16:creationId xmlns:a16="http://schemas.microsoft.com/office/drawing/2014/main" id="{F6AA4C36-E488-0C40-3A5C-7186A3D41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 bwMode="auto">
          <a:xfrm>
            <a:off x="9334468" y="2657310"/>
            <a:ext cx="159758" cy="1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" name="Graphic 19" descr="Amazon GuardDuty service icon.">
            <a:extLst>
              <a:ext uri="{FF2B5EF4-FFF2-40B4-BE49-F238E27FC236}">
                <a16:creationId xmlns:a16="http://schemas.microsoft.com/office/drawing/2014/main" id="{0C68AC0F-B78E-3E3C-4241-AE9381F4F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 bwMode="auto">
          <a:xfrm>
            <a:off x="9878167" y="2662636"/>
            <a:ext cx="159758" cy="159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" name="TextBox 195">
            <a:extLst>
              <a:ext uri="{FF2B5EF4-FFF2-40B4-BE49-F238E27FC236}">
                <a16:creationId xmlns:a16="http://schemas.microsoft.com/office/drawing/2014/main" id="{BFFCFC67-7B69-BA43-1CB3-609ACB9BFB36}"/>
              </a:ext>
            </a:extLst>
          </p:cNvPr>
          <p:cNvSpPr txBox="1"/>
          <p:nvPr/>
        </p:nvSpPr>
        <p:spPr>
          <a:xfrm>
            <a:off x="9674139" y="2866742"/>
            <a:ext cx="54043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GuardDuty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197" name="Graphic 17" descr="Amazon CloudWatch service icon.">
            <a:extLst>
              <a:ext uri="{FF2B5EF4-FFF2-40B4-BE49-F238E27FC236}">
                <a16:creationId xmlns:a16="http://schemas.microsoft.com/office/drawing/2014/main" id="{8CBAB84C-120C-0A5B-841B-4BDA09FAE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 bwMode="auto">
          <a:xfrm>
            <a:off x="9878167" y="3143490"/>
            <a:ext cx="163816" cy="163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1B2893B6-91BD-5AF8-33F8-74D19B614282}"/>
              </a:ext>
            </a:extLst>
          </p:cNvPr>
          <p:cNvSpPr txBox="1"/>
          <p:nvPr/>
        </p:nvSpPr>
        <p:spPr>
          <a:xfrm>
            <a:off x="9708260" y="3379098"/>
            <a:ext cx="535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CloudWatch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199" name="Graphic 8" descr="AWS Config service icon.">
            <a:extLst>
              <a:ext uri="{FF2B5EF4-FFF2-40B4-BE49-F238E27FC236}">
                <a16:creationId xmlns:a16="http://schemas.microsoft.com/office/drawing/2014/main" id="{A7DD8B60-98FB-7E5E-D6E3-B58007888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 bwMode="auto">
          <a:xfrm>
            <a:off x="9878167" y="3610573"/>
            <a:ext cx="172959" cy="17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" name="TextBox 199">
            <a:extLst>
              <a:ext uri="{FF2B5EF4-FFF2-40B4-BE49-F238E27FC236}">
                <a16:creationId xmlns:a16="http://schemas.microsoft.com/office/drawing/2014/main" id="{0C36DD61-F409-A2B8-BBED-258DB66DF41F}"/>
              </a:ext>
            </a:extLst>
          </p:cNvPr>
          <p:cNvSpPr txBox="1"/>
          <p:nvPr/>
        </p:nvSpPr>
        <p:spPr>
          <a:xfrm>
            <a:off x="9716496" y="3825560"/>
            <a:ext cx="53522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AWS Config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01" name="Graphic 20" descr="AWS Certificate Manager (ACM) service icon.">
            <a:extLst>
              <a:ext uri="{FF2B5EF4-FFF2-40B4-BE49-F238E27FC236}">
                <a16:creationId xmlns:a16="http://schemas.microsoft.com/office/drawing/2014/main" id="{8A739307-4692-CDBF-C7E6-DC48E3BAE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 bwMode="auto">
          <a:xfrm>
            <a:off x="9878167" y="4060797"/>
            <a:ext cx="167546" cy="167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2" name="TextBox 201">
            <a:extLst>
              <a:ext uri="{FF2B5EF4-FFF2-40B4-BE49-F238E27FC236}">
                <a16:creationId xmlns:a16="http://schemas.microsoft.com/office/drawing/2014/main" id="{D7AC04ED-C65F-FD69-E53A-2C51F8E2F6C5}"/>
              </a:ext>
            </a:extLst>
          </p:cNvPr>
          <p:cNvSpPr txBox="1"/>
          <p:nvPr/>
        </p:nvSpPr>
        <p:spPr>
          <a:xfrm>
            <a:off x="9839160" y="4285120"/>
            <a:ext cx="2432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ACM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8131A27F-9305-66A4-138C-33D34444848E}"/>
              </a:ext>
            </a:extLst>
          </p:cNvPr>
          <p:cNvSpPr txBox="1"/>
          <p:nvPr/>
        </p:nvSpPr>
        <p:spPr>
          <a:xfrm>
            <a:off x="9914152" y="1306514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Route53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F9980C7-9396-9405-2B69-968AC7B9F055}"/>
              </a:ext>
            </a:extLst>
          </p:cNvPr>
          <p:cNvSpPr txBox="1"/>
          <p:nvPr/>
        </p:nvSpPr>
        <p:spPr>
          <a:xfrm>
            <a:off x="9598939" y="1313977"/>
            <a:ext cx="4163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WAF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05" name="Graphic 8" descr="AWS WAF service icon.">
            <a:extLst>
              <a:ext uri="{FF2B5EF4-FFF2-40B4-BE49-F238E27FC236}">
                <a16:creationId xmlns:a16="http://schemas.microsoft.com/office/drawing/2014/main" id="{41ECA0F5-F090-7F66-51F8-64BE5792C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 bwMode="auto">
          <a:xfrm>
            <a:off x="9716496" y="1117384"/>
            <a:ext cx="173356" cy="17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" name="그림 205">
            <a:extLst>
              <a:ext uri="{FF2B5EF4-FFF2-40B4-BE49-F238E27FC236}">
                <a16:creationId xmlns:a16="http://schemas.microsoft.com/office/drawing/2014/main" id="{3B85E963-F08C-62F0-D5E5-A72AEC39EA7E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346" y="4599797"/>
            <a:ext cx="199202" cy="199202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09258353-32F0-B08F-BFE9-F6487323623A}"/>
              </a:ext>
            </a:extLst>
          </p:cNvPr>
          <p:cNvSpPr txBox="1"/>
          <p:nvPr/>
        </p:nvSpPr>
        <p:spPr>
          <a:xfrm>
            <a:off x="9454065" y="4668122"/>
            <a:ext cx="2432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S3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08" name="Graphic 19" descr="Amazon CloudFront service icon.">
            <a:extLst>
              <a:ext uri="{FF2B5EF4-FFF2-40B4-BE49-F238E27FC236}">
                <a16:creationId xmlns:a16="http://schemas.microsoft.com/office/drawing/2014/main" id="{35339FE1-8C84-3992-3AFE-7CBB18F8C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 bwMode="auto">
          <a:xfrm>
            <a:off x="9334468" y="1117215"/>
            <a:ext cx="173356" cy="17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id="{7A5C4D0F-8431-8CEA-D08A-CB0B24D6D29F}"/>
              </a:ext>
            </a:extLst>
          </p:cNvPr>
          <p:cNvSpPr txBox="1"/>
          <p:nvPr/>
        </p:nvSpPr>
        <p:spPr>
          <a:xfrm>
            <a:off x="9155443" y="1312608"/>
            <a:ext cx="52559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CloudFront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10" name="Rectangle 40">
            <a:extLst>
              <a:ext uri="{FF2B5EF4-FFF2-40B4-BE49-F238E27FC236}">
                <a16:creationId xmlns:a16="http://schemas.microsoft.com/office/drawing/2014/main" id="{1A2E3F2D-5CBF-DFB3-7C06-C31763708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39328" y="1059534"/>
            <a:ext cx="1234627" cy="402472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1" name="그림 210">
            <a:extLst>
              <a:ext uri="{FF2B5EF4-FFF2-40B4-BE49-F238E27FC236}">
                <a16:creationId xmlns:a16="http://schemas.microsoft.com/office/drawing/2014/main" id="{CB6A1B76-5560-9E44-9E3C-99329F576E07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472003" y="4967994"/>
            <a:ext cx="639205" cy="146324"/>
          </a:xfrm>
          <a:prstGeom prst="rect">
            <a:avLst/>
          </a:prstGeom>
        </p:spPr>
      </p:pic>
      <p:pic>
        <p:nvPicPr>
          <p:cNvPr id="212" name="그림 211">
            <a:extLst>
              <a:ext uri="{FF2B5EF4-FFF2-40B4-BE49-F238E27FC236}">
                <a16:creationId xmlns:a16="http://schemas.microsoft.com/office/drawing/2014/main" id="{16F3F720-59C2-8347-8BE2-1CCCEFF230FA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485566" y="1434422"/>
            <a:ext cx="649945" cy="147011"/>
          </a:xfrm>
          <a:prstGeom prst="rect">
            <a:avLst/>
          </a:prstGeom>
        </p:spPr>
      </p:pic>
      <p:cxnSp>
        <p:nvCxnSpPr>
          <p:cNvPr id="213" name="직선 연결선[R] 212">
            <a:extLst>
              <a:ext uri="{FF2B5EF4-FFF2-40B4-BE49-F238E27FC236}">
                <a16:creationId xmlns:a16="http://schemas.microsoft.com/office/drawing/2014/main" id="{2E4CD96A-DD51-A289-3667-11A8E8E59AD6}"/>
              </a:ext>
            </a:extLst>
          </p:cNvPr>
          <p:cNvCxnSpPr>
            <a:cxnSpLocks/>
            <a:stCxn id="208" idx="3"/>
            <a:endCxn id="205" idx="1"/>
          </p:cNvCxnSpPr>
          <p:nvPr/>
        </p:nvCxnSpPr>
        <p:spPr>
          <a:xfrm>
            <a:off x="9507824" y="1203893"/>
            <a:ext cx="208672" cy="169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tangle 40">
            <a:extLst>
              <a:ext uri="{FF2B5EF4-FFF2-40B4-BE49-F238E27FC236}">
                <a16:creationId xmlns:a16="http://schemas.microsoft.com/office/drawing/2014/main" id="{5FF13963-7BCF-9CEE-AF64-A8096A822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0436" y="1624961"/>
            <a:ext cx="1234627" cy="477523"/>
          </a:xfrm>
          <a:prstGeom prst="rect">
            <a:avLst/>
          </a:prstGeom>
          <a:noFill/>
          <a:ln w="9525">
            <a:solidFill>
              <a:srgbClr val="ED71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5" name="그림 214">
            <a:extLst>
              <a:ext uri="{FF2B5EF4-FFF2-40B4-BE49-F238E27FC236}">
                <a16:creationId xmlns:a16="http://schemas.microsoft.com/office/drawing/2014/main" id="{8CF03EB9-43C5-A868-5A98-32EA3BC77523}"/>
              </a:ext>
            </a:extLst>
          </p:cNvPr>
          <p:cNvPicPr>
            <a:picLocks noChangeAspect="1"/>
          </p:cNvPicPr>
          <p:nvPr/>
        </p:nvPicPr>
        <p:blipFill>
          <a:blip r:embed="rId3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91" y="1868064"/>
            <a:ext cx="239663" cy="239663"/>
          </a:xfrm>
          <a:prstGeom prst="rect">
            <a:avLst/>
          </a:prstGeom>
        </p:spPr>
      </p:pic>
      <p:sp>
        <p:nvSpPr>
          <p:cNvPr id="216" name="TextBox 215">
            <a:extLst>
              <a:ext uri="{FF2B5EF4-FFF2-40B4-BE49-F238E27FC236}">
                <a16:creationId xmlns:a16="http://schemas.microsoft.com/office/drawing/2014/main" id="{7CB6FFE4-057A-E816-31F2-E251D7A56D29}"/>
              </a:ext>
            </a:extLst>
          </p:cNvPr>
          <p:cNvSpPr txBox="1"/>
          <p:nvPr/>
        </p:nvSpPr>
        <p:spPr>
          <a:xfrm>
            <a:off x="9643239" y="1651254"/>
            <a:ext cx="54043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8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 FW</a:t>
            </a:r>
            <a:endParaRPr kumimoji="1" lang="ko-KR" altLang="en-US" sz="8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ED970A7-0751-50CA-09E3-E3386EC6C61A}"/>
              </a:ext>
            </a:extLst>
          </p:cNvPr>
          <p:cNvSpPr txBox="1"/>
          <p:nvPr/>
        </p:nvSpPr>
        <p:spPr>
          <a:xfrm>
            <a:off x="9642672" y="1928916"/>
            <a:ext cx="54043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8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Egress FW</a:t>
            </a:r>
            <a:endParaRPr kumimoji="1" lang="ko-KR" altLang="en-US" sz="8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6FF673F-CF94-4CA0-AFEA-8CFBA2590843}"/>
              </a:ext>
            </a:extLst>
          </p:cNvPr>
          <p:cNvSpPr txBox="1"/>
          <p:nvPr/>
        </p:nvSpPr>
        <p:spPr>
          <a:xfrm>
            <a:off x="9175466" y="5090041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4247A582-4D74-B026-5DDC-B5DA7779EC4D}"/>
              </a:ext>
            </a:extLst>
          </p:cNvPr>
          <p:cNvGrpSpPr/>
          <p:nvPr/>
        </p:nvGrpSpPr>
        <p:grpSpPr>
          <a:xfrm>
            <a:off x="9439738" y="5983366"/>
            <a:ext cx="832847" cy="288328"/>
            <a:chOff x="4024949" y="1984841"/>
            <a:chExt cx="832847" cy="288328"/>
          </a:xfrm>
        </p:grpSpPr>
        <p:sp>
          <p:nvSpPr>
            <p:cNvPr id="220" name="Rectangle 39" descr="VPC group border">
              <a:extLst>
                <a:ext uri="{FF2B5EF4-FFF2-40B4-BE49-F238E27FC236}">
                  <a16:creationId xmlns:a16="http://schemas.microsoft.com/office/drawing/2014/main" id="{D945C00C-6484-6E42-E2B8-09E8B915EB1D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1" name="Graphic 57" descr="VPC group icon.">
              <a:extLst>
                <a:ext uri="{FF2B5EF4-FFF2-40B4-BE49-F238E27FC236}">
                  <a16:creationId xmlns:a16="http://schemas.microsoft.com/office/drawing/2014/main" id="{570B0A94-547C-17B8-4595-3DC9D3CFF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8E924D25-58E8-D3A3-9594-351E890851A2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Tokyo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D4A6A280-670B-D5BD-6844-92FF4450C7C0}"/>
              </a:ext>
            </a:extLst>
          </p:cNvPr>
          <p:cNvGrpSpPr/>
          <p:nvPr/>
        </p:nvGrpSpPr>
        <p:grpSpPr>
          <a:xfrm>
            <a:off x="9439738" y="5581312"/>
            <a:ext cx="832847" cy="288328"/>
            <a:chOff x="4024949" y="1984841"/>
            <a:chExt cx="832847" cy="288328"/>
          </a:xfrm>
        </p:grpSpPr>
        <p:sp>
          <p:nvSpPr>
            <p:cNvPr id="224" name="Rectangle 39" descr="VPC group border">
              <a:extLst>
                <a:ext uri="{FF2B5EF4-FFF2-40B4-BE49-F238E27FC236}">
                  <a16:creationId xmlns:a16="http://schemas.microsoft.com/office/drawing/2014/main" id="{6F37ADC9-BEBD-674F-192E-9C9392F9371B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5" name="Graphic 57" descr="VPC group icon.">
              <a:extLst>
                <a:ext uri="{FF2B5EF4-FFF2-40B4-BE49-F238E27FC236}">
                  <a16:creationId xmlns:a16="http://schemas.microsoft.com/office/drawing/2014/main" id="{17B76C94-3B6F-F2A7-2760-4C9BB3019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E2335B22-6F90-65E8-DCE8-3F44E0B86F12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Central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4F9EAE5F-1BA3-03A0-9E47-C16D5AFFFC3B}"/>
              </a:ext>
            </a:extLst>
          </p:cNvPr>
          <p:cNvGrpSpPr/>
          <p:nvPr/>
        </p:nvGrpSpPr>
        <p:grpSpPr>
          <a:xfrm>
            <a:off x="9439738" y="5179258"/>
            <a:ext cx="832847" cy="288328"/>
            <a:chOff x="4024949" y="1984841"/>
            <a:chExt cx="832847" cy="288328"/>
          </a:xfrm>
        </p:grpSpPr>
        <p:sp>
          <p:nvSpPr>
            <p:cNvPr id="228" name="Rectangle 39" descr="VPC group border">
              <a:extLst>
                <a:ext uri="{FF2B5EF4-FFF2-40B4-BE49-F238E27FC236}">
                  <a16:creationId xmlns:a16="http://schemas.microsoft.com/office/drawing/2014/main" id="{4C81E104-11EC-805D-5FC0-8F77BA8820C2}"/>
                </a:ext>
              </a:extLst>
            </p:cNvPr>
            <p:cNvSpPr/>
            <p:nvPr/>
          </p:nvSpPr>
          <p:spPr>
            <a:xfrm>
              <a:off x="4037296" y="1986816"/>
              <a:ext cx="820500" cy="28635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9" name="Graphic 57" descr="VPC group icon.">
              <a:extLst>
                <a:ext uri="{FF2B5EF4-FFF2-40B4-BE49-F238E27FC236}">
                  <a16:creationId xmlns:a16="http://schemas.microsoft.com/office/drawing/2014/main" id="{DB3BE691-CE96-7178-EA9C-CF20607B0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024949" y="1984841"/>
              <a:ext cx="288000" cy="288000"/>
            </a:xfrm>
            <a:prstGeom prst="rect">
              <a:avLst/>
            </a:prstGeom>
          </p:spPr>
        </p:pic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C55A463F-6CBB-F6A5-DD55-4A51D4F6C182}"/>
                </a:ext>
              </a:extLst>
            </p:cNvPr>
            <p:cNvSpPr txBox="1"/>
            <p:nvPr/>
          </p:nvSpPr>
          <p:spPr>
            <a:xfrm>
              <a:off x="4323303" y="2025349"/>
              <a:ext cx="4866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London</a:t>
              </a:r>
            </a:p>
            <a:p>
              <a:pPr algn="ctr"/>
              <a:r>
                <a:rPr kumimoji="1" lang="en-US" altLang="ko-KR" sz="7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VPC</a:t>
              </a:r>
              <a:endParaRPr kumimoji="1" lang="ko-KR" altLang="en-US" sz="7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pic>
        <p:nvPicPr>
          <p:cNvPr id="231" name="그림 230">
            <a:extLst>
              <a:ext uri="{FF2B5EF4-FFF2-40B4-BE49-F238E27FC236}">
                <a16:creationId xmlns:a16="http://schemas.microsoft.com/office/drawing/2014/main" id="{65DF62CA-0994-5CF1-7EAC-B40BA71058E3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231899" y="5219766"/>
            <a:ext cx="215999" cy="209998"/>
          </a:xfrm>
          <a:prstGeom prst="rect">
            <a:avLst/>
          </a:prstGeom>
        </p:spPr>
      </p:pic>
      <p:pic>
        <p:nvPicPr>
          <p:cNvPr id="232" name="그림 231">
            <a:extLst>
              <a:ext uri="{FF2B5EF4-FFF2-40B4-BE49-F238E27FC236}">
                <a16:creationId xmlns:a16="http://schemas.microsoft.com/office/drawing/2014/main" id="{1F9D9030-6491-35C9-9CFC-ADBE4FA2293C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218172" y="5626042"/>
            <a:ext cx="215999" cy="209998"/>
          </a:xfrm>
          <a:prstGeom prst="rect">
            <a:avLst/>
          </a:prstGeom>
        </p:spPr>
      </p:pic>
      <p:pic>
        <p:nvPicPr>
          <p:cNvPr id="233" name="그림 232">
            <a:extLst>
              <a:ext uri="{FF2B5EF4-FFF2-40B4-BE49-F238E27FC236}">
                <a16:creationId xmlns:a16="http://schemas.microsoft.com/office/drawing/2014/main" id="{6812E1C4-265B-483D-E018-49E7414159B0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218172" y="6035925"/>
            <a:ext cx="215999" cy="209998"/>
          </a:xfrm>
          <a:prstGeom prst="rect">
            <a:avLst/>
          </a:prstGeom>
        </p:spPr>
      </p:pic>
      <p:sp>
        <p:nvSpPr>
          <p:cNvPr id="234" name="TextBox 233">
            <a:extLst>
              <a:ext uri="{FF2B5EF4-FFF2-40B4-BE49-F238E27FC236}">
                <a16:creationId xmlns:a16="http://schemas.microsoft.com/office/drawing/2014/main" id="{1527DFF8-5447-174D-7AFA-70D1E2A88B15}"/>
              </a:ext>
            </a:extLst>
          </p:cNvPr>
          <p:cNvSpPr txBox="1"/>
          <p:nvPr/>
        </p:nvSpPr>
        <p:spPr>
          <a:xfrm>
            <a:off x="9175466" y="5489810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AC96207-AFDD-D8BA-9E1F-907657CE8DC7}"/>
              </a:ext>
            </a:extLst>
          </p:cNvPr>
          <p:cNvSpPr txBox="1"/>
          <p:nvPr/>
        </p:nvSpPr>
        <p:spPr>
          <a:xfrm>
            <a:off x="9175466" y="5911760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36" name="그림 235">
            <a:extLst>
              <a:ext uri="{FF2B5EF4-FFF2-40B4-BE49-F238E27FC236}">
                <a16:creationId xmlns:a16="http://schemas.microsoft.com/office/drawing/2014/main" id="{FFB86EF5-EF81-272F-E3C3-17D4ED48DC11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408" y="1878602"/>
            <a:ext cx="229125" cy="229125"/>
          </a:xfrm>
          <a:prstGeom prst="rect">
            <a:avLst/>
          </a:prstGeom>
        </p:spPr>
      </p:pic>
      <p:pic>
        <p:nvPicPr>
          <p:cNvPr id="237" name="그림 236">
            <a:extLst>
              <a:ext uri="{FF2B5EF4-FFF2-40B4-BE49-F238E27FC236}">
                <a16:creationId xmlns:a16="http://schemas.microsoft.com/office/drawing/2014/main" id="{D9F91D43-553C-4C4E-AA6F-6D4584582969}"/>
              </a:ext>
            </a:extLst>
          </p:cNvPr>
          <p:cNvPicPr>
            <a:picLocks noChangeAspect="1"/>
          </p:cNvPicPr>
          <p:nvPr/>
        </p:nvPicPr>
        <p:blipFill>
          <a:blip r:embed="rId30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408" y="1610509"/>
            <a:ext cx="229125" cy="229125"/>
          </a:xfrm>
          <a:prstGeom prst="rect">
            <a:avLst/>
          </a:prstGeom>
        </p:spPr>
      </p:pic>
      <p:cxnSp>
        <p:nvCxnSpPr>
          <p:cNvPr id="238" name="직선 연결선[R] 237">
            <a:extLst>
              <a:ext uri="{FF2B5EF4-FFF2-40B4-BE49-F238E27FC236}">
                <a16:creationId xmlns:a16="http://schemas.microsoft.com/office/drawing/2014/main" id="{B2D4F6E4-B6CC-6181-72E2-680A40B94BE1}"/>
              </a:ext>
            </a:extLst>
          </p:cNvPr>
          <p:cNvCxnSpPr>
            <a:stCxn id="237" idx="3"/>
            <a:endCxn id="182" idx="1"/>
          </p:cNvCxnSpPr>
          <p:nvPr/>
        </p:nvCxnSpPr>
        <p:spPr>
          <a:xfrm>
            <a:off x="8300533" y="1725072"/>
            <a:ext cx="983776" cy="5269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연결선[R] 238">
            <a:extLst>
              <a:ext uri="{FF2B5EF4-FFF2-40B4-BE49-F238E27FC236}">
                <a16:creationId xmlns:a16="http://schemas.microsoft.com/office/drawing/2014/main" id="{7215A8CA-6B65-06D6-D0B2-C4E059B15DC0}"/>
              </a:ext>
            </a:extLst>
          </p:cNvPr>
          <p:cNvCxnSpPr>
            <a:cxnSpLocks/>
            <a:stCxn id="236" idx="3"/>
            <a:endCxn id="215" idx="1"/>
          </p:cNvCxnSpPr>
          <p:nvPr/>
        </p:nvCxnSpPr>
        <p:spPr>
          <a:xfrm flipV="1">
            <a:off x="8300533" y="1987896"/>
            <a:ext cx="982058" cy="5269"/>
          </a:xfrm>
          <a:prstGeom prst="line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0" name="그림 239">
            <a:extLst>
              <a:ext uri="{FF2B5EF4-FFF2-40B4-BE49-F238E27FC236}">
                <a16:creationId xmlns:a16="http://schemas.microsoft.com/office/drawing/2014/main" id="{A67F7341-C714-5151-28D6-7E9873FF82C8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124068" y="4066311"/>
            <a:ext cx="162032" cy="162032"/>
          </a:xfrm>
          <a:prstGeom prst="rect">
            <a:avLst/>
          </a:prstGeom>
        </p:spPr>
      </p:pic>
      <p:pic>
        <p:nvPicPr>
          <p:cNvPr id="241" name="그림 240">
            <a:extLst>
              <a:ext uri="{FF2B5EF4-FFF2-40B4-BE49-F238E27FC236}">
                <a16:creationId xmlns:a16="http://schemas.microsoft.com/office/drawing/2014/main" id="{58A362A4-B0E3-5EEF-27E0-E703521A4182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558730" y="4396297"/>
            <a:ext cx="353079" cy="343269"/>
          </a:xfrm>
          <a:prstGeom prst="rect">
            <a:avLst/>
          </a:prstGeom>
        </p:spPr>
      </p:pic>
      <p:pic>
        <p:nvPicPr>
          <p:cNvPr id="242" name="그림 241">
            <a:extLst>
              <a:ext uri="{FF2B5EF4-FFF2-40B4-BE49-F238E27FC236}">
                <a16:creationId xmlns:a16="http://schemas.microsoft.com/office/drawing/2014/main" id="{EFA2CC65-5CA6-3D80-0224-CB1386CD7095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143430" y="5411305"/>
            <a:ext cx="162032" cy="162032"/>
          </a:xfrm>
          <a:prstGeom prst="rect">
            <a:avLst/>
          </a:prstGeom>
        </p:spPr>
      </p:pic>
      <p:pic>
        <p:nvPicPr>
          <p:cNvPr id="243" name="그림 242">
            <a:extLst>
              <a:ext uri="{FF2B5EF4-FFF2-40B4-BE49-F238E27FC236}">
                <a16:creationId xmlns:a16="http://schemas.microsoft.com/office/drawing/2014/main" id="{DC23E750-C0D7-67C7-74BE-8F2A59C476F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123145" y="2139820"/>
            <a:ext cx="162032" cy="162032"/>
          </a:xfrm>
          <a:prstGeom prst="rect">
            <a:avLst/>
          </a:prstGeom>
        </p:spPr>
      </p:pic>
      <p:cxnSp>
        <p:nvCxnSpPr>
          <p:cNvPr id="244" name="꺾인 연결선[E] 243">
            <a:extLst>
              <a:ext uri="{FF2B5EF4-FFF2-40B4-BE49-F238E27FC236}">
                <a16:creationId xmlns:a16="http://schemas.microsoft.com/office/drawing/2014/main" id="{687EC82F-4181-41E8-B8AF-6DDC9C849633}"/>
              </a:ext>
            </a:extLst>
          </p:cNvPr>
          <p:cNvCxnSpPr>
            <a:cxnSpLocks/>
            <a:stCxn id="253" idx="2"/>
            <a:endCxn id="231" idx="1"/>
          </p:cNvCxnSpPr>
          <p:nvPr/>
        </p:nvCxnSpPr>
        <p:spPr>
          <a:xfrm rot="16200000" flipH="1">
            <a:off x="8763169" y="4856035"/>
            <a:ext cx="518986" cy="418474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[E] 244">
            <a:extLst>
              <a:ext uri="{FF2B5EF4-FFF2-40B4-BE49-F238E27FC236}">
                <a16:creationId xmlns:a16="http://schemas.microsoft.com/office/drawing/2014/main" id="{AAF42F54-EE7A-4DDA-5A63-F0B305876BD0}"/>
              </a:ext>
            </a:extLst>
          </p:cNvPr>
          <p:cNvCxnSpPr>
            <a:cxnSpLocks/>
            <a:stCxn id="253" idx="2"/>
            <a:endCxn id="232" idx="1"/>
          </p:cNvCxnSpPr>
          <p:nvPr/>
        </p:nvCxnSpPr>
        <p:spPr>
          <a:xfrm rot="16200000" flipH="1">
            <a:off x="8553167" y="5066036"/>
            <a:ext cx="925262" cy="404747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[E] 245">
            <a:extLst>
              <a:ext uri="{FF2B5EF4-FFF2-40B4-BE49-F238E27FC236}">
                <a16:creationId xmlns:a16="http://schemas.microsoft.com/office/drawing/2014/main" id="{DE702011-FD38-C2A9-68FB-3EBE2DCDA1C9}"/>
              </a:ext>
            </a:extLst>
          </p:cNvPr>
          <p:cNvCxnSpPr>
            <a:cxnSpLocks/>
            <a:stCxn id="253" idx="2"/>
            <a:endCxn id="233" idx="1"/>
          </p:cNvCxnSpPr>
          <p:nvPr/>
        </p:nvCxnSpPr>
        <p:spPr>
          <a:xfrm rot="16200000" flipH="1">
            <a:off x="8348226" y="5270977"/>
            <a:ext cx="1335145" cy="404747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[E] 246">
            <a:extLst>
              <a:ext uri="{FF2B5EF4-FFF2-40B4-BE49-F238E27FC236}">
                <a16:creationId xmlns:a16="http://schemas.microsoft.com/office/drawing/2014/main" id="{299E9367-58BF-9DEE-6012-10DD5D8EE12D}"/>
              </a:ext>
            </a:extLst>
          </p:cNvPr>
          <p:cNvCxnSpPr>
            <a:cxnSpLocks/>
            <a:stCxn id="242" idx="3"/>
            <a:endCxn id="254" idx="1"/>
          </p:cNvCxnSpPr>
          <p:nvPr/>
        </p:nvCxnSpPr>
        <p:spPr>
          <a:xfrm flipV="1">
            <a:off x="8305462" y="4567931"/>
            <a:ext cx="216545" cy="924390"/>
          </a:xfrm>
          <a:prstGeom prst="bentConnector3">
            <a:avLst>
              <a:gd name="adj1" fmla="val 50000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[E] 247">
            <a:extLst>
              <a:ext uri="{FF2B5EF4-FFF2-40B4-BE49-F238E27FC236}">
                <a16:creationId xmlns:a16="http://schemas.microsoft.com/office/drawing/2014/main" id="{C211D8EE-2986-55F1-0A6B-1700765EA4B2}"/>
              </a:ext>
            </a:extLst>
          </p:cNvPr>
          <p:cNvCxnSpPr>
            <a:cxnSpLocks/>
            <a:stCxn id="240" idx="3"/>
            <a:endCxn id="254" idx="1"/>
          </p:cNvCxnSpPr>
          <p:nvPr/>
        </p:nvCxnSpPr>
        <p:spPr>
          <a:xfrm>
            <a:off x="8286100" y="4147327"/>
            <a:ext cx="235907" cy="420604"/>
          </a:xfrm>
          <a:prstGeom prst="bentConnector3">
            <a:avLst>
              <a:gd name="adj1" fmla="val 55618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[E] 248">
            <a:extLst>
              <a:ext uri="{FF2B5EF4-FFF2-40B4-BE49-F238E27FC236}">
                <a16:creationId xmlns:a16="http://schemas.microsoft.com/office/drawing/2014/main" id="{2EB82FC0-0D5D-9F71-3D05-DE33EBA4BE01}"/>
              </a:ext>
            </a:extLst>
          </p:cNvPr>
          <p:cNvCxnSpPr>
            <a:cxnSpLocks/>
            <a:stCxn id="243" idx="3"/>
            <a:endCxn id="254" idx="1"/>
          </p:cNvCxnSpPr>
          <p:nvPr/>
        </p:nvCxnSpPr>
        <p:spPr>
          <a:xfrm>
            <a:off x="8285177" y="2220836"/>
            <a:ext cx="236830" cy="2347095"/>
          </a:xfrm>
          <a:prstGeom prst="bentConnector3">
            <a:avLst>
              <a:gd name="adj1" fmla="val 55596"/>
            </a:avLst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0" name="그림 249">
            <a:extLst>
              <a:ext uri="{FF2B5EF4-FFF2-40B4-BE49-F238E27FC236}">
                <a16:creationId xmlns:a16="http://schemas.microsoft.com/office/drawing/2014/main" id="{3B4C048C-9756-4931-A2C8-BE0DDF14A07C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rot="5400000">
            <a:off x="8205056" y="3601155"/>
            <a:ext cx="454162" cy="126156"/>
          </a:xfrm>
          <a:prstGeom prst="rect">
            <a:avLst/>
          </a:prstGeom>
        </p:spPr>
      </p:pic>
      <p:pic>
        <p:nvPicPr>
          <p:cNvPr id="251" name="그림 250">
            <a:extLst>
              <a:ext uri="{FF2B5EF4-FFF2-40B4-BE49-F238E27FC236}">
                <a16:creationId xmlns:a16="http://schemas.microsoft.com/office/drawing/2014/main" id="{82357F72-5B81-2E0C-5CE1-E9E3DF8596D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rot="5400000">
            <a:off x="8203850" y="4987948"/>
            <a:ext cx="454162" cy="126156"/>
          </a:xfrm>
          <a:prstGeom prst="rect">
            <a:avLst/>
          </a:prstGeom>
        </p:spPr>
      </p:pic>
      <p:pic>
        <p:nvPicPr>
          <p:cNvPr id="252" name="그림 251">
            <a:extLst>
              <a:ext uri="{FF2B5EF4-FFF2-40B4-BE49-F238E27FC236}">
                <a16:creationId xmlns:a16="http://schemas.microsoft.com/office/drawing/2014/main" id="{30B54250-97D5-5EF6-0AF2-1AB971DB55FD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rot="5400000">
            <a:off x="8593337" y="5661416"/>
            <a:ext cx="454162" cy="126156"/>
          </a:xfrm>
          <a:prstGeom prst="rect">
            <a:avLst/>
          </a:prstGeom>
        </p:spPr>
      </p:pic>
      <p:sp>
        <p:nvSpPr>
          <p:cNvPr id="253" name="모서리가 둥근 직사각형 252">
            <a:extLst>
              <a:ext uri="{FF2B5EF4-FFF2-40B4-BE49-F238E27FC236}">
                <a16:creationId xmlns:a16="http://schemas.microsoft.com/office/drawing/2014/main" id="{80D6E10B-85F4-0878-6E1A-A618E996F699}"/>
              </a:ext>
            </a:extLst>
          </p:cNvPr>
          <p:cNvSpPr/>
          <p:nvPr/>
        </p:nvSpPr>
        <p:spPr>
          <a:xfrm>
            <a:off x="8757340" y="4687017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54" name="모서리가 둥근 직사각형 253">
            <a:extLst>
              <a:ext uri="{FF2B5EF4-FFF2-40B4-BE49-F238E27FC236}">
                <a16:creationId xmlns:a16="http://schemas.microsoft.com/office/drawing/2014/main" id="{6D0661EA-D5F7-5FE1-FC74-35CEAB75E74B}"/>
              </a:ext>
            </a:extLst>
          </p:cNvPr>
          <p:cNvSpPr/>
          <p:nvPr/>
        </p:nvSpPr>
        <p:spPr>
          <a:xfrm>
            <a:off x="8522007" y="4508550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55" name="모서리가 둥근 직사각형 254">
            <a:extLst>
              <a:ext uri="{FF2B5EF4-FFF2-40B4-BE49-F238E27FC236}">
                <a16:creationId xmlns:a16="http://schemas.microsoft.com/office/drawing/2014/main" id="{C7DB3F0D-4EC3-F5CF-A8D2-F36AEECD5A0E}"/>
              </a:ext>
            </a:extLst>
          </p:cNvPr>
          <p:cNvSpPr/>
          <p:nvPr/>
        </p:nvSpPr>
        <p:spPr>
          <a:xfrm>
            <a:off x="8602871" y="4687017"/>
            <a:ext cx="112169" cy="118762"/>
          </a:xfrm>
          <a:prstGeom prst="roundRect">
            <a:avLst>
              <a:gd name="adj" fmla="val 50000"/>
            </a:avLst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sz="10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pSp>
        <p:nvGrpSpPr>
          <p:cNvPr id="256" name="Group 11" descr="Corporate data center group.">
            <a:extLst>
              <a:ext uri="{FF2B5EF4-FFF2-40B4-BE49-F238E27FC236}">
                <a16:creationId xmlns:a16="http://schemas.microsoft.com/office/drawing/2014/main" id="{D9ACF084-7A33-12D1-12C5-85207EA0508F}"/>
              </a:ext>
            </a:extLst>
          </p:cNvPr>
          <p:cNvGrpSpPr/>
          <p:nvPr/>
        </p:nvGrpSpPr>
        <p:grpSpPr>
          <a:xfrm>
            <a:off x="10842623" y="5820556"/>
            <a:ext cx="837601" cy="730868"/>
            <a:chOff x="10032073" y="2882099"/>
            <a:chExt cx="837601" cy="730868"/>
          </a:xfrm>
        </p:grpSpPr>
        <p:sp>
          <p:nvSpPr>
            <p:cNvPr id="257" name="Rectangle 77">
              <a:extLst>
                <a:ext uri="{FF2B5EF4-FFF2-40B4-BE49-F238E27FC236}">
                  <a16:creationId xmlns:a16="http://schemas.microsoft.com/office/drawing/2014/main" id="{B92C0634-D7F8-C79E-5671-0A6FBCA9253C}"/>
                </a:ext>
              </a:extLst>
            </p:cNvPr>
            <p:cNvSpPr/>
            <p:nvPr/>
          </p:nvSpPr>
          <p:spPr>
            <a:xfrm>
              <a:off x="10036828" y="2882099"/>
              <a:ext cx="832846" cy="730868"/>
            </a:xfrm>
            <a:prstGeom prst="rect">
              <a:avLst/>
            </a:prstGeom>
            <a:noFill/>
            <a:ln w="15875">
              <a:solidFill>
                <a:srgbClr val="7D89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pic>
          <p:nvPicPr>
            <p:cNvPr id="258" name="Graphic 78" descr="Corporate data center group icon. ">
              <a:extLst>
                <a:ext uri="{FF2B5EF4-FFF2-40B4-BE49-F238E27FC236}">
                  <a16:creationId xmlns:a16="http://schemas.microsoft.com/office/drawing/2014/main" id="{CDB0A580-9708-4798-BA10-264F32E4F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rcRect/>
            <a:stretch/>
          </p:blipFill>
          <p:spPr>
            <a:xfrm>
              <a:off x="10032073" y="2882813"/>
              <a:ext cx="267377" cy="267377"/>
            </a:xfrm>
            <a:prstGeom prst="rect">
              <a:avLst/>
            </a:prstGeom>
          </p:spPr>
        </p:pic>
      </p:grpSp>
      <p:sp>
        <p:nvSpPr>
          <p:cNvPr id="259" name="TextBox 258">
            <a:extLst>
              <a:ext uri="{FF2B5EF4-FFF2-40B4-BE49-F238E27FC236}">
                <a16:creationId xmlns:a16="http://schemas.microsoft.com/office/drawing/2014/main" id="{85A75F9A-66F7-C1AC-6FCA-834B052D1ED6}"/>
              </a:ext>
            </a:extLst>
          </p:cNvPr>
          <p:cNvSpPr txBox="1"/>
          <p:nvPr/>
        </p:nvSpPr>
        <p:spPr>
          <a:xfrm>
            <a:off x="11110000" y="5852604"/>
            <a:ext cx="51248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DataCenter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60" name="그림 259">
            <a:extLst>
              <a:ext uri="{FF2B5EF4-FFF2-40B4-BE49-F238E27FC236}">
                <a16:creationId xmlns:a16="http://schemas.microsoft.com/office/drawing/2014/main" id="{AC9EA6D0-E2E1-4930-C413-1A113953FE8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863" y="6310397"/>
            <a:ext cx="216000" cy="216000"/>
          </a:xfrm>
          <a:prstGeom prst="rect">
            <a:avLst/>
          </a:prstGeom>
        </p:spPr>
      </p:pic>
      <p:sp>
        <p:nvSpPr>
          <p:cNvPr id="261" name="TextBox 260">
            <a:extLst>
              <a:ext uri="{FF2B5EF4-FFF2-40B4-BE49-F238E27FC236}">
                <a16:creationId xmlns:a16="http://schemas.microsoft.com/office/drawing/2014/main" id="{665D2DE9-0AA0-BF98-26A5-D7E452884A2A}"/>
              </a:ext>
            </a:extLst>
          </p:cNvPr>
          <p:cNvSpPr txBox="1"/>
          <p:nvPr/>
        </p:nvSpPr>
        <p:spPr>
          <a:xfrm>
            <a:off x="11114755" y="6190162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VPN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262" name="꺾인 연결선[E] 261">
            <a:extLst>
              <a:ext uri="{FF2B5EF4-FFF2-40B4-BE49-F238E27FC236}">
                <a16:creationId xmlns:a16="http://schemas.microsoft.com/office/drawing/2014/main" id="{41F5A433-286E-C754-B52E-8C042BB11378}"/>
              </a:ext>
            </a:extLst>
          </p:cNvPr>
          <p:cNvCxnSpPr>
            <a:cxnSpLocks/>
            <a:stCxn id="255" idx="2"/>
            <a:endCxn id="260" idx="1"/>
          </p:cNvCxnSpPr>
          <p:nvPr/>
        </p:nvCxnSpPr>
        <p:spPr>
          <a:xfrm rot="16200000" flipH="1">
            <a:off x="9100600" y="4364134"/>
            <a:ext cx="1612618" cy="2495907"/>
          </a:xfrm>
          <a:prstGeom prst="bentConnector2">
            <a:avLst/>
          </a:prstGeom>
          <a:ln w="9525" cap="rnd">
            <a:solidFill>
              <a:srgbClr val="FF6F0E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3" name="그림 262">
            <a:extLst>
              <a:ext uri="{FF2B5EF4-FFF2-40B4-BE49-F238E27FC236}">
                <a16:creationId xmlns:a16="http://schemas.microsoft.com/office/drawing/2014/main" id="{855F0CBB-EDB8-14AA-3755-B22FABA41914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rot="5400000">
            <a:off x="8431874" y="5661416"/>
            <a:ext cx="454162" cy="126156"/>
          </a:xfrm>
          <a:prstGeom prst="rect">
            <a:avLst/>
          </a:prstGeom>
        </p:spPr>
      </p:pic>
      <p:pic>
        <p:nvPicPr>
          <p:cNvPr id="264" name="그림 263">
            <a:extLst>
              <a:ext uri="{FF2B5EF4-FFF2-40B4-BE49-F238E27FC236}">
                <a16:creationId xmlns:a16="http://schemas.microsoft.com/office/drawing/2014/main" id="{358509FE-D24D-45A7-6C8C-E6D87282331B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8764324" y="6325557"/>
            <a:ext cx="216000" cy="216000"/>
          </a:xfrm>
          <a:prstGeom prst="rect">
            <a:avLst/>
          </a:prstGeom>
        </p:spPr>
      </p:pic>
      <p:pic>
        <p:nvPicPr>
          <p:cNvPr id="265" name="그림 264">
            <a:extLst>
              <a:ext uri="{FF2B5EF4-FFF2-40B4-BE49-F238E27FC236}">
                <a16:creationId xmlns:a16="http://schemas.microsoft.com/office/drawing/2014/main" id="{70496F5C-2994-0EEF-B198-A5020F17C9C7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394535" y="6347124"/>
            <a:ext cx="267605" cy="156103"/>
          </a:xfrm>
          <a:prstGeom prst="rect">
            <a:avLst/>
          </a:prstGeom>
        </p:spPr>
      </p:pic>
      <p:sp>
        <p:nvSpPr>
          <p:cNvPr id="266" name="TextBox 265">
            <a:extLst>
              <a:ext uri="{FF2B5EF4-FFF2-40B4-BE49-F238E27FC236}">
                <a16:creationId xmlns:a16="http://schemas.microsoft.com/office/drawing/2014/main" id="{81BB2503-9C83-08E9-7258-B60D6EF37918}"/>
              </a:ext>
            </a:extLst>
          </p:cNvPr>
          <p:cNvSpPr txBox="1"/>
          <p:nvPr/>
        </p:nvSpPr>
        <p:spPr>
          <a:xfrm>
            <a:off x="8510229" y="6422536"/>
            <a:ext cx="2974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7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VPN</a:t>
            </a:r>
            <a:endParaRPr kumimoji="1" lang="ko-KR" altLang="en-US" sz="7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2940648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>
            <a:extLst>
              <a:ext uri="{FF2B5EF4-FFF2-40B4-BE49-F238E27FC236}">
                <a16:creationId xmlns:a16="http://schemas.microsoft.com/office/drawing/2014/main" id="{898927B4-843B-9804-DD0D-1561AB5E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당근을 위한 </a:t>
            </a:r>
            <a:r>
              <a:rPr kumimoji="1" lang="en-US" altLang="ko-KR" dirty="0"/>
              <a:t>Super Cell </a:t>
            </a:r>
            <a:r>
              <a:rPr kumimoji="1" lang="ko-KR" altLang="en-US" dirty="0"/>
              <a:t>기반</a:t>
            </a:r>
            <a:r>
              <a:rPr kumimoji="1" lang="en-US" altLang="ko-KR" dirty="0"/>
              <a:t> EKS VPC </a:t>
            </a:r>
            <a:r>
              <a:rPr kumimoji="1" lang="ko-KR" altLang="en-US" dirty="0"/>
              <a:t>아키텍쳐 요약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FDE248B-9064-1799-32FD-386D9102B8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25</a:t>
            </a:fld>
            <a:endParaRPr lang="en-US" altLang="ko-K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20D144C-4803-056A-07BF-B4EB9742B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9" name="AutoShape 51">
            <a:extLst>
              <a:ext uri="{FF2B5EF4-FFF2-40B4-BE49-F238E27FC236}">
                <a16:creationId xmlns:a16="http://schemas.microsoft.com/office/drawing/2014/main" id="{857D4DF7-54E9-2F78-4206-4974514D2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37270D-67E8-2E86-EDE1-722F33E94B60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Super Cell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기반 </a:t>
            </a: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EKS VPC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64E54EE5-2737-3653-9B3D-095370E98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8" name="AutoShape 51">
            <a:extLst>
              <a:ext uri="{FF2B5EF4-FFF2-40B4-BE49-F238E27FC236}">
                <a16:creationId xmlns:a16="http://schemas.microsoft.com/office/drawing/2014/main" id="{C515CAE8-CF9F-E2F5-5096-DEC7AF805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" name="Rectangle 287">
            <a:extLst>
              <a:ext uri="{FF2B5EF4-FFF2-40B4-BE49-F238E27FC236}">
                <a16:creationId xmlns:a16="http://schemas.microsoft.com/office/drawing/2014/main" id="{BCFA8AD7-71D7-5D9F-9973-86EC8D03C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963" y="2047745"/>
            <a:ext cx="5539307" cy="4432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다중 셀 아키텍처를 통한 고가용성 및 장애 격리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단일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EKS Cluster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구성</a:t>
            </a: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ehlau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해당 클러스터의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Worker Node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 단일 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배포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(AZ A, C)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단일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은 애플리케이션의 독립적인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복제본이며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영향의 범위를 제한하는 장애 격리 경계를 형성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단일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여러 개의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존재 가능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고가용성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확장성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장애에 대한 복원력 제공을 위해 여러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걸쳐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배포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셀 라우팅 레이어를 통한 고가용성 및 장애 격리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Routing Layer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통한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EKS Cell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라우팅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Routing Layer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구성 요소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u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ELB : NLB</a:t>
            </a: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u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Ingress / Egress Security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Endpoint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u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Route53 ARC(Application Recovery Controller)</a:t>
            </a: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라우팅 제어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 분배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보안 처리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가용성 확보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61819D2-D34F-888D-4434-88A583CC2426}"/>
              </a:ext>
            </a:extLst>
          </p:cNvPr>
          <p:cNvGrpSpPr/>
          <p:nvPr/>
        </p:nvGrpSpPr>
        <p:grpSpPr>
          <a:xfrm>
            <a:off x="858595" y="2191851"/>
            <a:ext cx="4342798" cy="4194960"/>
            <a:chOff x="1036724" y="1377440"/>
            <a:chExt cx="5233447" cy="5055289"/>
          </a:xfrm>
        </p:grpSpPr>
        <p:cxnSp>
          <p:nvCxnSpPr>
            <p:cNvPr id="15" name="직선 연결선[R] 14">
              <a:extLst>
                <a:ext uri="{FF2B5EF4-FFF2-40B4-BE49-F238E27FC236}">
                  <a16:creationId xmlns:a16="http://schemas.microsoft.com/office/drawing/2014/main" id="{EEBB7783-FD7C-6820-0774-86EA81E69669}"/>
                </a:ext>
              </a:extLst>
            </p:cNvPr>
            <p:cNvCxnSpPr/>
            <p:nvPr/>
          </p:nvCxnSpPr>
          <p:spPr>
            <a:xfrm>
              <a:off x="1360968" y="2730119"/>
              <a:ext cx="4873447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39" descr="VPC group border">
              <a:extLst>
                <a:ext uri="{FF2B5EF4-FFF2-40B4-BE49-F238E27FC236}">
                  <a16:creationId xmlns:a16="http://schemas.microsoft.com/office/drawing/2014/main" id="{11547AB3-BE6B-1FED-81A6-96E891EC20AD}"/>
                </a:ext>
              </a:extLst>
            </p:cNvPr>
            <p:cNvSpPr/>
            <p:nvPr/>
          </p:nvSpPr>
          <p:spPr>
            <a:xfrm>
              <a:off x="1396725" y="1377440"/>
              <a:ext cx="4873446" cy="111659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7" name="Graphic 57" descr="VPC group icon.">
              <a:extLst>
                <a:ext uri="{FF2B5EF4-FFF2-40B4-BE49-F238E27FC236}">
                  <a16:creationId xmlns:a16="http://schemas.microsoft.com/office/drawing/2014/main" id="{D476EE32-131C-A9BC-EC73-5202B486B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36724" y="1575737"/>
              <a:ext cx="720000" cy="720000"/>
            </a:xfrm>
            <a:prstGeom prst="round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C18CAC0C-3D47-C133-A31A-754D06B39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1056" y="1499764"/>
              <a:ext cx="360000" cy="360000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4274D412-5766-396E-173C-240DD13DB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713" y="1499764"/>
              <a:ext cx="360000" cy="3600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17B6E34-0676-3BDB-F162-D4BF00D29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6399" y="1499764"/>
              <a:ext cx="360000" cy="36000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7CB8E05-23BD-39EF-BA34-4A0F82289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1743" y="1499764"/>
              <a:ext cx="360000" cy="360000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B39A030B-DEA4-BC02-9BD5-2F9C9259BC17}"/>
                </a:ext>
              </a:extLst>
            </p:cNvPr>
            <p:cNvGrpSpPr/>
            <p:nvPr/>
          </p:nvGrpSpPr>
          <p:grpSpPr>
            <a:xfrm>
              <a:off x="1036724" y="3247375"/>
              <a:ext cx="1525344" cy="1272780"/>
              <a:chOff x="1036724" y="3247375"/>
              <a:chExt cx="1525344" cy="1272780"/>
            </a:xfrm>
          </p:grpSpPr>
          <p:sp>
            <p:nvSpPr>
              <p:cNvPr id="55" name="Rectangle 39" descr="VPC group border">
                <a:extLst>
                  <a:ext uri="{FF2B5EF4-FFF2-40B4-BE49-F238E27FC236}">
                    <a16:creationId xmlns:a16="http://schemas.microsoft.com/office/drawing/2014/main" id="{9F148644-AC9E-6ECF-A180-97C2044B4F24}"/>
                  </a:ext>
                </a:extLst>
              </p:cNvPr>
              <p:cNvSpPr/>
              <p:nvPr/>
            </p:nvSpPr>
            <p:spPr>
              <a:xfrm>
                <a:off x="1396724" y="3247375"/>
                <a:ext cx="1165344" cy="1116593"/>
              </a:xfrm>
              <a:prstGeom prst="rect">
                <a:avLst/>
              </a:prstGeom>
              <a:noFill/>
              <a:ln w="15875">
                <a:solidFill>
                  <a:srgbClr val="8C4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90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6" name="Graphic 23" descr="Amazon Elastic Kubernetes Service (Amazon EKS) Service icon.">
                <a:extLst>
                  <a:ext uri="{FF2B5EF4-FFF2-40B4-BE49-F238E27FC236}">
                    <a16:creationId xmlns:a16="http://schemas.microsoft.com/office/drawing/2014/main" id="{90EB394B-AD73-7629-4E00-E5429E3534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1940086" y="3583722"/>
                <a:ext cx="432000" cy="432000"/>
              </a:xfrm>
              <a:prstGeom prst="round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" name="Graphic 57" descr="VPC group icon.">
                <a:extLst>
                  <a:ext uri="{FF2B5EF4-FFF2-40B4-BE49-F238E27FC236}">
                    <a16:creationId xmlns:a16="http://schemas.microsoft.com/office/drawing/2014/main" id="{F1E57321-EE66-C0CA-1117-538B55FBD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36724" y="3439722"/>
                <a:ext cx="720000" cy="720000"/>
              </a:xfrm>
              <a:prstGeom prst="roundRect">
                <a:avLst/>
              </a:prstGeom>
            </p:spPr>
          </p:pic>
          <p:sp>
            <p:nvSpPr>
              <p:cNvPr id="58" name="모서리가 둥근 직사각형 57">
                <a:extLst>
                  <a:ext uri="{FF2B5EF4-FFF2-40B4-BE49-F238E27FC236}">
                    <a16:creationId xmlns:a16="http://schemas.microsoft.com/office/drawing/2014/main" id="{F27F79B6-3085-4554-6BDB-D72D36CA558D}"/>
                  </a:ext>
                </a:extLst>
              </p:cNvPr>
              <p:cNvSpPr/>
              <p:nvPr/>
            </p:nvSpPr>
            <p:spPr>
              <a:xfrm>
                <a:off x="1793301" y="4207780"/>
                <a:ext cx="462694" cy="312375"/>
              </a:xfrm>
              <a:prstGeom prst="roundRect">
                <a:avLst>
                  <a:gd name="adj" fmla="val 50000"/>
                </a:avLst>
              </a:prstGeom>
              <a:solidFill>
                <a:srgbClr val="FF6F0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kumimoji="1" lang="en-US" altLang="ko-KR" sz="900" b="1" dirty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</a:rPr>
                  <a:t>Cell</a:t>
                </a:r>
                <a:endParaRPr kumimoji="1" lang="ko-KR" altLang="en-US" sz="900" b="1" dirty="0" err="1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endParaRPr>
              </a:p>
            </p:txBody>
          </p:sp>
        </p:grpSp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7414F376-F393-4C55-B495-54325D02456E}"/>
                </a:ext>
              </a:extLst>
            </p:cNvPr>
            <p:cNvSpPr/>
            <p:nvPr/>
          </p:nvSpPr>
          <p:spPr>
            <a:xfrm>
              <a:off x="2959428" y="2585813"/>
              <a:ext cx="1676525" cy="312375"/>
            </a:xfrm>
            <a:prstGeom prst="roundRect">
              <a:avLst>
                <a:gd name="adj" fmla="val 50000"/>
              </a:avLst>
            </a:prstGeom>
            <a:solidFill>
              <a:srgbClr val="FF6F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kumimoji="1" lang="en-US" altLang="ko-KR" sz="900" b="1" dirty="0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Cell Routing VPC</a:t>
              </a:r>
              <a:endParaRPr kumimoji="1" lang="ko-KR" altLang="en-US" sz="900" b="1" dirty="0" err="1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26" name="Rectangle 39" descr="VPC group border">
              <a:extLst>
                <a:ext uri="{FF2B5EF4-FFF2-40B4-BE49-F238E27FC236}">
                  <a16:creationId xmlns:a16="http://schemas.microsoft.com/office/drawing/2014/main" id="{8790AF3F-5006-63FF-D42C-0673FE60D513}"/>
                </a:ext>
              </a:extLst>
            </p:cNvPr>
            <p:cNvSpPr/>
            <p:nvPr/>
          </p:nvSpPr>
          <p:spPr>
            <a:xfrm>
              <a:off x="1396725" y="4949656"/>
              <a:ext cx="4873446" cy="111659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9" name="Graphic 57" descr="VPC group icon.">
              <a:extLst>
                <a:ext uri="{FF2B5EF4-FFF2-40B4-BE49-F238E27FC236}">
                  <a16:creationId xmlns:a16="http://schemas.microsoft.com/office/drawing/2014/main" id="{1DC853B8-46CE-E792-5933-201324C7F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36724" y="5147953"/>
              <a:ext cx="720000" cy="720000"/>
            </a:xfrm>
            <a:prstGeom prst="roundRect">
              <a:avLst/>
            </a:prstGeom>
          </p:spPr>
        </p:pic>
        <p:pic>
          <p:nvPicPr>
            <p:cNvPr id="30" name="Graphic 7" descr="Amazon Aurora service icon.">
              <a:extLst>
                <a:ext uri="{FF2B5EF4-FFF2-40B4-BE49-F238E27FC236}">
                  <a16:creationId xmlns:a16="http://schemas.microsoft.com/office/drawing/2014/main" id="{71F0B8FF-DDC4-9FE5-ECA4-CF161219AD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1923441" y="5191711"/>
              <a:ext cx="463239" cy="46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Graphic 6" descr="Amazon Relational Database Service (Amazon RDS) service icon.">
              <a:extLst>
                <a:ext uri="{FF2B5EF4-FFF2-40B4-BE49-F238E27FC236}">
                  <a16:creationId xmlns:a16="http://schemas.microsoft.com/office/drawing/2014/main" id="{9004ACF4-466E-DB51-CFFA-FC297CBB7C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2831498" y="5191711"/>
              <a:ext cx="463239" cy="46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Graphic 23" descr="Amazon DynamoDB service icon.">
              <a:extLst>
                <a:ext uri="{FF2B5EF4-FFF2-40B4-BE49-F238E27FC236}">
                  <a16:creationId xmlns:a16="http://schemas.microsoft.com/office/drawing/2014/main" id="{9E2BFFAD-1699-449A-7C0E-6692F0C854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3739555" y="5191711"/>
              <a:ext cx="463239" cy="46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Graphic 26" descr="Amazon Managed Streaming for Apache Kafka (Amazon MSK) service icon.">
              <a:extLst>
                <a:ext uri="{FF2B5EF4-FFF2-40B4-BE49-F238E27FC236}">
                  <a16:creationId xmlns:a16="http://schemas.microsoft.com/office/drawing/2014/main" id="{108C17A8-6063-26BF-078F-F2C7D36FF8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 bwMode="auto">
            <a:xfrm>
              <a:off x="5553070" y="5191711"/>
              <a:ext cx="463239" cy="46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Graphic 21" descr="Amazon ElastiCache service icon.">
              <a:extLst>
                <a:ext uri="{FF2B5EF4-FFF2-40B4-BE49-F238E27FC236}">
                  <a16:creationId xmlns:a16="http://schemas.microsoft.com/office/drawing/2014/main" id="{F809C370-789C-1C8E-557B-25E28B06BD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 bwMode="auto">
            <a:xfrm>
              <a:off x="4647612" y="5191711"/>
              <a:ext cx="460641" cy="460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53A4CD8-C950-CA16-C8F0-7491AD2D985B}"/>
                </a:ext>
              </a:extLst>
            </p:cNvPr>
            <p:cNvSpPr txBox="1"/>
            <p:nvPr/>
          </p:nvSpPr>
          <p:spPr>
            <a:xfrm>
              <a:off x="5496703" y="5723324"/>
              <a:ext cx="566718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MSK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DFF6739-3174-6E00-6E08-B3B72A841E19}"/>
                </a:ext>
              </a:extLst>
            </p:cNvPr>
            <p:cNvSpPr txBox="1"/>
            <p:nvPr/>
          </p:nvSpPr>
          <p:spPr>
            <a:xfrm>
              <a:off x="4296984" y="5723324"/>
              <a:ext cx="1298876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ElastiCache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D055848-76FC-FBB9-6C04-3105AA506B62}"/>
                </a:ext>
              </a:extLst>
            </p:cNvPr>
            <p:cNvSpPr txBox="1"/>
            <p:nvPr/>
          </p:nvSpPr>
          <p:spPr>
            <a:xfrm>
              <a:off x="1756725" y="5723324"/>
              <a:ext cx="796668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Aurora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FBCFB2A-05AF-B934-767C-1AB6B39CA584}"/>
                </a:ext>
              </a:extLst>
            </p:cNvPr>
            <p:cNvSpPr txBox="1"/>
            <p:nvPr/>
          </p:nvSpPr>
          <p:spPr>
            <a:xfrm>
              <a:off x="2668579" y="5723324"/>
              <a:ext cx="796668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RDS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EC011E5-8FAD-9B8A-B050-61D3756ADD6C}"/>
                </a:ext>
              </a:extLst>
            </p:cNvPr>
            <p:cNvSpPr txBox="1"/>
            <p:nvPr/>
          </p:nvSpPr>
          <p:spPr>
            <a:xfrm>
              <a:off x="3591541" y="5734850"/>
              <a:ext cx="796668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DDB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14B4212-F9C2-62CA-EF47-52A3B8279FCA}"/>
                </a:ext>
              </a:extLst>
            </p:cNvPr>
            <p:cNvSpPr txBox="1"/>
            <p:nvPr/>
          </p:nvSpPr>
          <p:spPr>
            <a:xfrm>
              <a:off x="1963521" y="1912613"/>
              <a:ext cx="387921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NLB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A0944D6-7DAF-BE0D-1F57-5FABE4010852}"/>
                </a:ext>
              </a:extLst>
            </p:cNvPr>
            <p:cNvSpPr txBox="1"/>
            <p:nvPr/>
          </p:nvSpPr>
          <p:spPr>
            <a:xfrm>
              <a:off x="3018712" y="1912613"/>
              <a:ext cx="595521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NATGW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228ABA5-1670-364A-043E-14941E9426B0}"/>
                </a:ext>
              </a:extLst>
            </p:cNvPr>
            <p:cNvSpPr txBox="1"/>
            <p:nvPr/>
          </p:nvSpPr>
          <p:spPr>
            <a:xfrm>
              <a:off x="4114482" y="1909360"/>
              <a:ext cx="743834" cy="3338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Ingress</a:t>
              </a:r>
            </a:p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Endpoint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4534960-80C0-781E-C786-CE4FD2A95F25}"/>
                </a:ext>
              </a:extLst>
            </p:cNvPr>
            <p:cNvSpPr txBox="1"/>
            <p:nvPr/>
          </p:nvSpPr>
          <p:spPr>
            <a:xfrm>
              <a:off x="5278155" y="1909360"/>
              <a:ext cx="743834" cy="3338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Egress</a:t>
              </a:r>
            </a:p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Endpoint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220B8A8A-A0FC-3B89-9420-E7633BB7D455}"/>
                </a:ext>
              </a:extLst>
            </p:cNvPr>
            <p:cNvGrpSpPr/>
            <p:nvPr/>
          </p:nvGrpSpPr>
          <p:grpSpPr>
            <a:xfrm>
              <a:off x="4709071" y="3241425"/>
              <a:ext cx="1525344" cy="1272780"/>
              <a:chOff x="1036724" y="3247375"/>
              <a:chExt cx="1525344" cy="1272780"/>
            </a:xfrm>
          </p:grpSpPr>
          <p:sp>
            <p:nvSpPr>
              <p:cNvPr id="51" name="Rectangle 39" descr="VPC group border">
                <a:extLst>
                  <a:ext uri="{FF2B5EF4-FFF2-40B4-BE49-F238E27FC236}">
                    <a16:creationId xmlns:a16="http://schemas.microsoft.com/office/drawing/2014/main" id="{BE7CBFC2-E1E6-819F-EBCC-7A78893363C8}"/>
                  </a:ext>
                </a:extLst>
              </p:cNvPr>
              <p:cNvSpPr/>
              <p:nvPr/>
            </p:nvSpPr>
            <p:spPr>
              <a:xfrm>
                <a:off x="1396724" y="3247375"/>
                <a:ext cx="1165344" cy="1116593"/>
              </a:xfrm>
              <a:prstGeom prst="rect">
                <a:avLst/>
              </a:prstGeom>
              <a:noFill/>
              <a:ln w="15875">
                <a:solidFill>
                  <a:srgbClr val="8C4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90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2" name="Graphic 23" descr="Amazon Elastic Kubernetes Service (Amazon EKS) Service icon.">
                <a:extLst>
                  <a:ext uri="{FF2B5EF4-FFF2-40B4-BE49-F238E27FC236}">
                    <a16:creationId xmlns:a16="http://schemas.microsoft.com/office/drawing/2014/main" id="{B32237D6-FBDB-6911-6ADD-277572F1EA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1940086" y="3583722"/>
                <a:ext cx="432000" cy="432000"/>
              </a:xfrm>
              <a:prstGeom prst="round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" name="Graphic 57" descr="VPC group icon.">
                <a:extLst>
                  <a:ext uri="{FF2B5EF4-FFF2-40B4-BE49-F238E27FC236}">
                    <a16:creationId xmlns:a16="http://schemas.microsoft.com/office/drawing/2014/main" id="{C80014FD-E0B7-FD3B-E8FD-D67C177D5D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36724" y="3439722"/>
                <a:ext cx="720000" cy="720000"/>
              </a:xfrm>
              <a:prstGeom prst="roundRect">
                <a:avLst/>
              </a:prstGeom>
            </p:spPr>
          </p:pic>
          <p:sp>
            <p:nvSpPr>
              <p:cNvPr id="54" name="모서리가 둥근 직사각형 53">
                <a:extLst>
                  <a:ext uri="{FF2B5EF4-FFF2-40B4-BE49-F238E27FC236}">
                    <a16:creationId xmlns:a16="http://schemas.microsoft.com/office/drawing/2014/main" id="{45482F47-723E-27A7-A03D-23DF449274FC}"/>
                  </a:ext>
                </a:extLst>
              </p:cNvPr>
              <p:cNvSpPr/>
              <p:nvPr/>
            </p:nvSpPr>
            <p:spPr>
              <a:xfrm>
                <a:off x="1793301" y="4207780"/>
                <a:ext cx="462694" cy="312375"/>
              </a:xfrm>
              <a:prstGeom prst="roundRect">
                <a:avLst>
                  <a:gd name="adj" fmla="val 50000"/>
                </a:avLst>
              </a:prstGeom>
              <a:solidFill>
                <a:srgbClr val="FF6F0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kumimoji="1" lang="en-US" altLang="ko-KR" sz="900" b="1" dirty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</a:rPr>
                  <a:t>Cell</a:t>
                </a:r>
                <a:endParaRPr kumimoji="1" lang="ko-KR" altLang="en-US" sz="900" b="1" dirty="0" err="1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endParaRPr>
              </a:p>
            </p:txBody>
          </p:sp>
        </p:grpSp>
        <p:cxnSp>
          <p:nvCxnSpPr>
            <p:cNvPr id="45" name="직선 연결선[R] 44">
              <a:extLst>
                <a:ext uri="{FF2B5EF4-FFF2-40B4-BE49-F238E27FC236}">
                  <a16:creationId xmlns:a16="http://schemas.microsoft.com/office/drawing/2014/main" id="{16D94021-E551-F991-47FB-15B5D50DA99A}"/>
                </a:ext>
              </a:extLst>
            </p:cNvPr>
            <p:cNvCxnSpPr>
              <a:stCxn id="55" idx="3"/>
              <a:endCxn id="53" idx="1"/>
            </p:cNvCxnSpPr>
            <p:nvPr/>
          </p:nvCxnSpPr>
          <p:spPr>
            <a:xfrm flipV="1">
              <a:off x="2562068" y="3793772"/>
              <a:ext cx="2147003" cy="1190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모서리가 둥근 직사각형 45">
              <a:extLst>
                <a:ext uri="{FF2B5EF4-FFF2-40B4-BE49-F238E27FC236}">
                  <a16:creationId xmlns:a16="http://schemas.microsoft.com/office/drawing/2014/main" id="{D77B587A-5239-4280-61F3-A50D826A8C43}"/>
                </a:ext>
              </a:extLst>
            </p:cNvPr>
            <p:cNvSpPr/>
            <p:nvPr/>
          </p:nvSpPr>
          <p:spPr>
            <a:xfrm>
              <a:off x="3404222" y="3663353"/>
              <a:ext cx="462694" cy="312375"/>
            </a:xfrm>
            <a:prstGeom prst="roundRect">
              <a:avLst>
                <a:gd name="adj" fmla="val 50000"/>
              </a:avLst>
            </a:prstGeom>
            <a:solidFill>
              <a:srgbClr val="FF6F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kumimoji="1" lang="en-US" altLang="ko-KR" sz="900" b="1" dirty="0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x N</a:t>
              </a:r>
              <a:endParaRPr kumimoji="1" lang="ko-KR" altLang="en-US" sz="900" b="1" dirty="0" err="1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cxnSp>
          <p:nvCxnSpPr>
            <p:cNvPr id="47" name="직선 연결선[R] 46">
              <a:extLst>
                <a:ext uri="{FF2B5EF4-FFF2-40B4-BE49-F238E27FC236}">
                  <a16:creationId xmlns:a16="http://schemas.microsoft.com/office/drawing/2014/main" id="{5F46BC31-0D83-6ABE-3E20-73355C8E21D0}"/>
                </a:ext>
              </a:extLst>
            </p:cNvPr>
            <p:cNvCxnSpPr/>
            <p:nvPr/>
          </p:nvCxnSpPr>
          <p:spPr>
            <a:xfrm>
              <a:off x="1396724" y="4610789"/>
              <a:ext cx="4873447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7EDB0053-93C4-FF3D-B9E0-1CC51E0F214F}"/>
                </a:ext>
              </a:extLst>
            </p:cNvPr>
            <p:cNvSpPr/>
            <p:nvPr/>
          </p:nvSpPr>
          <p:spPr>
            <a:xfrm>
              <a:off x="2959428" y="4437020"/>
              <a:ext cx="1676525" cy="312375"/>
            </a:xfrm>
            <a:prstGeom prst="roundRect">
              <a:avLst>
                <a:gd name="adj" fmla="val 50000"/>
              </a:avLst>
            </a:prstGeom>
            <a:solidFill>
              <a:srgbClr val="FF6F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kumimoji="1" lang="en-US" altLang="ko-KR" sz="900" b="1" dirty="0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Super Cell VPC</a:t>
              </a:r>
              <a:endParaRPr kumimoji="1" lang="ko-KR" altLang="en-US" sz="900" b="1" dirty="0" err="1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cxnSp>
          <p:nvCxnSpPr>
            <p:cNvPr id="49" name="직선 연결선[R] 48">
              <a:extLst>
                <a:ext uri="{FF2B5EF4-FFF2-40B4-BE49-F238E27FC236}">
                  <a16:creationId xmlns:a16="http://schemas.microsoft.com/office/drawing/2014/main" id="{7055DB63-A721-CB4A-C982-88788525AB41}"/>
                </a:ext>
              </a:extLst>
            </p:cNvPr>
            <p:cNvCxnSpPr/>
            <p:nvPr/>
          </p:nvCxnSpPr>
          <p:spPr>
            <a:xfrm>
              <a:off x="1396723" y="6276541"/>
              <a:ext cx="4873447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모서리가 둥근 직사각형 49">
              <a:extLst>
                <a:ext uri="{FF2B5EF4-FFF2-40B4-BE49-F238E27FC236}">
                  <a16:creationId xmlns:a16="http://schemas.microsoft.com/office/drawing/2014/main" id="{7675E2B4-7631-20DD-4831-A2B028EDE4A5}"/>
                </a:ext>
              </a:extLst>
            </p:cNvPr>
            <p:cNvSpPr/>
            <p:nvPr/>
          </p:nvSpPr>
          <p:spPr>
            <a:xfrm>
              <a:off x="2959428" y="6120354"/>
              <a:ext cx="1676525" cy="312375"/>
            </a:xfrm>
            <a:prstGeom prst="roundRect">
              <a:avLst>
                <a:gd name="adj" fmla="val 50000"/>
              </a:avLst>
            </a:prstGeom>
            <a:solidFill>
              <a:srgbClr val="FF6F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kumimoji="1" lang="en-US" altLang="ko-KR" sz="900" b="1" dirty="0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Data Layer VPC</a:t>
              </a:r>
              <a:endParaRPr kumimoji="1" lang="ko-KR" altLang="en-US" sz="900" b="1" dirty="0" err="1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42B2D3E2-51F8-2364-C2DD-D0D8FCB60A64}"/>
              </a:ext>
            </a:extLst>
          </p:cNvPr>
          <p:cNvSpPr txBox="1"/>
          <p:nvPr/>
        </p:nvSpPr>
        <p:spPr>
          <a:xfrm>
            <a:off x="160666" y="562871"/>
            <a:ext cx="117646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Super Cell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은 다중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EKS Cluster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구성되며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다중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Worker Node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배치해 고가용성과 장애 격리를 제공합니다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독립적인 애플리케이션 복제본으로 운영되는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Super Cell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은 셀 간 의존성이 없어 안정적이고 탄력적입니다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Cell Routing Layer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트래픽 라우팅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가용성을 관리하며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셀 간 통신 최소화로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비용을 절감합니다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자동 스케일링과 데이터 서비스의 고가용성 설계로 비용 효율성과 데이터 영속성을 확보합니다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233841A-4F67-B5E5-9155-4A0B84B0260D}"/>
              </a:ext>
            </a:extLst>
          </p:cNvPr>
          <p:cNvSpPr txBox="1"/>
          <p:nvPr/>
        </p:nvSpPr>
        <p:spPr>
          <a:xfrm>
            <a:off x="6498872" y="1697788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Super Cell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기반 </a:t>
            </a: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EKS VPC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 상세 소개</a:t>
            </a:r>
          </a:p>
        </p:txBody>
      </p:sp>
      <p:pic>
        <p:nvPicPr>
          <p:cNvPr id="63" name="그림 16">
            <a:extLst>
              <a:ext uri="{FF2B5EF4-FFF2-40B4-BE49-F238E27FC236}">
                <a16:creationId xmlns:a16="http://schemas.microsoft.com/office/drawing/2014/main" id="{98590C6B-1657-B5FA-0DA3-9C3EB9D9B82A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82906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>
            <a:extLst>
              <a:ext uri="{FF2B5EF4-FFF2-40B4-BE49-F238E27FC236}">
                <a16:creationId xmlns:a16="http://schemas.microsoft.com/office/drawing/2014/main" id="{898927B4-843B-9804-DD0D-1561AB5E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당근을 위한 </a:t>
            </a:r>
            <a:r>
              <a:rPr kumimoji="1" lang="en-US" altLang="ko-KR" dirty="0"/>
              <a:t>Super Cell </a:t>
            </a:r>
            <a:r>
              <a:rPr kumimoji="1" lang="ko-KR" altLang="en-US" dirty="0"/>
              <a:t>기반</a:t>
            </a:r>
            <a:r>
              <a:rPr kumimoji="1" lang="en-US" altLang="ko-KR" dirty="0"/>
              <a:t> EKS VPC </a:t>
            </a:r>
            <a:r>
              <a:rPr kumimoji="1" lang="ko-KR" altLang="en-US" dirty="0"/>
              <a:t>아키텍쳐 요약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FDE248B-9064-1799-32FD-386D9102B8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26</a:t>
            </a:fld>
            <a:endParaRPr lang="en-US" altLang="ko-KR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20D144C-4803-056A-07BF-B4EB9742B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9" name="AutoShape 51">
            <a:extLst>
              <a:ext uri="{FF2B5EF4-FFF2-40B4-BE49-F238E27FC236}">
                <a16:creationId xmlns:a16="http://schemas.microsoft.com/office/drawing/2014/main" id="{857D4DF7-54E9-2F78-4206-4974514D2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5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64E54EE5-2737-3653-9B3D-095370E98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0" y="1871300"/>
            <a:ext cx="554796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8" name="AutoShape 51">
            <a:extLst>
              <a:ext uri="{FF2B5EF4-FFF2-40B4-BE49-F238E27FC236}">
                <a16:creationId xmlns:a16="http://schemas.microsoft.com/office/drawing/2014/main" id="{C515CAE8-CF9F-E2F5-5096-DEC7AF805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990" y="1662327"/>
            <a:ext cx="554796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" name="Rectangle 287">
            <a:extLst>
              <a:ext uri="{FF2B5EF4-FFF2-40B4-BE49-F238E27FC236}">
                <a16:creationId xmlns:a16="http://schemas.microsoft.com/office/drawing/2014/main" id="{BCFA8AD7-71D7-5D9F-9973-86EC8D03C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963" y="2047745"/>
            <a:ext cx="5539307" cy="4432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3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셀 기반 아키텍처의 고가용성</a:t>
            </a:r>
            <a:r>
              <a:rPr lang="en-US" altLang="ko-KR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장애 격리 및 비용 효율성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내부 격리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u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요청이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도착하면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K8s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워크로드 간 트래픽 처리는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내부에서 처리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u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의존성을 방지해서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이 정적으로 안정적 처리 및 탄력성 운영 가능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가용성 및 비용 효율성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u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통신 최소화를 통해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간 비용 최소화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u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장애시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가용성 극대화 가능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자동 스케일링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–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Karpenter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기반의 컴퓨팅 자동 스케일링</a:t>
            </a:r>
          </a:p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3"/>
              <a:defRPr/>
            </a:pPr>
            <a:r>
              <a:rPr lang="ko-KR" altLang="en-US" sz="1200" b="1" i="0" u="sng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영속성 보장 설계</a:t>
            </a:r>
            <a:endParaRPr lang="en-US" altLang="ko-KR" sz="1200" b="1" i="0" u="sng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레이어 계층 별도 설계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–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RDS, DDB(DynamoDB), </a:t>
            </a:r>
            <a:r>
              <a:rPr lang="en-US" altLang="ko-KR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ElastiCache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277813" lvl="1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데이터 레이어는 단일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고가용성을 위한 다중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설계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937A9E1-A733-CB32-C497-07D5EEDFF5C6}"/>
              </a:ext>
            </a:extLst>
          </p:cNvPr>
          <p:cNvGrpSpPr/>
          <p:nvPr/>
        </p:nvGrpSpPr>
        <p:grpSpPr>
          <a:xfrm>
            <a:off x="858595" y="2191851"/>
            <a:ext cx="4342798" cy="4194960"/>
            <a:chOff x="1036724" y="1377440"/>
            <a:chExt cx="5233447" cy="5055289"/>
          </a:xfrm>
        </p:grpSpPr>
        <p:cxnSp>
          <p:nvCxnSpPr>
            <p:cNvPr id="15" name="직선 연결선[R] 14">
              <a:extLst>
                <a:ext uri="{FF2B5EF4-FFF2-40B4-BE49-F238E27FC236}">
                  <a16:creationId xmlns:a16="http://schemas.microsoft.com/office/drawing/2014/main" id="{F3D7D3E2-6F8F-439E-59EE-CE7BB7F77C37}"/>
                </a:ext>
              </a:extLst>
            </p:cNvPr>
            <p:cNvCxnSpPr/>
            <p:nvPr/>
          </p:nvCxnSpPr>
          <p:spPr>
            <a:xfrm>
              <a:off x="1360968" y="2730119"/>
              <a:ext cx="4873447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39" descr="VPC group border">
              <a:extLst>
                <a:ext uri="{FF2B5EF4-FFF2-40B4-BE49-F238E27FC236}">
                  <a16:creationId xmlns:a16="http://schemas.microsoft.com/office/drawing/2014/main" id="{9D19B20D-2C07-7607-1E46-7FCD8DEF6510}"/>
                </a:ext>
              </a:extLst>
            </p:cNvPr>
            <p:cNvSpPr/>
            <p:nvPr/>
          </p:nvSpPr>
          <p:spPr>
            <a:xfrm>
              <a:off x="1396725" y="1377440"/>
              <a:ext cx="4873446" cy="111659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7" name="Graphic 57" descr="VPC group icon.">
              <a:extLst>
                <a:ext uri="{FF2B5EF4-FFF2-40B4-BE49-F238E27FC236}">
                  <a16:creationId xmlns:a16="http://schemas.microsoft.com/office/drawing/2014/main" id="{2E0F5351-A469-A048-729A-A61176CE0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36724" y="1575737"/>
              <a:ext cx="720000" cy="720000"/>
            </a:xfrm>
            <a:prstGeom prst="round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00135F4-E819-CFAA-F14F-D295B42FB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1056" y="1499764"/>
              <a:ext cx="360000" cy="360000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D7031BE4-B8BC-90BD-4BBC-AD520E8A6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713" y="1499764"/>
              <a:ext cx="360000" cy="360000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02B106D6-91CA-F54F-64BD-815213904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6399" y="1499764"/>
              <a:ext cx="360000" cy="36000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8D17CB76-25CD-E39F-0523-02510E03B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1743" y="1499764"/>
              <a:ext cx="360000" cy="360000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9972B8F1-9574-05F7-8387-5C3B2381218F}"/>
                </a:ext>
              </a:extLst>
            </p:cNvPr>
            <p:cNvGrpSpPr/>
            <p:nvPr/>
          </p:nvGrpSpPr>
          <p:grpSpPr>
            <a:xfrm>
              <a:off x="1036724" y="3247375"/>
              <a:ext cx="1525344" cy="1272780"/>
              <a:chOff x="1036724" y="3247375"/>
              <a:chExt cx="1525344" cy="1272780"/>
            </a:xfrm>
          </p:grpSpPr>
          <p:sp>
            <p:nvSpPr>
              <p:cNvPr id="55" name="Rectangle 39" descr="VPC group border">
                <a:extLst>
                  <a:ext uri="{FF2B5EF4-FFF2-40B4-BE49-F238E27FC236}">
                    <a16:creationId xmlns:a16="http://schemas.microsoft.com/office/drawing/2014/main" id="{06C47100-7EFD-E78A-510C-A94AD7469429}"/>
                  </a:ext>
                </a:extLst>
              </p:cNvPr>
              <p:cNvSpPr/>
              <p:nvPr/>
            </p:nvSpPr>
            <p:spPr>
              <a:xfrm>
                <a:off x="1396724" y="3247375"/>
                <a:ext cx="1165344" cy="1116593"/>
              </a:xfrm>
              <a:prstGeom prst="rect">
                <a:avLst/>
              </a:prstGeom>
              <a:noFill/>
              <a:ln w="15875">
                <a:solidFill>
                  <a:srgbClr val="8C4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90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6" name="Graphic 23" descr="Amazon Elastic Kubernetes Service (Amazon EKS) Service icon.">
                <a:extLst>
                  <a:ext uri="{FF2B5EF4-FFF2-40B4-BE49-F238E27FC236}">
                    <a16:creationId xmlns:a16="http://schemas.microsoft.com/office/drawing/2014/main" id="{C062B926-F334-4CF9-41C8-68136D4729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1940086" y="3583722"/>
                <a:ext cx="432000" cy="432000"/>
              </a:xfrm>
              <a:prstGeom prst="round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" name="Graphic 57" descr="VPC group icon.">
                <a:extLst>
                  <a:ext uri="{FF2B5EF4-FFF2-40B4-BE49-F238E27FC236}">
                    <a16:creationId xmlns:a16="http://schemas.microsoft.com/office/drawing/2014/main" id="{4B63CE1E-CBD9-110E-9761-CE48E589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36724" y="3439722"/>
                <a:ext cx="720000" cy="720000"/>
              </a:xfrm>
              <a:prstGeom prst="roundRect">
                <a:avLst/>
              </a:prstGeom>
            </p:spPr>
          </p:pic>
          <p:sp>
            <p:nvSpPr>
              <p:cNvPr id="58" name="모서리가 둥근 직사각형 57">
                <a:extLst>
                  <a:ext uri="{FF2B5EF4-FFF2-40B4-BE49-F238E27FC236}">
                    <a16:creationId xmlns:a16="http://schemas.microsoft.com/office/drawing/2014/main" id="{9DB500A0-C986-AE23-2493-9F75CF42D9AB}"/>
                  </a:ext>
                </a:extLst>
              </p:cNvPr>
              <p:cNvSpPr/>
              <p:nvPr/>
            </p:nvSpPr>
            <p:spPr>
              <a:xfrm>
                <a:off x="1793301" y="4207780"/>
                <a:ext cx="462694" cy="312375"/>
              </a:xfrm>
              <a:prstGeom prst="roundRect">
                <a:avLst>
                  <a:gd name="adj" fmla="val 50000"/>
                </a:avLst>
              </a:prstGeom>
              <a:solidFill>
                <a:srgbClr val="FF6F0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kumimoji="1" lang="en-US" altLang="ko-KR" sz="900" b="1" dirty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</a:rPr>
                  <a:t>Cell</a:t>
                </a:r>
                <a:endParaRPr kumimoji="1" lang="ko-KR" altLang="en-US" sz="900" b="1" dirty="0" err="1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endParaRPr>
              </a:p>
            </p:txBody>
          </p:sp>
        </p:grpSp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CBE1DA3E-6D86-CADB-D95F-BE652F1B1E91}"/>
                </a:ext>
              </a:extLst>
            </p:cNvPr>
            <p:cNvSpPr/>
            <p:nvPr/>
          </p:nvSpPr>
          <p:spPr>
            <a:xfrm>
              <a:off x="2959428" y="2585813"/>
              <a:ext cx="1676525" cy="312375"/>
            </a:xfrm>
            <a:prstGeom prst="roundRect">
              <a:avLst>
                <a:gd name="adj" fmla="val 50000"/>
              </a:avLst>
            </a:prstGeom>
            <a:solidFill>
              <a:srgbClr val="FF6F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kumimoji="1" lang="en-US" altLang="ko-KR" sz="900" b="1" dirty="0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Cell Routing VPC</a:t>
              </a:r>
              <a:endParaRPr kumimoji="1" lang="ko-KR" altLang="en-US" sz="900" b="1" dirty="0" err="1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26" name="Rectangle 39" descr="VPC group border">
              <a:extLst>
                <a:ext uri="{FF2B5EF4-FFF2-40B4-BE49-F238E27FC236}">
                  <a16:creationId xmlns:a16="http://schemas.microsoft.com/office/drawing/2014/main" id="{317BD3A6-E574-76E2-E21B-0457B577100B}"/>
                </a:ext>
              </a:extLst>
            </p:cNvPr>
            <p:cNvSpPr/>
            <p:nvPr/>
          </p:nvSpPr>
          <p:spPr>
            <a:xfrm>
              <a:off x="1396725" y="4949656"/>
              <a:ext cx="4873446" cy="1116593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9" name="Graphic 57" descr="VPC group icon.">
              <a:extLst>
                <a:ext uri="{FF2B5EF4-FFF2-40B4-BE49-F238E27FC236}">
                  <a16:creationId xmlns:a16="http://schemas.microsoft.com/office/drawing/2014/main" id="{EAFEFA82-714F-E736-CBF0-9ACD8DDCB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36724" y="5147953"/>
              <a:ext cx="720000" cy="720000"/>
            </a:xfrm>
            <a:prstGeom prst="roundRect">
              <a:avLst/>
            </a:prstGeom>
          </p:spPr>
        </p:pic>
        <p:pic>
          <p:nvPicPr>
            <p:cNvPr id="30" name="Graphic 7" descr="Amazon Aurora service icon.">
              <a:extLst>
                <a:ext uri="{FF2B5EF4-FFF2-40B4-BE49-F238E27FC236}">
                  <a16:creationId xmlns:a16="http://schemas.microsoft.com/office/drawing/2014/main" id="{A7010BF1-75CF-1084-780E-593A22C117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1923441" y="5191711"/>
              <a:ext cx="463239" cy="46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Graphic 6" descr="Amazon Relational Database Service (Amazon RDS) service icon.">
              <a:extLst>
                <a:ext uri="{FF2B5EF4-FFF2-40B4-BE49-F238E27FC236}">
                  <a16:creationId xmlns:a16="http://schemas.microsoft.com/office/drawing/2014/main" id="{3295DE4B-AE73-B6F9-7F4F-82DF140FC2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2831498" y="5191711"/>
              <a:ext cx="463239" cy="46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Graphic 23" descr="Amazon DynamoDB service icon.">
              <a:extLst>
                <a:ext uri="{FF2B5EF4-FFF2-40B4-BE49-F238E27FC236}">
                  <a16:creationId xmlns:a16="http://schemas.microsoft.com/office/drawing/2014/main" id="{4D1E3A7A-EE74-B14A-9FA0-DC4E13B7C7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3739555" y="5191711"/>
              <a:ext cx="463239" cy="46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Graphic 26" descr="Amazon Managed Streaming for Apache Kafka (Amazon MSK) service icon.">
              <a:extLst>
                <a:ext uri="{FF2B5EF4-FFF2-40B4-BE49-F238E27FC236}">
                  <a16:creationId xmlns:a16="http://schemas.microsoft.com/office/drawing/2014/main" id="{678C3637-696B-8FB1-44BB-DDD0F5F32A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 bwMode="auto">
            <a:xfrm>
              <a:off x="5553070" y="5191711"/>
              <a:ext cx="463239" cy="46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Graphic 21" descr="Amazon ElastiCache service icon.">
              <a:extLst>
                <a:ext uri="{FF2B5EF4-FFF2-40B4-BE49-F238E27FC236}">
                  <a16:creationId xmlns:a16="http://schemas.microsoft.com/office/drawing/2014/main" id="{6A44ADA9-E5A0-07A4-9FD9-3A20681AB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 bwMode="auto">
            <a:xfrm>
              <a:off x="4647612" y="5191711"/>
              <a:ext cx="460641" cy="460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81610E-EFB6-9521-F38F-668568773D42}"/>
                </a:ext>
              </a:extLst>
            </p:cNvPr>
            <p:cNvSpPr txBox="1"/>
            <p:nvPr/>
          </p:nvSpPr>
          <p:spPr>
            <a:xfrm>
              <a:off x="5496703" y="5723324"/>
              <a:ext cx="566718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MSK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B495AF2-FC75-B33D-F3A7-662F3206F27D}"/>
                </a:ext>
              </a:extLst>
            </p:cNvPr>
            <p:cNvSpPr txBox="1"/>
            <p:nvPr/>
          </p:nvSpPr>
          <p:spPr>
            <a:xfrm>
              <a:off x="4296984" y="5723324"/>
              <a:ext cx="1298876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ElastiCache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0EF431B-9AEA-B052-2C1A-987B9BA571D6}"/>
                </a:ext>
              </a:extLst>
            </p:cNvPr>
            <p:cNvSpPr txBox="1"/>
            <p:nvPr/>
          </p:nvSpPr>
          <p:spPr>
            <a:xfrm>
              <a:off x="1756725" y="5723324"/>
              <a:ext cx="796668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Aurora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8D2F986-F4A6-449D-BF60-1272436888A0}"/>
                </a:ext>
              </a:extLst>
            </p:cNvPr>
            <p:cNvSpPr txBox="1"/>
            <p:nvPr/>
          </p:nvSpPr>
          <p:spPr>
            <a:xfrm>
              <a:off x="2668579" y="5723324"/>
              <a:ext cx="796668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RDS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36A4DA2-C1D2-FA23-BE83-F6C19661B8C8}"/>
                </a:ext>
              </a:extLst>
            </p:cNvPr>
            <p:cNvSpPr txBox="1"/>
            <p:nvPr/>
          </p:nvSpPr>
          <p:spPr>
            <a:xfrm>
              <a:off x="3591541" y="5734850"/>
              <a:ext cx="796668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DDB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0032A0C-FBB0-CB69-11D7-C9C3009906F4}"/>
                </a:ext>
              </a:extLst>
            </p:cNvPr>
            <p:cNvSpPr txBox="1"/>
            <p:nvPr/>
          </p:nvSpPr>
          <p:spPr>
            <a:xfrm>
              <a:off x="1963521" y="1912613"/>
              <a:ext cx="387921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NLB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B821EA9-917F-2DAE-5BA2-910FF7CFEB87}"/>
                </a:ext>
              </a:extLst>
            </p:cNvPr>
            <p:cNvSpPr txBox="1"/>
            <p:nvPr/>
          </p:nvSpPr>
          <p:spPr>
            <a:xfrm>
              <a:off x="3018712" y="1912613"/>
              <a:ext cx="595521" cy="16690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NATGW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BD4C1F6-3C95-AD11-449A-15FD64315B07}"/>
                </a:ext>
              </a:extLst>
            </p:cNvPr>
            <p:cNvSpPr txBox="1"/>
            <p:nvPr/>
          </p:nvSpPr>
          <p:spPr>
            <a:xfrm>
              <a:off x="4114482" y="1909360"/>
              <a:ext cx="743834" cy="3338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Ingress</a:t>
              </a:r>
            </a:p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Endpoint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B5A563D-5400-C1A6-5987-3909270B1861}"/>
                </a:ext>
              </a:extLst>
            </p:cNvPr>
            <p:cNvSpPr txBox="1"/>
            <p:nvPr/>
          </p:nvSpPr>
          <p:spPr>
            <a:xfrm>
              <a:off x="5278155" y="1909360"/>
              <a:ext cx="743834" cy="3338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Egress</a:t>
              </a:r>
            </a:p>
            <a:p>
              <a:pPr algn="ctr"/>
              <a:r>
                <a:rPr kumimoji="1" lang="en-US" altLang="ko-KR" sz="900" b="1" dirty="0"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Endpoint</a:t>
              </a:r>
              <a:endParaRPr kumimoji="1" lang="ko-KR" altLang="en-US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314A1DE-FB33-7AB3-377F-B7064B034135}"/>
                </a:ext>
              </a:extLst>
            </p:cNvPr>
            <p:cNvGrpSpPr/>
            <p:nvPr/>
          </p:nvGrpSpPr>
          <p:grpSpPr>
            <a:xfrm>
              <a:off x="4709071" y="3241425"/>
              <a:ext cx="1525344" cy="1272780"/>
              <a:chOff x="1036724" y="3247375"/>
              <a:chExt cx="1525344" cy="1272780"/>
            </a:xfrm>
          </p:grpSpPr>
          <p:sp>
            <p:nvSpPr>
              <p:cNvPr id="51" name="Rectangle 39" descr="VPC group border">
                <a:extLst>
                  <a:ext uri="{FF2B5EF4-FFF2-40B4-BE49-F238E27FC236}">
                    <a16:creationId xmlns:a16="http://schemas.microsoft.com/office/drawing/2014/main" id="{A7D47466-55F0-8782-5EA9-E7C9B2042E13}"/>
                  </a:ext>
                </a:extLst>
              </p:cNvPr>
              <p:cNvSpPr/>
              <p:nvPr/>
            </p:nvSpPr>
            <p:spPr>
              <a:xfrm>
                <a:off x="1396724" y="3247375"/>
                <a:ext cx="1165344" cy="1116593"/>
              </a:xfrm>
              <a:prstGeom prst="rect">
                <a:avLst/>
              </a:prstGeom>
              <a:noFill/>
              <a:ln w="15875">
                <a:solidFill>
                  <a:srgbClr val="8C4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02920" tIns="9144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90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2" name="Graphic 23" descr="Amazon Elastic Kubernetes Service (Amazon EKS) Service icon.">
                <a:extLst>
                  <a:ext uri="{FF2B5EF4-FFF2-40B4-BE49-F238E27FC236}">
                    <a16:creationId xmlns:a16="http://schemas.microsoft.com/office/drawing/2014/main" id="{84BCA2F2-D2EE-5704-DC8B-B458F5442F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1940086" y="3583722"/>
                <a:ext cx="432000" cy="432000"/>
              </a:xfrm>
              <a:prstGeom prst="round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" name="Graphic 57" descr="VPC group icon.">
                <a:extLst>
                  <a:ext uri="{FF2B5EF4-FFF2-40B4-BE49-F238E27FC236}">
                    <a16:creationId xmlns:a16="http://schemas.microsoft.com/office/drawing/2014/main" id="{D23A72BF-40B5-1198-7045-ADA5BE9783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36724" y="3439722"/>
                <a:ext cx="720000" cy="720000"/>
              </a:xfrm>
              <a:prstGeom prst="roundRect">
                <a:avLst/>
              </a:prstGeom>
            </p:spPr>
          </p:pic>
          <p:sp>
            <p:nvSpPr>
              <p:cNvPr id="54" name="모서리가 둥근 직사각형 53">
                <a:extLst>
                  <a:ext uri="{FF2B5EF4-FFF2-40B4-BE49-F238E27FC236}">
                    <a16:creationId xmlns:a16="http://schemas.microsoft.com/office/drawing/2014/main" id="{26621248-CA22-8AB1-9F8C-7B1D959BFA08}"/>
                  </a:ext>
                </a:extLst>
              </p:cNvPr>
              <p:cNvSpPr/>
              <p:nvPr/>
            </p:nvSpPr>
            <p:spPr>
              <a:xfrm>
                <a:off x="1793301" y="4207780"/>
                <a:ext cx="462694" cy="312375"/>
              </a:xfrm>
              <a:prstGeom prst="roundRect">
                <a:avLst>
                  <a:gd name="adj" fmla="val 50000"/>
                </a:avLst>
              </a:prstGeom>
              <a:solidFill>
                <a:srgbClr val="FF6F0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rtlCol="0" anchor="ctr"/>
              <a:lstStyle/>
              <a:p>
                <a:pPr algn="ctr"/>
                <a:r>
                  <a:rPr kumimoji="1" lang="en-US" altLang="ko-KR" sz="900" b="1" dirty="0">
                    <a:solidFill>
                      <a:schemeClr val="bg1"/>
                    </a:solidFill>
                    <a:latin typeface="NanumSquareOTF Bold" panose="020B0600000101010101" pitchFamily="34" charset="-127"/>
                    <a:ea typeface="NanumSquareOTF Bold" panose="020B0600000101010101" pitchFamily="34" charset="-127"/>
                  </a:rPr>
                  <a:t>Cell</a:t>
                </a:r>
                <a:endParaRPr kumimoji="1" lang="ko-KR" altLang="en-US" sz="900" b="1" dirty="0" err="1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endParaRPr>
              </a:p>
            </p:txBody>
          </p:sp>
        </p:grpSp>
        <p:cxnSp>
          <p:nvCxnSpPr>
            <p:cNvPr id="45" name="직선 연결선[R] 44">
              <a:extLst>
                <a:ext uri="{FF2B5EF4-FFF2-40B4-BE49-F238E27FC236}">
                  <a16:creationId xmlns:a16="http://schemas.microsoft.com/office/drawing/2014/main" id="{25A36A17-7428-B56B-7C74-AC23ED702D1A}"/>
                </a:ext>
              </a:extLst>
            </p:cNvPr>
            <p:cNvCxnSpPr>
              <a:stCxn id="55" idx="3"/>
              <a:endCxn id="53" idx="1"/>
            </p:cNvCxnSpPr>
            <p:nvPr/>
          </p:nvCxnSpPr>
          <p:spPr>
            <a:xfrm flipV="1">
              <a:off x="2562068" y="3793772"/>
              <a:ext cx="2147003" cy="11900"/>
            </a:xfrm>
            <a:prstGeom prst="line">
              <a:avLst/>
            </a:prstGeom>
            <a:ln w="19050" cap="rnd">
              <a:solidFill>
                <a:schemeClr val="tx1"/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모서리가 둥근 직사각형 45">
              <a:extLst>
                <a:ext uri="{FF2B5EF4-FFF2-40B4-BE49-F238E27FC236}">
                  <a16:creationId xmlns:a16="http://schemas.microsoft.com/office/drawing/2014/main" id="{D57D8907-55B0-7D60-79DF-1B973049473D}"/>
                </a:ext>
              </a:extLst>
            </p:cNvPr>
            <p:cNvSpPr/>
            <p:nvPr/>
          </p:nvSpPr>
          <p:spPr>
            <a:xfrm>
              <a:off x="3404222" y="3663353"/>
              <a:ext cx="462694" cy="312375"/>
            </a:xfrm>
            <a:prstGeom prst="roundRect">
              <a:avLst>
                <a:gd name="adj" fmla="val 50000"/>
              </a:avLst>
            </a:prstGeom>
            <a:solidFill>
              <a:srgbClr val="FF6F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kumimoji="1" lang="en-US" altLang="ko-KR" sz="900" b="1" dirty="0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x N</a:t>
              </a:r>
              <a:endParaRPr kumimoji="1" lang="ko-KR" altLang="en-US" sz="900" b="1" dirty="0" err="1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cxnSp>
          <p:nvCxnSpPr>
            <p:cNvPr id="47" name="직선 연결선[R] 46">
              <a:extLst>
                <a:ext uri="{FF2B5EF4-FFF2-40B4-BE49-F238E27FC236}">
                  <a16:creationId xmlns:a16="http://schemas.microsoft.com/office/drawing/2014/main" id="{480504CB-3568-EB44-5E8C-59F7982517C8}"/>
                </a:ext>
              </a:extLst>
            </p:cNvPr>
            <p:cNvCxnSpPr/>
            <p:nvPr/>
          </p:nvCxnSpPr>
          <p:spPr>
            <a:xfrm>
              <a:off x="1396724" y="4610789"/>
              <a:ext cx="4873447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5D743C32-9109-A813-20B8-63C8D1557D64}"/>
                </a:ext>
              </a:extLst>
            </p:cNvPr>
            <p:cNvSpPr/>
            <p:nvPr/>
          </p:nvSpPr>
          <p:spPr>
            <a:xfrm>
              <a:off x="2959428" y="4437020"/>
              <a:ext cx="1676525" cy="312375"/>
            </a:xfrm>
            <a:prstGeom prst="roundRect">
              <a:avLst>
                <a:gd name="adj" fmla="val 50000"/>
              </a:avLst>
            </a:prstGeom>
            <a:solidFill>
              <a:srgbClr val="FF6F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kumimoji="1" lang="en-US" altLang="ko-KR" sz="900" b="1" dirty="0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Super Cell VPC</a:t>
              </a:r>
              <a:endParaRPr kumimoji="1" lang="ko-KR" altLang="en-US" sz="900" b="1" dirty="0" err="1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  <p:cxnSp>
          <p:nvCxnSpPr>
            <p:cNvPr id="49" name="직선 연결선[R] 48">
              <a:extLst>
                <a:ext uri="{FF2B5EF4-FFF2-40B4-BE49-F238E27FC236}">
                  <a16:creationId xmlns:a16="http://schemas.microsoft.com/office/drawing/2014/main" id="{D8283C64-AA3F-9589-EBD9-203E50A62828}"/>
                </a:ext>
              </a:extLst>
            </p:cNvPr>
            <p:cNvCxnSpPr/>
            <p:nvPr/>
          </p:nvCxnSpPr>
          <p:spPr>
            <a:xfrm>
              <a:off x="1396723" y="6276541"/>
              <a:ext cx="4873447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모서리가 둥근 직사각형 49">
              <a:extLst>
                <a:ext uri="{FF2B5EF4-FFF2-40B4-BE49-F238E27FC236}">
                  <a16:creationId xmlns:a16="http://schemas.microsoft.com/office/drawing/2014/main" id="{79218CB9-51A1-C31E-05A7-3ED484C004DA}"/>
                </a:ext>
              </a:extLst>
            </p:cNvPr>
            <p:cNvSpPr/>
            <p:nvPr/>
          </p:nvSpPr>
          <p:spPr>
            <a:xfrm>
              <a:off x="2959428" y="6120354"/>
              <a:ext cx="1676525" cy="312375"/>
            </a:xfrm>
            <a:prstGeom prst="roundRect">
              <a:avLst>
                <a:gd name="adj" fmla="val 50000"/>
              </a:avLst>
            </a:prstGeom>
            <a:solidFill>
              <a:srgbClr val="FF6F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kumimoji="1" lang="en-US" altLang="ko-KR" sz="900" b="1" dirty="0">
                  <a:solidFill>
                    <a:schemeClr val="bg1"/>
                  </a:solidFill>
                  <a:latin typeface="NanumSquareOTF Bold" panose="020B0600000101010101" pitchFamily="34" charset="-127"/>
                  <a:ea typeface="NanumSquareOTF Bold" panose="020B0600000101010101" pitchFamily="34" charset="-127"/>
                </a:rPr>
                <a:t>Data Layer VPC</a:t>
              </a:r>
              <a:endParaRPr kumimoji="1" lang="ko-KR" altLang="en-US" sz="900" b="1" dirty="0" err="1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1E7A8EF1-7E8C-1909-2391-1CEF59BC5E00}"/>
              </a:ext>
            </a:extLst>
          </p:cNvPr>
          <p:cNvSpPr txBox="1"/>
          <p:nvPr/>
        </p:nvSpPr>
        <p:spPr>
          <a:xfrm>
            <a:off x="160666" y="562871"/>
            <a:ext cx="117646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Super Cell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은 다중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EKS Cluster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구성되며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다중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Worker Node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배치해 고가용성과 장애 격리를 제공합니다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독립적인 애플리케이션 복제본으로 운영되는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Super Cell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은 셀 간 의존성이 없어 안정적이고 탄력적입니다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Cell Routing Layer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는 트래픽 라우팅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가용성을 관리하며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셀 간 통신 최소화로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간 비용을 절감합니다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컴퓨팅 자동 스케일링과 데이터 서비스의 고가용성 설계로 비용 효율성과 데이터 영속성을 확보합니다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9E0521-B062-2ED5-F923-2C8208D64719}"/>
              </a:ext>
            </a:extLst>
          </p:cNvPr>
          <p:cNvSpPr txBox="1"/>
          <p:nvPr/>
        </p:nvSpPr>
        <p:spPr>
          <a:xfrm>
            <a:off x="585788" y="1686634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Super Cell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기반 </a:t>
            </a: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EKS VPC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CA40B3-65D7-49DC-E5D8-953DD03AAD5D}"/>
              </a:ext>
            </a:extLst>
          </p:cNvPr>
          <p:cNvSpPr txBox="1"/>
          <p:nvPr/>
        </p:nvSpPr>
        <p:spPr>
          <a:xfrm>
            <a:off x="6498872" y="1697788"/>
            <a:ext cx="5043487" cy="31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</a:pP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Super Cell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기반 </a:t>
            </a:r>
            <a:r>
              <a:rPr lang="en-US" altLang="ko-KR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EKS VPC </a:t>
            </a:r>
            <a:r>
              <a:rPr lang="ko-KR" altLang="en-US" sz="1600" b="1" i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구조 상세 소개</a:t>
            </a:r>
          </a:p>
        </p:txBody>
      </p:sp>
      <p:pic>
        <p:nvPicPr>
          <p:cNvPr id="65" name="그림 16">
            <a:extLst>
              <a:ext uri="{FF2B5EF4-FFF2-40B4-BE49-F238E27FC236}">
                <a16:creationId xmlns:a16="http://schemas.microsoft.com/office/drawing/2014/main" id="{52CDD882-0178-F016-5449-B7E213C3F0F5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84305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2">
            <a:extLst>
              <a:ext uri="{FF2B5EF4-FFF2-40B4-BE49-F238E27FC236}">
                <a16:creationId xmlns:a16="http://schemas.microsoft.com/office/drawing/2014/main" id="{592B2817-8E60-D6A5-C419-48F3AD98F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73" y="1609097"/>
            <a:ext cx="5557070" cy="4933691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0FD991-2A66-3FAF-F20E-1A50A39B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당근 </a:t>
            </a:r>
            <a:r>
              <a:rPr kumimoji="1" lang="en-US" altLang="ko-KR" dirty="0"/>
              <a:t>VPC </a:t>
            </a:r>
            <a:r>
              <a:rPr kumimoji="1" lang="ko-KR" altLang="en-US" dirty="0"/>
              <a:t>아키텍쳐 개선안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Ingress Traffic </a:t>
            </a:r>
            <a:r>
              <a:rPr kumimoji="1" lang="ko-KR" altLang="en-US" dirty="0"/>
              <a:t>보안 제어 개선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9722FF-238C-F371-E663-362705782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27</a:t>
            </a:fld>
            <a:endParaRPr lang="en-US" altLang="ko-KR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1996D9AF-34CC-14F5-D72F-94B3662C4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871300"/>
            <a:ext cx="555707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67" name="AutoShape 51">
            <a:extLst>
              <a:ext uri="{FF2B5EF4-FFF2-40B4-BE49-F238E27FC236}">
                <a16:creationId xmlns:a16="http://schemas.microsoft.com/office/drawing/2014/main" id="{E9BF88B7-16A4-6377-D771-A790B953E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662327"/>
            <a:ext cx="555707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pic>
        <p:nvPicPr>
          <p:cNvPr id="269" name="그림 16">
            <a:extLst>
              <a:ext uri="{FF2B5EF4-FFF2-40B4-BE49-F238E27FC236}">
                <a16:creationId xmlns:a16="http://schemas.microsoft.com/office/drawing/2014/main" id="{4F5A3891-4CCE-45B0-E359-35E307A3825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0726111D-27BE-DF56-4E04-AFB21261A571}"/>
              </a:ext>
            </a:extLst>
          </p:cNvPr>
          <p:cNvSpPr txBox="1"/>
          <p:nvPr/>
        </p:nvSpPr>
        <p:spPr>
          <a:xfrm>
            <a:off x="160666" y="557654"/>
            <a:ext cx="116752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ANFW(AWS Network Firewall)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활용한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 제어 디자인을 통해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보안을 개선할 수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Routing VPC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인입되는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엔드포인트로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라우팅합니다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엔드포인트에서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정의된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정책에 따라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트래픽을 모니터링하고 필터링하며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잠재적 위협을 탐지함으로써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보안을 개선할 수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 </a:t>
            </a:r>
          </a:p>
        </p:txBody>
      </p:sp>
      <p:sp>
        <p:nvSpPr>
          <p:cNvPr id="272" name="Rectangle 287">
            <a:extLst>
              <a:ext uri="{FF2B5EF4-FFF2-40B4-BE49-F238E27FC236}">
                <a16:creationId xmlns:a16="http://schemas.microsoft.com/office/drawing/2014/main" id="{AB5B9D74-DA06-BEE9-F887-44310408F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096212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Ingress 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트래픽 제어를 위한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기반의 보안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Routing 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내에서 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엔드포인트를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프로비저닝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 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엔드포인트는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내에서 생성되며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트래픽을 모니터링하고 필터링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-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Ingress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라우팅 테이블을 수정하여 외부에서 유입되는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엔드포인트로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전송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정책을 생성하여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트래픽에 대한 규칙을 정의</a:t>
            </a: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허용되는 대상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포트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프로토콜 지정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엔드포인트와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정책을 사용하여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방화벽을 생성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트래픽에 대한 모니터링 및 로깅 기능을 제공</a:t>
            </a: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-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 패턴을 분석하고 잠재적인 위협을 탐지</a:t>
            </a: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E696600-0BEE-1735-DA89-06EAD110628A}"/>
              </a:ext>
            </a:extLst>
          </p:cNvPr>
          <p:cNvSpPr txBox="1"/>
          <p:nvPr/>
        </p:nvSpPr>
        <p:spPr>
          <a:xfrm>
            <a:off x="7246521" y="1686634"/>
            <a:ext cx="34252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 Traffic 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 제어 개선</a:t>
            </a:r>
          </a:p>
        </p:txBody>
      </p:sp>
      <p:sp>
        <p:nvSpPr>
          <p:cNvPr id="5" name="Rectangle 71">
            <a:extLst>
              <a:ext uri="{FF2B5EF4-FFF2-40B4-BE49-F238E27FC236}">
                <a16:creationId xmlns:a16="http://schemas.microsoft.com/office/drawing/2014/main" id="{E5535B09-F96C-5F30-AC88-818FEC682E97}"/>
              </a:ext>
            </a:extLst>
          </p:cNvPr>
          <p:cNvSpPr/>
          <p:nvPr/>
        </p:nvSpPr>
        <p:spPr>
          <a:xfrm>
            <a:off x="3741501" y="3091233"/>
            <a:ext cx="734647" cy="61431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72" descr="Private subnet group icon. ">
            <a:extLst>
              <a:ext uri="{FF2B5EF4-FFF2-40B4-BE49-F238E27FC236}">
                <a16:creationId xmlns:a16="http://schemas.microsoft.com/office/drawing/2014/main" id="{B65C28F0-462F-DE60-ACEB-2173CAAB3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741501" y="3091233"/>
            <a:ext cx="288000" cy="288000"/>
          </a:xfrm>
          <a:prstGeom prst="rect">
            <a:avLst/>
          </a:prstGeom>
        </p:spPr>
      </p:pic>
      <p:sp>
        <p:nvSpPr>
          <p:cNvPr id="13" name="Rectangle 73">
            <a:extLst>
              <a:ext uri="{FF2B5EF4-FFF2-40B4-BE49-F238E27FC236}">
                <a16:creationId xmlns:a16="http://schemas.microsoft.com/office/drawing/2014/main" id="{EC39EE3D-00F8-3422-1405-275D2ADBBDBA}"/>
              </a:ext>
            </a:extLst>
          </p:cNvPr>
          <p:cNvSpPr/>
          <p:nvPr/>
        </p:nvSpPr>
        <p:spPr>
          <a:xfrm>
            <a:off x="3741501" y="2368954"/>
            <a:ext cx="1509945" cy="61431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74" descr="Public subnet group icon. ">
            <a:extLst>
              <a:ext uri="{FF2B5EF4-FFF2-40B4-BE49-F238E27FC236}">
                <a16:creationId xmlns:a16="http://schemas.microsoft.com/office/drawing/2014/main" id="{2FF12FFF-FE26-A467-F880-FE6A6FB78B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41501" y="2368954"/>
            <a:ext cx="288000" cy="28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E7154A-D367-2321-CA52-7CE803AADA95}"/>
              </a:ext>
            </a:extLst>
          </p:cNvPr>
          <p:cNvSpPr txBox="1"/>
          <p:nvPr/>
        </p:nvSpPr>
        <p:spPr>
          <a:xfrm>
            <a:off x="4062866" y="2405565"/>
            <a:ext cx="90852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 1.0/24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1F1915F5-B804-DD80-6EF3-F46997599A21}"/>
              </a:ext>
            </a:extLst>
          </p:cNvPr>
          <p:cNvSpPr/>
          <p:nvPr/>
        </p:nvSpPr>
        <p:spPr bwMode="auto">
          <a:xfrm>
            <a:off x="3679768" y="2176314"/>
            <a:ext cx="1627865" cy="2074581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3D9D0-BB60-394F-DF96-C37305B07CCE}"/>
              </a:ext>
            </a:extLst>
          </p:cNvPr>
          <p:cNvSpPr txBox="1"/>
          <p:nvPr/>
        </p:nvSpPr>
        <p:spPr>
          <a:xfrm>
            <a:off x="3741501" y="2193347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X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1" name="Rectangle 39" descr="VPC group border">
            <a:extLst>
              <a:ext uri="{FF2B5EF4-FFF2-40B4-BE49-F238E27FC236}">
                <a16:creationId xmlns:a16="http://schemas.microsoft.com/office/drawing/2014/main" id="{8DA28630-1B4A-2047-1582-7FE1ABDB5752}"/>
              </a:ext>
            </a:extLst>
          </p:cNvPr>
          <p:cNvSpPr/>
          <p:nvPr/>
        </p:nvSpPr>
        <p:spPr>
          <a:xfrm>
            <a:off x="3413329" y="1827998"/>
            <a:ext cx="2293072" cy="2436477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57" descr="VPC group icon.">
            <a:extLst>
              <a:ext uri="{FF2B5EF4-FFF2-40B4-BE49-F238E27FC236}">
                <a16:creationId xmlns:a16="http://schemas.microsoft.com/office/drawing/2014/main" id="{75E0C2AA-A413-40AE-DAA3-A0E315B3E6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409031" y="1823235"/>
            <a:ext cx="288000" cy="28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1B5A88A-FB0E-F2DF-C9CD-9AC54CD368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29" y="1679816"/>
            <a:ext cx="291600" cy="2916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0FF4799-0F2C-5532-508C-E1BFF40A1B34}"/>
              </a:ext>
            </a:extLst>
          </p:cNvPr>
          <p:cNvSpPr txBox="1"/>
          <p:nvPr/>
        </p:nvSpPr>
        <p:spPr>
          <a:xfrm>
            <a:off x="3735966" y="1834505"/>
            <a:ext cx="162786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Routing VPC 10.0.0.0/16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E75D0C-6442-CFBA-AB09-4B1DFFFEE908}"/>
              </a:ext>
            </a:extLst>
          </p:cNvPr>
          <p:cNvSpPr txBox="1"/>
          <p:nvPr/>
        </p:nvSpPr>
        <p:spPr>
          <a:xfrm>
            <a:off x="3677480" y="1667760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IGW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CCE3EB-F40A-3B4A-1E7E-7595E7F930EB}"/>
              </a:ext>
            </a:extLst>
          </p:cNvPr>
          <p:cNvSpPr txBox="1"/>
          <p:nvPr/>
        </p:nvSpPr>
        <p:spPr>
          <a:xfrm>
            <a:off x="4231413" y="2842035"/>
            <a:ext cx="7695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GWLB EP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AC858D-0BE7-EECA-44EC-48D6803A4C18}"/>
              </a:ext>
            </a:extLst>
          </p:cNvPr>
          <p:cNvSpPr txBox="1"/>
          <p:nvPr/>
        </p:nvSpPr>
        <p:spPr>
          <a:xfrm>
            <a:off x="4069508" y="3101902"/>
            <a:ext cx="47205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70" name="Rectangle 71">
            <a:extLst>
              <a:ext uri="{FF2B5EF4-FFF2-40B4-BE49-F238E27FC236}">
                <a16:creationId xmlns:a16="http://schemas.microsoft.com/office/drawing/2014/main" id="{DAD70AD9-2518-ABED-CB87-79CF9837580F}"/>
              </a:ext>
            </a:extLst>
          </p:cNvPr>
          <p:cNvSpPr/>
          <p:nvPr/>
        </p:nvSpPr>
        <p:spPr>
          <a:xfrm>
            <a:off x="4519243" y="3091091"/>
            <a:ext cx="734647" cy="61431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Graphic 72" descr="Private subnet group icon. ">
            <a:extLst>
              <a:ext uri="{FF2B5EF4-FFF2-40B4-BE49-F238E27FC236}">
                <a16:creationId xmlns:a16="http://schemas.microsoft.com/office/drawing/2014/main" id="{E838F309-DC29-25BE-739E-EA49184CF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519243" y="3091091"/>
            <a:ext cx="288000" cy="2880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7644E91B-55DA-4F19-98F3-71E911A3E3EA}"/>
              </a:ext>
            </a:extLst>
          </p:cNvPr>
          <p:cNvSpPr txBox="1"/>
          <p:nvPr/>
        </p:nvSpPr>
        <p:spPr>
          <a:xfrm>
            <a:off x="4572435" y="3567465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6ECF10C0-0D9B-A1F1-4C7D-D1E8A26A1F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627" y="2505285"/>
            <a:ext cx="381001" cy="381001"/>
          </a:xfrm>
          <a:prstGeom prst="rect">
            <a:avLst/>
          </a:prstGeom>
        </p:spPr>
      </p:pic>
      <p:cxnSp>
        <p:nvCxnSpPr>
          <p:cNvPr id="79" name="꺾인 연결선[E] 78">
            <a:extLst>
              <a:ext uri="{FF2B5EF4-FFF2-40B4-BE49-F238E27FC236}">
                <a16:creationId xmlns:a16="http://schemas.microsoft.com/office/drawing/2014/main" id="{CCC0136F-7733-3E73-8E73-433650F0A3B6}"/>
              </a:ext>
            </a:extLst>
          </p:cNvPr>
          <p:cNvCxnSpPr>
            <a:cxnSpLocks/>
            <a:endCxn id="78" idx="1"/>
          </p:cNvCxnSpPr>
          <p:nvPr/>
        </p:nvCxnSpPr>
        <p:spPr>
          <a:xfrm flipV="1">
            <a:off x="5167558" y="2695786"/>
            <a:ext cx="309069" cy="1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FF6F0E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16">
            <a:extLst>
              <a:ext uri="{FF2B5EF4-FFF2-40B4-BE49-F238E27FC236}">
                <a16:creationId xmlns:a16="http://schemas.microsoft.com/office/drawing/2014/main" id="{E6A6706D-C808-EFFD-C974-E7B0E7980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167" y="2886286"/>
            <a:ext cx="38423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ANFW</a:t>
            </a: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1DBA46CA-E983-40BD-3B37-9401DF97008D}"/>
              </a:ext>
            </a:extLst>
          </p:cNvPr>
          <p:cNvSpPr/>
          <p:nvPr/>
        </p:nvSpPr>
        <p:spPr>
          <a:xfrm>
            <a:off x="4943232" y="2838663"/>
            <a:ext cx="162975" cy="162975"/>
          </a:xfrm>
          <a:prstGeom prst="ellipse">
            <a:avLst/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E65F9491-DFF9-4F10-7945-5BF90E36CB2D}"/>
              </a:ext>
            </a:extLst>
          </p:cNvPr>
          <p:cNvCxnSpPr>
            <a:cxnSpLocks/>
            <a:stCxn id="82" idx="4"/>
            <a:endCxn id="317" idx="0"/>
          </p:cNvCxnSpPr>
          <p:nvPr/>
        </p:nvCxnSpPr>
        <p:spPr>
          <a:xfrm flipH="1">
            <a:off x="5021466" y="3001638"/>
            <a:ext cx="3254" cy="430590"/>
          </a:xfrm>
          <a:prstGeom prst="straightConnector1">
            <a:avLst/>
          </a:prstGeom>
          <a:ln w="19050" cap="rnd">
            <a:solidFill>
              <a:srgbClr val="FF6F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25CE0D40-1B4F-F786-4BE2-CAF7F62C683A}"/>
              </a:ext>
            </a:extLst>
          </p:cNvPr>
          <p:cNvSpPr/>
          <p:nvPr/>
        </p:nvSpPr>
        <p:spPr>
          <a:xfrm>
            <a:off x="4936704" y="2400134"/>
            <a:ext cx="162975" cy="162975"/>
          </a:xfrm>
          <a:prstGeom prst="ellipse">
            <a:avLst/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8E4B2CB2-DA39-649B-A424-D2D2F31F4156}"/>
              </a:ext>
            </a:extLst>
          </p:cNvPr>
          <p:cNvSpPr/>
          <p:nvPr/>
        </p:nvSpPr>
        <p:spPr>
          <a:xfrm>
            <a:off x="3628379" y="1915174"/>
            <a:ext cx="162975" cy="162975"/>
          </a:xfrm>
          <a:prstGeom prst="ellipse">
            <a:avLst/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cxnSp>
        <p:nvCxnSpPr>
          <p:cNvPr id="124" name="꺾인 연결선[E] 123">
            <a:extLst>
              <a:ext uri="{FF2B5EF4-FFF2-40B4-BE49-F238E27FC236}">
                <a16:creationId xmlns:a16="http://schemas.microsoft.com/office/drawing/2014/main" id="{B9C09C3C-2665-3DE6-B940-60CD358FA10F}"/>
              </a:ext>
            </a:extLst>
          </p:cNvPr>
          <p:cNvCxnSpPr>
            <a:cxnSpLocks/>
            <a:stCxn id="93" idx="5"/>
            <a:endCxn id="92" idx="0"/>
          </p:cNvCxnSpPr>
          <p:nvPr/>
        </p:nvCxnSpPr>
        <p:spPr>
          <a:xfrm rot="16200000" flipH="1">
            <a:off x="4219913" y="1601855"/>
            <a:ext cx="345852" cy="1250705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FF6F0E"/>
            </a:solidFill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1F41C5E2-1E10-DC3C-F0E0-924FBE37A10D}"/>
              </a:ext>
            </a:extLst>
          </p:cNvPr>
          <p:cNvSpPr txBox="1"/>
          <p:nvPr/>
        </p:nvSpPr>
        <p:spPr>
          <a:xfrm>
            <a:off x="4819324" y="3081136"/>
            <a:ext cx="47205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11.0/24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6" name="Rectangle 39" descr="VPC group border">
            <a:extLst>
              <a:ext uri="{FF2B5EF4-FFF2-40B4-BE49-F238E27FC236}">
                <a16:creationId xmlns:a16="http://schemas.microsoft.com/office/drawing/2014/main" id="{2C406014-0A23-A37A-542F-8F077F9253A2}"/>
              </a:ext>
            </a:extLst>
          </p:cNvPr>
          <p:cNvSpPr/>
          <p:nvPr/>
        </p:nvSpPr>
        <p:spPr>
          <a:xfrm>
            <a:off x="3413329" y="4960427"/>
            <a:ext cx="2293072" cy="1504991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7" name="Graphic 57" descr="VPC group icon.">
            <a:extLst>
              <a:ext uri="{FF2B5EF4-FFF2-40B4-BE49-F238E27FC236}">
                <a16:creationId xmlns:a16="http://schemas.microsoft.com/office/drawing/2014/main" id="{9ADA4972-9216-B8E9-E18F-4EF4646B40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409031" y="4960427"/>
            <a:ext cx="288000" cy="288000"/>
          </a:xfrm>
          <a:prstGeom prst="rect">
            <a:avLst/>
          </a:prstGeom>
        </p:spPr>
      </p:pic>
      <p:sp>
        <p:nvSpPr>
          <p:cNvPr id="202" name="Rectangle 73">
            <a:extLst>
              <a:ext uri="{FF2B5EF4-FFF2-40B4-BE49-F238E27FC236}">
                <a16:creationId xmlns:a16="http://schemas.microsoft.com/office/drawing/2014/main" id="{8749A4C1-C189-5A66-EDE8-AB177AE88E42}"/>
              </a:ext>
            </a:extLst>
          </p:cNvPr>
          <p:cNvSpPr/>
          <p:nvPr/>
        </p:nvSpPr>
        <p:spPr>
          <a:xfrm>
            <a:off x="3744273" y="5538392"/>
            <a:ext cx="1509945" cy="850123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4" name="Graphic 74" descr="Public subnet group icon. ">
            <a:extLst>
              <a:ext uri="{FF2B5EF4-FFF2-40B4-BE49-F238E27FC236}">
                <a16:creationId xmlns:a16="http://schemas.microsoft.com/office/drawing/2014/main" id="{0904D570-78B5-64AA-18F1-78F5535125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44273" y="5538393"/>
            <a:ext cx="288000" cy="288000"/>
          </a:xfrm>
          <a:prstGeom prst="rect">
            <a:avLst/>
          </a:prstGeom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CC74E2AB-8470-C497-4824-48FF7C24492A}"/>
              </a:ext>
            </a:extLst>
          </p:cNvPr>
          <p:cNvSpPr txBox="1"/>
          <p:nvPr/>
        </p:nvSpPr>
        <p:spPr>
          <a:xfrm>
            <a:off x="4065638" y="5575004"/>
            <a:ext cx="90852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10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3BDA7C76-5BD1-31DF-098A-85AC04A3AE3C}"/>
              </a:ext>
            </a:extLst>
          </p:cNvPr>
          <p:cNvSpPr/>
          <p:nvPr/>
        </p:nvSpPr>
        <p:spPr bwMode="auto">
          <a:xfrm>
            <a:off x="3682540" y="5248307"/>
            <a:ext cx="1627865" cy="1184609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97280C3E-3A45-E2A9-4706-7D2DFE14643A}"/>
              </a:ext>
            </a:extLst>
          </p:cNvPr>
          <p:cNvSpPr txBox="1"/>
          <p:nvPr/>
        </p:nvSpPr>
        <p:spPr>
          <a:xfrm>
            <a:off x="3744273" y="5317197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X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34" name="타원 233">
            <a:extLst>
              <a:ext uri="{FF2B5EF4-FFF2-40B4-BE49-F238E27FC236}">
                <a16:creationId xmlns:a16="http://schemas.microsoft.com/office/drawing/2014/main" id="{6D1EC177-2569-AA09-70EE-609FAC18C960}"/>
              </a:ext>
            </a:extLst>
          </p:cNvPr>
          <p:cNvSpPr/>
          <p:nvPr/>
        </p:nvSpPr>
        <p:spPr>
          <a:xfrm>
            <a:off x="4939476" y="5569573"/>
            <a:ext cx="162975" cy="162975"/>
          </a:xfrm>
          <a:prstGeom prst="ellipse">
            <a:avLst/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pic>
        <p:nvPicPr>
          <p:cNvPr id="239" name="그림 238">
            <a:extLst>
              <a:ext uri="{FF2B5EF4-FFF2-40B4-BE49-F238E27FC236}">
                <a16:creationId xmlns:a16="http://schemas.microsoft.com/office/drawing/2014/main" id="{F6D26035-14BD-FC1A-17F6-498796B3B0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6169" y="4420537"/>
            <a:ext cx="298923" cy="290618"/>
          </a:xfrm>
          <a:prstGeom prst="rect">
            <a:avLst/>
          </a:prstGeom>
        </p:spPr>
      </p:pic>
      <p:sp>
        <p:nvSpPr>
          <p:cNvPr id="240" name="TextBox 239">
            <a:extLst>
              <a:ext uri="{FF2B5EF4-FFF2-40B4-BE49-F238E27FC236}">
                <a16:creationId xmlns:a16="http://schemas.microsoft.com/office/drawing/2014/main" id="{083627EA-69C9-A395-B6C6-3E00F8EC18A5}"/>
              </a:ext>
            </a:extLst>
          </p:cNvPr>
          <p:cNvSpPr txBox="1"/>
          <p:nvPr/>
        </p:nvSpPr>
        <p:spPr>
          <a:xfrm>
            <a:off x="5190245" y="4308876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245" name="꺾인 연결선[E] 244">
            <a:extLst>
              <a:ext uri="{FF2B5EF4-FFF2-40B4-BE49-F238E27FC236}">
                <a16:creationId xmlns:a16="http://schemas.microsoft.com/office/drawing/2014/main" id="{5B2571CF-6690-7D50-6300-46404DF6A09A}"/>
              </a:ext>
            </a:extLst>
          </p:cNvPr>
          <p:cNvCxnSpPr>
            <a:cxnSpLocks/>
            <a:stCxn id="256" idx="2"/>
            <a:endCxn id="277" idx="3"/>
          </p:cNvCxnSpPr>
          <p:nvPr/>
        </p:nvCxnSpPr>
        <p:spPr>
          <a:xfrm rot="5400000">
            <a:off x="4780144" y="4240581"/>
            <a:ext cx="197999" cy="292097"/>
          </a:xfrm>
          <a:prstGeom prst="bentConnector2">
            <a:avLst/>
          </a:prstGeom>
          <a:ln w="19050" cap="rnd">
            <a:solidFill>
              <a:srgbClr val="FF6F0E"/>
            </a:solidFill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0F25ABD5-2181-38A5-816B-B5263EE27452}"/>
              </a:ext>
            </a:extLst>
          </p:cNvPr>
          <p:cNvSpPr txBox="1"/>
          <p:nvPr/>
        </p:nvSpPr>
        <p:spPr>
          <a:xfrm>
            <a:off x="3689786" y="4964406"/>
            <a:ext cx="119243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VPC 10.1.0.0/16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58" name="그림 257">
            <a:extLst>
              <a:ext uri="{FF2B5EF4-FFF2-40B4-BE49-F238E27FC236}">
                <a16:creationId xmlns:a16="http://schemas.microsoft.com/office/drawing/2014/main" id="{05B42275-17DE-9290-38ED-B266DBE51C8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6031" y="4858157"/>
            <a:ext cx="162032" cy="162032"/>
          </a:xfrm>
          <a:prstGeom prst="rect">
            <a:avLst/>
          </a:prstGeom>
        </p:spPr>
      </p:pic>
      <p:cxnSp>
        <p:nvCxnSpPr>
          <p:cNvPr id="264" name="꺾인 연결선[E] 263">
            <a:extLst>
              <a:ext uri="{FF2B5EF4-FFF2-40B4-BE49-F238E27FC236}">
                <a16:creationId xmlns:a16="http://schemas.microsoft.com/office/drawing/2014/main" id="{3D172903-83B3-A1C0-973F-B79034B487DB}"/>
              </a:ext>
            </a:extLst>
          </p:cNvPr>
          <p:cNvCxnSpPr>
            <a:cxnSpLocks/>
            <a:stCxn id="258" idx="0"/>
            <a:endCxn id="278" idx="3"/>
          </p:cNvCxnSpPr>
          <p:nvPr/>
        </p:nvCxnSpPr>
        <p:spPr>
          <a:xfrm rot="16200000" flipV="1">
            <a:off x="4760067" y="4601176"/>
            <a:ext cx="218810" cy="295151"/>
          </a:xfrm>
          <a:prstGeom prst="bentConnector2">
            <a:avLst/>
          </a:prstGeom>
          <a:ln w="19050" cap="rnd">
            <a:solidFill>
              <a:srgbClr val="FF6F0E"/>
            </a:solidFill>
            <a:round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7" name="그림 276">
            <a:extLst>
              <a:ext uri="{FF2B5EF4-FFF2-40B4-BE49-F238E27FC236}">
                <a16:creationId xmlns:a16="http://schemas.microsoft.com/office/drawing/2014/main" id="{5CFDC2D0-AB8A-81F7-9E21-2807D38471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1062" y="4404613"/>
            <a:ext cx="162032" cy="162032"/>
          </a:xfrm>
          <a:prstGeom prst="rect">
            <a:avLst/>
          </a:prstGeom>
        </p:spPr>
      </p:pic>
      <p:pic>
        <p:nvPicPr>
          <p:cNvPr id="278" name="그림 277">
            <a:extLst>
              <a:ext uri="{FF2B5EF4-FFF2-40B4-BE49-F238E27FC236}">
                <a16:creationId xmlns:a16="http://schemas.microsoft.com/office/drawing/2014/main" id="{02E0A882-007D-77EA-782B-1643FB622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9864" y="4558331"/>
            <a:ext cx="162032" cy="162032"/>
          </a:xfrm>
          <a:prstGeom prst="rect">
            <a:avLst/>
          </a:prstGeom>
        </p:spPr>
      </p:pic>
      <p:pic>
        <p:nvPicPr>
          <p:cNvPr id="281" name="Graphic 23" descr="Amazon Elastic Kubernetes Service (Amazon EKS) Service icon.">
            <a:extLst>
              <a:ext uri="{FF2B5EF4-FFF2-40B4-BE49-F238E27FC236}">
                <a16:creationId xmlns:a16="http://schemas.microsoft.com/office/drawing/2014/main" id="{EEB39F1B-3C96-8762-A91D-6E4A4044A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4296907" y="5986032"/>
            <a:ext cx="358481" cy="35848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4" name="그림 283">
            <a:extLst>
              <a:ext uri="{FF2B5EF4-FFF2-40B4-BE49-F238E27FC236}">
                <a16:creationId xmlns:a16="http://schemas.microsoft.com/office/drawing/2014/main" id="{1CFCD1A4-6C83-15BD-7610-E34B1EFC344D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213" y="5743239"/>
            <a:ext cx="277000" cy="301352"/>
          </a:xfrm>
          <a:prstGeom prst="rect">
            <a:avLst/>
          </a:prstGeom>
        </p:spPr>
      </p:pic>
      <p:cxnSp>
        <p:nvCxnSpPr>
          <p:cNvPr id="285" name="직선 화살표 연결선 284">
            <a:extLst>
              <a:ext uri="{FF2B5EF4-FFF2-40B4-BE49-F238E27FC236}">
                <a16:creationId xmlns:a16="http://schemas.microsoft.com/office/drawing/2014/main" id="{560DD006-6982-E4A8-20EB-7E44AB1EC85F}"/>
              </a:ext>
            </a:extLst>
          </p:cNvPr>
          <p:cNvCxnSpPr>
            <a:cxnSpLocks/>
            <a:stCxn id="234" idx="0"/>
            <a:endCxn id="258" idx="2"/>
          </p:cNvCxnSpPr>
          <p:nvPr/>
        </p:nvCxnSpPr>
        <p:spPr>
          <a:xfrm flipH="1" flipV="1">
            <a:off x="5017047" y="5020189"/>
            <a:ext cx="3917" cy="549384"/>
          </a:xfrm>
          <a:prstGeom prst="straightConnector1">
            <a:avLst/>
          </a:prstGeom>
          <a:ln w="19050" cap="rnd">
            <a:solidFill>
              <a:srgbClr val="FF6F0E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8" name="표 27">
            <a:extLst>
              <a:ext uri="{FF2B5EF4-FFF2-40B4-BE49-F238E27FC236}">
                <a16:creationId xmlns:a16="http://schemas.microsoft.com/office/drawing/2014/main" id="{0CD25FC9-23D4-9F67-C580-6D57A2AB8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231564"/>
              </p:ext>
            </p:extLst>
          </p:nvPr>
        </p:nvGraphicFramePr>
        <p:xfrm>
          <a:off x="553655" y="5251131"/>
          <a:ext cx="1378775" cy="575262"/>
        </p:xfrm>
        <a:graphic>
          <a:graphicData uri="http://schemas.openxmlformats.org/drawingml/2006/table">
            <a:tbl>
              <a:tblPr firstRow="1" bandRow="1"/>
              <a:tblGrid>
                <a:gridCol w="844974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3801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224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Cell Private NAT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390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224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10.1.0.0/16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289" name="표 27">
            <a:extLst>
              <a:ext uri="{FF2B5EF4-FFF2-40B4-BE49-F238E27FC236}">
                <a16:creationId xmlns:a16="http://schemas.microsoft.com/office/drawing/2014/main" id="{D78CED73-DD23-C04A-9D5D-E76513BA8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985717"/>
              </p:ext>
            </p:extLst>
          </p:nvPr>
        </p:nvGraphicFramePr>
        <p:xfrm>
          <a:off x="548893" y="4324896"/>
          <a:ext cx="1875364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8820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1087163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 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CIDR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10.1.0.0/16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Cell VPC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292" name="표 27">
            <a:extLst>
              <a:ext uri="{FF2B5EF4-FFF2-40B4-BE49-F238E27FC236}">
                <a16:creationId xmlns:a16="http://schemas.microsoft.com/office/drawing/2014/main" id="{4A61A071-9890-0CD8-9E8E-8E458A020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878013"/>
              </p:ext>
            </p:extLst>
          </p:nvPr>
        </p:nvGraphicFramePr>
        <p:xfrm>
          <a:off x="555855" y="3235091"/>
          <a:ext cx="138033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92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4404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NLB RT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10.1.0.0/16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pic>
        <p:nvPicPr>
          <p:cNvPr id="295" name="그림 294">
            <a:extLst>
              <a:ext uri="{FF2B5EF4-FFF2-40B4-BE49-F238E27FC236}">
                <a16:creationId xmlns:a16="http://schemas.microsoft.com/office/drawing/2014/main" id="{B792924E-928F-6224-8439-0D6BEA7F30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74" y="6074039"/>
            <a:ext cx="270473" cy="270473"/>
          </a:xfrm>
          <a:prstGeom prst="rect">
            <a:avLst/>
          </a:prstGeom>
        </p:spPr>
      </p:pic>
      <p:pic>
        <p:nvPicPr>
          <p:cNvPr id="302" name="Graphic 72" descr="Private subnet group icon. ">
            <a:extLst>
              <a:ext uri="{FF2B5EF4-FFF2-40B4-BE49-F238E27FC236}">
                <a16:creationId xmlns:a16="http://schemas.microsoft.com/office/drawing/2014/main" id="{76246F96-E05F-AC3E-2954-392703DF8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735966" y="3814217"/>
            <a:ext cx="288000" cy="288000"/>
          </a:xfrm>
          <a:prstGeom prst="rect">
            <a:avLst/>
          </a:prstGeom>
        </p:spPr>
      </p:pic>
      <p:sp>
        <p:nvSpPr>
          <p:cNvPr id="303" name="Rectangle 71">
            <a:extLst>
              <a:ext uri="{FF2B5EF4-FFF2-40B4-BE49-F238E27FC236}">
                <a16:creationId xmlns:a16="http://schemas.microsoft.com/office/drawing/2014/main" id="{F0715460-F83B-E4A4-B3B4-C95132232942}"/>
              </a:ext>
            </a:extLst>
          </p:cNvPr>
          <p:cNvSpPr/>
          <p:nvPr/>
        </p:nvSpPr>
        <p:spPr>
          <a:xfrm>
            <a:off x="3738270" y="3813512"/>
            <a:ext cx="1513176" cy="372903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6E7E69FC-BCF2-C1DD-B6AA-209114AC068A}"/>
              </a:ext>
            </a:extLst>
          </p:cNvPr>
          <p:cNvSpPr txBox="1"/>
          <p:nvPr/>
        </p:nvSpPr>
        <p:spPr>
          <a:xfrm>
            <a:off x="4060692" y="3814075"/>
            <a:ext cx="76910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Attach Subnet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251.0/24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56" name="그림 255">
            <a:extLst>
              <a:ext uri="{FF2B5EF4-FFF2-40B4-BE49-F238E27FC236}">
                <a16:creationId xmlns:a16="http://schemas.microsoft.com/office/drawing/2014/main" id="{D763118E-68B5-B1EF-847B-D67D4E46CF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44175" y="4125598"/>
            <a:ext cx="162032" cy="162032"/>
          </a:xfrm>
          <a:prstGeom prst="rect">
            <a:avLst/>
          </a:prstGeom>
        </p:spPr>
      </p:pic>
      <p:sp>
        <p:nvSpPr>
          <p:cNvPr id="306" name="Rectangle 77">
            <a:extLst>
              <a:ext uri="{FF2B5EF4-FFF2-40B4-BE49-F238E27FC236}">
                <a16:creationId xmlns:a16="http://schemas.microsoft.com/office/drawing/2014/main" id="{C56BEF41-2BD9-56F3-155D-45DBFAD3266D}"/>
              </a:ext>
            </a:extLst>
          </p:cNvPr>
          <p:cNvSpPr/>
          <p:nvPr/>
        </p:nvSpPr>
        <p:spPr>
          <a:xfrm>
            <a:off x="459607" y="1823235"/>
            <a:ext cx="2333316" cy="4642183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3F380089-FB65-DDC9-DE71-0D845FC84284}"/>
              </a:ext>
            </a:extLst>
          </p:cNvPr>
          <p:cNvSpPr txBox="1"/>
          <p:nvPr/>
        </p:nvSpPr>
        <p:spPr>
          <a:xfrm>
            <a:off x="1152703" y="6363955"/>
            <a:ext cx="935223" cy="169277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11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Routing Table</a:t>
            </a:r>
            <a:endParaRPr kumimoji="1" lang="ko-KR" altLang="en-US" sz="11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307" name="표 27">
            <a:extLst>
              <a:ext uri="{FF2B5EF4-FFF2-40B4-BE49-F238E27FC236}">
                <a16:creationId xmlns:a16="http://schemas.microsoft.com/office/drawing/2014/main" id="{35B9BB96-1398-9E83-615C-525ABF97D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563094"/>
              </p:ext>
            </p:extLst>
          </p:nvPr>
        </p:nvGraphicFramePr>
        <p:xfrm>
          <a:off x="555855" y="2568565"/>
          <a:ext cx="138033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92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4404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Ingress RT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pic>
        <p:nvPicPr>
          <p:cNvPr id="308" name="그림 307">
            <a:extLst>
              <a:ext uri="{FF2B5EF4-FFF2-40B4-BE49-F238E27FC236}">
                <a16:creationId xmlns:a16="http://schemas.microsoft.com/office/drawing/2014/main" id="{9AFE0570-5E62-EE01-7B8D-2F68083E9C2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452" y="2559993"/>
            <a:ext cx="285333" cy="285333"/>
          </a:xfrm>
          <a:prstGeom prst="rect">
            <a:avLst/>
          </a:prstGeom>
        </p:spPr>
      </p:pic>
      <p:pic>
        <p:nvPicPr>
          <p:cNvPr id="309" name="그림 308">
            <a:extLst>
              <a:ext uri="{FF2B5EF4-FFF2-40B4-BE49-F238E27FC236}">
                <a16:creationId xmlns:a16="http://schemas.microsoft.com/office/drawing/2014/main" id="{05063D8B-CF98-D77E-9E6A-3338BFB8635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26728" y="1675532"/>
            <a:ext cx="298922" cy="290382"/>
          </a:xfrm>
          <a:prstGeom prst="rect">
            <a:avLst/>
          </a:prstGeom>
        </p:spPr>
      </p:pic>
      <p:sp>
        <p:nvSpPr>
          <p:cNvPr id="310" name="TextBox 309">
            <a:extLst>
              <a:ext uri="{FF2B5EF4-FFF2-40B4-BE49-F238E27FC236}">
                <a16:creationId xmlns:a16="http://schemas.microsoft.com/office/drawing/2014/main" id="{4FCB1D4E-45F8-E2D6-254A-9716C462218F}"/>
              </a:ext>
            </a:extLst>
          </p:cNvPr>
          <p:cNvSpPr txBox="1"/>
          <p:nvPr/>
        </p:nvSpPr>
        <p:spPr>
          <a:xfrm>
            <a:off x="2752383" y="2113916"/>
            <a:ext cx="39694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사용자</a:t>
            </a:r>
          </a:p>
        </p:txBody>
      </p:sp>
      <p:pic>
        <p:nvPicPr>
          <p:cNvPr id="313" name="그림 312">
            <a:extLst>
              <a:ext uri="{FF2B5EF4-FFF2-40B4-BE49-F238E27FC236}">
                <a16:creationId xmlns:a16="http://schemas.microsoft.com/office/drawing/2014/main" id="{80E6B2AA-1505-E1CB-1952-77EB19FC108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383" y="3394917"/>
            <a:ext cx="285333" cy="285333"/>
          </a:xfrm>
          <a:prstGeom prst="rect">
            <a:avLst/>
          </a:prstGeom>
        </p:spPr>
      </p:pic>
      <p:sp>
        <p:nvSpPr>
          <p:cNvPr id="314" name="TextBox 313">
            <a:extLst>
              <a:ext uri="{FF2B5EF4-FFF2-40B4-BE49-F238E27FC236}">
                <a16:creationId xmlns:a16="http://schemas.microsoft.com/office/drawing/2014/main" id="{5387B55E-20C4-784F-3CE5-1F551A2F43D6}"/>
              </a:ext>
            </a:extLst>
          </p:cNvPr>
          <p:cNvSpPr txBox="1"/>
          <p:nvPr/>
        </p:nvSpPr>
        <p:spPr>
          <a:xfrm>
            <a:off x="3744273" y="3583654"/>
            <a:ext cx="49290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GWLB EP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317" name="그림 316">
            <a:extLst>
              <a:ext uri="{FF2B5EF4-FFF2-40B4-BE49-F238E27FC236}">
                <a16:creationId xmlns:a16="http://schemas.microsoft.com/office/drawing/2014/main" id="{59E35E87-D0BC-455C-C2EB-D65FFC3ADC5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229" y="3432228"/>
            <a:ext cx="270473" cy="270473"/>
          </a:xfrm>
          <a:prstGeom prst="rect">
            <a:avLst/>
          </a:prstGeom>
        </p:spPr>
      </p:pic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CA0D7FD9-7302-9D18-3D9C-58CF02D4278E}"/>
              </a:ext>
            </a:extLst>
          </p:cNvPr>
          <p:cNvCxnSpPr>
            <a:cxnSpLocks/>
            <a:stCxn id="317" idx="2"/>
            <a:endCxn id="256" idx="0"/>
          </p:cNvCxnSpPr>
          <p:nvPr/>
        </p:nvCxnSpPr>
        <p:spPr>
          <a:xfrm>
            <a:off x="5021466" y="3702701"/>
            <a:ext cx="3725" cy="422897"/>
          </a:xfrm>
          <a:prstGeom prst="straightConnector1">
            <a:avLst/>
          </a:prstGeom>
          <a:ln w="19050" cap="rnd">
            <a:solidFill>
              <a:srgbClr val="FF6F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4" name="표 27">
            <a:extLst>
              <a:ext uri="{FF2B5EF4-FFF2-40B4-BE49-F238E27FC236}">
                <a16:creationId xmlns:a16="http://schemas.microsoft.com/office/drawing/2014/main" id="{C0396AA2-CD71-C887-A5D6-25106A92E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086560"/>
              </p:ext>
            </p:extLst>
          </p:nvPr>
        </p:nvGraphicFramePr>
        <p:xfrm>
          <a:off x="548892" y="1915174"/>
          <a:ext cx="1544983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0996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703987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IGW Ingress RT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10.0.11.0/24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GWLB EP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cxnSp>
        <p:nvCxnSpPr>
          <p:cNvPr id="325" name="직선 화살표 연결선 324">
            <a:extLst>
              <a:ext uri="{FF2B5EF4-FFF2-40B4-BE49-F238E27FC236}">
                <a16:creationId xmlns:a16="http://schemas.microsoft.com/office/drawing/2014/main" id="{BE5877B8-7131-7A55-40B2-069B9628941F}"/>
              </a:ext>
            </a:extLst>
          </p:cNvPr>
          <p:cNvCxnSpPr>
            <a:cxnSpLocks/>
            <a:stCxn id="309" idx="3"/>
            <a:endCxn id="23" idx="1"/>
          </p:cNvCxnSpPr>
          <p:nvPr/>
        </p:nvCxnSpPr>
        <p:spPr>
          <a:xfrm>
            <a:off x="2825650" y="1820723"/>
            <a:ext cx="584079" cy="4893"/>
          </a:xfrm>
          <a:prstGeom prst="straightConnector1">
            <a:avLst/>
          </a:prstGeom>
          <a:ln w="19050" cap="rnd">
            <a:solidFill>
              <a:srgbClr val="FF6F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22510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2">
            <a:extLst>
              <a:ext uri="{FF2B5EF4-FFF2-40B4-BE49-F238E27FC236}">
                <a16:creationId xmlns:a16="http://schemas.microsoft.com/office/drawing/2014/main" id="{592B2817-8E60-D6A5-C419-48F3AD98F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73" y="1609097"/>
            <a:ext cx="5557070" cy="4933691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0FD991-2A66-3FAF-F20E-1A50A39B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당근 </a:t>
            </a:r>
            <a:r>
              <a:rPr kumimoji="1" lang="en-US" altLang="ko-KR" dirty="0"/>
              <a:t>VPC </a:t>
            </a:r>
            <a:r>
              <a:rPr kumimoji="1" lang="ko-KR" altLang="en-US" dirty="0"/>
              <a:t>아키텍쳐 개선안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Ingress Traffic </a:t>
            </a:r>
            <a:r>
              <a:rPr kumimoji="1" lang="ko-KR" altLang="en-US" dirty="0"/>
              <a:t>보안 제어 개선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9722FF-238C-F371-E663-362705782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28</a:t>
            </a:fld>
            <a:endParaRPr lang="en-US" altLang="ko-KR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1996D9AF-34CC-14F5-D72F-94B3662C4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871300"/>
            <a:ext cx="555707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67" name="AutoShape 51">
            <a:extLst>
              <a:ext uri="{FF2B5EF4-FFF2-40B4-BE49-F238E27FC236}">
                <a16:creationId xmlns:a16="http://schemas.microsoft.com/office/drawing/2014/main" id="{E9BF88B7-16A4-6377-D771-A790B953E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662327"/>
            <a:ext cx="555707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pic>
        <p:nvPicPr>
          <p:cNvPr id="269" name="그림 16">
            <a:extLst>
              <a:ext uri="{FF2B5EF4-FFF2-40B4-BE49-F238E27FC236}">
                <a16:creationId xmlns:a16="http://schemas.microsoft.com/office/drawing/2014/main" id="{4F5A3891-4CCE-45B0-E359-35E307A3825A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0726111D-27BE-DF56-4E04-AFB21261A571}"/>
              </a:ext>
            </a:extLst>
          </p:cNvPr>
          <p:cNvSpPr txBox="1"/>
          <p:nvPr/>
        </p:nvSpPr>
        <p:spPr>
          <a:xfrm>
            <a:off x="160666" y="557654"/>
            <a:ext cx="116752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ANFW(AWS Network Firewall)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활용한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 제어 디자인을 통해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보안을 개선할 수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Routing VPC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인입되는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엔드포인트로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라우팅합니다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엔드포인트에서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정의된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정책에 따라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트래픽을 모니터링하고 필터링하며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잠재적 위협을 탐지함으로써 </a:t>
            </a:r>
            <a:r>
              <a:rPr lang="ko-KR" altLang="en-US" sz="14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인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보안을 개선할 수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 </a:t>
            </a:r>
          </a:p>
        </p:txBody>
      </p:sp>
      <p:sp>
        <p:nvSpPr>
          <p:cNvPr id="272" name="Rectangle 287">
            <a:extLst>
              <a:ext uri="{FF2B5EF4-FFF2-40B4-BE49-F238E27FC236}">
                <a16:creationId xmlns:a16="http://schemas.microsoft.com/office/drawing/2014/main" id="{AB5B9D74-DA06-BEE9-F887-44310408F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096212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2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기반의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Inbound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제어에 대한 기대효과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Cell VPC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인입되는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트래픽을 모니터링하고 필터링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정의된 정책에 따라 허용되지 않는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트래픽은 차단되며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보안 위험 경감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 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관리형 서비스이므로 패치 관리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가용성 및 확장성 등의 운영 부담 최소화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NACL/Security Group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기반의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Inbound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제어의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목록을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수행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 일괄 보안 로그 분석 관리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외부 접근에 대한 리소스를 상세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NATGW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과금하지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않음 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아웃바운드에 대한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SSL/TLS Decryption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적용을 통한 암호 트래픽에 대한 가시성 확보 및 차단 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E696600-0BEE-1735-DA89-06EAD110628A}"/>
              </a:ext>
            </a:extLst>
          </p:cNvPr>
          <p:cNvSpPr txBox="1"/>
          <p:nvPr/>
        </p:nvSpPr>
        <p:spPr>
          <a:xfrm>
            <a:off x="6689929" y="1686634"/>
            <a:ext cx="4623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 Traffic 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 제어 개선</a:t>
            </a:r>
          </a:p>
        </p:txBody>
      </p:sp>
      <p:sp>
        <p:nvSpPr>
          <p:cNvPr id="120" name="Rectangle 71">
            <a:extLst>
              <a:ext uri="{FF2B5EF4-FFF2-40B4-BE49-F238E27FC236}">
                <a16:creationId xmlns:a16="http://schemas.microsoft.com/office/drawing/2014/main" id="{3D4EE8A2-781C-69D6-9C0D-5C31AFDF9525}"/>
              </a:ext>
            </a:extLst>
          </p:cNvPr>
          <p:cNvSpPr/>
          <p:nvPr/>
        </p:nvSpPr>
        <p:spPr>
          <a:xfrm>
            <a:off x="3741501" y="3091233"/>
            <a:ext cx="734647" cy="61431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4" name="Graphic 72" descr="Private subnet group icon. ">
            <a:extLst>
              <a:ext uri="{FF2B5EF4-FFF2-40B4-BE49-F238E27FC236}">
                <a16:creationId xmlns:a16="http://schemas.microsoft.com/office/drawing/2014/main" id="{8332EDBE-A498-3E60-9FAE-C866DC24DA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41501" y="3091233"/>
            <a:ext cx="288000" cy="288000"/>
          </a:xfrm>
          <a:prstGeom prst="rect">
            <a:avLst/>
          </a:prstGeom>
        </p:spPr>
      </p:pic>
      <p:sp>
        <p:nvSpPr>
          <p:cNvPr id="125" name="Rectangle 73">
            <a:extLst>
              <a:ext uri="{FF2B5EF4-FFF2-40B4-BE49-F238E27FC236}">
                <a16:creationId xmlns:a16="http://schemas.microsoft.com/office/drawing/2014/main" id="{40ABB687-7CED-01E2-C077-546C7F63D82F}"/>
              </a:ext>
            </a:extLst>
          </p:cNvPr>
          <p:cNvSpPr/>
          <p:nvPr/>
        </p:nvSpPr>
        <p:spPr>
          <a:xfrm>
            <a:off x="3741501" y="2368954"/>
            <a:ext cx="1509945" cy="61431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6" name="Graphic 74" descr="Public subnet group icon. ">
            <a:extLst>
              <a:ext uri="{FF2B5EF4-FFF2-40B4-BE49-F238E27FC236}">
                <a16:creationId xmlns:a16="http://schemas.microsoft.com/office/drawing/2014/main" id="{C2B0B2BE-F8B1-2A4E-106F-B319181B57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1501" y="2368954"/>
            <a:ext cx="288000" cy="288000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D42B11DA-00BB-C8F9-C996-8ED40091F00F}"/>
              </a:ext>
            </a:extLst>
          </p:cNvPr>
          <p:cNvSpPr txBox="1"/>
          <p:nvPr/>
        </p:nvSpPr>
        <p:spPr>
          <a:xfrm>
            <a:off x="4062866" y="2405565"/>
            <a:ext cx="90852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 1.0/24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2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D8706A15-09A0-2812-5DC8-5F3B39649F7D}"/>
              </a:ext>
            </a:extLst>
          </p:cNvPr>
          <p:cNvSpPr/>
          <p:nvPr/>
        </p:nvSpPr>
        <p:spPr bwMode="auto">
          <a:xfrm>
            <a:off x="3679768" y="2176314"/>
            <a:ext cx="1627865" cy="2074581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45D46946-1F93-28C1-1A32-0C93E8D3695E}"/>
              </a:ext>
            </a:extLst>
          </p:cNvPr>
          <p:cNvSpPr txBox="1"/>
          <p:nvPr/>
        </p:nvSpPr>
        <p:spPr>
          <a:xfrm>
            <a:off x="3741501" y="2193347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X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4" name="Rectangle 39" descr="VPC group border">
            <a:extLst>
              <a:ext uri="{FF2B5EF4-FFF2-40B4-BE49-F238E27FC236}">
                <a16:creationId xmlns:a16="http://schemas.microsoft.com/office/drawing/2014/main" id="{28561EBC-DBE0-7D94-06C3-DD8CE994B3F0}"/>
              </a:ext>
            </a:extLst>
          </p:cNvPr>
          <p:cNvSpPr/>
          <p:nvPr/>
        </p:nvSpPr>
        <p:spPr>
          <a:xfrm>
            <a:off x="3413329" y="1827998"/>
            <a:ext cx="2293072" cy="2436477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5" name="Graphic 57" descr="VPC group icon.">
            <a:extLst>
              <a:ext uri="{FF2B5EF4-FFF2-40B4-BE49-F238E27FC236}">
                <a16:creationId xmlns:a16="http://schemas.microsoft.com/office/drawing/2014/main" id="{306ED573-01D2-5827-F977-940F705A09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409031" y="1823235"/>
            <a:ext cx="288000" cy="288000"/>
          </a:xfrm>
          <a:prstGeom prst="rect">
            <a:avLst/>
          </a:prstGeom>
        </p:spPr>
      </p:pic>
      <p:pic>
        <p:nvPicPr>
          <p:cNvPr id="196" name="그림 195">
            <a:extLst>
              <a:ext uri="{FF2B5EF4-FFF2-40B4-BE49-F238E27FC236}">
                <a16:creationId xmlns:a16="http://schemas.microsoft.com/office/drawing/2014/main" id="{2A787978-A3AC-3F70-C0BA-1A911DAC8A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29" y="1679816"/>
            <a:ext cx="291600" cy="291600"/>
          </a:xfrm>
          <a:prstGeom prst="rect">
            <a:avLst/>
          </a:prstGeom>
        </p:spPr>
      </p:pic>
      <p:sp>
        <p:nvSpPr>
          <p:cNvPr id="197" name="TextBox 196">
            <a:extLst>
              <a:ext uri="{FF2B5EF4-FFF2-40B4-BE49-F238E27FC236}">
                <a16:creationId xmlns:a16="http://schemas.microsoft.com/office/drawing/2014/main" id="{C3AC3CB0-E240-D885-E509-B7CEFA335609}"/>
              </a:ext>
            </a:extLst>
          </p:cNvPr>
          <p:cNvSpPr txBox="1"/>
          <p:nvPr/>
        </p:nvSpPr>
        <p:spPr>
          <a:xfrm>
            <a:off x="3735966" y="1834505"/>
            <a:ext cx="162786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Routing VPC 10.0.0.0/16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073A9CCA-BBE6-C049-86D3-1B5BE603C31A}"/>
              </a:ext>
            </a:extLst>
          </p:cNvPr>
          <p:cNvSpPr txBox="1"/>
          <p:nvPr/>
        </p:nvSpPr>
        <p:spPr>
          <a:xfrm>
            <a:off x="3677480" y="1667760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IGW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92633CE-50A9-B209-8B58-5E5DC59BF7EB}"/>
              </a:ext>
            </a:extLst>
          </p:cNvPr>
          <p:cNvSpPr txBox="1"/>
          <p:nvPr/>
        </p:nvSpPr>
        <p:spPr>
          <a:xfrm>
            <a:off x="4231413" y="2842035"/>
            <a:ext cx="7695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GWLB EP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9D8FE79-EBC0-50B0-8FDF-B689E663BE11}"/>
              </a:ext>
            </a:extLst>
          </p:cNvPr>
          <p:cNvSpPr txBox="1"/>
          <p:nvPr/>
        </p:nvSpPr>
        <p:spPr>
          <a:xfrm>
            <a:off x="4069508" y="3101902"/>
            <a:ext cx="47205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Ingress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04" name="Rectangle 71">
            <a:extLst>
              <a:ext uri="{FF2B5EF4-FFF2-40B4-BE49-F238E27FC236}">
                <a16:creationId xmlns:a16="http://schemas.microsoft.com/office/drawing/2014/main" id="{A4E83BE3-6F48-F39A-339A-2AB8EC8F78C0}"/>
              </a:ext>
            </a:extLst>
          </p:cNvPr>
          <p:cNvSpPr/>
          <p:nvPr/>
        </p:nvSpPr>
        <p:spPr>
          <a:xfrm>
            <a:off x="4519243" y="3091091"/>
            <a:ext cx="734647" cy="61431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" name="Graphic 72" descr="Private subnet group icon. ">
            <a:extLst>
              <a:ext uri="{FF2B5EF4-FFF2-40B4-BE49-F238E27FC236}">
                <a16:creationId xmlns:a16="http://schemas.microsoft.com/office/drawing/2014/main" id="{7582EFC2-73E5-E17A-7313-E29D4CFF4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19243" y="3091091"/>
            <a:ext cx="288000" cy="288000"/>
          </a:xfrm>
          <a:prstGeom prst="rect">
            <a:avLst/>
          </a:prstGeom>
        </p:spPr>
      </p:pic>
      <p:sp>
        <p:nvSpPr>
          <p:cNvPr id="207" name="TextBox 206">
            <a:extLst>
              <a:ext uri="{FF2B5EF4-FFF2-40B4-BE49-F238E27FC236}">
                <a16:creationId xmlns:a16="http://schemas.microsoft.com/office/drawing/2014/main" id="{0BB19AC2-12CD-8F2E-0033-3A5AC99B39DC}"/>
              </a:ext>
            </a:extLst>
          </p:cNvPr>
          <p:cNvSpPr txBox="1"/>
          <p:nvPr/>
        </p:nvSpPr>
        <p:spPr>
          <a:xfrm>
            <a:off x="4572435" y="3567465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10" name="그림 209">
            <a:extLst>
              <a:ext uri="{FF2B5EF4-FFF2-40B4-BE49-F238E27FC236}">
                <a16:creationId xmlns:a16="http://schemas.microsoft.com/office/drawing/2014/main" id="{235589F4-2B96-9958-14E3-7532B89E92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627" y="2505285"/>
            <a:ext cx="381001" cy="381001"/>
          </a:xfrm>
          <a:prstGeom prst="rect">
            <a:avLst/>
          </a:prstGeom>
        </p:spPr>
      </p:pic>
      <p:cxnSp>
        <p:nvCxnSpPr>
          <p:cNvPr id="211" name="꺾인 연결선[E] 210">
            <a:extLst>
              <a:ext uri="{FF2B5EF4-FFF2-40B4-BE49-F238E27FC236}">
                <a16:creationId xmlns:a16="http://schemas.microsoft.com/office/drawing/2014/main" id="{A5A893F6-8B9E-DA83-D624-CEDA88B204A3}"/>
              </a:ext>
            </a:extLst>
          </p:cNvPr>
          <p:cNvCxnSpPr>
            <a:cxnSpLocks/>
            <a:endCxn id="210" idx="1"/>
          </p:cNvCxnSpPr>
          <p:nvPr/>
        </p:nvCxnSpPr>
        <p:spPr>
          <a:xfrm flipV="1">
            <a:off x="5167558" y="2695786"/>
            <a:ext cx="309069" cy="1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FF6F0E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16">
            <a:extLst>
              <a:ext uri="{FF2B5EF4-FFF2-40B4-BE49-F238E27FC236}">
                <a16:creationId xmlns:a16="http://schemas.microsoft.com/office/drawing/2014/main" id="{943EDD05-1927-6DA4-4A42-D93274171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167" y="2886286"/>
            <a:ext cx="38423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ANFW</a:t>
            </a:r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60851AFA-C3E2-9149-6FA5-41993D4D8D8F}"/>
              </a:ext>
            </a:extLst>
          </p:cNvPr>
          <p:cNvSpPr/>
          <p:nvPr/>
        </p:nvSpPr>
        <p:spPr>
          <a:xfrm>
            <a:off x="4943232" y="2838663"/>
            <a:ext cx="162975" cy="162975"/>
          </a:xfrm>
          <a:prstGeom prst="ellipse">
            <a:avLst/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cxnSp>
        <p:nvCxnSpPr>
          <p:cNvPr id="216" name="직선 화살표 연결선 215">
            <a:extLst>
              <a:ext uri="{FF2B5EF4-FFF2-40B4-BE49-F238E27FC236}">
                <a16:creationId xmlns:a16="http://schemas.microsoft.com/office/drawing/2014/main" id="{029DDF4A-7083-A6E5-B643-1572C709ABB2}"/>
              </a:ext>
            </a:extLst>
          </p:cNvPr>
          <p:cNvCxnSpPr>
            <a:cxnSpLocks/>
            <a:stCxn id="214" idx="4"/>
            <a:endCxn id="284" idx="0"/>
          </p:cNvCxnSpPr>
          <p:nvPr/>
        </p:nvCxnSpPr>
        <p:spPr>
          <a:xfrm flipH="1">
            <a:off x="5021466" y="3001638"/>
            <a:ext cx="3254" cy="430590"/>
          </a:xfrm>
          <a:prstGeom prst="straightConnector1">
            <a:avLst/>
          </a:prstGeom>
          <a:ln w="19050" cap="rnd">
            <a:solidFill>
              <a:srgbClr val="FF6F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타원 216">
            <a:extLst>
              <a:ext uri="{FF2B5EF4-FFF2-40B4-BE49-F238E27FC236}">
                <a16:creationId xmlns:a16="http://schemas.microsoft.com/office/drawing/2014/main" id="{609CDAD7-9596-E47F-D17C-0F1739124A28}"/>
              </a:ext>
            </a:extLst>
          </p:cNvPr>
          <p:cNvSpPr/>
          <p:nvPr/>
        </p:nvSpPr>
        <p:spPr>
          <a:xfrm>
            <a:off x="4936704" y="2400134"/>
            <a:ext cx="162975" cy="162975"/>
          </a:xfrm>
          <a:prstGeom prst="ellipse">
            <a:avLst/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F3F25A7E-8E53-F5AC-A9F0-C436702D09C7}"/>
              </a:ext>
            </a:extLst>
          </p:cNvPr>
          <p:cNvSpPr/>
          <p:nvPr/>
        </p:nvSpPr>
        <p:spPr>
          <a:xfrm>
            <a:off x="3628379" y="1915174"/>
            <a:ext cx="162975" cy="162975"/>
          </a:xfrm>
          <a:prstGeom prst="ellipse">
            <a:avLst/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cxnSp>
        <p:nvCxnSpPr>
          <p:cNvPr id="221" name="꺾인 연결선[E] 220">
            <a:extLst>
              <a:ext uri="{FF2B5EF4-FFF2-40B4-BE49-F238E27FC236}">
                <a16:creationId xmlns:a16="http://schemas.microsoft.com/office/drawing/2014/main" id="{B8ED11B0-89C3-24E1-3545-2058DE629B6E}"/>
              </a:ext>
            </a:extLst>
          </p:cNvPr>
          <p:cNvCxnSpPr>
            <a:cxnSpLocks/>
            <a:stCxn id="218" idx="5"/>
            <a:endCxn id="217" idx="0"/>
          </p:cNvCxnSpPr>
          <p:nvPr/>
        </p:nvCxnSpPr>
        <p:spPr>
          <a:xfrm rot="16200000" flipH="1">
            <a:off x="4219913" y="1601855"/>
            <a:ext cx="345852" cy="1250705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FF6F0E"/>
            </a:solidFill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704768D1-2788-5353-2E53-9E0FCC017449}"/>
              </a:ext>
            </a:extLst>
          </p:cNvPr>
          <p:cNvSpPr txBox="1"/>
          <p:nvPr/>
        </p:nvSpPr>
        <p:spPr>
          <a:xfrm>
            <a:off x="4819324" y="3081136"/>
            <a:ext cx="47205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11.0/24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23" name="Rectangle 39" descr="VPC group border">
            <a:extLst>
              <a:ext uri="{FF2B5EF4-FFF2-40B4-BE49-F238E27FC236}">
                <a16:creationId xmlns:a16="http://schemas.microsoft.com/office/drawing/2014/main" id="{24CDE257-1E51-F7F4-F9CA-68B38920A043}"/>
              </a:ext>
            </a:extLst>
          </p:cNvPr>
          <p:cNvSpPr/>
          <p:nvPr/>
        </p:nvSpPr>
        <p:spPr>
          <a:xfrm>
            <a:off x="3413329" y="4960427"/>
            <a:ext cx="2293072" cy="1504991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7" name="Graphic 57" descr="VPC group icon.">
            <a:extLst>
              <a:ext uri="{FF2B5EF4-FFF2-40B4-BE49-F238E27FC236}">
                <a16:creationId xmlns:a16="http://schemas.microsoft.com/office/drawing/2014/main" id="{B18CEBFB-559E-8FBF-CFB4-EB12CB53F0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409031" y="4960427"/>
            <a:ext cx="288000" cy="288000"/>
          </a:xfrm>
          <a:prstGeom prst="rect">
            <a:avLst/>
          </a:prstGeom>
        </p:spPr>
      </p:pic>
      <p:sp>
        <p:nvSpPr>
          <p:cNvPr id="228" name="Rectangle 73">
            <a:extLst>
              <a:ext uri="{FF2B5EF4-FFF2-40B4-BE49-F238E27FC236}">
                <a16:creationId xmlns:a16="http://schemas.microsoft.com/office/drawing/2014/main" id="{441FE73B-42D2-2417-278B-5EC9EFAB4B7E}"/>
              </a:ext>
            </a:extLst>
          </p:cNvPr>
          <p:cNvSpPr/>
          <p:nvPr/>
        </p:nvSpPr>
        <p:spPr>
          <a:xfrm>
            <a:off x="3744273" y="5538392"/>
            <a:ext cx="1509945" cy="850123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9" name="Graphic 74" descr="Public subnet group icon. ">
            <a:extLst>
              <a:ext uri="{FF2B5EF4-FFF2-40B4-BE49-F238E27FC236}">
                <a16:creationId xmlns:a16="http://schemas.microsoft.com/office/drawing/2014/main" id="{6060A87A-42BD-609C-1452-ABBD87C113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4273" y="5538393"/>
            <a:ext cx="288000" cy="288000"/>
          </a:xfrm>
          <a:prstGeom prst="rect">
            <a:avLst/>
          </a:prstGeom>
        </p:spPr>
      </p:pic>
      <p:sp>
        <p:nvSpPr>
          <p:cNvPr id="234" name="TextBox 233">
            <a:extLst>
              <a:ext uri="{FF2B5EF4-FFF2-40B4-BE49-F238E27FC236}">
                <a16:creationId xmlns:a16="http://schemas.microsoft.com/office/drawing/2014/main" id="{CB17C849-8D22-6990-C06C-AC09516F06E2}"/>
              </a:ext>
            </a:extLst>
          </p:cNvPr>
          <p:cNvSpPr txBox="1"/>
          <p:nvPr/>
        </p:nvSpPr>
        <p:spPr>
          <a:xfrm>
            <a:off x="4065638" y="5575004"/>
            <a:ext cx="90852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36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7B3AD33E-6162-CFD0-4AC6-34D458401C29}"/>
              </a:ext>
            </a:extLst>
          </p:cNvPr>
          <p:cNvSpPr/>
          <p:nvPr/>
        </p:nvSpPr>
        <p:spPr bwMode="auto">
          <a:xfrm>
            <a:off x="3682540" y="5248307"/>
            <a:ext cx="1627865" cy="1184609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70D9632-DA57-AF0E-9BFD-CA52F97E1211}"/>
              </a:ext>
            </a:extLst>
          </p:cNvPr>
          <p:cNvSpPr txBox="1"/>
          <p:nvPr/>
        </p:nvSpPr>
        <p:spPr>
          <a:xfrm>
            <a:off x="3744273" y="5317197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X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id="{3BF9EE4D-4B09-8E4B-65B8-37F9B3C847A1}"/>
              </a:ext>
            </a:extLst>
          </p:cNvPr>
          <p:cNvSpPr/>
          <p:nvPr/>
        </p:nvSpPr>
        <p:spPr>
          <a:xfrm>
            <a:off x="4939476" y="5569573"/>
            <a:ext cx="162975" cy="162975"/>
          </a:xfrm>
          <a:prstGeom prst="ellipse">
            <a:avLst/>
          </a:prstGeom>
          <a:solidFill>
            <a:srgbClr val="FF6F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pic>
        <p:nvPicPr>
          <p:cNvPr id="243" name="그림 242">
            <a:extLst>
              <a:ext uri="{FF2B5EF4-FFF2-40B4-BE49-F238E27FC236}">
                <a16:creationId xmlns:a16="http://schemas.microsoft.com/office/drawing/2014/main" id="{D4EC608F-9F20-8482-5D3B-F3DB9EE359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6169" y="4420537"/>
            <a:ext cx="298923" cy="290618"/>
          </a:xfrm>
          <a:prstGeom prst="rect">
            <a:avLst/>
          </a:prstGeom>
        </p:spPr>
      </p:pic>
      <p:sp>
        <p:nvSpPr>
          <p:cNvPr id="244" name="TextBox 243">
            <a:extLst>
              <a:ext uri="{FF2B5EF4-FFF2-40B4-BE49-F238E27FC236}">
                <a16:creationId xmlns:a16="http://schemas.microsoft.com/office/drawing/2014/main" id="{6BDAC49B-1B7B-71F0-3C54-DEB1CC3982FA}"/>
              </a:ext>
            </a:extLst>
          </p:cNvPr>
          <p:cNvSpPr txBox="1"/>
          <p:nvPr/>
        </p:nvSpPr>
        <p:spPr>
          <a:xfrm>
            <a:off x="5190245" y="4308876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245" name="꺾인 연결선[E] 244">
            <a:extLst>
              <a:ext uri="{FF2B5EF4-FFF2-40B4-BE49-F238E27FC236}">
                <a16:creationId xmlns:a16="http://schemas.microsoft.com/office/drawing/2014/main" id="{F35FDD92-7179-DA14-8DB1-17CE97C2454C}"/>
              </a:ext>
            </a:extLst>
          </p:cNvPr>
          <p:cNvCxnSpPr>
            <a:cxnSpLocks/>
            <a:stCxn id="275" idx="2"/>
            <a:endCxn id="254" idx="3"/>
          </p:cNvCxnSpPr>
          <p:nvPr/>
        </p:nvCxnSpPr>
        <p:spPr>
          <a:xfrm rot="5400000">
            <a:off x="4780144" y="4240581"/>
            <a:ext cx="197999" cy="292097"/>
          </a:xfrm>
          <a:prstGeom prst="bentConnector2">
            <a:avLst/>
          </a:prstGeom>
          <a:ln w="19050" cap="rnd">
            <a:solidFill>
              <a:srgbClr val="FF6F0E"/>
            </a:solidFill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A740AF8B-B611-1952-F29D-09AD4E2B2C24}"/>
              </a:ext>
            </a:extLst>
          </p:cNvPr>
          <p:cNvSpPr txBox="1"/>
          <p:nvPr/>
        </p:nvSpPr>
        <p:spPr>
          <a:xfrm>
            <a:off x="3689786" y="4964406"/>
            <a:ext cx="119243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VPC 10.1.0.0/16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49" name="그림 248">
            <a:extLst>
              <a:ext uri="{FF2B5EF4-FFF2-40B4-BE49-F238E27FC236}">
                <a16:creationId xmlns:a16="http://schemas.microsoft.com/office/drawing/2014/main" id="{652FBF5C-A83E-24A9-A301-392CC5AAFCD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6031" y="4858157"/>
            <a:ext cx="162032" cy="162032"/>
          </a:xfrm>
          <a:prstGeom prst="rect">
            <a:avLst/>
          </a:prstGeom>
        </p:spPr>
      </p:pic>
      <p:cxnSp>
        <p:nvCxnSpPr>
          <p:cNvPr id="253" name="꺾인 연결선[E] 252">
            <a:extLst>
              <a:ext uri="{FF2B5EF4-FFF2-40B4-BE49-F238E27FC236}">
                <a16:creationId xmlns:a16="http://schemas.microsoft.com/office/drawing/2014/main" id="{6041009A-E894-4CED-7CE3-60C243682D34}"/>
              </a:ext>
            </a:extLst>
          </p:cNvPr>
          <p:cNvCxnSpPr>
            <a:cxnSpLocks/>
            <a:stCxn id="249" idx="0"/>
            <a:endCxn id="255" idx="3"/>
          </p:cNvCxnSpPr>
          <p:nvPr/>
        </p:nvCxnSpPr>
        <p:spPr>
          <a:xfrm rot="16200000" flipV="1">
            <a:off x="4760067" y="4601176"/>
            <a:ext cx="218810" cy="295151"/>
          </a:xfrm>
          <a:prstGeom prst="bentConnector2">
            <a:avLst/>
          </a:prstGeom>
          <a:ln w="19050" cap="rnd">
            <a:solidFill>
              <a:srgbClr val="FF6F0E"/>
            </a:solidFill>
            <a:round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4" name="그림 253">
            <a:extLst>
              <a:ext uri="{FF2B5EF4-FFF2-40B4-BE49-F238E27FC236}">
                <a16:creationId xmlns:a16="http://schemas.microsoft.com/office/drawing/2014/main" id="{6B56205F-FD02-5553-927D-A602BCECDE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1062" y="4404613"/>
            <a:ext cx="162032" cy="162032"/>
          </a:xfrm>
          <a:prstGeom prst="rect">
            <a:avLst/>
          </a:prstGeom>
        </p:spPr>
      </p:pic>
      <p:pic>
        <p:nvPicPr>
          <p:cNvPr id="255" name="그림 254">
            <a:extLst>
              <a:ext uri="{FF2B5EF4-FFF2-40B4-BE49-F238E27FC236}">
                <a16:creationId xmlns:a16="http://schemas.microsoft.com/office/drawing/2014/main" id="{B64C0548-3616-6D32-E5FD-9C2B2A7701E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9864" y="4558331"/>
            <a:ext cx="162032" cy="162032"/>
          </a:xfrm>
          <a:prstGeom prst="rect">
            <a:avLst/>
          </a:prstGeom>
        </p:spPr>
      </p:pic>
      <p:pic>
        <p:nvPicPr>
          <p:cNvPr id="256" name="Graphic 23" descr="Amazon Elastic Kubernetes Service (Amazon EKS) Service icon.">
            <a:extLst>
              <a:ext uri="{FF2B5EF4-FFF2-40B4-BE49-F238E27FC236}">
                <a16:creationId xmlns:a16="http://schemas.microsoft.com/office/drawing/2014/main" id="{166AF02F-23FD-3342-F1D3-CE7F0AA05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4296907" y="5986032"/>
            <a:ext cx="358481" cy="35848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7" name="그림 256">
            <a:extLst>
              <a:ext uri="{FF2B5EF4-FFF2-40B4-BE49-F238E27FC236}">
                <a16:creationId xmlns:a16="http://schemas.microsoft.com/office/drawing/2014/main" id="{7109C5F7-2A75-C9FB-1993-CBBBD46EA8DB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213" y="5743239"/>
            <a:ext cx="277000" cy="301352"/>
          </a:xfrm>
          <a:prstGeom prst="rect">
            <a:avLst/>
          </a:prstGeom>
        </p:spPr>
      </p:pic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9ED99B43-C13F-F991-E086-001C99F78E9A}"/>
              </a:ext>
            </a:extLst>
          </p:cNvPr>
          <p:cNvCxnSpPr>
            <a:cxnSpLocks/>
            <a:stCxn id="240" idx="0"/>
            <a:endCxn id="249" idx="2"/>
          </p:cNvCxnSpPr>
          <p:nvPr/>
        </p:nvCxnSpPr>
        <p:spPr>
          <a:xfrm flipH="1" flipV="1">
            <a:off x="5017047" y="5020189"/>
            <a:ext cx="3917" cy="549384"/>
          </a:xfrm>
          <a:prstGeom prst="straightConnector1">
            <a:avLst/>
          </a:prstGeom>
          <a:ln w="19050" cap="rnd">
            <a:solidFill>
              <a:srgbClr val="FF6F0E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표 27">
            <a:extLst>
              <a:ext uri="{FF2B5EF4-FFF2-40B4-BE49-F238E27FC236}">
                <a16:creationId xmlns:a16="http://schemas.microsoft.com/office/drawing/2014/main" id="{EFB49CC1-086F-6991-21F5-1712B6540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463519"/>
              </p:ext>
            </p:extLst>
          </p:nvPr>
        </p:nvGraphicFramePr>
        <p:xfrm>
          <a:off x="553655" y="5251131"/>
          <a:ext cx="1378775" cy="575262"/>
        </p:xfrm>
        <a:graphic>
          <a:graphicData uri="http://schemas.openxmlformats.org/drawingml/2006/table">
            <a:tbl>
              <a:tblPr firstRow="1" bandRow="1"/>
              <a:tblGrid>
                <a:gridCol w="844974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3801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224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Cell Private NAT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390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224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10.1.0.0/16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261" name="표 27">
            <a:extLst>
              <a:ext uri="{FF2B5EF4-FFF2-40B4-BE49-F238E27FC236}">
                <a16:creationId xmlns:a16="http://schemas.microsoft.com/office/drawing/2014/main" id="{376B8D75-4F3F-45A2-6DEE-EF586067D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012769"/>
              </p:ext>
            </p:extLst>
          </p:nvPr>
        </p:nvGraphicFramePr>
        <p:xfrm>
          <a:off x="548893" y="4324896"/>
          <a:ext cx="1875364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8820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1087163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 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CIDR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10.1.0.0/16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Cell VPC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262" name="표 27">
            <a:extLst>
              <a:ext uri="{FF2B5EF4-FFF2-40B4-BE49-F238E27FC236}">
                <a16:creationId xmlns:a16="http://schemas.microsoft.com/office/drawing/2014/main" id="{37511778-1456-3C48-CE83-5B5C4B11F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182357"/>
              </p:ext>
            </p:extLst>
          </p:nvPr>
        </p:nvGraphicFramePr>
        <p:xfrm>
          <a:off x="555855" y="3235091"/>
          <a:ext cx="138033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92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4404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NLB RT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10.1.0.0/16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pic>
        <p:nvPicPr>
          <p:cNvPr id="263" name="그림 262">
            <a:extLst>
              <a:ext uri="{FF2B5EF4-FFF2-40B4-BE49-F238E27FC236}">
                <a16:creationId xmlns:a16="http://schemas.microsoft.com/office/drawing/2014/main" id="{C5B1ABDB-5923-BF2F-96BE-AF2316E06FC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74" y="6074039"/>
            <a:ext cx="270473" cy="270473"/>
          </a:xfrm>
          <a:prstGeom prst="rect">
            <a:avLst/>
          </a:prstGeom>
        </p:spPr>
      </p:pic>
      <p:pic>
        <p:nvPicPr>
          <p:cNvPr id="264" name="Graphic 72" descr="Private subnet group icon. ">
            <a:extLst>
              <a:ext uri="{FF2B5EF4-FFF2-40B4-BE49-F238E27FC236}">
                <a16:creationId xmlns:a16="http://schemas.microsoft.com/office/drawing/2014/main" id="{33B47F7F-1214-0CE9-F67D-9E6CEFDDD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35966" y="3814217"/>
            <a:ext cx="288000" cy="288000"/>
          </a:xfrm>
          <a:prstGeom prst="rect">
            <a:avLst/>
          </a:prstGeom>
        </p:spPr>
      </p:pic>
      <p:sp>
        <p:nvSpPr>
          <p:cNvPr id="265" name="Rectangle 71">
            <a:extLst>
              <a:ext uri="{FF2B5EF4-FFF2-40B4-BE49-F238E27FC236}">
                <a16:creationId xmlns:a16="http://schemas.microsoft.com/office/drawing/2014/main" id="{E47235E9-3DC6-501D-49E5-8BF500B6B782}"/>
              </a:ext>
            </a:extLst>
          </p:cNvPr>
          <p:cNvSpPr/>
          <p:nvPr/>
        </p:nvSpPr>
        <p:spPr>
          <a:xfrm>
            <a:off x="3738270" y="3813512"/>
            <a:ext cx="1513176" cy="372903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09012A1E-A916-935F-A306-971610484B4B}"/>
              </a:ext>
            </a:extLst>
          </p:cNvPr>
          <p:cNvSpPr txBox="1"/>
          <p:nvPr/>
        </p:nvSpPr>
        <p:spPr>
          <a:xfrm>
            <a:off x="4060692" y="3814075"/>
            <a:ext cx="76910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Attach Subnet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251.0/24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75" name="그림 274">
            <a:extLst>
              <a:ext uri="{FF2B5EF4-FFF2-40B4-BE49-F238E27FC236}">
                <a16:creationId xmlns:a16="http://schemas.microsoft.com/office/drawing/2014/main" id="{4BD48950-27A4-4B72-5168-3BE5A8DDED5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44175" y="4125598"/>
            <a:ext cx="162032" cy="162032"/>
          </a:xfrm>
          <a:prstGeom prst="rect">
            <a:avLst/>
          </a:prstGeom>
        </p:spPr>
      </p:pic>
      <p:sp>
        <p:nvSpPr>
          <p:cNvPr id="276" name="Rectangle 77">
            <a:extLst>
              <a:ext uri="{FF2B5EF4-FFF2-40B4-BE49-F238E27FC236}">
                <a16:creationId xmlns:a16="http://schemas.microsoft.com/office/drawing/2014/main" id="{0B62AD4B-3280-8669-3A98-A4945C0DB00B}"/>
              </a:ext>
            </a:extLst>
          </p:cNvPr>
          <p:cNvSpPr/>
          <p:nvPr/>
        </p:nvSpPr>
        <p:spPr>
          <a:xfrm>
            <a:off x="459607" y="1823235"/>
            <a:ext cx="2333316" cy="4642183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480F4F37-868E-5BF2-D55E-4A3DCBDAE9D0}"/>
              </a:ext>
            </a:extLst>
          </p:cNvPr>
          <p:cNvSpPr txBox="1"/>
          <p:nvPr/>
        </p:nvSpPr>
        <p:spPr>
          <a:xfrm>
            <a:off x="1152703" y="6363955"/>
            <a:ext cx="935223" cy="169277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11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Routing Table</a:t>
            </a:r>
            <a:endParaRPr kumimoji="1" lang="ko-KR" altLang="en-US" sz="11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278" name="표 27">
            <a:extLst>
              <a:ext uri="{FF2B5EF4-FFF2-40B4-BE49-F238E27FC236}">
                <a16:creationId xmlns:a16="http://schemas.microsoft.com/office/drawing/2014/main" id="{5AFBB88B-F0FB-DC39-CC29-5D9BFF898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36950"/>
              </p:ext>
            </p:extLst>
          </p:nvPr>
        </p:nvGraphicFramePr>
        <p:xfrm>
          <a:off x="555855" y="2568565"/>
          <a:ext cx="138033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92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4404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Ingress RT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pic>
        <p:nvPicPr>
          <p:cNvPr id="279" name="그림 278">
            <a:extLst>
              <a:ext uri="{FF2B5EF4-FFF2-40B4-BE49-F238E27FC236}">
                <a16:creationId xmlns:a16="http://schemas.microsoft.com/office/drawing/2014/main" id="{D171F62F-B70A-CC13-A696-D637EE83967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452" y="2559993"/>
            <a:ext cx="285333" cy="285333"/>
          </a:xfrm>
          <a:prstGeom prst="rect">
            <a:avLst/>
          </a:prstGeom>
        </p:spPr>
      </p:pic>
      <p:pic>
        <p:nvPicPr>
          <p:cNvPr id="280" name="그림 279">
            <a:extLst>
              <a:ext uri="{FF2B5EF4-FFF2-40B4-BE49-F238E27FC236}">
                <a16:creationId xmlns:a16="http://schemas.microsoft.com/office/drawing/2014/main" id="{6AD14589-A3CA-DA36-B4F0-43CD1AF6883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26728" y="1675532"/>
            <a:ext cx="298922" cy="290382"/>
          </a:xfrm>
          <a:prstGeom prst="rect">
            <a:avLst/>
          </a:prstGeom>
        </p:spPr>
      </p:pic>
      <p:sp>
        <p:nvSpPr>
          <p:cNvPr id="281" name="TextBox 280">
            <a:extLst>
              <a:ext uri="{FF2B5EF4-FFF2-40B4-BE49-F238E27FC236}">
                <a16:creationId xmlns:a16="http://schemas.microsoft.com/office/drawing/2014/main" id="{7FF2C6AB-8CAC-43CE-18D2-7A28F956BBA1}"/>
              </a:ext>
            </a:extLst>
          </p:cNvPr>
          <p:cNvSpPr txBox="1"/>
          <p:nvPr/>
        </p:nvSpPr>
        <p:spPr>
          <a:xfrm>
            <a:off x="2752383" y="2113916"/>
            <a:ext cx="39694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사용자</a:t>
            </a:r>
          </a:p>
        </p:txBody>
      </p:sp>
      <p:pic>
        <p:nvPicPr>
          <p:cNvPr id="282" name="그림 281">
            <a:extLst>
              <a:ext uri="{FF2B5EF4-FFF2-40B4-BE49-F238E27FC236}">
                <a16:creationId xmlns:a16="http://schemas.microsoft.com/office/drawing/2014/main" id="{B0CA3CE0-EEB4-3B10-827B-4448A9A8DE1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383" y="3394917"/>
            <a:ext cx="285333" cy="285333"/>
          </a:xfrm>
          <a:prstGeom prst="rect">
            <a:avLst/>
          </a:prstGeom>
        </p:spPr>
      </p:pic>
      <p:sp>
        <p:nvSpPr>
          <p:cNvPr id="283" name="TextBox 282">
            <a:extLst>
              <a:ext uri="{FF2B5EF4-FFF2-40B4-BE49-F238E27FC236}">
                <a16:creationId xmlns:a16="http://schemas.microsoft.com/office/drawing/2014/main" id="{6D28E547-70D8-64B3-101A-0F8C83552130}"/>
              </a:ext>
            </a:extLst>
          </p:cNvPr>
          <p:cNvSpPr txBox="1"/>
          <p:nvPr/>
        </p:nvSpPr>
        <p:spPr>
          <a:xfrm>
            <a:off x="3744273" y="3583654"/>
            <a:ext cx="49290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GWLB EP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84" name="그림 283">
            <a:extLst>
              <a:ext uri="{FF2B5EF4-FFF2-40B4-BE49-F238E27FC236}">
                <a16:creationId xmlns:a16="http://schemas.microsoft.com/office/drawing/2014/main" id="{DECBF7BE-0971-14F7-6A22-8D81864C49B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229" y="3432228"/>
            <a:ext cx="270473" cy="270473"/>
          </a:xfrm>
          <a:prstGeom prst="rect">
            <a:avLst/>
          </a:prstGeom>
        </p:spPr>
      </p:pic>
      <p:cxnSp>
        <p:nvCxnSpPr>
          <p:cNvPr id="285" name="직선 화살표 연결선 284">
            <a:extLst>
              <a:ext uri="{FF2B5EF4-FFF2-40B4-BE49-F238E27FC236}">
                <a16:creationId xmlns:a16="http://schemas.microsoft.com/office/drawing/2014/main" id="{63F4310D-C080-DC3F-CB2C-3BE086BFD7A3}"/>
              </a:ext>
            </a:extLst>
          </p:cNvPr>
          <p:cNvCxnSpPr>
            <a:cxnSpLocks/>
            <a:stCxn id="284" idx="2"/>
            <a:endCxn id="275" idx="0"/>
          </p:cNvCxnSpPr>
          <p:nvPr/>
        </p:nvCxnSpPr>
        <p:spPr>
          <a:xfrm>
            <a:off x="5021466" y="3702701"/>
            <a:ext cx="3725" cy="422897"/>
          </a:xfrm>
          <a:prstGeom prst="straightConnector1">
            <a:avLst/>
          </a:prstGeom>
          <a:ln w="19050" cap="rnd">
            <a:solidFill>
              <a:srgbClr val="FF6F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6" name="표 27">
            <a:extLst>
              <a:ext uri="{FF2B5EF4-FFF2-40B4-BE49-F238E27FC236}">
                <a16:creationId xmlns:a16="http://schemas.microsoft.com/office/drawing/2014/main" id="{5F338B76-90DD-635F-D21E-A06D5FFFA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173662"/>
              </p:ext>
            </p:extLst>
          </p:nvPr>
        </p:nvGraphicFramePr>
        <p:xfrm>
          <a:off x="548892" y="1915174"/>
          <a:ext cx="1544983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0996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703987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IGW Ingress RT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10.0.11.0/24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GWLB EP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cxnSp>
        <p:nvCxnSpPr>
          <p:cNvPr id="287" name="직선 화살표 연결선 286">
            <a:extLst>
              <a:ext uri="{FF2B5EF4-FFF2-40B4-BE49-F238E27FC236}">
                <a16:creationId xmlns:a16="http://schemas.microsoft.com/office/drawing/2014/main" id="{9FEE7340-FD1A-0AD1-A6B4-523200DAFC10}"/>
              </a:ext>
            </a:extLst>
          </p:cNvPr>
          <p:cNvCxnSpPr>
            <a:cxnSpLocks/>
            <a:stCxn id="280" idx="3"/>
            <a:endCxn id="196" idx="1"/>
          </p:cNvCxnSpPr>
          <p:nvPr/>
        </p:nvCxnSpPr>
        <p:spPr>
          <a:xfrm>
            <a:off x="2825650" y="1820723"/>
            <a:ext cx="584079" cy="4893"/>
          </a:xfrm>
          <a:prstGeom prst="straightConnector1">
            <a:avLst/>
          </a:prstGeom>
          <a:ln w="19050" cap="rnd">
            <a:solidFill>
              <a:srgbClr val="FF6F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894655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2">
            <a:extLst>
              <a:ext uri="{FF2B5EF4-FFF2-40B4-BE49-F238E27FC236}">
                <a16:creationId xmlns:a16="http://schemas.microsoft.com/office/drawing/2014/main" id="{592B2817-8E60-D6A5-C419-48F3AD98F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73" y="1609097"/>
            <a:ext cx="5557070" cy="4933691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0FD991-2A66-3FAF-F20E-1A50A39B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당근 </a:t>
            </a:r>
            <a:r>
              <a:rPr kumimoji="1" lang="en-US" altLang="ko-KR" dirty="0"/>
              <a:t>VPC </a:t>
            </a:r>
            <a:r>
              <a:rPr kumimoji="1" lang="ko-KR" altLang="en-US" dirty="0"/>
              <a:t>아키텍쳐 개선안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Egress Traffic </a:t>
            </a:r>
            <a:r>
              <a:rPr kumimoji="1" lang="ko-KR" altLang="en-US" dirty="0"/>
              <a:t>보안 제어 개선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9722FF-238C-F371-E663-362705782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29</a:t>
            </a:fld>
            <a:endParaRPr lang="en-US" altLang="ko-KR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1996D9AF-34CC-14F5-D72F-94B3662C4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871300"/>
            <a:ext cx="555707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67" name="AutoShape 51">
            <a:extLst>
              <a:ext uri="{FF2B5EF4-FFF2-40B4-BE49-F238E27FC236}">
                <a16:creationId xmlns:a16="http://schemas.microsoft.com/office/drawing/2014/main" id="{E9BF88B7-16A4-6377-D771-A790B953E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662327"/>
            <a:ext cx="555707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pic>
        <p:nvPicPr>
          <p:cNvPr id="269" name="그림 16">
            <a:extLst>
              <a:ext uri="{FF2B5EF4-FFF2-40B4-BE49-F238E27FC236}">
                <a16:creationId xmlns:a16="http://schemas.microsoft.com/office/drawing/2014/main" id="{4F5A3891-4CCE-45B0-E359-35E307A3825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0726111D-27BE-DF56-4E04-AFB21261A571}"/>
              </a:ext>
            </a:extLst>
          </p:cNvPr>
          <p:cNvSpPr txBox="1"/>
          <p:nvPr/>
        </p:nvSpPr>
        <p:spPr>
          <a:xfrm>
            <a:off x="160666" y="557654"/>
            <a:ext cx="116752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ANFW(AWS Network Firewall)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활용한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 제어 디자인을 통해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보안을 개선할 수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VPC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Routing VPC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엔드포인트로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라우팅합니다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엔드포인트에서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정의된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정책에 따라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트래픽을 모니터링하고 필터링하며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잠재적 위협을 탐지함으로써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보안을 개선할 수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 </a:t>
            </a:r>
          </a:p>
        </p:txBody>
      </p:sp>
      <p:sp>
        <p:nvSpPr>
          <p:cNvPr id="272" name="Rectangle 287">
            <a:extLst>
              <a:ext uri="{FF2B5EF4-FFF2-40B4-BE49-F238E27FC236}">
                <a16:creationId xmlns:a16="http://schemas.microsoft.com/office/drawing/2014/main" id="{AB5B9D74-DA06-BEE9-F887-44310408F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096212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Egress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트래픽 제어를 위한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기반의 보안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내에서 워크로드가 실행될 서브넷을 생성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엔드포인트를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프로비저닝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 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엔드포인트는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내에서 생성되며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아웃바운드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트래픽을 모니터링하고 필터링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-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라우팅 테이블을 수정하여 워크로드 서브넷의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아웃바운드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엔드포인트로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전송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정책을 생성하여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아웃바운드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트래픽에 대한 규칙을 정의</a:t>
            </a: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허용되는 대상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주소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포트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프로토콜 지정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엔드포인트와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정책을 사용하여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방화벽을 생성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아웃바운드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트래픽에 대한 모니터링 및 로깅 기능을 제공</a:t>
            </a: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-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 패턴을 분석하고 잠재적인 위협을 탐지</a:t>
            </a: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E696600-0BEE-1735-DA89-06EAD110628A}"/>
              </a:ext>
            </a:extLst>
          </p:cNvPr>
          <p:cNvSpPr txBox="1"/>
          <p:nvPr/>
        </p:nvSpPr>
        <p:spPr>
          <a:xfrm>
            <a:off x="7246521" y="1686634"/>
            <a:ext cx="34252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Egress Traffic 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 제어 개선</a:t>
            </a:r>
          </a:p>
        </p:txBody>
      </p:sp>
      <p:sp>
        <p:nvSpPr>
          <p:cNvPr id="5" name="Rectangle 71">
            <a:extLst>
              <a:ext uri="{FF2B5EF4-FFF2-40B4-BE49-F238E27FC236}">
                <a16:creationId xmlns:a16="http://schemas.microsoft.com/office/drawing/2014/main" id="{E5535B09-F96C-5F30-AC88-818FEC682E97}"/>
              </a:ext>
            </a:extLst>
          </p:cNvPr>
          <p:cNvSpPr/>
          <p:nvPr/>
        </p:nvSpPr>
        <p:spPr>
          <a:xfrm>
            <a:off x="3741501" y="3091233"/>
            <a:ext cx="734647" cy="61431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72" descr="Private subnet group icon. ">
            <a:extLst>
              <a:ext uri="{FF2B5EF4-FFF2-40B4-BE49-F238E27FC236}">
                <a16:creationId xmlns:a16="http://schemas.microsoft.com/office/drawing/2014/main" id="{B65C28F0-462F-DE60-ACEB-2173CAAB3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741501" y="3091233"/>
            <a:ext cx="288000" cy="288000"/>
          </a:xfrm>
          <a:prstGeom prst="rect">
            <a:avLst/>
          </a:prstGeom>
        </p:spPr>
      </p:pic>
      <p:sp>
        <p:nvSpPr>
          <p:cNvPr id="13" name="Rectangle 73">
            <a:extLst>
              <a:ext uri="{FF2B5EF4-FFF2-40B4-BE49-F238E27FC236}">
                <a16:creationId xmlns:a16="http://schemas.microsoft.com/office/drawing/2014/main" id="{EC39EE3D-00F8-3422-1405-275D2ADBBDBA}"/>
              </a:ext>
            </a:extLst>
          </p:cNvPr>
          <p:cNvSpPr/>
          <p:nvPr/>
        </p:nvSpPr>
        <p:spPr>
          <a:xfrm>
            <a:off x="3741501" y="2368954"/>
            <a:ext cx="1509945" cy="61431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74" descr="Public subnet group icon. ">
            <a:extLst>
              <a:ext uri="{FF2B5EF4-FFF2-40B4-BE49-F238E27FC236}">
                <a16:creationId xmlns:a16="http://schemas.microsoft.com/office/drawing/2014/main" id="{2FF12FFF-FE26-A467-F880-FE6A6FB78B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41501" y="2368954"/>
            <a:ext cx="288000" cy="28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E7154A-D367-2321-CA52-7CE803AADA95}"/>
              </a:ext>
            </a:extLst>
          </p:cNvPr>
          <p:cNvSpPr txBox="1"/>
          <p:nvPr/>
        </p:nvSpPr>
        <p:spPr>
          <a:xfrm>
            <a:off x="4062866" y="2405565"/>
            <a:ext cx="90852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 2.0/24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1F1915F5-B804-DD80-6EF3-F46997599A21}"/>
              </a:ext>
            </a:extLst>
          </p:cNvPr>
          <p:cNvSpPr/>
          <p:nvPr/>
        </p:nvSpPr>
        <p:spPr bwMode="auto">
          <a:xfrm>
            <a:off x="3679768" y="2176314"/>
            <a:ext cx="1627865" cy="2074581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3D9D0-BB60-394F-DF96-C37305B07CCE}"/>
              </a:ext>
            </a:extLst>
          </p:cNvPr>
          <p:cNvSpPr txBox="1"/>
          <p:nvPr/>
        </p:nvSpPr>
        <p:spPr>
          <a:xfrm>
            <a:off x="3741501" y="2193347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X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1" name="Rectangle 39" descr="VPC group border">
            <a:extLst>
              <a:ext uri="{FF2B5EF4-FFF2-40B4-BE49-F238E27FC236}">
                <a16:creationId xmlns:a16="http://schemas.microsoft.com/office/drawing/2014/main" id="{8DA28630-1B4A-2047-1582-7FE1ABDB5752}"/>
              </a:ext>
            </a:extLst>
          </p:cNvPr>
          <p:cNvSpPr/>
          <p:nvPr/>
        </p:nvSpPr>
        <p:spPr>
          <a:xfrm>
            <a:off x="3413329" y="1827998"/>
            <a:ext cx="2293072" cy="2436477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57" descr="VPC group icon.">
            <a:extLst>
              <a:ext uri="{FF2B5EF4-FFF2-40B4-BE49-F238E27FC236}">
                <a16:creationId xmlns:a16="http://schemas.microsoft.com/office/drawing/2014/main" id="{75E0C2AA-A413-40AE-DAA3-A0E315B3E6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409031" y="1823235"/>
            <a:ext cx="288000" cy="288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1B5A88A-FB0E-F2DF-C9CD-9AC54CD368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29" y="1679816"/>
            <a:ext cx="291600" cy="2916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0FF4799-0F2C-5532-508C-E1BFF40A1B34}"/>
              </a:ext>
            </a:extLst>
          </p:cNvPr>
          <p:cNvSpPr txBox="1"/>
          <p:nvPr/>
        </p:nvSpPr>
        <p:spPr>
          <a:xfrm>
            <a:off x="3735966" y="1834505"/>
            <a:ext cx="162786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Routing VPC 10.0.0.0/16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E75D0C-6442-CFBA-AB09-4B1DFFFEE908}"/>
              </a:ext>
            </a:extLst>
          </p:cNvPr>
          <p:cNvSpPr txBox="1"/>
          <p:nvPr/>
        </p:nvSpPr>
        <p:spPr>
          <a:xfrm>
            <a:off x="3677480" y="1667760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IGW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AEF3CE-72BC-0DF2-D46E-E583C0F1FAF4}"/>
              </a:ext>
            </a:extLst>
          </p:cNvPr>
          <p:cNvSpPr txBox="1"/>
          <p:nvPr/>
        </p:nvSpPr>
        <p:spPr>
          <a:xfrm>
            <a:off x="3763944" y="3567607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D6976798-C861-382A-9837-97B836D985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739" y="2563672"/>
            <a:ext cx="288000" cy="2880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ECCE3EB-F40A-3B4A-1E7E-7595E7F930EB}"/>
              </a:ext>
            </a:extLst>
          </p:cNvPr>
          <p:cNvSpPr txBox="1"/>
          <p:nvPr/>
        </p:nvSpPr>
        <p:spPr>
          <a:xfrm>
            <a:off x="4496473" y="2842035"/>
            <a:ext cx="44554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AC858D-0BE7-EECA-44EC-48D6803A4C18}"/>
              </a:ext>
            </a:extLst>
          </p:cNvPr>
          <p:cNvSpPr txBox="1"/>
          <p:nvPr/>
        </p:nvSpPr>
        <p:spPr>
          <a:xfrm>
            <a:off x="4069508" y="3101902"/>
            <a:ext cx="47205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11.0/24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70" name="Rectangle 71">
            <a:extLst>
              <a:ext uri="{FF2B5EF4-FFF2-40B4-BE49-F238E27FC236}">
                <a16:creationId xmlns:a16="http://schemas.microsoft.com/office/drawing/2014/main" id="{DAD70AD9-2518-ABED-CB87-79CF9837580F}"/>
              </a:ext>
            </a:extLst>
          </p:cNvPr>
          <p:cNvSpPr/>
          <p:nvPr/>
        </p:nvSpPr>
        <p:spPr>
          <a:xfrm>
            <a:off x="4519243" y="3091091"/>
            <a:ext cx="734647" cy="61431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" name="Graphic 72" descr="Private subnet group icon. ">
            <a:extLst>
              <a:ext uri="{FF2B5EF4-FFF2-40B4-BE49-F238E27FC236}">
                <a16:creationId xmlns:a16="http://schemas.microsoft.com/office/drawing/2014/main" id="{E838F309-DC29-25BE-739E-EA49184CF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519243" y="3091091"/>
            <a:ext cx="288000" cy="2880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7644E91B-55DA-4F19-98F3-71E911A3E3EA}"/>
              </a:ext>
            </a:extLst>
          </p:cNvPr>
          <p:cNvSpPr txBox="1"/>
          <p:nvPr/>
        </p:nvSpPr>
        <p:spPr>
          <a:xfrm>
            <a:off x="4541686" y="3567465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VPCE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72A74F31-157E-9AE1-0461-49E9CCBC9F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225" y="3324153"/>
            <a:ext cx="285333" cy="285333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6ECF10C0-0D9B-A1F1-4C7D-D1E8A26A1F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627" y="3276318"/>
            <a:ext cx="381001" cy="381001"/>
          </a:xfrm>
          <a:prstGeom prst="rect">
            <a:avLst/>
          </a:prstGeom>
        </p:spPr>
      </p:pic>
      <p:cxnSp>
        <p:nvCxnSpPr>
          <p:cNvPr id="79" name="꺾인 연결선[E] 78">
            <a:extLst>
              <a:ext uri="{FF2B5EF4-FFF2-40B4-BE49-F238E27FC236}">
                <a16:creationId xmlns:a16="http://schemas.microsoft.com/office/drawing/2014/main" id="{CCC0136F-7733-3E73-8E73-433650F0A3B6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 flipV="1">
            <a:off x="5167558" y="3466819"/>
            <a:ext cx="309069" cy="1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0582D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16">
            <a:extLst>
              <a:ext uri="{FF2B5EF4-FFF2-40B4-BE49-F238E27FC236}">
                <a16:creationId xmlns:a16="http://schemas.microsoft.com/office/drawing/2014/main" id="{E6A6706D-C808-EFFD-C974-E7B0E7980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167" y="3677800"/>
            <a:ext cx="38423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ANFW</a:t>
            </a: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1DBA46CA-E983-40BD-3B37-9401DF97008D}"/>
              </a:ext>
            </a:extLst>
          </p:cNvPr>
          <p:cNvSpPr/>
          <p:nvPr/>
        </p:nvSpPr>
        <p:spPr>
          <a:xfrm>
            <a:off x="4943232" y="2838663"/>
            <a:ext cx="162975" cy="162975"/>
          </a:xfrm>
          <a:prstGeom prst="ellipse">
            <a:avLst/>
          </a:prstGeom>
          <a:solidFill>
            <a:srgbClr val="05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E65F9491-DFF9-4F10-7945-5BF90E36CB2D}"/>
              </a:ext>
            </a:extLst>
          </p:cNvPr>
          <p:cNvCxnSpPr>
            <a:cxnSpLocks/>
            <a:stCxn id="77" idx="0"/>
            <a:endCxn id="82" idx="4"/>
          </p:cNvCxnSpPr>
          <p:nvPr/>
        </p:nvCxnSpPr>
        <p:spPr>
          <a:xfrm flipH="1" flipV="1">
            <a:off x="5024720" y="3001638"/>
            <a:ext cx="172" cy="322515"/>
          </a:xfrm>
          <a:prstGeom prst="straightConnector1">
            <a:avLst/>
          </a:prstGeom>
          <a:ln w="19050" cap="rnd">
            <a:solidFill>
              <a:srgbClr val="0582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25CE0D40-1B4F-F786-4BE2-CAF7F62C683A}"/>
              </a:ext>
            </a:extLst>
          </p:cNvPr>
          <p:cNvSpPr/>
          <p:nvPr/>
        </p:nvSpPr>
        <p:spPr>
          <a:xfrm>
            <a:off x="4936704" y="2400134"/>
            <a:ext cx="162975" cy="162975"/>
          </a:xfrm>
          <a:prstGeom prst="ellipse">
            <a:avLst/>
          </a:prstGeom>
          <a:solidFill>
            <a:srgbClr val="05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8E4B2CB2-DA39-649B-A424-D2D2F31F4156}"/>
              </a:ext>
            </a:extLst>
          </p:cNvPr>
          <p:cNvSpPr/>
          <p:nvPr/>
        </p:nvSpPr>
        <p:spPr>
          <a:xfrm>
            <a:off x="3628379" y="1915174"/>
            <a:ext cx="162975" cy="162975"/>
          </a:xfrm>
          <a:prstGeom prst="ellipse">
            <a:avLst/>
          </a:prstGeom>
          <a:solidFill>
            <a:srgbClr val="05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cxnSp>
        <p:nvCxnSpPr>
          <p:cNvPr id="124" name="꺾인 연결선[E] 123">
            <a:extLst>
              <a:ext uri="{FF2B5EF4-FFF2-40B4-BE49-F238E27FC236}">
                <a16:creationId xmlns:a16="http://schemas.microsoft.com/office/drawing/2014/main" id="{B9C09C3C-2665-3DE6-B940-60CD358FA10F}"/>
              </a:ext>
            </a:extLst>
          </p:cNvPr>
          <p:cNvCxnSpPr>
            <a:cxnSpLocks/>
            <a:stCxn id="93" idx="5"/>
            <a:endCxn id="92" idx="0"/>
          </p:cNvCxnSpPr>
          <p:nvPr/>
        </p:nvCxnSpPr>
        <p:spPr>
          <a:xfrm rot="16200000" flipH="1">
            <a:off x="4219913" y="1601855"/>
            <a:ext cx="345852" cy="1250705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0070C0"/>
            </a:solidFill>
            <a:round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1F41C5E2-1E10-DC3C-F0E0-924FBE37A10D}"/>
              </a:ext>
            </a:extLst>
          </p:cNvPr>
          <p:cNvSpPr txBox="1"/>
          <p:nvPr/>
        </p:nvSpPr>
        <p:spPr>
          <a:xfrm>
            <a:off x="4819418" y="3101560"/>
            <a:ext cx="47205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Egress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6" name="Rectangle 39" descr="VPC group border">
            <a:extLst>
              <a:ext uri="{FF2B5EF4-FFF2-40B4-BE49-F238E27FC236}">
                <a16:creationId xmlns:a16="http://schemas.microsoft.com/office/drawing/2014/main" id="{2C406014-0A23-A37A-542F-8F077F9253A2}"/>
              </a:ext>
            </a:extLst>
          </p:cNvPr>
          <p:cNvSpPr/>
          <p:nvPr/>
        </p:nvSpPr>
        <p:spPr>
          <a:xfrm>
            <a:off x="3413329" y="4960427"/>
            <a:ext cx="2293072" cy="1504991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7" name="Graphic 57" descr="VPC group icon.">
            <a:extLst>
              <a:ext uri="{FF2B5EF4-FFF2-40B4-BE49-F238E27FC236}">
                <a16:creationId xmlns:a16="http://schemas.microsoft.com/office/drawing/2014/main" id="{9ADA4972-9216-B8E9-E18F-4EF4646B40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409031" y="4960427"/>
            <a:ext cx="288000" cy="288000"/>
          </a:xfrm>
          <a:prstGeom prst="rect">
            <a:avLst/>
          </a:prstGeom>
        </p:spPr>
      </p:pic>
      <p:sp>
        <p:nvSpPr>
          <p:cNvPr id="202" name="Rectangle 73">
            <a:extLst>
              <a:ext uri="{FF2B5EF4-FFF2-40B4-BE49-F238E27FC236}">
                <a16:creationId xmlns:a16="http://schemas.microsoft.com/office/drawing/2014/main" id="{8749A4C1-C189-5A66-EDE8-AB177AE88E42}"/>
              </a:ext>
            </a:extLst>
          </p:cNvPr>
          <p:cNvSpPr/>
          <p:nvPr/>
        </p:nvSpPr>
        <p:spPr>
          <a:xfrm>
            <a:off x="3744273" y="5538392"/>
            <a:ext cx="1509945" cy="850123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4" name="Graphic 74" descr="Public subnet group icon. ">
            <a:extLst>
              <a:ext uri="{FF2B5EF4-FFF2-40B4-BE49-F238E27FC236}">
                <a16:creationId xmlns:a16="http://schemas.microsoft.com/office/drawing/2014/main" id="{0904D570-78B5-64AA-18F1-78F5535125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744273" y="5538393"/>
            <a:ext cx="288000" cy="288000"/>
          </a:xfrm>
          <a:prstGeom prst="rect">
            <a:avLst/>
          </a:prstGeom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CC74E2AB-8470-C497-4824-48FF7C24492A}"/>
              </a:ext>
            </a:extLst>
          </p:cNvPr>
          <p:cNvSpPr txBox="1"/>
          <p:nvPr/>
        </p:nvSpPr>
        <p:spPr>
          <a:xfrm>
            <a:off x="4065638" y="5575004"/>
            <a:ext cx="90852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10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3BDA7C76-5BD1-31DF-098A-85AC04A3AE3C}"/>
              </a:ext>
            </a:extLst>
          </p:cNvPr>
          <p:cNvSpPr/>
          <p:nvPr/>
        </p:nvSpPr>
        <p:spPr bwMode="auto">
          <a:xfrm>
            <a:off x="3682540" y="5248307"/>
            <a:ext cx="1627865" cy="1184609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97280C3E-3A45-E2A9-4706-7D2DFE14643A}"/>
              </a:ext>
            </a:extLst>
          </p:cNvPr>
          <p:cNvSpPr txBox="1"/>
          <p:nvPr/>
        </p:nvSpPr>
        <p:spPr>
          <a:xfrm>
            <a:off x="3744273" y="5317197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X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34" name="타원 233">
            <a:extLst>
              <a:ext uri="{FF2B5EF4-FFF2-40B4-BE49-F238E27FC236}">
                <a16:creationId xmlns:a16="http://schemas.microsoft.com/office/drawing/2014/main" id="{6D1EC177-2569-AA09-70EE-609FAC18C960}"/>
              </a:ext>
            </a:extLst>
          </p:cNvPr>
          <p:cNvSpPr/>
          <p:nvPr/>
        </p:nvSpPr>
        <p:spPr>
          <a:xfrm>
            <a:off x="4939476" y="5569573"/>
            <a:ext cx="162975" cy="162975"/>
          </a:xfrm>
          <a:prstGeom prst="ellipse">
            <a:avLst/>
          </a:prstGeom>
          <a:solidFill>
            <a:srgbClr val="05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pic>
        <p:nvPicPr>
          <p:cNvPr id="239" name="그림 238">
            <a:extLst>
              <a:ext uri="{FF2B5EF4-FFF2-40B4-BE49-F238E27FC236}">
                <a16:creationId xmlns:a16="http://schemas.microsoft.com/office/drawing/2014/main" id="{F6D26035-14BD-FC1A-17F6-498796B3B0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6169" y="4420537"/>
            <a:ext cx="298923" cy="290618"/>
          </a:xfrm>
          <a:prstGeom prst="rect">
            <a:avLst/>
          </a:prstGeom>
        </p:spPr>
      </p:pic>
      <p:sp>
        <p:nvSpPr>
          <p:cNvPr id="240" name="TextBox 239">
            <a:extLst>
              <a:ext uri="{FF2B5EF4-FFF2-40B4-BE49-F238E27FC236}">
                <a16:creationId xmlns:a16="http://schemas.microsoft.com/office/drawing/2014/main" id="{083627EA-69C9-A395-B6C6-3E00F8EC18A5}"/>
              </a:ext>
            </a:extLst>
          </p:cNvPr>
          <p:cNvSpPr txBox="1"/>
          <p:nvPr/>
        </p:nvSpPr>
        <p:spPr>
          <a:xfrm>
            <a:off x="5190245" y="4308876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245" name="꺾인 연결선[E] 244">
            <a:extLst>
              <a:ext uri="{FF2B5EF4-FFF2-40B4-BE49-F238E27FC236}">
                <a16:creationId xmlns:a16="http://schemas.microsoft.com/office/drawing/2014/main" id="{5B2571CF-6690-7D50-6300-46404DF6A09A}"/>
              </a:ext>
            </a:extLst>
          </p:cNvPr>
          <p:cNvCxnSpPr>
            <a:cxnSpLocks/>
            <a:stCxn id="256" idx="2"/>
            <a:endCxn id="277" idx="3"/>
          </p:cNvCxnSpPr>
          <p:nvPr/>
        </p:nvCxnSpPr>
        <p:spPr>
          <a:xfrm rot="5400000">
            <a:off x="4780144" y="4240581"/>
            <a:ext cx="197999" cy="292097"/>
          </a:xfrm>
          <a:prstGeom prst="bentConnector2">
            <a:avLst/>
          </a:prstGeom>
          <a:ln w="19050" cap="rnd">
            <a:solidFill>
              <a:srgbClr val="0070C0"/>
            </a:solidFill>
            <a:round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0F25ABD5-2181-38A5-816B-B5263EE27452}"/>
              </a:ext>
            </a:extLst>
          </p:cNvPr>
          <p:cNvSpPr txBox="1"/>
          <p:nvPr/>
        </p:nvSpPr>
        <p:spPr>
          <a:xfrm>
            <a:off x="3689786" y="4964406"/>
            <a:ext cx="119243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VPC 10.1.0.0/16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58" name="그림 257">
            <a:extLst>
              <a:ext uri="{FF2B5EF4-FFF2-40B4-BE49-F238E27FC236}">
                <a16:creationId xmlns:a16="http://schemas.microsoft.com/office/drawing/2014/main" id="{05B42275-17DE-9290-38ED-B266DBE51C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6031" y="4858157"/>
            <a:ext cx="162032" cy="162032"/>
          </a:xfrm>
          <a:prstGeom prst="rect">
            <a:avLst/>
          </a:prstGeom>
        </p:spPr>
      </p:pic>
      <p:cxnSp>
        <p:nvCxnSpPr>
          <p:cNvPr id="264" name="꺾인 연결선[E] 263">
            <a:extLst>
              <a:ext uri="{FF2B5EF4-FFF2-40B4-BE49-F238E27FC236}">
                <a16:creationId xmlns:a16="http://schemas.microsoft.com/office/drawing/2014/main" id="{3D172903-83B3-A1C0-973F-B79034B487DB}"/>
              </a:ext>
            </a:extLst>
          </p:cNvPr>
          <p:cNvCxnSpPr>
            <a:cxnSpLocks/>
            <a:stCxn id="258" idx="0"/>
            <a:endCxn id="278" idx="3"/>
          </p:cNvCxnSpPr>
          <p:nvPr/>
        </p:nvCxnSpPr>
        <p:spPr>
          <a:xfrm rot="16200000" flipV="1">
            <a:off x="4760067" y="4601176"/>
            <a:ext cx="218810" cy="295151"/>
          </a:xfrm>
          <a:prstGeom prst="bentConnector2">
            <a:avLst/>
          </a:prstGeom>
          <a:ln w="19050" cap="rnd">
            <a:solidFill>
              <a:srgbClr val="0070C0"/>
            </a:solidFill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7" name="그림 276">
            <a:extLst>
              <a:ext uri="{FF2B5EF4-FFF2-40B4-BE49-F238E27FC236}">
                <a16:creationId xmlns:a16="http://schemas.microsoft.com/office/drawing/2014/main" id="{5CFDC2D0-AB8A-81F7-9E21-2807D38471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1062" y="4404613"/>
            <a:ext cx="162032" cy="162032"/>
          </a:xfrm>
          <a:prstGeom prst="rect">
            <a:avLst/>
          </a:prstGeom>
        </p:spPr>
      </p:pic>
      <p:pic>
        <p:nvPicPr>
          <p:cNvPr id="278" name="그림 277">
            <a:extLst>
              <a:ext uri="{FF2B5EF4-FFF2-40B4-BE49-F238E27FC236}">
                <a16:creationId xmlns:a16="http://schemas.microsoft.com/office/drawing/2014/main" id="{02E0A882-007D-77EA-782B-1643FB62233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9864" y="4558331"/>
            <a:ext cx="162032" cy="162032"/>
          </a:xfrm>
          <a:prstGeom prst="rect">
            <a:avLst/>
          </a:prstGeom>
        </p:spPr>
      </p:pic>
      <p:pic>
        <p:nvPicPr>
          <p:cNvPr id="281" name="Graphic 23" descr="Amazon Elastic Kubernetes Service (Amazon EKS) Service icon.">
            <a:extLst>
              <a:ext uri="{FF2B5EF4-FFF2-40B4-BE49-F238E27FC236}">
                <a16:creationId xmlns:a16="http://schemas.microsoft.com/office/drawing/2014/main" id="{EEB39F1B-3C96-8762-A91D-6E4A4044A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4296907" y="5986032"/>
            <a:ext cx="358481" cy="35848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4" name="그림 283">
            <a:extLst>
              <a:ext uri="{FF2B5EF4-FFF2-40B4-BE49-F238E27FC236}">
                <a16:creationId xmlns:a16="http://schemas.microsoft.com/office/drawing/2014/main" id="{1CFCD1A4-6C83-15BD-7610-E34B1EFC344D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213" y="5743239"/>
            <a:ext cx="277000" cy="301352"/>
          </a:xfrm>
          <a:prstGeom prst="rect">
            <a:avLst/>
          </a:prstGeom>
        </p:spPr>
      </p:pic>
      <p:cxnSp>
        <p:nvCxnSpPr>
          <p:cNvPr id="285" name="직선 화살표 연결선 284">
            <a:extLst>
              <a:ext uri="{FF2B5EF4-FFF2-40B4-BE49-F238E27FC236}">
                <a16:creationId xmlns:a16="http://schemas.microsoft.com/office/drawing/2014/main" id="{560DD006-6982-E4A8-20EB-7E44AB1EC85F}"/>
              </a:ext>
            </a:extLst>
          </p:cNvPr>
          <p:cNvCxnSpPr>
            <a:cxnSpLocks/>
            <a:stCxn id="234" idx="0"/>
            <a:endCxn id="258" idx="2"/>
          </p:cNvCxnSpPr>
          <p:nvPr/>
        </p:nvCxnSpPr>
        <p:spPr>
          <a:xfrm flipH="1" flipV="1">
            <a:off x="5017047" y="5020189"/>
            <a:ext cx="3917" cy="549384"/>
          </a:xfrm>
          <a:prstGeom prst="straightConnector1">
            <a:avLst/>
          </a:prstGeom>
          <a:ln w="19050" cap="rnd">
            <a:solidFill>
              <a:srgbClr val="0582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8" name="표 27">
            <a:extLst>
              <a:ext uri="{FF2B5EF4-FFF2-40B4-BE49-F238E27FC236}">
                <a16:creationId xmlns:a16="http://schemas.microsoft.com/office/drawing/2014/main" id="{0CD25FC9-23D4-9F67-C580-6D57A2AB8D42}"/>
              </a:ext>
            </a:extLst>
          </p:cNvPr>
          <p:cNvGraphicFramePr>
            <a:graphicFrameLocks noGrp="1"/>
          </p:cNvGraphicFramePr>
          <p:nvPr/>
        </p:nvGraphicFramePr>
        <p:xfrm>
          <a:off x="553655" y="5251131"/>
          <a:ext cx="1378775" cy="575262"/>
        </p:xfrm>
        <a:graphic>
          <a:graphicData uri="http://schemas.openxmlformats.org/drawingml/2006/table">
            <a:tbl>
              <a:tblPr firstRow="1" bandRow="1"/>
              <a:tblGrid>
                <a:gridCol w="844974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3801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224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Cell Private NAT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390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224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289" name="표 27">
            <a:extLst>
              <a:ext uri="{FF2B5EF4-FFF2-40B4-BE49-F238E27FC236}">
                <a16:creationId xmlns:a16="http://schemas.microsoft.com/office/drawing/2014/main" id="{D78CED73-DD23-C04A-9D5D-E76513BA86E3}"/>
              </a:ext>
            </a:extLst>
          </p:cNvPr>
          <p:cNvGraphicFramePr>
            <a:graphicFrameLocks noGrp="1"/>
          </p:cNvGraphicFramePr>
          <p:nvPr/>
        </p:nvGraphicFramePr>
        <p:xfrm>
          <a:off x="548893" y="4324896"/>
          <a:ext cx="1875364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8820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1087163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 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CIDR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Cell Routing VPC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290" name="표 27">
            <a:extLst>
              <a:ext uri="{FF2B5EF4-FFF2-40B4-BE49-F238E27FC236}">
                <a16:creationId xmlns:a16="http://schemas.microsoft.com/office/drawing/2014/main" id="{0FD71928-30C8-D20C-FC7F-F89C2ED8ABF0}"/>
              </a:ext>
            </a:extLst>
          </p:cNvPr>
          <p:cNvGraphicFramePr>
            <a:graphicFrameLocks noGrp="1"/>
          </p:cNvGraphicFramePr>
          <p:nvPr/>
        </p:nvGraphicFramePr>
        <p:xfrm>
          <a:off x="555854" y="3600939"/>
          <a:ext cx="1380331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92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4403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Attach Subnet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VPCE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292" name="표 27">
            <a:extLst>
              <a:ext uri="{FF2B5EF4-FFF2-40B4-BE49-F238E27FC236}">
                <a16:creationId xmlns:a16="http://schemas.microsoft.com/office/drawing/2014/main" id="{4A61A071-9890-0CD8-9E8E-8E458A020640}"/>
              </a:ext>
            </a:extLst>
          </p:cNvPr>
          <p:cNvGraphicFramePr>
            <a:graphicFrameLocks noGrp="1"/>
          </p:cNvGraphicFramePr>
          <p:nvPr/>
        </p:nvGraphicFramePr>
        <p:xfrm>
          <a:off x="555855" y="2793404"/>
          <a:ext cx="138033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92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4404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Egress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NATGW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pic>
        <p:nvPicPr>
          <p:cNvPr id="294" name="그림 293">
            <a:extLst>
              <a:ext uri="{FF2B5EF4-FFF2-40B4-BE49-F238E27FC236}">
                <a16:creationId xmlns:a16="http://schemas.microsoft.com/office/drawing/2014/main" id="{E858D94E-3ABA-D409-5956-36E34C9EDE3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905" y="3327122"/>
            <a:ext cx="270473" cy="270473"/>
          </a:xfrm>
          <a:prstGeom prst="rect">
            <a:avLst/>
          </a:prstGeom>
        </p:spPr>
      </p:pic>
      <p:pic>
        <p:nvPicPr>
          <p:cNvPr id="295" name="그림 294">
            <a:extLst>
              <a:ext uri="{FF2B5EF4-FFF2-40B4-BE49-F238E27FC236}">
                <a16:creationId xmlns:a16="http://schemas.microsoft.com/office/drawing/2014/main" id="{B792924E-928F-6224-8439-0D6BEA7F30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74" y="6074039"/>
            <a:ext cx="270473" cy="270473"/>
          </a:xfrm>
          <a:prstGeom prst="rect">
            <a:avLst/>
          </a:prstGeom>
        </p:spPr>
      </p:pic>
      <p:pic>
        <p:nvPicPr>
          <p:cNvPr id="302" name="Graphic 72" descr="Private subnet group icon. ">
            <a:extLst>
              <a:ext uri="{FF2B5EF4-FFF2-40B4-BE49-F238E27FC236}">
                <a16:creationId xmlns:a16="http://schemas.microsoft.com/office/drawing/2014/main" id="{76246F96-E05F-AC3E-2954-392703DF8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735966" y="3814217"/>
            <a:ext cx="288000" cy="288000"/>
          </a:xfrm>
          <a:prstGeom prst="rect">
            <a:avLst/>
          </a:prstGeom>
        </p:spPr>
      </p:pic>
      <p:sp>
        <p:nvSpPr>
          <p:cNvPr id="303" name="Rectangle 71">
            <a:extLst>
              <a:ext uri="{FF2B5EF4-FFF2-40B4-BE49-F238E27FC236}">
                <a16:creationId xmlns:a16="http://schemas.microsoft.com/office/drawing/2014/main" id="{F0715460-F83B-E4A4-B3B4-C95132232942}"/>
              </a:ext>
            </a:extLst>
          </p:cNvPr>
          <p:cNvSpPr/>
          <p:nvPr/>
        </p:nvSpPr>
        <p:spPr>
          <a:xfrm>
            <a:off x="3738270" y="3813512"/>
            <a:ext cx="1513176" cy="372903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6E7E69FC-BCF2-C1DD-B6AA-209114AC068A}"/>
              </a:ext>
            </a:extLst>
          </p:cNvPr>
          <p:cNvSpPr txBox="1"/>
          <p:nvPr/>
        </p:nvSpPr>
        <p:spPr>
          <a:xfrm>
            <a:off x="4060692" y="3814075"/>
            <a:ext cx="76910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Attach Subnet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251.0/24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56" name="그림 255">
            <a:extLst>
              <a:ext uri="{FF2B5EF4-FFF2-40B4-BE49-F238E27FC236}">
                <a16:creationId xmlns:a16="http://schemas.microsoft.com/office/drawing/2014/main" id="{D763118E-68B5-B1EF-847B-D67D4E46CF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44175" y="4125598"/>
            <a:ext cx="162032" cy="162032"/>
          </a:xfrm>
          <a:prstGeom prst="rect">
            <a:avLst/>
          </a:prstGeom>
        </p:spPr>
      </p:pic>
      <p:sp>
        <p:nvSpPr>
          <p:cNvPr id="306" name="Rectangle 77">
            <a:extLst>
              <a:ext uri="{FF2B5EF4-FFF2-40B4-BE49-F238E27FC236}">
                <a16:creationId xmlns:a16="http://schemas.microsoft.com/office/drawing/2014/main" id="{C56BEF41-2BD9-56F3-155D-45DBFAD3266D}"/>
              </a:ext>
            </a:extLst>
          </p:cNvPr>
          <p:cNvSpPr/>
          <p:nvPr/>
        </p:nvSpPr>
        <p:spPr>
          <a:xfrm>
            <a:off x="459607" y="1823235"/>
            <a:ext cx="2333316" cy="4642183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307" name="표 27">
            <a:extLst>
              <a:ext uri="{FF2B5EF4-FFF2-40B4-BE49-F238E27FC236}">
                <a16:creationId xmlns:a16="http://schemas.microsoft.com/office/drawing/2014/main" id="{35B9BB96-1398-9E83-615C-525ABF97D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433832"/>
              </p:ext>
            </p:extLst>
          </p:nvPr>
        </p:nvGraphicFramePr>
        <p:xfrm>
          <a:off x="555855" y="2132410"/>
          <a:ext cx="138033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92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4404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NATGW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4136D80-3C41-8D9C-4B99-2A7FF9642457}"/>
              </a:ext>
            </a:extLst>
          </p:cNvPr>
          <p:cNvSpPr txBox="1"/>
          <p:nvPr/>
        </p:nvSpPr>
        <p:spPr>
          <a:xfrm>
            <a:off x="1152703" y="6363955"/>
            <a:ext cx="935223" cy="169277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11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Routing Table</a:t>
            </a:r>
            <a:endParaRPr kumimoji="1" lang="ko-KR" altLang="en-US" sz="11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8459542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2">
            <a:extLst>
              <a:ext uri="{FF2B5EF4-FFF2-40B4-BE49-F238E27FC236}">
                <a16:creationId xmlns:a16="http://schemas.microsoft.com/office/drawing/2014/main" id="{592B2817-8E60-D6A5-C419-48F3AD98F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73" y="1609097"/>
            <a:ext cx="5557070" cy="4933691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0FD991-2A66-3FAF-F20E-1A50A39B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당근 </a:t>
            </a:r>
            <a:r>
              <a:rPr kumimoji="1" lang="en-US" altLang="ko-KR" dirty="0"/>
              <a:t>VPC </a:t>
            </a:r>
            <a:r>
              <a:rPr kumimoji="1" lang="ko-KR" altLang="en-US" dirty="0"/>
              <a:t>아키텍쳐 개선안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Egress Traffic </a:t>
            </a:r>
            <a:r>
              <a:rPr kumimoji="1" lang="ko-KR" altLang="en-US" dirty="0"/>
              <a:t>보안 제어 개선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9722FF-238C-F371-E663-362705782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30</a:t>
            </a:fld>
            <a:endParaRPr lang="en-US" altLang="ko-KR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1996D9AF-34CC-14F5-D72F-94B3662C4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871300"/>
            <a:ext cx="555707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67" name="AutoShape 51">
            <a:extLst>
              <a:ext uri="{FF2B5EF4-FFF2-40B4-BE49-F238E27FC236}">
                <a16:creationId xmlns:a16="http://schemas.microsoft.com/office/drawing/2014/main" id="{E9BF88B7-16A4-6377-D771-A790B953E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662327"/>
            <a:ext cx="555707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pic>
        <p:nvPicPr>
          <p:cNvPr id="269" name="그림 16">
            <a:extLst>
              <a:ext uri="{FF2B5EF4-FFF2-40B4-BE49-F238E27FC236}">
                <a16:creationId xmlns:a16="http://schemas.microsoft.com/office/drawing/2014/main" id="{4F5A3891-4CCE-45B0-E359-35E307A3825A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0726111D-27BE-DF56-4E04-AFB21261A571}"/>
              </a:ext>
            </a:extLst>
          </p:cNvPr>
          <p:cNvSpPr txBox="1"/>
          <p:nvPr/>
        </p:nvSpPr>
        <p:spPr>
          <a:xfrm>
            <a:off x="160666" y="557654"/>
            <a:ext cx="116752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ANFW(AWS Network Firewall)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활용한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 제어 디자인을 통해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보안을 개선할 수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VPC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트래픽을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Routing VPC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엔드포인트로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라우팅합니다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엔드포인트에서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정의된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정책에 따라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트래픽을 모니터링하고 필터링하며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잠재적 위협을 탐지함으로써 </a:t>
            </a:r>
            <a:r>
              <a:rPr lang="ko-KR" altLang="en-US" sz="1400" b="1" dirty="0" err="1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아웃바운드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보안을 개선할 수 있습니다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 </a:t>
            </a:r>
          </a:p>
        </p:txBody>
      </p:sp>
      <p:sp>
        <p:nvSpPr>
          <p:cNvPr id="272" name="Rectangle 287">
            <a:extLst>
              <a:ext uri="{FF2B5EF4-FFF2-40B4-BE49-F238E27FC236}">
                <a16:creationId xmlns:a16="http://schemas.microsoft.com/office/drawing/2014/main" id="{AB5B9D74-DA06-BEE9-F887-44310408F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096212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228600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 startAt="2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기반의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Outbound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제어에 대한 기대효과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: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내 워크로드의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아웃바운드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트래픽을 모니터링하고 필터링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정의된 정책에 따라 허용되지 않는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아웃바운드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트래픽은 차단되며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보안 위험 경감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 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관리형 서비스이므로 패치 관리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가용성 및 확장성 등의 운영 부담 최소화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NACL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기반의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Outbound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제어의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목록을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일괄 수행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 일괄 보안 로그 분석 관리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외부 접근에 대한 리소스를 상세 분석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사용시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NATGW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비용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과금하지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않음 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아웃바운드에 대한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SSL/TLS Decryption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적용을 통한 암호 트래픽에 대한 가시성 확보 및 차단 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Route53 DNS Firewall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과 연계하여 효과적인 도메인 차단 전략 구현 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196851" lvl="1" indent="-90488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Wingdings" pitchFamily="2" charset="2"/>
              <a:buChar char="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E696600-0BEE-1735-DA89-06EAD110628A}"/>
              </a:ext>
            </a:extLst>
          </p:cNvPr>
          <p:cNvSpPr txBox="1"/>
          <p:nvPr/>
        </p:nvSpPr>
        <p:spPr>
          <a:xfrm>
            <a:off x="6689929" y="1686634"/>
            <a:ext cx="4623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Outbound Traffic 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 제어 개선의 기대효과</a:t>
            </a:r>
          </a:p>
        </p:txBody>
      </p:sp>
      <p:sp>
        <p:nvSpPr>
          <p:cNvPr id="5" name="Rectangle 71">
            <a:extLst>
              <a:ext uri="{FF2B5EF4-FFF2-40B4-BE49-F238E27FC236}">
                <a16:creationId xmlns:a16="http://schemas.microsoft.com/office/drawing/2014/main" id="{0A7BFE89-0F2B-9D44-9BE3-B1F08FDA7B30}"/>
              </a:ext>
            </a:extLst>
          </p:cNvPr>
          <p:cNvSpPr/>
          <p:nvPr/>
        </p:nvSpPr>
        <p:spPr>
          <a:xfrm>
            <a:off x="3741501" y="3091233"/>
            <a:ext cx="734647" cy="61431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72" descr="Private subnet group icon. ">
            <a:extLst>
              <a:ext uri="{FF2B5EF4-FFF2-40B4-BE49-F238E27FC236}">
                <a16:creationId xmlns:a16="http://schemas.microsoft.com/office/drawing/2014/main" id="{73574644-EAF2-509B-FB12-20DE2A3272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41501" y="3091233"/>
            <a:ext cx="288000" cy="288000"/>
          </a:xfrm>
          <a:prstGeom prst="rect">
            <a:avLst/>
          </a:prstGeom>
        </p:spPr>
      </p:pic>
      <p:sp>
        <p:nvSpPr>
          <p:cNvPr id="7" name="Rectangle 73">
            <a:extLst>
              <a:ext uri="{FF2B5EF4-FFF2-40B4-BE49-F238E27FC236}">
                <a16:creationId xmlns:a16="http://schemas.microsoft.com/office/drawing/2014/main" id="{969801AA-56FA-4DE6-A431-2E5F8FBBD862}"/>
              </a:ext>
            </a:extLst>
          </p:cNvPr>
          <p:cNvSpPr/>
          <p:nvPr/>
        </p:nvSpPr>
        <p:spPr>
          <a:xfrm>
            <a:off x="3741501" y="2368954"/>
            <a:ext cx="1509945" cy="614310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74" descr="Public subnet group icon. ">
            <a:extLst>
              <a:ext uri="{FF2B5EF4-FFF2-40B4-BE49-F238E27FC236}">
                <a16:creationId xmlns:a16="http://schemas.microsoft.com/office/drawing/2014/main" id="{3EF09C8F-AE00-5D3B-D0A0-551F4C9285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1501" y="2368954"/>
            <a:ext cx="288000" cy="28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603A51-FE68-227E-6C45-857BD4324D32}"/>
              </a:ext>
            </a:extLst>
          </p:cNvPr>
          <p:cNvSpPr txBox="1"/>
          <p:nvPr/>
        </p:nvSpPr>
        <p:spPr>
          <a:xfrm>
            <a:off x="4062866" y="2405565"/>
            <a:ext cx="90852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 2.0/24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0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0742095E-53B3-FBB1-C025-EEF5F4F85C5C}"/>
              </a:ext>
            </a:extLst>
          </p:cNvPr>
          <p:cNvSpPr/>
          <p:nvPr/>
        </p:nvSpPr>
        <p:spPr bwMode="auto">
          <a:xfrm>
            <a:off x="3679768" y="2176314"/>
            <a:ext cx="1627865" cy="2074581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38F62-176D-098C-BD5F-A478AE879337}"/>
              </a:ext>
            </a:extLst>
          </p:cNvPr>
          <p:cNvSpPr txBox="1"/>
          <p:nvPr/>
        </p:nvSpPr>
        <p:spPr>
          <a:xfrm>
            <a:off x="3741501" y="2193347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X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2" name="Rectangle 39" descr="VPC group border">
            <a:extLst>
              <a:ext uri="{FF2B5EF4-FFF2-40B4-BE49-F238E27FC236}">
                <a16:creationId xmlns:a16="http://schemas.microsoft.com/office/drawing/2014/main" id="{FDC9B6C8-E843-1DD6-6698-C94E2DD98798}"/>
              </a:ext>
            </a:extLst>
          </p:cNvPr>
          <p:cNvSpPr/>
          <p:nvPr/>
        </p:nvSpPr>
        <p:spPr>
          <a:xfrm>
            <a:off x="3413329" y="1827998"/>
            <a:ext cx="2293072" cy="2436477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57" descr="VPC group icon.">
            <a:extLst>
              <a:ext uri="{FF2B5EF4-FFF2-40B4-BE49-F238E27FC236}">
                <a16:creationId xmlns:a16="http://schemas.microsoft.com/office/drawing/2014/main" id="{749ECFC9-7456-C20E-C80B-28DD29E43E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409031" y="1823235"/>
            <a:ext cx="288000" cy="28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AA0C054-D61A-7E8D-1F4E-00D6FAA37FA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729" y="1679816"/>
            <a:ext cx="291600" cy="291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6BF251E-AFE3-7750-8368-BECDA2DBD338}"/>
              </a:ext>
            </a:extLst>
          </p:cNvPr>
          <p:cNvSpPr txBox="1"/>
          <p:nvPr/>
        </p:nvSpPr>
        <p:spPr>
          <a:xfrm>
            <a:off x="3735966" y="1834505"/>
            <a:ext cx="162786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Routing VPC 10.0.0.0/16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2E2082-FBD5-8046-8CAE-4EE372BDE8CF}"/>
              </a:ext>
            </a:extLst>
          </p:cNvPr>
          <p:cNvSpPr txBox="1"/>
          <p:nvPr/>
        </p:nvSpPr>
        <p:spPr>
          <a:xfrm>
            <a:off x="3677480" y="1667760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IGW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F9867-F0BC-C23B-6D8B-BBEA76D30D66}"/>
              </a:ext>
            </a:extLst>
          </p:cNvPr>
          <p:cNvSpPr txBox="1"/>
          <p:nvPr/>
        </p:nvSpPr>
        <p:spPr>
          <a:xfrm>
            <a:off x="3763944" y="3567607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FC2B6C4-0E00-6581-634A-BD22DAA7FC2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739" y="2563672"/>
            <a:ext cx="288000" cy="28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7CB01BA-78CB-2CB5-58D8-4DE14CB807D0}"/>
              </a:ext>
            </a:extLst>
          </p:cNvPr>
          <p:cNvSpPr txBox="1"/>
          <p:nvPr/>
        </p:nvSpPr>
        <p:spPr>
          <a:xfrm>
            <a:off x="4496473" y="2842035"/>
            <a:ext cx="44554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NATGW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12FA33-FBB8-59D3-7A65-F9D64F3174E7}"/>
              </a:ext>
            </a:extLst>
          </p:cNvPr>
          <p:cNvSpPr txBox="1"/>
          <p:nvPr/>
        </p:nvSpPr>
        <p:spPr>
          <a:xfrm>
            <a:off x="4069508" y="3101902"/>
            <a:ext cx="47205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NLB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11.0/24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1" name="Rectangle 71">
            <a:extLst>
              <a:ext uri="{FF2B5EF4-FFF2-40B4-BE49-F238E27FC236}">
                <a16:creationId xmlns:a16="http://schemas.microsoft.com/office/drawing/2014/main" id="{B8B84AF9-8BE7-6FED-539D-8131A9571953}"/>
              </a:ext>
            </a:extLst>
          </p:cNvPr>
          <p:cNvSpPr/>
          <p:nvPr/>
        </p:nvSpPr>
        <p:spPr>
          <a:xfrm>
            <a:off x="4519243" y="3091091"/>
            <a:ext cx="734647" cy="614310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72" descr="Private subnet group icon. ">
            <a:extLst>
              <a:ext uri="{FF2B5EF4-FFF2-40B4-BE49-F238E27FC236}">
                <a16:creationId xmlns:a16="http://schemas.microsoft.com/office/drawing/2014/main" id="{7E9532CC-06FB-8171-E3B5-D389DD21B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19243" y="3091091"/>
            <a:ext cx="288000" cy="288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89EEA86-8596-0DD7-5C59-076897004C57}"/>
              </a:ext>
            </a:extLst>
          </p:cNvPr>
          <p:cNvSpPr txBox="1"/>
          <p:nvPr/>
        </p:nvSpPr>
        <p:spPr>
          <a:xfrm>
            <a:off x="4541686" y="3567465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VPCE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9EBDB59-A6BF-3A0D-D526-2EA5473A3C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225" y="3324153"/>
            <a:ext cx="285333" cy="28533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30209A0-2B4E-7AF8-829E-D8FC17F2667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627" y="3276318"/>
            <a:ext cx="381001" cy="381001"/>
          </a:xfrm>
          <a:prstGeom prst="rect">
            <a:avLst/>
          </a:prstGeom>
        </p:spPr>
      </p:pic>
      <p:cxnSp>
        <p:nvCxnSpPr>
          <p:cNvPr id="26" name="꺾인 연결선[E] 25">
            <a:extLst>
              <a:ext uri="{FF2B5EF4-FFF2-40B4-BE49-F238E27FC236}">
                <a16:creationId xmlns:a16="http://schemas.microsoft.com/office/drawing/2014/main" id="{2DEB5605-9614-AAD2-7A85-BBDDB2D56C4E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5167558" y="3466819"/>
            <a:ext cx="309069" cy="1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0582D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6">
            <a:extLst>
              <a:ext uri="{FF2B5EF4-FFF2-40B4-BE49-F238E27FC236}">
                <a16:creationId xmlns:a16="http://schemas.microsoft.com/office/drawing/2014/main" id="{C85812B1-D905-1D1A-6FDB-8E54D1A36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167" y="3677800"/>
            <a:ext cx="38423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b="1" dirty="0">
                <a:latin typeface="NanumSquareOTF Bold" panose="020B0600000101010101" pitchFamily="34" charset="-127"/>
                <a:ea typeface="NanumSquareOTF Bold" panose="020B0600000101010101" pitchFamily="34" charset="-127"/>
                <a:cs typeface="Arial" panose="020B0604020202020204" pitchFamily="34" charset="0"/>
              </a:rPr>
              <a:t>ANFW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54E06CD-23FF-75DB-1F8D-26D1003902D5}"/>
              </a:ext>
            </a:extLst>
          </p:cNvPr>
          <p:cNvSpPr/>
          <p:nvPr/>
        </p:nvSpPr>
        <p:spPr>
          <a:xfrm>
            <a:off x="4943232" y="2838663"/>
            <a:ext cx="162975" cy="162975"/>
          </a:xfrm>
          <a:prstGeom prst="ellipse">
            <a:avLst/>
          </a:prstGeom>
          <a:solidFill>
            <a:srgbClr val="05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2030562-860B-D1A1-1C7E-0CD7CA0EFBB0}"/>
              </a:ext>
            </a:extLst>
          </p:cNvPr>
          <p:cNvCxnSpPr>
            <a:cxnSpLocks/>
            <a:stCxn id="24" idx="0"/>
            <a:endCxn id="28" idx="4"/>
          </p:cNvCxnSpPr>
          <p:nvPr/>
        </p:nvCxnSpPr>
        <p:spPr>
          <a:xfrm flipH="1" flipV="1">
            <a:off x="5024720" y="3001638"/>
            <a:ext cx="172" cy="322515"/>
          </a:xfrm>
          <a:prstGeom prst="straightConnector1">
            <a:avLst/>
          </a:prstGeom>
          <a:ln w="19050" cap="rnd">
            <a:solidFill>
              <a:srgbClr val="0582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6D84E2E8-0EE5-2EEB-ABBD-4543A59E61E9}"/>
              </a:ext>
            </a:extLst>
          </p:cNvPr>
          <p:cNvSpPr/>
          <p:nvPr/>
        </p:nvSpPr>
        <p:spPr>
          <a:xfrm>
            <a:off x="4936704" y="2400134"/>
            <a:ext cx="162975" cy="162975"/>
          </a:xfrm>
          <a:prstGeom prst="ellipse">
            <a:avLst/>
          </a:prstGeom>
          <a:solidFill>
            <a:srgbClr val="05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A5CCAC7-0796-323D-9B12-B15D5A562B9A}"/>
              </a:ext>
            </a:extLst>
          </p:cNvPr>
          <p:cNvSpPr/>
          <p:nvPr/>
        </p:nvSpPr>
        <p:spPr>
          <a:xfrm>
            <a:off x="3628379" y="1915174"/>
            <a:ext cx="162975" cy="162975"/>
          </a:xfrm>
          <a:prstGeom prst="ellipse">
            <a:avLst/>
          </a:prstGeom>
          <a:solidFill>
            <a:srgbClr val="05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cxnSp>
        <p:nvCxnSpPr>
          <p:cNvPr id="32" name="꺾인 연결선[E] 31">
            <a:extLst>
              <a:ext uri="{FF2B5EF4-FFF2-40B4-BE49-F238E27FC236}">
                <a16:creationId xmlns:a16="http://schemas.microsoft.com/office/drawing/2014/main" id="{87E94736-177A-B291-24D2-5BF7DB6655B9}"/>
              </a:ext>
            </a:extLst>
          </p:cNvPr>
          <p:cNvCxnSpPr>
            <a:cxnSpLocks/>
            <a:stCxn id="31" idx="5"/>
            <a:endCxn id="30" idx="0"/>
          </p:cNvCxnSpPr>
          <p:nvPr/>
        </p:nvCxnSpPr>
        <p:spPr>
          <a:xfrm rot="16200000" flipH="1">
            <a:off x="4219913" y="1601855"/>
            <a:ext cx="345852" cy="1250705"/>
          </a:xfrm>
          <a:prstGeom prst="bentConnector3">
            <a:avLst>
              <a:gd name="adj1" fmla="val 50000"/>
            </a:avLst>
          </a:prstGeom>
          <a:ln w="19050" cap="rnd">
            <a:solidFill>
              <a:srgbClr val="0070C0"/>
            </a:solidFill>
            <a:round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A221B97-E144-5B9D-A47B-6946303DBA58}"/>
              </a:ext>
            </a:extLst>
          </p:cNvPr>
          <p:cNvSpPr txBox="1"/>
          <p:nvPr/>
        </p:nvSpPr>
        <p:spPr>
          <a:xfrm>
            <a:off x="4819418" y="3101560"/>
            <a:ext cx="47205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Egress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12.0/24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4" name="Rectangle 39" descr="VPC group border">
            <a:extLst>
              <a:ext uri="{FF2B5EF4-FFF2-40B4-BE49-F238E27FC236}">
                <a16:creationId xmlns:a16="http://schemas.microsoft.com/office/drawing/2014/main" id="{DB3141F8-7F7E-CDFA-8C65-969861420900}"/>
              </a:ext>
            </a:extLst>
          </p:cNvPr>
          <p:cNvSpPr/>
          <p:nvPr/>
        </p:nvSpPr>
        <p:spPr>
          <a:xfrm>
            <a:off x="3413329" y="4960427"/>
            <a:ext cx="2293072" cy="1504991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Graphic 57" descr="VPC group icon.">
            <a:extLst>
              <a:ext uri="{FF2B5EF4-FFF2-40B4-BE49-F238E27FC236}">
                <a16:creationId xmlns:a16="http://schemas.microsoft.com/office/drawing/2014/main" id="{4F439BDC-781F-382E-ACAF-05113D69EF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409031" y="4960427"/>
            <a:ext cx="288000" cy="288000"/>
          </a:xfrm>
          <a:prstGeom prst="rect">
            <a:avLst/>
          </a:prstGeom>
        </p:spPr>
      </p:pic>
      <p:sp>
        <p:nvSpPr>
          <p:cNvPr id="36" name="Rectangle 73">
            <a:extLst>
              <a:ext uri="{FF2B5EF4-FFF2-40B4-BE49-F238E27FC236}">
                <a16:creationId xmlns:a16="http://schemas.microsoft.com/office/drawing/2014/main" id="{475D089B-F5C0-745D-C839-31B2D5C23316}"/>
              </a:ext>
            </a:extLst>
          </p:cNvPr>
          <p:cNvSpPr/>
          <p:nvPr/>
        </p:nvSpPr>
        <p:spPr>
          <a:xfrm>
            <a:off x="3744273" y="5538392"/>
            <a:ext cx="1509945" cy="850123"/>
          </a:xfrm>
          <a:prstGeom prst="rect">
            <a:avLst/>
          </a:prstGeom>
          <a:noFill/>
          <a:ln w="15875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Graphic 74" descr="Public subnet group icon. ">
            <a:extLst>
              <a:ext uri="{FF2B5EF4-FFF2-40B4-BE49-F238E27FC236}">
                <a16:creationId xmlns:a16="http://schemas.microsoft.com/office/drawing/2014/main" id="{2169549C-4FAD-825B-DE50-B36F0A0060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4273" y="5538393"/>
            <a:ext cx="288000" cy="288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8C0C725-87DF-6DAD-D9F9-811D462222B8}"/>
              </a:ext>
            </a:extLst>
          </p:cNvPr>
          <p:cNvSpPr txBox="1"/>
          <p:nvPr/>
        </p:nvSpPr>
        <p:spPr>
          <a:xfrm>
            <a:off x="4065638" y="5575004"/>
            <a:ext cx="90852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Private NAT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39" name="Rectangle 5" descr="Availability Zone 1 represented by availability zone resource group.">
            <a:extLst>
              <a:ext uri="{FF2B5EF4-FFF2-40B4-BE49-F238E27FC236}">
                <a16:creationId xmlns:a16="http://schemas.microsoft.com/office/drawing/2014/main" id="{F4A9CE96-7EF2-E1A2-8AA2-9D644BA14757}"/>
              </a:ext>
            </a:extLst>
          </p:cNvPr>
          <p:cNvSpPr/>
          <p:nvPr/>
        </p:nvSpPr>
        <p:spPr bwMode="auto">
          <a:xfrm>
            <a:off x="3682540" y="5248307"/>
            <a:ext cx="1627865" cy="1184609"/>
          </a:xfrm>
          <a:prstGeom prst="rect">
            <a:avLst/>
          </a:prstGeom>
          <a:noFill/>
          <a:ln w="12700">
            <a:solidFill>
              <a:srgbClr val="00A4A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AD9D87-088F-DC28-CAF3-C9EA0E5AA76D}"/>
              </a:ext>
            </a:extLst>
          </p:cNvPr>
          <p:cNvSpPr txBox="1"/>
          <p:nvPr/>
        </p:nvSpPr>
        <p:spPr>
          <a:xfrm>
            <a:off x="3744273" y="5317197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 X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83230D2-27F2-967C-ECC3-C853CE4E60E7}"/>
              </a:ext>
            </a:extLst>
          </p:cNvPr>
          <p:cNvSpPr/>
          <p:nvPr/>
        </p:nvSpPr>
        <p:spPr>
          <a:xfrm>
            <a:off x="4939476" y="5569573"/>
            <a:ext cx="162975" cy="162975"/>
          </a:xfrm>
          <a:prstGeom prst="ellipse">
            <a:avLst/>
          </a:prstGeom>
          <a:solidFill>
            <a:srgbClr val="058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 err="1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B36A7775-8351-51DB-8A62-7AB8CDEBC3C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6169" y="4420537"/>
            <a:ext cx="298923" cy="29061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A5D7CC96-E0E5-71F1-4654-8F60F56626BE}"/>
              </a:ext>
            </a:extLst>
          </p:cNvPr>
          <p:cNvSpPr txBox="1"/>
          <p:nvPr/>
        </p:nvSpPr>
        <p:spPr>
          <a:xfrm>
            <a:off x="5190245" y="4308876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cxnSp>
        <p:nvCxnSpPr>
          <p:cNvPr id="67" name="꺾인 연결선[E] 66">
            <a:extLst>
              <a:ext uri="{FF2B5EF4-FFF2-40B4-BE49-F238E27FC236}">
                <a16:creationId xmlns:a16="http://schemas.microsoft.com/office/drawing/2014/main" id="{4C641906-B908-A06A-BF90-19FAE3B0F6D5}"/>
              </a:ext>
            </a:extLst>
          </p:cNvPr>
          <p:cNvCxnSpPr>
            <a:cxnSpLocks/>
            <a:stCxn id="94" idx="2"/>
            <a:endCxn id="71" idx="3"/>
          </p:cNvCxnSpPr>
          <p:nvPr/>
        </p:nvCxnSpPr>
        <p:spPr>
          <a:xfrm rot="5400000">
            <a:off x="4780144" y="4240581"/>
            <a:ext cx="197999" cy="292097"/>
          </a:xfrm>
          <a:prstGeom prst="bentConnector2">
            <a:avLst/>
          </a:prstGeom>
          <a:ln w="19050" cap="rnd">
            <a:solidFill>
              <a:srgbClr val="0070C0"/>
            </a:solidFill>
            <a:round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D1CDDC2-D8D4-D556-00F2-50B0B7F0C69F}"/>
              </a:ext>
            </a:extLst>
          </p:cNvPr>
          <p:cNvSpPr txBox="1"/>
          <p:nvPr/>
        </p:nvSpPr>
        <p:spPr>
          <a:xfrm>
            <a:off x="3689786" y="4964406"/>
            <a:ext cx="119243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VPC 10.1.0.0/16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E69AEFD3-2FDB-C745-2144-6A155E34D55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6031" y="4858157"/>
            <a:ext cx="162032" cy="162032"/>
          </a:xfrm>
          <a:prstGeom prst="rect">
            <a:avLst/>
          </a:prstGeom>
        </p:spPr>
      </p:pic>
      <p:cxnSp>
        <p:nvCxnSpPr>
          <p:cNvPr id="70" name="꺾인 연결선[E] 69">
            <a:extLst>
              <a:ext uri="{FF2B5EF4-FFF2-40B4-BE49-F238E27FC236}">
                <a16:creationId xmlns:a16="http://schemas.microsoft.com/office/drawing/2014/main" id="{14CDD5BD-7F3A-B55A-FA8D-D59CBDF2D6B9}"/>
              </a:ext>
            </a:extLst>
          </p:cNvPr>
          <p:cNvCxnSpPr>
            <a:cxnSpLocks/>
            <a:stCxn id="69" idx="0"/>
            <a:endCxn id="72" idx="3"/>
          </p:cNvCxnSpPr>
          <p:nvPr/>
        </p:nvCxnSpPr>
        <p:spPr>
          <a:xfrm rot="16200000" flipV="1">
            <a:off x="4760067" y="4601176"/>
            <a:ext cx="218810" cy="295151"/>
          </a:xfrm>
          <a:prstGeom prst="bentConnector2">
            <a:avLst/>
          </a:prstGeom>
          <a:ln w="19050" cap="rnd">
            <a:solidFill>
              <a:srgbClr val="0070C0"/>
            </a:solidFill>
            <a:round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그림 70">
            <a:extLst>
              <a:ext uri="{FF2B5EF4-FFF2-40B4-BE49-F238E27FC236}">
                <a16:creationId xmlns:a16="http://schemas.microsoft.com/office/drawing/2014/main" id="{5BE85093-7B99-E86C-B0DE-37B401A3819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1062" y="4404613"/>
            <a:ext cx="162032" cy="162032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703F7F5B-474D-76C7-2826-5C6C66C262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9864" y="4558331"/>
            <a:ext cx="162032" cy="162032"/>
          </a:xfrm>
          <a:prstGeom prst="rect">
            <a:avLst/>
          </a:prstGeom>
        </p:spPr>
      </p:pic>
      <p:pic>
        <p:nvPicPr>
          <p:cNvPr id="77" name="Graphic 23" descr="Amazon Elastic Kubernetes Service (Amazon EKS) Service icon.">
            <a:extLst>
              <a:ext uri="{FF2B5EF4-FFF2-40B4-BE49-F238E27FC236}">
                <a16:creationId xmlns:a16="http://schemas.microsoft.com/office/drawing/2014/main" id="{DDB09C8E-E7C9-7825-5042-905540AFA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4296907" y="5986032"/>
            <a:ext cx="358481" cy="35848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A57AE903-4682-8179-880D-F554FFBCEFDC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2213" y="5743239"/>
            <a:ext cx="277000" cy="301352"/>
          </a:xfrm>
          <a:prstGeom prst="rect">
            <a:avLst/>
          </a:prstGeom>
        </p:spPr>
      </p:pic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F65D2B4B-771C-D8DA-824D-7FEC596FDF05}"/>
              </a:ext>
            </a:extLst>
          </p:cNvPr>
          <p:cNvCxnSpPr>
            <a:cxnSpLocks/>
            <a:stCxn id="63" idx="0"/>
            <a:endCxn id="69" idx="2"/>
          </p:cNvCxnSpPr>
          <p:nvPr/>
        </p:nvCxnSpPr>
        <p:spPr>
          <a:xfrm flipH="1" flipV="1">
            <a:off x="5017047" y="5020189"/>
            <a:ext cx="3917" cy="549384"/>
          </a:xfrm>
          <a:prstGeom prst="straightConnector1">
            <a:avLst/>
          </a:prstGeom>
          <a:ln w="19050" cap="rnd">
            <a:solidFill>
              <a:srgbClr val="0582D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27">
            <a:extLst>
              <a:ext uri="{FF2B5EF4-FFF2-40B4-BE49-F238E27FC236}">
                <a16:creationId xmlns:a16="http://schemas.microsoft.com/office/drawing/2014/main" id="{06CCFDDC-1C12-B811-FFC7-3B503EA7E9B3}"/>
              </a:ext>
            </a:extLst>
          </p:cNvPr>
          <p:cNvGraphicFramePr>
            <a:graphicFrameLocks noGrp="1"/>
          </p:cNvGraphicFramePr>
          <p:nvPr/>
        </p:nvGraphicFramePr>
        <p:xfrm>
          <a:off x="553655" y="5251131"/>
          <a:ext cx="1378775" cy="575262"/>
        </p:xfrm>
        <a:graphic>
          <a:graphicData uri="http://schemas.openxmlformats.org/drawingml/2006/table">
            <a:tbl>
              <a:tblPr firstRow="1" bandRow="1"/>
              <a:tblGrid>
                <a:gridCol w="844974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3801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224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Cell Private NAT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390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224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81" name="표 27">
            <a:extLst>
              <a:ext uri="{FF2B5EF4-FFF2-40B4-BE49-F238E27FC236}">
                <a16:creationId xmlns:a16="http://schemas.microsoft.com/office/drawing/2014/main" id="{B9A87DA8-A45E-4A28-28BA-48D1BD612587}"/>
              </a:ext>
            </a:extLst>
          </p:cNvPr>
          <p:cNvGraphicFramePr>
            <a:graphicFrameLocks noGrp="1"/>
          </p:cNvGraphicFramePr>
          <p:nvPr/>
        </p:nvGraphicFramePr>
        <p:xfrm>
          <a:off x="548893" y="4324896"/>
          <a:ext cx="1875364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8820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1087163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 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CIDR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Cell Routing VPC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82" name="표 27">
            <a:extLst>
              <a:ext uri="{FF2B5EF4-FFF2-40B4-BE49-F238E27FC236}">
                <a16:creationId xmlns:a16="http://schemas.microsoft.com/office/drawing/2014/main" id="{1858046E-40F8-B765-6F12-5E05DBD10E6E}"/>
              </a:ext>
            </a:extLst>
          </p:cNvPr>
          <p:cNvGraphicFramePr>
            <a:graphicFrameLocks noGrp="1"/>
          </p:cNvGraphicFramePr>
          <p:nvPr/>
        </p:nvGraphicFramePr>
        <p:xfrm>
          <a:off x="555854" y="3600939"/>
          <a:ext cx="1380331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92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4403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Attach Subnet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VPCE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87" name="표 27">
            <a:extLst>
              <a:ext uri="{FF2B5EF4-FFF2-40B4-BE49-F238E27FC236}">
                <a16:creationId xmlns:a16="http://schemas.microsoft.com/office/drawing/2014/main" id="{7428E13C-E625-6810-8320-74682AA54129}"/>
              </a:ext>
            </a:extLst>
          </p:cNvPr>
          <p:cNvGraphicFramePr>
            <a:graphicFrameLocks noGrp="1"/>
          </p:cNvGraphicFramePr>
          <p:nvPr/>
        </p:nvGraphicFramePr>
        <p:xfrm>
          <a:off x="555855" y="2793404"/>
          <a:ext cx="138033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92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4404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Egress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NATGW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pic>
        <p:nvPicPr>
          <p:cNvPr id="88" name="그림 87">
            <a:extLst>
              <a:ext uri="{FF2B5EF4-FFF2-40B4-BE49-F238E27FC236}">
                <a16:creationId xmlns:a16="http://schemas.microsoft.com/office/drawing/2014/main" id="{DE5107D3-4DEA-F6B3-636A-1297F3CE94A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905" y="3327122"/>
            <a:ext cx="270473" cy="270473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F5541F15-05FA-E615-1C5C-ECF72CA5FD9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174" y="6074039"/>
            <a:ext cx="270473" cy="270473"/>
          </a:xfrm>
          <a:prstGeom prst="rect">
            <a:avLst/>
          </a:prstGeom>
        </p:spPr>
      </p:pic>
      <p:pic>
        <p:nvPicPr>
          <p:cNvPr id="91" name="Graphic 72" descr="Private subnet group icon. ">
            <a:extLst>
              <a:ext uri="{FF2B5EF4-FFF2-40B4-BE49-F238E27FC236}">
                <a16:creationId xmlns:a16="http://schemas.microsoft.com/office/drawing/2014/main" id="{D392E0EE-4F82-A736-FF80-699B40E0E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35966" y="3814217"/>
            <a:ext cx="288000" cy="288000"/>
          </a:xfrm>
          <a:prstGeom prst="rect">
            <a:avLst/>
          </a:prstGeom>
        </p:spPr>
      </p:pic>
      <p:sp>
        <p:nvSpPr>
          <p:cNvPr id="92" name="Rectangle 71">
            <a:extLst>
              <a:ext uri="{FF2B5EF4-FFF2-40B4-BE49-F238E27FC236}">
                <a16:creationId xmlns:a16="http://schemas.microsoft.com/office/drawing/2014/main" id="{3C2B9964-1401-9ACA-F984-5B2E55902166}"/>
              </a:ext>
            </a:extLst>
          </p:cNvPr>
          <p:cNvSpPr/>
          <p:nvPr/>
        </p:nvSpPr>
        <p:spPr>
          <a:xfrm>
            <a:off x="3738270" y="3813512"/>
            <a:ext cx="1513176" cy="372903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F33FCD2-D0E0-8EB7-7329-07BFF3A2FB56}"/>
              </a:ext>
            </a:extLst>
          </p:cNvPr>
          <p:cNvSpPr txBox="1"/>
          <p:nvPr/>
        </p:nvSpPr>
        <p:spPr>
          <a:xfrm>
            <a:off x="4060692" y="3814075"/>
            <a:ext cx="76910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Attach Subnet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251.0/24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7264FF81-33F2-E183-6AE7-4ABDF59EF53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44175" y="4125598"/>
            <a:ext cx="162032" cy="162032"/>
          </a:xfrm>
          <a:prstGeom prst="rect">
            <a:avLst/>
          </a:prstGeom>
        </p:spPr>
      </p:pic>
      <p:sp>
        <p:nvSpPr>
          <p:cNvPr id="95" name="Rectangle 77">
            <a:extLst>
              <a:ext uri="{FF2B5EF4-FFF2-40B4-BE49-F238E27FC236}">
                <a16:creationId xmlns:a16="http://schemas.microsoft.com/office/drawing/2014/main" id="{CF800EA1-617A-5EE5-FA7F-6C95E002FE98}"/>
              </a:ext>
            </a:extLst>
          </p:cNvPr>
          <p:cNvSpPr/>
          <p:nvPr/>
        </p:nvSpPr>
        <p:spPr>
          <a:xfrm>
            <a:off x="459607" y="1823235"/>
            <a:ext cx="2333316" cy="4642183"/>
          </a:xfrm>
          <a:prstGeom prst="rect">
            <a:avLst/>
          </a:prstGeom>
          <a:noFill/>
          <a:ln w="15875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18" name="표 27">
            <a:extLst>
              <a:ext uri="{FF2B5EF4-FFF2-40B4-BE49-F238E27FC236}">
                <a16:creationId xmlns:a16="http://schemas.microsoft.com/office/drawing/2014/main" id="{1ADA528D-3735-233E-5945-2EA732EB3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728802"/>
              </p:ext>
            </p:extLst>
          </p:nvPr>
        </p:nvGraphicFramePr>
        <p:xfrm>
          <a:off x="555855" y="2132410"/>
          <a:ext cx="138033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592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34404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NATGW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IGW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37CAC49-233E-8C6C-731A-DD413BEE3BCA}"/>
              </a:ext>
            </a:extLst>
          </p:cNvPr>
          <p:cNvSpPr txBox="1"/>
          <p:nvPr/>
        </p:nvSpPr>
        <p:spPr>
          <a:xfrm>
            <a:off x="1152703" y="6363955"/>
            <a:ext cx="935223" cy="169277"/>
          </a:xfrm>
          <a:prstGeom prst="rect">
            <a:avLst/>
          </a:prstGeom>
          <a:solidFill>
            <a:srgbClr val="FF6F0E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11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Routing Table</a:t>
            </a:r>
            <a:endParaRPr kumimoji="1" lang="ko-KR" altLang="en-US" sz="1100" b="1" dirty="0" err="1"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125407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2">
            <a:extLst>
              <a:ext uri="{FF2B5EF4-FFF2-40B4-BE49-F238E27FC236}">
                <a16:creationId xmlns:a16="http://schemas.microsoft.com/office/drawing/2014/main" id="{592B2817-8E60-D6A5-C419-48F3AD98F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73" y="1609097"/>
            <a:ext cx="5557070" cy="4933691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0FD991-2A66-3FAF-F20E-1A50A39B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당근 </a:t>
            </a:r>
            <a:r>
              <a:rPr kumimoji="1" lang="en-US" altLang="ko-KR" dirty="0"/>
              <a:t>VPC </a:t>
            </a:r>
            <a:r>
              <a:rPr kumimoji="1" lang="ko-KR" altLang="en-US" dirty="0"/>
              <a:t>아키텍쳐 개선안 </a:t>
            </a:r>
            <a:r>
              <a:rPr kumimoji="1" lang="en-US" altLang="ko-KR" dirty="0"/>
              <a:t>– Ingress , Egress Traffic </a:t>
            </a:r>
            <a:r>
              <a:rPr kumimoji="1" lang="ko-KR" altLang="en-US" dirty="0"/>
              <a:t>보안 제어 개선</a:t>
            </a:r>
            <a:r>
              <a:rPr kumimoji="1" lang="en-US" altLang="ko-KR" dirty="0"/>
              <a:t> </a:t>
            </a:r>
            <a:r>
              <a:rPr kumimoji="1" lang="ko-KR" altLang="en-US" dirty="0"/>
              <a:t>고려 사항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9722FF-238C-F371-E663-362705782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31</a:t>
            </a:fld>
            <a:endParaRPr lang="en-US" altLang="ko-KR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1996D9AF-34CC-14F5-D72F-94B3662C4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871300"/>
            <a:ext cx="555707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67" name="AutoShape 51">
            <a:extLst>
              <a:ext uri="{FF2B5EF4-FFF2-40B4-BE49-F238E27FC236}">
                <a16:creationId xmlns:a16="http://schemas.microsoft.com/office/drawing/2014/main" id="{E9BF88B7-16A4-6377-D771-A790B953E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662327"/>
            <a:ext cx="555707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pic>
        <p:nvPicPr>
          <p:cNvPr id="269" name="그림 16">
            <a:extLst>
              <a:ext uri="{FF2B5EF4-FFF2-40B4-BE49-F238E27FC236}">
                <a16:creationId xmlns:a16="http://schemas.microsoft.com/office/drawing/2014/main" id="{4F5A3891-4CCE-45B0-E359-35E307A3825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0726111D-27BE-DF56-4E04-AFB21261A571}"/>
              </a:ext>
            </a:extLst>
          </p:cNvPr>
          <p:cNvSpPr txBox="1"/>
          <p:nvPr/>
        </p:nvSpPr>
        <p:spPr>
          <a:xfrm>
            <a:off x="160666" y="557654"/>
            <a:ext cx="116752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조합할 경우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사용하게 되면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Peering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대비 최대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0.52msec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지연시간과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0.133msec Jitter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 증가할 수 있습니다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GWLB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사용할 경우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1.214msec Delay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와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0.73msec Jitter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가 추가됩니다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동일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AZ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구간으로 디자인하게 되면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P99.9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환경에서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1.2msec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Delay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만 발생하게 되므로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어플리케이션 응답속도에 영향을 주지 않습니다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endParaRPr lang="en-US" altLang="ko-KR" sz="1400" b="1" dirty="0">
              <a:effectLst/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72" name="Rectangle 287">
            <a:extLst>
              <a:ext uri="{FF2B5EF4-FFF2-40B4-BE49-F238E27FC236}">
                <a16:creationId xmlns:a16="http://schemas.microsoft.com/office/drawing/2014/main" id="{AB5B9D74-DA06-BEE9-F887-44310408F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096211"/>
            <a:ext cx="5539307" cy="438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시험환경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인스턴스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C5n Type 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서로 다른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동일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&amp;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서로 다른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와 서로 다른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Peering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&amp; TGW &amp; GWLB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(Hyperplane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Delay - ICMP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핑으로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20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번 반복 테스트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및 평균값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첫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5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번은 제외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-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ARP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동작방식 고려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Jitter - i</a:t>
            </a:r>
            <a:r>
              <a:rPr lang="en-US" altLang="ko-KR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perf3</a:t>
            </a:r>
            <a:r>
              <a:rPr lang="ko-KR" altLang="en-US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의 </a:t>
            </a:r>
            <a:r>
              <a:rPr lang="en-US" altLang="ko-KR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UDP </a:t>
            </a:r>
            <a:r>
              <a:rPr lang="ko-KR" altLang="en-US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모드에서 </a:t>
            </a:r>
            <a:r>
              <a:rPr lang="en-US" altLang="ko-KR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1Mbps </a:t>
            </a:r>
            <a:r>
              <a:rPr lang="ko-KR" altLang="en-US" sz="1200" b="1" i="0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대역폭으로 테스트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시험결과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(p99.9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Transit Gateway(TGW)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Peering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대비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0.52ms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지연 시간과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0.133ms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Jitter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가 증가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동일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Gateway Load Balancer(GWLB)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거치면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피어링에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비해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1.214ms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 지연 시간과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0.73ms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의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Jitter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증가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(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동일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AZ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)</a:t>
            </a:r>
          </a:p>
          <a:p>
            <a:pPr marL="204788" lvl="2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defRPr/>
            </a:pP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E696600-0BEE-1735-DA89-06EAD110628A}"/>
              </a:ext>
            </a:extLst>
          </p:cNvPr>
          <p:cNvSpPr txBox="1"/>
          <p:nvPr/>
        </p:nvSpPr>
        <p:spPr>
          <a:xfrm>
            <a:off x="6689929" y="1686634"/>
            <a:ext cx="4623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Outbound Traffic 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보안 제어 디자인 고려 사항</a:t>
            </a:r>
          </a:p>
        </p:txBody>
      </p:sp>
      <p:graphicFrame>
        <p:nvGraphicFramePr>
          <p:cNvPr id="4" name="표 27">
            <a:extLst>
              <a:ext uri="{FF2B5EF4-FFF2-40B4-BE49-F238E27FC236}">
                <a16:creationId xmlns:a16="http://schemas.microsoft.com/office/drawing/2014/main" id="{2D73C257-4E07-956F-F186-3D1822B6E2A5}"/>
              </a:ext>
            </a:extLst>
          </p:cNvPr>
          <p:cNvGraphicFramePr>
            <a:graphicFrameLocks noGrp="1"/>
          </p:cNvGraphicFramePr>
          <p:nvPr/>
        </p:nvGraphicFramePr>
        <p:xfrm>
          <a:off x="611412" y="1871300"/>
          <a:ext cx="5065392" cy="575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27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1323161">
                  <a:extLst>
                    <a:ext uri="{9D8B030D-6E8A-4147-A177-3AD203B41FA5}">
                      <a16:colId xmlns:a16="http://schemas.microsoft.com/office/drawing/2014/main" val="2308859649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1081170513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3070872731"/>
                    </a:ext>
                  </a:extLst>
                </a:gridCol>
              </a:tblGrid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From</a:t>
                      </a: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To</a:t>
                      </a: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Delay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Jitter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A / AZ A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B / AZ A</a:t>
                      </a:r>
                      <a:endParaRPr lang="ko-KR" altLang="en-US" b="0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0.203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0.007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A / AZ A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B / AZ B</a:t>
                      </a:r>
                      <a:endParaRPr lang="ko-KR" altLang="en-US" b="0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0.616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0.007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5" name="표 27">
            <a:extLst>
              <a:ext uri="{FF2B5EF4-FFF2-40B4-BE49-F238E27FC236}">
                <a16:creationId xmlns:a16="http://schemas.microsoft.com/office/drawing/2014/main" id="{75B865D0-5EC9-DCA3-CD62-ACE5BB898BBD}"/>
              </a:ext>
            </a:extLst>
          </p:cNvPr>
          <p:cNvGraphicFramePr>
            <a:graphicFrameLocks noGrp="1"/>
          </p:cNvGraphicFramePr>
          <p:nvPr/>
        </p:nvGraphicFramePr>
        <p:xfrm>
          <a:off x="606109" y="2659805"/>
          <a:ext cx="5065392" cy="575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27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1323161">
                  <a:extLst>
                    <a:ext uri="{9D8B030D-6E8A-4147-A177-3AD203B41FA5}">
                      <a16:colId xmlns:a16="http://schemas.microsoft.com/office/drawing/2014/main" val="2308859649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1081170513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3070872731"/>
                    </a:ext>
                  </a:extLst>
                </a:gridCol>
              </a:tblGrid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From</a:t>
                      </a: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To</a:t>
                      </a: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Delay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Jitter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A / AZ A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B / AZ A</a:t>
                      </a:r>
                      <a:endParaRPr lang="ko-KR" altLang="en-US" b="0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0.499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0.013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A / AZ A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B / AZ B</a:t>
                      </a:r>
                      <a:endParaRPr lang="ko-KR" altLang="en-US" b="0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0.878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0.016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6" name="표 27">
            <a:extLst>
              <a:ext uri="{FF2B5EF4-FFF2-40B4-BE49-F238E27FC236}">
                <a16:creationId xmlns:a16="http://schemas.microsoft.com/office/drawing/2014/main" id="{503BCC96-4E17-91FB-4DBC-F7474231AABC}"/>
              </a:ext>
            </a:extLst>
          </p:cNvPr>
          <p:cNvGraphicFramePr>
            <a:graphicFrameLocks noGrp="1"/>
          </p:cNvGraphicFramePr>
          <p:nvPr/>
        </p:nvGraphicFramePr>
        <p:xfrm>
          <a:off x="609889" y="3448310"/>
          <a:ext cx="5065392" cy="575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27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1323161">
                  <a:extLst>
                    <a:ext uri="{9D8B030D-6E8A-4147-A177-3AD203B41FA5}">
                      <a16:colId xmlns:a16="http://schemas.microsoft.com/office/drawing/2014/main" val="2308859649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1081170513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3070872731"/>
                    </a:ext>
                  </a:extLst>
                </a:gridCol>
              </a:tblGrid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From</a:t>
                      </a: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To</a:t>
                      </a: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Delay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Jitter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A / AZ A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B / AZ A</a:t>
                      </a:r>
                      <a:endParaRPr lang="ko-KR" altLang="en-US" b="0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1.787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0.583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A / AZ A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ore-KR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VPC B / AZ B</a:t>
                      </a:r>
                      <a:endParaRPr lang="ko-KR" altLang="en-US" b="0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2.067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0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0.588</a:t>
                      </a:r>
                      <a:endParaRPr lang="ko-Kore-KR" altLang="en-US" sz="900" b="0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10" name="표 27">
            <a:extLst>
              <a:ext uri="{FF2B5EF4-FFF2-40B4-BE49-F238E27FC236}">
                <a16:creationId xmlns:a16="http://schemas.microsoft.com/office/drawing/2014/main" id="{94B6D4BA-B1EB-3368-3EA6-1851FA415AE9}"/>
              </a:ext>
            </a:extLst>
          </p:cNvPr>
          <p:cNvGraphicFramePr>
            <a:graphicFrameLocks noGrp="1"/>
          </p:cNvGraphicFramePr>
          <p:nvPr/>
        </p:nvGraphicFramePr>
        <p:xfrm>
          <a:off x="604981" y="4327654"/>
          <a:ext cx="506539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127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1323161">
                  <a:extLst>
                    <a:ext uri="{9D8B030D-6E8A-4147-A177-3AD203B41FA5}">
                      <a16:colId xmlns:a16="http://schemas.microsoft.com/office/drawing/2014/main" val="2308859649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1081170513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3070872731"/>
                    </a:ext>
                  </a:extLst>
                </a:gridCol>
              </a:tblGrid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dirty="0"/>
                        <a:t>From</a:t>
                      </a:r>
                      <a:endParaRPr lang="en-US" altLang="ko-Kore-KR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/>
                        <a:t>To</a:t>
                      </a:r>
                      <a:endParaRPr lang="en-US" altLang="ko-Kore-KR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1" dirty="0"/>
                        <a:t>Delay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1" dirty="0"/>
                        <a:t>Jitter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dirty="0"/>
                        <a:t>VPC A / AZ A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VPC B / AZ A</a:t>
                      </a:r>
                      <a:endParaRPr lang="ko-KR" altLang="en-US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0.309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0.033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dirty="0"/>
                        <a:t>VPC A / AZ A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ore-KR" sz="900" b="1" dirty="0"/>
                        <a:t>VPC B / AZ B</a:t>
                      </a:r>
                      <a:endParaRPr lang="ko-KR" altLang="en-US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1.042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0.034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11" name="표 27">
            <a:extLst>
              <a:ext uri="{FF2B5EF4-FFF2-40B4-BE49-F238E27FC236}">
                <a16:creationId xmlns:a16="http://schemas.microsoft.com/office/drawing/2014/main" id="{DA5CC8DC-4C61-2BE5-743A-8E6CDF40EA2E}"/>
              </a:ext>
            </a:extLst>
          </p:cNvPr>
          <p:cNvGraphicFramePr>
            <a:graphicFrameLocks noGrp="1"/>
          </p:cNvGraphicFramePr>
          <p:nvPr/>
        </p:nvGraphicFramePr>
        <p:xfrm>
          <a:off x="599678" y="5116159"/>
          <a:ext cx="506539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127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1323161">
                  <a:extLst>
                    <a:ext uri="{9D8B030D-6E8A-4147-A177-3AD203B41FA5}">
                      <a16:colId xmlns:a16="http://schemas.microsoft.com/office/drawing/2014/main" val="2308859649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1081170513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3070872731"/>
                    </a:ext>
                  </a:extLst>
                </a:gridCol>
              </a:tblGrid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dirty="0"/>
                        <a:t>From</a:t>
                      </a:r>
                      <a:endParaRPr lang="en-US" altLang="ko-Kore-KR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/>
                        <a:t>To</a:t>
                      </a:r>
                      <a:endParaRPr lang="en-US" altLang="ko-Kore-KR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1" dirty="0"/>
                        <a:t>Delay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1" dirty="0"/>
                        <a:t>Jitter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dirty="0"/>
                        <a:t>VPC A / AZ A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VPC B / AZ A</a:t>
                      </a:r>
                      <a:endParaRPr lang="ko-KR" altLang="en-US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0.829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0.166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dirty="0"/>
                        <a:t>VPC A / AZ A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ore-KR" sz="900" b="1" dirty="0"/>
                        <a:t>VPC B / AZ B</a:t>
                      </a:r>
                      <a:endParaRPr lang="ko-KR" altLang="en-US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1.346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0.254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12" name="표 27">
            <a:extLst>
              <a:ext uri="{FF2B5EF4-FFF2-40B4-BE49-F238E27FC236}">
                <a16:creationId xmlns:a16="http://schemas.microsoft.com/office/drawing/2014/main" id="{7421879F-64F4-D931-1342-ECA76152A490}"/>
              </a:ext>
            </a:extLst>
          </p:cNvPr>
          <p:cNvGraphicFramePr>
            <a:graphicFrameLocks noGrp="1"/>
          </p:cNvGraphicFramePr>
          <p:nvPr/>
        </p:nvGraphicFramePr>
        <p:xfrm>
          <a:off x="603458" y="5904664"/>
          <a:ext cx="5065392" cy="5752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1127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1323161">
                  <a:extLst>
                    <a:ext uri="{9D8B030D-6E8A-4147-A177-3AD203B41FA5}">
                      <a16:colId xmlns:a16="http://schemas.microsoft.com/office/drawing/2014/main" val="2308859649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1081170513"/>
                    </a:ext>
                  </a:extLst>
                </a:gridCol>
                <a:gridCol w="1165480">
                  <a:extLst>
                    <a:ext uri="{9D8B030D-6E8A-4147-A177-3AD203B41FA5}">
                      <a16:colId xmlns:a16="http://schemas.microsoft.com/office/drawing/2014/main" val="3070872731"/>
                    </a:ext>
                  </a:extLst>
                </a:gridCol>
              </a:tblGrid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dirty="0"/>
                        <a:t>From</a:t>
                      </a:r>
                      <a:endParaRPr lang="en-US" altLang="ko-Kore-KR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/>
                        <a:t>To</a:t>
                      </a:r>
                      <a:endParaRPr lang="en-US" altLang="ko-Kore-KR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1" dirty="0"/>
                        <a:t>Delay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1" dirty="0"/>
                        <a:t>Jitter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dirty="0"/>
                        <a:t>VPC A / AZ A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VPC B / AZ A</a:t>
                      </a:r>
                      <a:endParaRPr lang="ko-KR" altLang="en-US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3.257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1.626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dirty="0"/>
                        <a:t>VPC A / AZ A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ore-KR" sz="900" b="1" dirty="0"/>
                        <a:t>VPC B / AZ B</a:t>
                      </a:r>
                      <a:endParaRPr lang="ko-KR" altLang="en-US" dirty="0"/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4.851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/>
                    <a:p>
                      <a:r>
                        <a:rPr lang="en-US" altLang="en-US" sz="900" b="1" dirty="0"/>
                        <a:t>1.681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84188DC-AAD3-A809-401F-70EB93816F70}"/>
              </a:ext>
            </a:extLst>
          </p:cNvPr>
          <p:cNvSpPr txBox="1"/>
          <p:nvPr/>
        </p:nvSpPr>
        <p:spPr>
          <a:xfrm>
            <a:off x="599678" y="1680756"/>
            <a:ext cx="324534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Peering </a:t>
            </a:r>
            <a:r>
              <a:rPr kumimoji="1" lang="ko-KR" altLang="en-US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평균 </a:t>
            </a:r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Delay &amp; Jitter (C5n – VPC Peering – C5n)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8B8044-9383-0D08-6071-18B89C9383A1}"/>
              </a:ext>
            </a:extLst>
          </p:cNvPr>
          <p:cNvSpPr txBox="1"/>
          <p:nvPr/>
        </p:nvSpPr>
        <p:spPr>
          <a:xfrm>
            <a:off x="599678" y="2498607"/>
            <a:ext cx="273987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 </a:t>
            </a:r>
            <a:r>
              <a:rPr kumimoji="1" lang="ko-KR" altLang="en-US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평균 </a:t>
            </a:r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Delay &amp; Jitter (C5n – TGW – C5n)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C9E73-9063-4F83-8088-B73459F436D7}"/>
              </a:ext>
            </a:extLst>
          </p:cNvPr>
          <p:cNvSpPr txBox="1"/>
          <p:nvPr/>
        </p:nvSpPr>
        <p:spPr>
          <a:xfrm>
            <a:off x="606108" y="3286638"/>
            <a:ext cx="317076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GWLB </a:t>
            </a:r>
            <a:r>
              <a:rPr kumimoji="1" lang="ko-KR" altLang="en-US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평균 </a:t>
            </a:r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Delay &amp; Jitter (C5n - GWLB – TGW – GWLB – C5n)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5E2959-3ADE-789B-9D44-8AA01AC3A463}"/>
              </a:ext>
            </a:extLst>
          </p:cNvPr>
          <p:cNvSpPr txBox="1"/>
          <p:nvPr/>
        </p:nvSpPr>
        <p:spPr>
          <a:xfrm>
            <a:off x="606108" y="4178600"/>
            <a:ext cx="324534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Peering p99.9</a:t>
            </a:r>
            <a:r>
              <a:rPr kumimoji="1" lang="ko-KR" altLang="en-US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Delay &amp; Jitter (C5n – VPC Peering – C5n)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2BA711-3C16-3772-ABE3-18961694193F}"/>
              </a:ext>
            </a:extLst>
          </p:cNvPr>
          <p:cNvSpPr txBox="1"/>
          <p:nvPr/>
        </p:nvSpPr>
        <p:spPr>
          <a:xfrm>
            <a:off x="606108" y="4996451"/>
            <a:ext cx="273987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 p99.9</a:t>
            </a:r>
            <a:r>
              <a:rPr kumimoji="1" lang="ko-KR" altLang="en-US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Delay &amp; Jitter (C5n – TGW – C5n)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D20829-CD76-6DB4-37D5-1ABB0AE0F9AA}"/>
              </a:ext>
            </a:extLst>
          </p:cNvPr>
          <p:cNvSpPr txBox="1"/>
          <p:nvPr/>
        </p:nvSpPr>
        <p:spPr>
          <a:xfrm>
            <a:off x="612538" y="5784482"/>
            <a:ext cx="382315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GWLB p99.9</a:t>
            </a:r>
            <a:r>
              <a:rPr kumimoji="1" lang="ko-KR" altLang="en-US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Delay &amp; Jitter (C5n GWLB – TGW – GWLB – C5n)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2885371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2">
            <a:extLst>
              <a:ext uri="{FF2B5EF4-FFF2-40B4-BE49-F238E27FC236}">
                <a16:creationId xmlns:a16="http://schemas.microsoft.com/office/drawing/2014/main" id="{592B2817-8E60-D6A5-C419-48F3AD98F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48" y="1624525"/>
            <a:ext cx="5557070" cy="4933691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0FD991-2A66-3FAF-F20E-1A50A39B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당근 </a:t>
            </a:r>
            <a:r>
              <a:rPr kumimoji="1" lang="en-US" altLang="ko-KR" dirty="0"/>
              <a:t>VPC </a:t>
            </a:r>
            <a:r>
              <a:rPr kumimoji="1" lang="ko-KR" altLang="en-US" dirty="0"/>
              <a:t>아키텍쳐 개선안 </a:t>
            </a:r>
            <a:r>
              <a:rPr kumimoji="1" lang="en-US" altLang="ko-KR" dirty="0"/>
              <a:t>– VPC Peering to TGW </a:t>
            </a:r>
            <a:r>
              <a:rPr kumimoji="1" lang="ko-KR" altLang="en-US" dirty="0"/>
              <a:t>로의 이전 방안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9722FF-238C-F371-E663-362705782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32</a:t>
            </a:fld>
            <a:endParaRPr lang="en-US" altLang="ko-KR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1996D9AF-34CC-14F5-D72F-94B3662C4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871300"/>
            <a:ext cx="555707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67" name="AutoShape 51">
            <a:extLst>
              <a:ext uri="{FF2B5EF4-FFF2-40B4-BE49-F238E27FC236}">
                <a16:creationId xmlns:a16="http://schemas.microsoft.com/office/drawing/2014/main" id="{E9BF88B7-16A4-6377-D771-A790B953E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662327"/>
            <a:ext cx="555707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pic>
        <p:nvPicPr>
          <p:cNvPr id="269" name="그림 16">
            <a:extLst>
              <a:ext uri="{FF2B5EF4-FFF2-40B4-BE49-F238E27FC236}">
                <a16:creationId xmlns:a16="http://schemas.microsoft.com/office/drawing/2014/main" id="{4F5A3891-4CCE-45B0-E359-35E307A3825A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0726111D-27BE-DF56-4E04-AFB21261A571}"/>
              </a:ext>
            </a:extLst>
          </p:cNvPr>
          <p:cNvSpPr txBox="1"/>
          <p:nvPr/>
        </p:nvSpPr>
        <p:spPr>
          <a:xfrm>
            <a:off x="160666" y="557654"/>
            <a:ext cx="116752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VPC-Peering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안정적으로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Traffic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을 이전할 수 있습니다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이전 과정에서 일시적인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Traffic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비대칭이 발생하지만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안정적인 이전이 가능합니다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 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이전 이후에 장애 발생시 빠른 복구를 위해서 기존 라우팅 테이블은 유지하고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이용하는 신규 라우팅 테이블을 별도로 생성하여 전환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/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원복 하는 방안을 권장드립니다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  <a:r>
              <a:rPr lang="ko-KR" altLang="en-US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</a:t>
            </a:r>
            <a:endParaRPr lang="en-US" altLang="ko-KR" sz="1400" b="1" dirty="0">
              <a:effectLst/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72" name="Rectangle 287">
            <a:extLst>
              <a:ext uri="{FF2B5EF4-FFF2-40B4-BE49-F238E27FC236}">
                <a16:creationId xmlns:a16="http://schemas.microsoft.com/office/drawing/2014/main" id="{AB5B9D74-DA06-BEE9-F887-44310408F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096211"/>
            <a:ext cx="5539307" cy="4383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신규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TGW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Attach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한쪽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Subnet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라우팅 테이블 변경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peering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TGW attachment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변경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비대칭 라우팅 경로 발생하지만 서비스 영향 없음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다른쪽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Subnet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라우팅 테이블 변경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서비스 영향 없음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VPC-peering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으로 원복하는 절차를 단순화 하기 위해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기존 라우팅 테이블은 유지하고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 TGW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로 가는 신규 라우팅 테이블을 별도로 생성하여 전환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/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원복을 하나의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cli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명령어로 간단하게 할 수 있음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aws ec2 associate-route-table --route-table-id rtb-yyy --subnet-id subnet-xxx </a:t>
            </a:r>
          </a:p>
          <a:p>
            <a:pPr marL="204788" lvl="2" indent="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defRPr/>
            </a:pPr>
            <a:b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</a:b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E696600-0BEE-1735-DA89-06EAD110628A}"/>
              </a:ext>
            </a:extLst>
          </p:cNvPr>
          <p:cNvSpPr txBox="1"/>
          <p:nvPr/>
        </p:nvSpPr>
        <p:spPr>
          <a:xfrm>
            <a:off x="6689929" y="1686634"/>
            <a:ext cx="4623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VPC-peering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에서 </a:t>
            </a:r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TGW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로 이전</a:t>
            </a:r>
          </a:p>
        </p:txBody>
      </p:sp>
      <p:sp>
        <p:nvSpPr>
          <p:cNvPr id="37" name="Rectangle 39" descr="VPC group border">
            <a:extLst>
              <a:ext uri="{FF2B5EF4-FFF2-40B4-BE49-F238E27FC236}">
                <a16:creationId xmlns:a16="http://schemas.microsoft.com/office/drawing/2014/main" id="{2E961FFE-0FA7-1C37-DCC1-B42462913C37}"/>
              </a:ext>
            </a:extLst>
          </p:cNvPr>
          <p:cNvSpPr/>
          <p:nvPr/>
        </p:nvSpPr>
        <p:spPr>
          <a:xfrm>
            <a:off x="1077594" y="1876063"/>
            <a:ext cx="1300709" cy="1259613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Graphic 57" descr="VPC group icon.">
            <a:extLst>
              <a:ext uri="{FF2B5EF4-FFF2-40B4-BE49-F238E27FC236}">
                <a16:creationId xmlns:a16="http://schemas.microsoft.com/office/drawing/2014/main" id="{3176DF52-5C07-9520-350A-EDD32A9A8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77594" y="1871300"/>
            <a:ext cx="288000" cy="288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D7CC487-5EB2-D909-96DE-FC0ADE7361DF}"/>
              </a:ext>
            </a:extLst>
          </p:cNvPr>
          <p:cNvSpPr txBox="1"/>
          <p:nvPr/>
        </p:nvSpPr>
        <p:spPr>
          <a:xfrm>
            <a:off x="1363498" y="1946050"/>
            <a:ext cx="91456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(10.1/16)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0" name="Rectangle 71">
            <a:extLst>
              <a:ext uri="{FF2B5EF4-FFF2-40B4-BE49-F238E27FC236}">
                <a16:creationId xmlns:a16="http://schemas.microsoft.com/office/drawing/2014/main" id="{D8EA19E1-33EA-D97A-EB5E-C364C729A4BE}"/>
              </a:ext>
            </a:extLst>
          </p:cNvPr>
          <p:cNvSpPr/>
          <p:nvPr/>
        </p:nvSpPr>
        <p:spPr>
          <a:xfrm>
            <a:off x="1171746" y="2265644"/>
            <a:ext cx="1115006" cy="763687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Graphic 72" descr="Private subnet group icon. ">
            <a:extLst>
              <a:ext uri="{FF2B5EF4-FFF2-40B4-BE49-F238E27FC236}">
                <a16:creationId xmlns:a16="http://schemas.microsoft.com/office/drawing/2014/main" id="{5082BDDE-61C2-E348-C705-ACDA81D9F7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71745" y="2265644"/>
            <a:ext cx="288000" cy="2880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81C70F8-F322-8AFB-22AE-95E8E65C0B0D}"/>
              </a:ext>
            </a:extLst>
          </p:cNvPr>
          <p:cNvSpPr txBox="1"/>
          <p:nvPr/>
        </p:nvSpPr>
        <p:spPr>
          <a:xfrm>
            <a:off x="1493110" y="2309365"/>
            <a:ext cx="104764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Subnet 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(10.1.1/24)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43" name="그림 51">
            <a:extLst>
              <a:ext uri="{FF2B5EF4-FFF2-40B4-BE49-F238E27FC236}">
                <a16:creationId xmlns:a16="http://schemas.microsoft.com/office/drawing/2014/main" id="{EF4EA77C-E321-55ED-A163-A28BDE9320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87" y="2653876"/>
            <a:ext cx="288000" cy="288000"/>
          </a:xfrm>
          <a:prstGeom prst="rect">
            <a:avLst/>
          </a:prstGeom>
        </p:spPr>
      </p:pic>
      <p:sp>
        <p:nvSpPr>
          <p:cNvPr id="44" name="Rectangle 39" descr="VPC group border">
            <a:extLst>
              <a:ext uri="{FF2B5EF4-FFF2-40B4-BE49-F238E27FC236}">
                <a16:creationId xmlns:a16="http://schemas.microsoft.com/office/drawing/2014/main" id="{2EEB0C7B-E0A3-746B-2C91-FE8E2C13AFD5}"/>
              </a:ext>
            </a:extLst>
          </p:cNvPr>
          <p:cNvSpPr/>
          <p:nvPr/>
        </p:nvSpPr>
        <p:spPr>
          <a:xfrm>
            <a:off x="3878228" y="1876063"/>
            <a:ext cx="1300709" cy="1259613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Graphic 57" descr="VPC group icon.">
            <a:extLst>
              <a:ext uri="{FF2B5EF4-FFF2-40B4-BE49-F238E27FC236}">
                <a16:creationId xmlns:a16="http://schemas.microsoft.com/office/drawing/2014/main" id="{20484617-785D-E815-D08A-DD49D68EE1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78228" y="1871300"/>
            <a:ext cx="288000" cy="2880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B4AE03C-2A20-03D8-741E-B4503AE40593}"/>
              </a:ext>
            </a:extLst>
          </p:cNvPr>
          <p:cNvSpPr txBox="1"/>
          <p:nvPr/>
        </p:nvSpPr>
        <p:spPr>
          <a:xfrm>
            <a:off x="4164132" y="1946050"/>
            <a:ext cx="91456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(10.2/16)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7" name="Rectangle 71">
            <a:extLst>
              <a:ext uri="{FF2B5EF4-FFF2-40B4-BE49-F238E27FC236}">
                <a16:creationId xmlns:a16="http://schemas.microsoft.com/office/drawing/2014/main" id="{2862F350-F3D1-6CAC-11B4-1A2C3B1EEA99}"/>
              </a:ext>
            </a:extLst>
          </p:cNvPr>
          <p:cNvSpPr/>
          <p:nvPr/>
        </p:nvSpPr>
        <p:spPr>
          <a:xfrm>
            <a:off x="3972380" y="2265644"/>
            <a:ext cx="1115006" cy="763687"/>
          </a:xfrm>
          <a:prstGeom prst="rect">
            <a:avLst/>
          </a:prstGeom>
          <a:noFill/>
          <a:ln w="15875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 bIns="457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Graphic 72" descr="Private subnet group icon. ">
            <a:extLst>
              <a:ext uri="{FF2B5EF4-FFF2-40B4-BE49-F238E27FC236}">
                <a16:creationId xmlns:a16="http://schemas.microsoft.com/office/drawing/2014/main" id="{0DF1D1A8-0404-831B-5D93-B5AE8EEAE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972379" y="2265644"/>
            <a:ext cx="288000" cy="2880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67F0F72-E444-6265-954A-B79CB0074E42}"/>
              </a:ext>
            </a:extLst>
          </p:cNvPr>
          <p:cNvSpPr txBox="1"/>
          <p:nvPr/>
        </p:nvSpPr>
        <p:spPr>
          <a:xfrm>
            <a:off x="4293744" y="2309365"/>
            <a:ext cx="104764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Subnet </a:t>
            </a:r>
          </a:p>
          <a:p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(10.2.1/24)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50" name="그림 51">
            <a:extLst>
              <a:ext uri="{FF2B5EF4-FFF2-40B4-BE49-F238E27FC236}">
                <a16:creationId xmlns:a16="http://schemas.microsoft.com/office/drawing/2014/main" id="{3C5861CC-0C9D-7C3E-F333-720035B43D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321" y="2653876"/>
            <a:ext cx="288000" cy="288000"/>
          </a:xfrm>
          <a:prstGeom prst="rect">
            <a:avLst/>
          </a:prstGeom>
        </p:spPr>
      </p:pic>
      <p:pic>
        <p:nvPicPr>
          <p:cNvPr id="51" name="Graphic 7" descr="AWS Transit Gateway service icon.">
            <a:extLst>
              <a:ext uri="{FF2B5EF4-FFF2-40B4-BE49-F238E27FC236}">
                <a16:creationId xmlns:a16="http://schemas.microsoft.com/office/drawing/2014/main" id="{A6250C12-F27D-552F-C97E-7D130DF3A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2902669" y="3314001"/>
            <a:ext cx="453943" cy="4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6445B8B-D931-A3C9-AF4B-C758543D0C5F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2380904" y="2502213"/>
            <a:ext cx="1497324" cy="3657"/>
          </a:xfrm>
          <a:prstGeom prst="line">
            <a:avLst/>
          </a:prstGeom>
          <a:ln w="1905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3EFD348-F2E0-3B27-4C17-15A02F361434}"/>
              </a:ext>
            </a:extLst>
          </p:cNvPr>
          <p:cNvCxnSpPr>
            <a:cxnSpLocks/>
          </p:cNvCxnSpPr>
          <p:nvPr/>
        </p:nvCxnSpPr>
        <p:spPr>
          <a:xfrm flipH="1">
            <a:off x="2126111" y="2647235"/>
            <a:ext cx="2134268" cy="0"/>
          </a:xfrm>
          <a:prstGeom prst="straightConnector1">
            <a:avLst/>
          </a:prstGeom>
          <a:ln w="22225">
            <a:solidFill>
              <a:schemeClr val="accent1">
                <a:lumMod val="60000"/>
                <a:lumOff val="40000"/>
              </a:schemeClr>
            </a:solidFill>
            <a:prstDash val="sysDash"/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650B65-CF54-BC5B-96B1-188C99C44A0E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2378303" y="2887461"/>
            <a:ext cx="524366" cy="653512"/>
          </a:xfrm>
          <a:prstGeom prst="line">
            <a:avLst/>
          </a:prstGeom>
          <a:ln w="22225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AC6BB97-95A7-00AC-272F-6A727929C6C3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3356612" y="2887461"/>
            <a:ext cx="516843" cy="653512"/>
          </a:xfrm>
          <a:prstGeom prst="line">
            <a:avLst/>
          </a:prstGeom>
          <a:ln w="22225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Freeform 255">
            <a:extLst>
              <a:ext uri="{FF2B5EF4-FFF2-40B4-BE49-F238E27FC236}">
                <a16:creationId xmlns:a16="http://schemas.microsoft.com/office/drawing/2014/main" id="{EC4462E0-D7EA-2B8C-233B-DF2D34C8AE7F}"/>
              </a:ext>
            </a:extLst>
          </p:cNvPr>
          <p:cNvSpPr/>
          <p:nvPr/>
        </p:nvSpPr>
        <p:spPr>
          <a:xfrm>
            <a:off x="2038691" y="2701885"/>
            <a:ext cx="2194560" cy="961174"/>
          </a:xfrm>
          <a:custGeom>
            <a:avLst/>
            <a:gdLst>
              <a:gd name="connsiteX0" fmla="*/ 0 w 2194560"/>
              <a:gd name="connsiteY0" fmla="*/ 0 h 1219138"/>
              <a:gd name="connsiteX1" fmla="*/ 594360 w 2194560"/>
              <a:gd name="connsiteY1" fmla="*/ 1051560 h 1219138"/>
              <a:gd name="connsiteX2" fmla="*/ 1371600 w 2194560"/>
              <a:gd name="connsiteY2" fmla="*/ 1120140 h 1219138"/>
              <a:gd name="connsiteX3" fmla="*/ 2194560 w 2194560"/>
              <a:gd name="connsiteY3" fmla="*/ 91440 h 1219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1219138">
                <a:moveTo>
                  <a:pt x="0" y="0"/>
                </a:moveTo>
                <a:cubicBezTo>
                  <a:pt x="182880" y="432435"/>
                  <a:pt x="365760" y="864870"/>
                  <a:pt x="594360" y="1051560"/>
                </a:cubicBezTo>
                <a:cubicBezTo>
                  <a:pt x="822960" y="1238250"/>
                  <a:pt x="1104900" y="1280160"/>
                  <a:pt x="1371600" y="1120140"/>
                </a:cubicBezTo>
                <a:cubicBezTo>
                  <a:pt x="1638300" y="960120"/>
                  <a:pt x="1916430" y="525780"/>
                  <a:pt x="2194560" y="91440"/>
                </a:cubicBezTo>
              </a:path>
            </a:pathLst>
          </a:custGeom>
          <a:noFill/>
          <a:ln w="25400">
            <a:solidFill>
              <a:srgbClr val="FF0000">
                <a:alpha val="55963"/>
              </a:srgbClr>
            </a:solidFill>
            <a:prstDash val="sysDash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5B74BB63-7286-EB66-F965-AC34909EE759}"/>
              </a:ext>
            </a:extLst>
          </p:cNvPr>
          <p:cNvSpPr/>
          <p:nvPr/>
        </p:nvSpPr>
        <p:spPr>
          <a:xfrm>
            <a:off x="2545330" y="3009665"/>
            <a:ext cx="271946" cy="2617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D78F2D00-4BFD-7F76-329B-06BC26015F57}"/>
              </a:ext>
            </a:extLst>
          </p:cNvPr>
          <p:cNvSpPr/>
          <p:nvPr/>
        </p:nvSpPr>
        <p:spPr>
          <a:xfrm>
            <a:off x="3429250" y="3024905"/>
            <a:ext cx="271946" cy="2617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D0ED5F06-18A0-F8F6-E6A1-283E5E6029BA}"/>
              </a:ext>
            </a:extLst>
          </p:cNvPr>
          <p:cNvSpPr/>
          <p:nvPr/>
        </p:nvSpPr>
        <p:spPr>
          <a:xfrm>
            <a:off x="1907636" y="2108021"/>
            <a:ext cx="292940" cy="276999"/>
          </a:xfrm>
          <a:prstGeom prst="ellipse">
            <a:avLst/>
          </a:prstGeom>
          <a:solidFill>
            <a:srgbClr val="FF0000">
              <a:alpha val="6026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2D868742-764B-B9AE-88AF-2213F1348B1A}"/>
              </a:ext>
            </a:extLst>
          </p:cNvPr>
          <p:cNvSpPr/>
          <p:nvPr/>
        </p:nvSpPr>
        <p:spPr>
          <a:xfrm>
            <a:off x="4720819" y="2101645"/>
            <a:ext cx="292940" cy="276999"/>
          </a:xfrm>
          <a:prstGeom prst="ellipse">
            <a:avLst/>
          </a:prstGeom>
          <a:solidFill>
            <a:srgbClr val="FF0000">
              <a:alpha val="6026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200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261" name="Content Placeholder 4">
            <a:extLst>
              <a:ext uri="{FF2B5EF4-FFF2-40B4-BE49-F238E27FC236}">
                <a16:creationId xmlns:a16="http://schemas.microsoft.com/office/drawing/2014/main" id="{B43E0744-4E7A-55B4-1148-70786259B6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238" y="4106203"/>
            <a:ext cx="2653204" cy="190836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262" name="Rounded Rectangle 261">
            <a:extLst>
              <a:ext uri="{FF2B5EF4-FFF2-40B4-BE49-F238E27FC236}">
                <a16:creationId xmlns:a16="http://schemas.microsoft.com/office/drawing/2014/main" id="{A1CB3C08-F808-0F79-7312-39E371036FC4}"/>
              </a:ext>
            </a:extLst>
          </p:cNvPr>
          <p:cNvSpPr/>
          <p:nvPr/>
        </p:nvSpPr>
        <p:spPr>
          <a:xfrm>
            <a:off x="532789" y="4802133"/>
            <a:ext cx="2147151" cy="1885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4F349594-FE37-2260-9EFC-63347B3B3B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7237" y="4101827"/>
            <a:ext cx="2462693" cy="1908360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sp>
        <p:nvSpPr>
          <p:cNvPr id="264" name="Rounded Rectangle 263">
            <a:extLst>
              <a:ext uri="{FF2B5EF4-FFF2-40B4-BE49-F238E27FC236}">
                <a16:creationId xmlns:a16="http://schemas.microsoft.com/office/drawing/2014/main" id="{4D19D8EE-981C-3A36-892A-93A8D6171401}"/>
              </a:ext>
            </a:extLst>
          </p:cNvPr>
          <p:cNvSpPr/>
          <p:nvPr/>
        </p:nvSpPr>
        <p:spPr>
          <a:xfrm>
            <a:off x="3353684" y="4825199"/>
            <a:ext cx="1981164" cy="2427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1BCDC6B7-1A2A-AF17-B813-B2A085535B70}"/>
              </a:ext>
            </a:extLst>
          </p:cNvPr>
          <p:cNvCxnSpPr>
            <a:cxnSpLocks/>
            <a:stCxn id="262" idx="3"/>
            <a:endCxn id="264" idx="1"/>
          </p:cNvCxnSpPr>
          <p:nvPr/>
        </p:nvCxnSpPr>
        <p:spPr>
          <a:xfrm>
            <a:off x="2679940" y="4896401"/>
            <a:ext cx="673744" cy="50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9" name="Picture 278">
            <a:extLst>
              <a:ext uri="{FF2B5EF4-FFF2-40B4-BE49-F238E27FC236}">
                <a16:creationId xmlns:a16="http://schemas.microsoft.com/office/drawing/2014/main" id="{E586AB2E-D899-1174-A934-2E81A65BACD8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57304"/>
          <a:stretch/>
        </p:blipFill>
        <p:spPr>
          <a:xfrm>
            <a:off x="7715521" y="5157735"/>
            <a:ext cx="3770625" cy="1245392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99786317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2">
            <a:extLst>
              <a:ext uri="{FF2B5EF4-FFF2-40B4-BE49-F238E27FC236}">
                <a16:creationId xmlns:a16="http://schemas.microsoft.com/office/drawing/2014/main" id="{592B2817-8E60-D6A5-C419-48F3AD98F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573" y="1609097"/>
            <a:ext cx="5557070" cy="4933691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0FD991-2A66-3FAF-F20E-1A50A39B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203200"/>
            <a:ext cx="10972800" cy="426848"/>
          </a:xfrm>
        </p:spPr>
        <p:txBody>
          <a:bodyPr/>
          <a:lstStyle/>
          <a:p>
            <a:r>
              <a:rPr kumimoji="1" lang="ko-KR" altLang="en-US" dirty="0"/>
              <a:t>당근 </a:t>
            </a:r>
            <a:r>
              <a:rPr kumimoji="1" lang="en-US" altLang="ko-KR" dirty="0"/>
              <a:t>VPC </a:t>
            </a:r>
            <a:r>
              <a:rPr kumimoji="1" lang="ko-KR" altLang="en-US" dirty="0"/>
              <a:t>아키텍쳐 개선안 </a:t>
            </a:r>
            <a:r>
              <a:rPr kumimoji="1" lang="en-US" altLang="ko-KR" dirty="0"/>
              <a:t>– Customer-Managed Prefix List </a:t>
            </a:r>
            <a:r>
              <a:rPr kumimoji="1" lang="ko-KR" altLang="en-US" dirty="0"/>
              <a:t>활용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B9722FF-238C-F371-E663-362705782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E3D07C-C609-5F4C-A74A-B90C9508442B}" type="slidenum">
              <a:rPr lang="en-US" altLang="ko-KR" smtClean="0"/>
              <a:pPr/>
              <a:t>33</a:t>
            </a:fld>
            <a:endParaRPr lang="en-US" altLang="ko-KR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1996D9AF-34CC-14F5-D72F-94B3662C4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871300"/>
            <a:ext cx="5557070" cy="4608627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127000" dist="38100" dir="5400000" algn="t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sp>
        <p:nvSpPr>
          <p:cNvPr id="267" name="AutoShape 51">
            <a:extLst>
              <a:ext uri="{FF2B5EF4-FFF2-40B4-BE49-F238E27FC236}">
                <a16:creationId xmlns:a16="http://schemas.microsoft.com/office/drawing/2014/main" id="{E9BF88B7-16A4-6377-D771-A790B953E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882" y="1662327"/>
            <a:ext cx="5557070" cy="372097"/>
          </a:xfrm>
          <a:prstGeom prst="round2SameRect">
            <a:avLst/>
          </a:prstGeom>
          <a:solidFill>
            <a:srgbClr val="FF6F0E"/>
          </a:solidFill>
          <a:ln>
            <a:noFill/>
          </a:ln>
          <a:effectLst>
            <a:outerShdw blurRad="381000" dist="25400" dir="5400000" sx="98000" sy="98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ko-KR" sz="1800" dirty="0">
              <a:solidFill>
                <a:schemeClr val="lt1"/>
              </a:solidFill>
              <a:latin typeface="+mn-lt"/>
              <a:ea typeface="NanumSquareOTF_ac" panose="020B0600000101010101" pitchFamily="34" charset="-127"/>
            </a:endParaRPr>
          </a:p>
        </p:txBody>
      </p:sp>
      <p:pic>
        <p:nvPicPr>
          <p:cNvPr id="269" name="그림 16">
            <a:extLst>
              <a:ext uri="{FF2B5EF4-FFF2-40B4-BE49-F238E27FC236}">
                <a16:creationId xmlns:a16="http://schemas.microsoft.com/office/drawing/2014/main" id="{4F5A3891-4CCE-45B0-E359-35E307A3825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duotone>
              <a:srgbClr val="67676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5912037" y="3406187"/>
            <a:ext cx="310823" cy="1243975"/>
          </a:xfrm>
          <a:prstGeom prst="rect">
            <a:avLst/>
          </a:prstGeom>
        </p:spPr>
      </p:pic>
      <p:sp>
        <p:nvSpPr>
          <p:cNvPr id="271" name="TextBox 270">
            <a:extLst>
              <a:ext uri="{FF2B5EF4-FFF2-40B4-BE49-F238E27FC236}">
                <a16:creationId xmlns:a16="http://schemas.microsoft.com/office/drawing/2014/main" id="{0726111D-27BE-DF56-4E04-AFB21261A571}"/>
              </a:ext>
            </a:extLst>
          </p:cNvPr>
          <p:cNvSpPr txBox="1"/>
          <p:nvPr/>
        </p:nvSpPr>
        <p:spPr>
          <a:xfrm>
            <a:off x="160666" y="557654"/>
            <a:ext cx="11675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Customer-managed Prefix Lists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를 활용하면 </a:t>
            </a:r>
            <a:r>
              <a:rPr lang="en-US" altLang="ko-KR" sz="14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 Routing Table, TGW Routing Table, Security Group,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정책에서 허용되는 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IP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주소 범위를 효과적으로 관리할 수 있으며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, </a:t>
            </a:r>
            <a:r>
              <a:rPr lang="ko-KR" altLang="en-US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정책 업데이트 작업이 간소화되고 전사적인 일관성과 가시성이 향상됩니다</a:t>
            </a:r>
            <a:r>
              <a:rPr lang="en-US" altLang="ko-KR" sz="1400" b="1" dirty="0">
                <a:effectLst/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.</a:t>
            </a:r>
          </a:p>
        </p:txBody>
      </p:sp>
      <p:sp>
        <p:nvSpPr>
          <p:cNvPr id="272" name="Rectangle 287">
            <a:extLst>
              <a:ext uri="{FF2B5EF4-FFF2-40B4-BE49-F238E27FC236}">
                <a16:creationId xmlns:a16="http://schemas.microsoft.com/office/drawing/2014/main" id="{AB5B9D74-DA06-BEE9-F887-44310408F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645" y="2055410"/>
            <a:ext cx="5539307" cy="412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wrap="square" lIns="43200" tIns="36000" rIns="43200" bIns="36000" anchor="t" anchorCtr="0">
            <a:noAutofit/>
          </a:bodyPr>
          <a:lstStyle>
            <a:lvl1pPr marL="92075" indent="-920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1pPr>
            <a:lvl2pPr marL="198438" indent="-104775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2pPr>
            <a:lvl3pPr marL="296863" indent="-96838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3pPr>
            <a:lvl4pPr marL="1414463"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4pPr>
            <a:lvl5pPr algn="l" eaLnBrk="0" hangingPunct="0"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kumimoji="1" sz="900" i="1">
                <a:solidFill>
                  <a:srgbClr val="333333"/>
                </a:solidFill>
                <a:latin typeface="-윤명조330" pitchFamily="18" charset="-127"/>
                <a:ea typeface="-윤명조330" pitchFamily="18" charset="-127"/>
              </a:defRPr>
            </a:lvl9pPr>
          </a:lstStyle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주소 범위 제어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Customer-managed Prefix Lists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통해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정책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보안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,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라우팅에서 허용되는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주소 범위를 세부적으로 제어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특정 서비스나 공급업체의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범위만 허용하도록 구성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중앙 </a:t>
            </a:r>
            <a:r>
              <a:rPr lang="ko-KR" altLang="en-US" sz="1200" b="1" i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집중식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주소 관리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RAM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기능을 활용하여 공유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Account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에서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Prefix List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중앙 관리 가능</a:t>
            </a: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다중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VPC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환경에서 단일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Prefix List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사용하여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주소 범위를 관리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Prefix List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변경하면 모든 관련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ANFW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정책에 자동으로 반영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유연한 정책 업데이트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정책관리 편의성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-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주소 범위가 변경되면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Prefix List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만 업데이트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+mj-lt"/>
              <a:buAutoNum type="arabicPeriod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일관성 유지 및 가시성 향상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Prefix List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통해 전사적으로 일관된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주소 범위 정책을 유지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433388" lvl="2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수동으로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주소를 관리하는 경우 발생할 수 있는 오류를 방지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Prefix List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를 통해 허용된 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IP </a:t>
            </a: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주소 범위 파악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376238" lvl="2" indent="-17145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100000"/>
              <a:buFont typeface="Wingdings" pitchFamily="2" charset="2"/>
              <a:buChar char="l"/>
              <a:defRPr/>
            </a:pPr>
            <a:r>
              <a:rPr lang="ko-KR" altLang="en-US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보안 감사 및 규정 준수 검토 시 유용한 정보를 제공</a:t>
            </a:r>
            <a:r>
              <a:rPr lang="en-US" altLang="ko-KR" sz="1200" b="1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  <a:cs typeface="Times New Roman" pitchFamily="18" charset="0"/>
              </a:rPr>
              <a:t>.</a:t>
            </a:r>
          </a:p>
          <a:p>
            <a:pPr marL="334963" lvl="1" indent="-228600" eaLnBrk="1" hangingPunct="1">
              <a:lnSpc>
                <a:spcPct val="150000"/>
              </a:lnSpc>
              <a:spcAft>
                <a:spcPts val="300"/>
              </a:spcAft>
              <a:buClr>
                <a:srgbClr val="7B7B7B"/>
              </a:buClr>
              <a:buSzPct val="80000"/>
              <a:buFont typeface="+mj-lt"/>
              <a:buAutoNum type="arabicPeriod"/>
              <a:defRPr/>
            </a:pPr>
            <a:endParaRPr lang="en-US" altLang="ko-KR" sz="1200" b="1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NanumSquareOTF Bold" panose="020B0600000101010101" pitchFamily="34" charset="-127"/>
              <a:ea typeface="NanumSquareOTF Bold" panose="020B0600000101010101" pitchFamily="34" charset="-127"/>
              <a:cs typeface="Times New Roman" pitchFamily="18" charset="0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E696600-0BEE-1735-DA89-06EAD110628A}"/>
              </a:ext>
            </a:extLst>
          </p:cNvPr>
          <p:cNvSpPr txBox="1"/>
          <p:nvPr/>
        </p:nvSpPr>
        <p:spPr>
          <a:xfrm>
            <a:off x="6689929" y="1686634"/>
            <a:ext cx="4623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Customer-managed Prefix List</a:t>
            </a:r>
            <a:r>
              <a:rPr lang="ko-KR" altLang="en-US" sz="1600" b="1" dirty="0"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 적용 기대효과</a:t>
            </a:r>
          </a:p>
        </p:txBody>
      </p:sp>
      <p:graphicFrame>
        <p:nvGraphicFramePr>
          <p:cNvPr id="43" name="표 27">
            <a:extLst>
              <a:ext uri="{FF2B5EF4-FFF2-40B4-BE49-F238E27FC236}">
                <a16:creationId xmlns:a16="http://schemas.microsoft.com/office/drawing/2014/main" id="{D902E5DC-86CA-EEB4-2E98-134B5E822BD8}"/>
              </a:ext>
            </a:extLst>
          </p:cNvPr>
          <p:cNvGraphicFramePr>
            <a:graphicFrameLocks noGrp="1"/>
          </p:cNvGraphicFramePr>
          <p:nvPr/>
        </p:nvGraphicFramePr>
        <p:xfrm>
          <a:off x="1271947" y="2323792"/>
          <a:ext cx="1283567" cy="76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567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</a:tblGrid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CIDR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0.0.0.0/0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10.0.0.0/16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136.0.0.0/24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850227642"/>
                  </a:ext>
                </a:extLst>
              </a:tr>
            </a:tbl>
          </a:graphicData>
        </a:graphic>
      </p:graphicFrame>
      <p:graphicFrame>
        <p:nvGraphicFramePr>
          <p:cNvPr id="44" name="표 27">
            <a:extLst>
              <a:ext uri="{FF2B5EF4-FFF2-40B4-BE49-F238E27FC236}">
                <a16:creationId xmlns:a16="http://schemas.microsoft.com/office/drawing/2014/main" id="{81E3D2FD-9EB4-B065-84CB-863C6A5D905F}"/>
              </a:ext>
            </a:extLst>
          </p:cNvPr>
          <p:cNvGraphicFramePr>
            <a:graphicFrameLocks noGrp="1"/>
          </p:cNvGraphicFramePr>
          <p:nvPr/>
        </p:nvGraphicFramePr>
        <p:xfrm>
          <a:off x="3207084" y="2323792"/>
          <a:ext cx="1283567" cy="767016"/>
        </p:xfrm>
        <a:graphic>
          <a:graphicData uri="http://schemas.openxmlformats.org/drawingml/2006/table">
            <a:tbl>
              <a:tblPr firstRow="1" bandRow="1"/>
              <a:tblGrid>
                <a:gridCol w="1283567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</a:tblGrid>
              <a:tr h="1224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CIDR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390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10.1.0.0/24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224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122.0.0.0/16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  <a:tr h="122405">
                <a:tc>
                  <a:txBody>
                    <a:bodyPr/>
                    <a:lstStyle/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11.0.1.0/24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426007"/>
                  </a:ext>
                </a:extLst>
              </a:tr>
            </a:tbl>
          </a:graphicData>
        </a:graphic>
      </p:graphicFrame>
      <p:sp>
        <p:nvSpPr>
          <p:cNvPr id="45" name="Rectangle 382" descr="도형04">
            <a:extLst>
              <a:ext uri="{FF2B5EF4-FFF2-40B4-BE49-F238E27FC236}">
                <a16:creationId xmlns:a16="http://schemas.microsoft.com/office/drawing/2014/main" id="{84FB5757-C3B8-7E9A-7B3A-D5BDBD2DA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947" y="1960687"/>
            <a:ext cx="1283567" cy="290720"/>
          </a:xfrm>
          <a:prstGeom prst="roundRect">
            <a:avLst>
              <a:gd name="adj" fmla="val 40232"/>
            </a:avLst>
          </a:prstGeom>
          <a:solidFill>
            <a:srgbClr val="1F7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en-US" altLang="ko-KR" sz="105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Prefix List - ABC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6" name="Rectangle 382" descr="도형04">
            <a:extLst>
              <a:ext uri="{FF2B5EF4-FFF2-40B4-BE49-F238E27FC236}">
                <a16:creationId xmlns:a16="http://schemas.microsoft.com/office/drawing/2014/main" id="{C871CB39-48A4-8C5E-885A-70F26831C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084" y="1960687"/>
            <a:ext cx="1283567" cy="290720"/>
          </a:xfrm>
          <a:prstGeom prst="roundRect">
            <a:avLst>
              <a:gd name="adj" fmla="val 40232"/>
            </a:avLst>
          </a:prstGeom>
          <a:solidFill>
            <a:srgbClr val="00A0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81125"/>
            <a:r>
              <a:rPr lang="en-US" altLang="ko-KR" sz="105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Prefix List - DEF</a:t>
            </a:r>
            <a:endParaRPr lang="ko-KR" altLang="en-US" sz="105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graphicFrame>
        <p:nvGraphicFramePr>
          <p:cNvPr id="47" name="표 27">
            <a:extLst>
              <a:ext uri="{FF2B5EF4-FFF2-40B4-BE49-F238E27FC236}">
                <a16:creationId xmlns:a16="http://schemas.microsoft.com/office/drawing/2014/main" id="{A58C8E2E-CB0A-2C7A-FAC6-EA545C316A26}"/>
              </a:ext>
            </a:extLst>
          </p:cNvPr>
          <p:cNvGraphicFramePr>
            <a:graphicFrameLocks noGrp="1"/>
          </p:cNvGraphicFramePr>
          <p:nvPr/>
        </p:nvGraphicFramePr>
        <p:xfrm>
          <a:off x="2178318" y="4541359"/>
          <a:ext cx="1321689" cy="575262"/>
        </p:xfrm>
        <a:graphic>
          <a:graphicData uri="http://schemas.openxmlformats.org/drawingml/2006/table">
            <a:tbl>
              <a:tblPr firstRow="1" bandRow="1"/>
              <a:tblGrid>
                <a:gridCol w="678472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643217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224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Security Group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390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Port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Src, Dst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224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443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DEF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0C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graphicFrame>
        <p:nvGraphicFramePr>
          <p:cNvPr id="48" name="표 27">
            <a:extLst>
              <a:ext uri="{FF2B5EF4-FFF2-40B4-BE49-F238E27FC236}">
                <a16:creationId xmlns:a16="http://schemas.microsoft.com/office/drawing/2014/main" id="{052E22D3-41B1-41C9-958D-2FE66F3609C7}"/>
              </a:ext>
            </a:extLst>
          </p:cNvPr>
          <p:cNvGraphicFramePr>
            <a:graphicFrameLocks noGrp="1"/>
          </p:cNvGraphicFramePr>
          <p:nvPr/>
        </p:nvGraphicFramePr>
        <p:xfrm>
          <a:off x="2178319" y="3678466"/>
          <a:ext cx="1321689" cy="767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938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545751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45399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Private RT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Destination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Target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DEF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  <a:tr h="1453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ABC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NATGW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850227642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B8182079-6766-E745-D523-2BAA23D4EEF0}"/>
              </a:ext>
            </a:extLst>
          </p:cNvPr>
          <p:cNvSpPr/>
          <p:nvPr/>
        </p:nvSpPr>
        <p:spPr>
          <a:xfrm>
            <a:off x="2178319" y="4270220"/>
            <a:ext cx="1321689" cy="175262"/>
          </a:xfrm>
          <a:prstGeom prst="rect">
            <a:avLst/>
          </a:prstGeom>
          <a:noFill/>
          <a:ln>
            <a:solidFill>
              <a:srgbClr val="FF00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cxnSp>
        <p:nvCxnSpPr>
          <p:cNvPr id="54" name="꺾인 연결선[E] 53">
            <a:extLst>
              <a:ext uri="{FF2B5EF4-FFF2-40B4-BE49-F238E27FC236}">
                <a16:creationId xmlns:a16="http://schemas.microsoft.com/office/drawing/2014/main" id="{B5F6E1C4-A113-3B4B-91C6-42224B93D24B}"/>
              </a:ext>
            </a:extLst>
          </p:cNvPr>
          <p:cNvCxnSpPr>
            <a:cxnSpLocks/>
            <a:stCxn id="53" idx="1"/>
            <a:endCxn id="43" idx="1"/>
          </p:cNvCxnSpPr>
          <p:nvPr/>
        </p:nvCxnSpPr>
        <p:spPr>
          <a:xfrm rot="10800000">
            <a:off x="1271947" y="2707301"/>
            <a:ext cx="906372" cy="1650551"/>
          </a:xfrm>
          <a:prstGeom prst="bentConnector3">
            <a:avLst>
              <a:gd name="adj1" fmla="val 125221"/>
            </a:avLst>
          </a:prstGeom>
          <a:ln w="12700" cap="rnd">
            <a:solidFill>
              <a:srgbClr val="28C2BD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8F56606-5B44-E144-C0A4-398024D4594B}"/>
              </a:ext>
            </a:extLst>
          </p:cNvPr>
          <p:cNvSpPr/>
          <p:nvPr/>
        </p:nvSpPr>
        <p:spPr>
          <a:xfrm>
            <a:off x="2178319" y="4061974"/>
            <a:ext cx="1321689" cy="175262"/>
          </a:xfrm>
          <a:prstGeom prst="rect">
            <a:avLst/>
          </a:prstGeom>
          <a:noFill/>
          <a:ln>
            <a:solidFill>
              <a:srgbClr val="FF00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cxnSp>
        <p:nvCxnSpPr>
          <p:cNvPr id="60" name="꺾인 연결선[E] 59">
            <a:extLst>
              <a:ext uri="{FF2B5EF4-FFF2-40B4-BE49-F238E27FC236}">
                <a16:creationId xmlns:a16="http://schemas.microsoft.com/office/drawing/2014/main" id="{39F818BB-48BA-44C0-D747-070AFE79C142}"/>
              </a:ext>
            </a:extLst>
          </p:cNvPr>
          <p:cNvCxnSpPr>
            <a:cxnSpLocks/>
            <a:stCxn id="59" idx="3"/>
            <a:endCxn id="44" idx="3"/>
          </p:cNvCxnSpPr>
          <p:nvPr/>
        </p:nvCxnSpPr>
        <p:spPr>
          <a:xfrm flipV="1">
            <a:off x="3500008" y="2707300"/>
            <a:ext cx="990643" cy="1442305"/>
          </a:xfrm>
          <a:prstGeom prst="bentConnector3">
            <a:avLst>
              <a:gd name="adj1" fmla="val 123076"/>
            </a:avLst>
          </a:prstGeom>
          <a:ln w="12700" cap="rnd">
            <a:solidFill>
              <a:srgbClr val="28C2BD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39" descr="VPC group border">
            <a:extLst>
              <a:ext uri="{FF2B5EF4-FFF2-40B4-BE49-F238E27FC236}">
                <a16:creationId xmlns:a16="http://schemas.microsoft.com/office/drawing/2014/main" id="{6ADAF2B7-9382-DFCB-9FCD-44E3D45B0BB5}"/>
              </a:ext>
            </a:extLst>
          </p:cNvPr>
          <p:cNvSpPr/>
          <p:nvPr/>
        </p:nvSpPr>
        <p:spPr>
          <a:xfrm>
            <a:off x="1271948" y="3513103"/>
            <a:ext cx="3218704" cy="2875412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6" name="Graphic 57" descr="VPC group icon.">
            <a:extLst>
              <a:ext uri="{FF2B5EF4-FFF2-40B4-BE49-F238E27FC236}">
                <a16:creationId xmlns:a16="http://schemas.microsoft.com/office/drawing/2014/main" id="{E0A04E04-9D22-ABF0-BF45-3585D2CD6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71948" y="3508340"/>
            <a:ext cx="288000" cy="288000"/>
          </a:xfrm>
          <a:prstGeom prst="rect">
            <a:avLst/>
          </a:prstGeom>
        </p:spPr>
      </p:pic>
      <p:cxnSp>
        <p:nvCxnSpPr>
          <p:cNvPr id="258" name="꺾인 연결선[E] 257">
            <a:extLst>
              <a:ext uri="{FF2B5EF4-FFF2-40B4-BE49-F238E27FC236}">
                <a16:creationId xmlns:a16="http://schemas.microsoft.com/office/drawing/2014/main" id="{8E737867-8B7D-A0F5-6DB4-AE4CB8C18A0D}"/>
              </a:ext>
            </a:extLst>
          </p:cNvPr>
          <p:cNvCxnSpPr>
            <a:cxnSpLocks/>
            <a:stCxn id="47" idx="3"/>
            <a:endCxn id="44" idx="3"/>
          </p:cNvCxnSpPr>
          <p:nvPr/>
        </p:nvCxnSpPr>
        <p:spPr>
          <a:xfrm flipV="1">
            <a:off x="3500007" y="2707300"/>
            <a:ext cx="990644" cy="2121690"/>
          </a:xfrm>
          <a:prstGeom prst="bentConnector3">
            <a:avLst>
              <a:gd name="adj1" fmla="val 123076"/>
            </a:avLst>
          </a:prstGeom>
          <a:ln w="12700" cap="rnd">
            <a:solidFill>
              <a:srgbClr val="28C2BD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1" name="표 27">
            <a:extLst>
              <a:ext uri="{FF2B5EF4-FFF2-40B4-BE49-F238E27FC236}">
                <a16:creationId xmlns:a16="http://schemas.microsoft.com/office/drawing/2014/main" id="{87DB661F-B1E7-8F6B-DF34-83B86E4EC0A5}"/>
              </a:ext>
            </a:extLst>
          </p:cNvPr>
          <p:cNvGraphicFramePr>
            <a:graphicFrameLocks noGrp="1"/>
          </p:cNvGraphicFramePr>
          <p:nvPr/>
        </p:nvGraphicFramePr>
        <p:xfrm>
          <a:off x="2178317" y="5279762"/>
          <a:ext cx="1321689" cy="57526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06871">
                  <a:extLst>
                    <a:ext uri="{9D8B030D-6E8A-4147-A177-3AD203B41FA5}">
                      <a16:colId xmlns:a16="http://schemas.microsoft.com/office/drawing/2014/main" val="2115956875"/>
                    </a:ext>
                  </a:extLst>
                </a:gridCol>
                <a:gridCol w="614818">
                  <a:extLst>
                    <a:ext uri="{9D8B030D-6E8A-4147-A177-3AD203B41FA5}">
                      <a16:colId xmlns:a16="http://schemas.microsoft.com/office/drawing/2014/main" val="3070076071"/>
                    </a:ext>
                  </a:extLst>
                </a:gridCol>
              </a:tblGrid>
              <a:tr h="12240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mazon Ember"/>
                        </a:defRPr>
                      </a:lvl9pPr>
                    </a:lstStyle>
                    <a:p>
                      <a:pPr algn="ctr"/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 hMerge="1">
                  <a:txBody>
                    <a:bodyPr/>
                    <a:lstStyle/>
                    <a:p>
                      <a:endParaRPr lang="ko-Kore-KR" altLang="en-US" sz="6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479254065"/>
                  </a:ext>
                </a:extLst>
              </a:tr>
              <a:tr h="1390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Prefix ID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AttachID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1387251957"/>
                  </a:ext>
                </a:extLst>
              </a:tr>
              <a:tr h="1224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ko-Kore-KR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ABC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mazon Ember"/>
                        </a:defRPr>
                      </a:lvl9pPr>
                    </a:lstStyle>
                    <a:p>
                      <a:r>
                        <a:rPr lang="en-US" altLang="en-US" sz="900" b="1" i="0" dirty="0">
                          <a:latin typeface="NanumSquareOTF Bold" panose="020B0600000101010101" pitchFamily="34" charset="-127"/>
                          <a:ea typeface="NanumSquareOTF Bold" panose="020B0600000101010101" pitchFamily="34" charset="-127"/>
                        </a:rPr>
                        <a:t>TGW-1</a:t>
                      </a:r>
                      <a:endParaRPr lang="ko-Kore-KR" altLang="en-US" sz="900" b="1" i="0" dirty="0">
                        <a:latin typeface="NanumSquareOTF Bold" panose="020B0600000101010101" pitchFamily="34" charset="-127"/>
                        <a:ea typeface="NanumSquareOTF Bold" panose="020B0600000101010101" pitchFamily="34" charset="-127"/>
                      </a:endParaRPr>
                    </a:p>
                  </a:txBody>
                  <a:tcPr marL="54594" marR="54594" marT="27297" marB="27297"/>
                </a:tc>
                <a:extLst>
                  <a:ext uri="{0D108BD9-81ED-4DB2-BD59-A6C34878D82A}">
                    <a16:rowId xmlns:a16="http://schemas.microsoft.com/office/drawing/2014/main" val="3844900616"/>
                  </a:ext>
                </a:extLst>
              </a:tr>
            </a:tbl>
          </a:graphicData>
        </a:graphic>
      </p:graphicFrame>
      <p:cxnSp>
        <p:nvCxnSpPr>
          <p:cNvPr id="262" name="꺾인 연결선[E] 261">
            <a:extLst>
              <a:ext uri="{FF2B5EF4-FFF2-40B4-BE49-F238E27FC236}">
                <a16:creationId xmlns:a16="http://schemas.microsoft.com/office/drawing/2014/main" id="{54074D03-C161-A4AF-09E6-352377A5638B}"/>
              </a:ext>
            </a:extLst>
          </p:cNvPr>
          <p:cNvCxnSpPr>
            <a:cxnSpLocks/>
            <a:stCxn id="261" idx="1"/>
            <a:endCxn id="43" idx="1"/>
          </p:cNvCxnSpPr>
          <p:nvPr/>
        </p:nvCxnSpPr>
        <p:spPr>
          <a:xfrm rot="10800000">
            <a:off x="1271947" y="2707301"/>
            <a:ext cx="906370" cy="2860093"/>
          </a:xfrm>
          <a:prstGeom prst="bentConnector3">
            <a:avLst>
              <a:gd name="adj1" fmla="val 125221"/>
            </a:avLst>
          </a:prstGeom>
          <a:ln w="12700" cap="rnd">
            <a:solidFill>
              <a:srgbClr val="28C2BD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0444C9DA-36A7-7B83-E0A3-3A094852A107}"/>
              </a:ext>
            </a:extLst>
          </p:cNvPr>
          <p:cNvSpPr/>
          <p:nvPr/>
        </p:nvSpPr>
        <p:spPr>
          <a:xfrm>
            <a:off x="2178316" y="4935299"/>
            <a:ext cx="1321689" cy="175262"/>
          </a:xfrm>
          <a:prstGeom prst="rect">
            <a:avLst/>
          </a:prstGeom>
          <a:noFill/>
          <a:ln>
            <a:solidFill>
              <a:srgbClr val="FF00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2474334E-B512-2531-665B-16B404143D58}"/>
              </a:ext>
            </a:extLst>
          </p:cNvPr>
          <p:cNvSpPr/>
          <p:nvPr/>
        </p:nvSpPr>
        <p:spPr>
          <a:xfrm>
            <a:off x="2178313" y="5671325"/>
            <a:ext cx="1321689" cy="175262"/>
          </a:xfrm>
          <a:prstGeom prst="rect">
            <a:avLst/>
          </a:prstGeom>
          <a:noFill/>
          <a:ln>
            <a:solidFill>
              <a:srgbClr val="FF00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kumimoji="1"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6197F7B1-6DC4-5343-CCF5-2BF28E01E86F}"/>
              </a:ext>
            </a:extLst>
          </p:cNvPr>
          <p:cNvSpPr txBox="1"/>
          <p:nvPr/>
        </p:nvSpPr>
        <p:spPr>
          <a:xfrm>
            <a:off x="1526661" y="3580936"/>
            <a:ext cx="39694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VPC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pic>
        <p:nvPicPr>
          <p:cNvPr id="275" name="그림 274">
            <a:extLst>
              <a:ext uri="{FF2B5EF4-FFF2-40B4-BE49-F238E27FC236}">
                <a16:creationId xmlns:a16="http://schemas.microsoft.com/office/drawing/2014/main" id="{F0E39BFD-B721-13D9-0240-416969A844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514" y="5924281"/>
            <a:ext cx="381001" cy="381001"/>
          </a:xfrm>
          <a:prstGeom prst="rect">
            <a:avLst/>
          </a:prstGeom>
        </p:spPr>
      </p:pic>
      <p:cxnSp>
        <p:nvCxnSpPr>
          <p:cNvPr id="276" name="꺾인 연결선[E] 275">
            <a:extLst>
              <a:ext uri="{FF2B5EF4-FFF2-40B4-BE49-F238E27FC236}">
                <a16:creationId xmlns:a16="http://schemas.microsoft.com/office/drawing/2014/main" id="{F6D56B08-B355-37F7-F8FE-878BBA675B99}"/>
              </a:ext>
            </a:extLst>
          </p:cNvPr>
          <p:cNvCxnSpPr>
            <a:cxnSpLocks/>
            <a:stCxn id="275" idx="3"/>
            <a:endCxn id="44" idx="3"/>
          </p:cNvCxnSpPr>
          <p:nvPr/>
        </p:nvCxnSpPr>
        <p:spPr>
          <a:xfrm flipV="1">
            <a:off x="2936515" y="2707300"/>
            <a:ext cx="1554136" cy="3407482"/>
          </a:xfrm>
          <a:prstGeom prst="bentConnector3">
            <a:avLst>
              <a:gd name="adj1" fmla="val 114709"/>
            </a:avLst>
          </a:prstGeom>
          <a:ln w="12700" cap="rnd">
            <a:solidFill>
              <a:srgbClr val="28C2BD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D1465EF7-A065-4EBA-FE54-6952CB4C98F4}"/>
              </a:ext>
            </a:extLst>
          </p:cNvPr>
          <p:cNvSpPr txBox="1"/>
          <p:nvPr/>
        </p:nvSpPr>
        <p:spPr>
          <a:xfrm>
            <a:off x="2056826" y="6043685"/>
            <a:ext cx="39694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ANFW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4ADC02-93B3-962B-AB43-CEC449768322}"/>
              </a:ext>
            </a:extLst>
          </p:cNvPr>
          <p:cNvSpPr/>
          <p:nvPr/>
        </p:nvSpPr>
        <p:spPr>
          <a:xfrm>
            <a:off x="888381" y="3275755"/>
            <a:ext cx="3683619" cy="3178833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5" name="Graphic 4" descr="AWS account group icon.">
            <a:extLst>
              <a:ext uri="{FF2B5EF4-FFF2-40B4-BE49-F238E27FC236}">
                <a16:creationId xmlns:a16="http://schemas.microsoft.com/office/drawing/2014/main" id="{FB6D8C61-BAD1-F2A6-9934-6B791640E1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88381" y="3275755"/>
            <a:ext cx="305181" cy="305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D91E32-978B-7861-5E42-EDEB2B9E6955}"/>
              </a:ext>
            </a:extLst>
          </p:cNvPr>
          <p:cNvSpPr txBox="1"/>
          <p:nvPr/>
        </p:nvSpPr>
        <p:spPr>
          <a:xfrm>
            <a:off x="1190598" y="3326348"/>
            <a:ext cx="138967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Cell VPC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64AE9E-383E-F09F-8324-17253FFD8365}"/>
              </a:ext>
            </a:extLst>
          </p:cNvPr>
          <p:cNvSpPr/>
          <p:nvPr/>
        </p:nvSpPr>
        <p:spPr>
          <a:xfrm>
            <a:off x="888381" y="1709139"/>
            <a:ext cx="3683619" cy="1462685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schemeClr val="tx1"/>
              </a:solidFill>
              <a:latin typeface="NanumSquareOTF" panose="020B0600000101010101" pitchFamily="34" charset="-127"/>
              <a:ea typeface="NanumSquareOTF" panose="020B0600000101010101" pitchFamily="34" charset="-127"/>
              <a:cs typeface="Arial" panose="020B0604020202020204" pitchFamily="34" charset="0"/>
            </a:endParaRPr>
          </a:p>
        </p:txBody>
      </p:sp>
      <p:pic>
        <p:nvPicPr>
          <p:cNvPr id="17" name="Graphic 16" descr="AWS account group icon.">
            <a:extLst>
              <a:ext uri="{FF2B5EF4-FFF2-40B4-BE49-F238E27FC236}">
                <a16:creationId xmlns:a16="http://schemas.microsoft.com/office/drawing/2014/main" id="{4EE734F4-D2DD-531F-DB7D-EE42A62790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88381" y="1709139"/>
            <a:ext cx="305181" cy="3051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5D4483E-538E-E47D-3BB7-3F480202588A}"/>
              </a:ext>
            </a:extLst>
          </p:cNvPr>
          <p:cNvSpPr txBox="1"/>
          <p:nvPr/>
        </p:nvSpPr>
        <p:spPr>
          <a:xfrm>
            <a:off x="1190598" y="1754356"/>
            <a:ext cx="21463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Platform Account (Security VPC)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A8146F-A788-0E1D-8080-653955B2BF00}"/>
              </a:ext>
            </a:extLst>
          </p:cNvPr>
          <p:cNvSpPr txBox="1"/>
          <p:nvPr/>
        </p:nvSpPr>
        <p:spPr>
          <a:xfrm>
            <a:off x="4573037" y="2568801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RAM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1BD4BA-D425-00C3-8FDF-DA9A48433947}"/>
              </a:ext>
            </a:extLst>
          </p:cNvPr>
          <p:cNvSpPr txBox="1"/>
          <p:nvPr/>
        </p:nvSpPr>
        <p:spPr>
          <a:xfrm>
            <a:off x="933833" y="2568801"/>
            <a:ext cx="29892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ko-KR" sz="900" b="1" dirty="0" err="1">
                <a:latin typeface="NanumSquareOTF Bold" panose="020B0600000101010101" pitchFamily="34" charset="-127"/>
                <a:ea typeface="NanumSquareOTF Bold" panose="020B0600000101010101" pitchFamily="34" charset="-127"/>
              </a:rPr>
              <a:t>RAM</a:t>
            </a:r>
            <a:endParaRPr kumimoji="1" lang="ko-KR" altLang="en-US" sz="900" b="1" dirty="0" err="1">
              <a:latin typeface="NanumSquareOTF Bold" panose="020B0600000101010101" pitchFamily="34" charset="-127"/>
              <a:ea typeface="NanumSquare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1516057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Title 8">
            <a:extLst>
              <a:ext uri="{FF2B5EF4-FFF2-40B4-BE49-F238E27FC236}">
                <a16:creationId xmlns:a16="http://schemas.microsoft.com/office/drawing/2014/main" id="{D9A3D759-1759-FB5A-D365-CC0B67418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-619125"/>
            <a:ext cx="10972800" cy="534987"/>
          </a:xfrm>
        </p:spPr>
        <p:txBody>
          <a:bodyPr/>
          <a:lstStyle/>
          <a:p>
            <a:endParaRPr lang="en-US" altLang="ko-KR">
              <a:ea typeface="굴림" panose="020B0600000101010101" pitchFamily="34" charset="-127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Display all the way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Confidential_Light_2023" id="{93FF1746-BE97-EE49-9858-E7BB473D73F0}" vid="{568B5085-DCCD-8A4E-85F4-42A6F00FA79C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WS_2022_Light">
    <a:dk1>
      <a:srgbClr val="000000"/>
    </a:dk1>
    <a:lt1>
      <a:srgbClr val="FFFFFF"/>
    </a:lt1>
    <a:dk2>
      <a:srgbClr val="232F3E"/>
    </a:dk2>
    <a:lt2>
      <a:srgbClr val="F1F3F3"/>
    </a:lt2>
    <a:accent1>
      <a:srgbClr val="2074D5"/>
    </a:accent1>
    <a:accent2>
      <a:srgbClr val="7C59ED"/>
    </a:accent2>
    <a:accent3>
      <a:srgbClr val="38EF7D"/>
    </a:accent3>
    <a:accent4>
      <a:srgbClr val="F46DBA"/>
    </a:accent4>
    <a:accent5>
      <a:srgbClr val="9FFCEA"/>
    </a:accent5>
    <a:accent6>
      <a:srgbClr val="FBD8BF"/>
    </a:accent6>
    <a:hlink>
      <a:srgbClr val="41B1E8"/>
    </a:hlink>
    <a:folHlink>
      <a:srgbClr val="41B1E8"/>
    </a:folHlink>
  </a:clrScheme>
</a:themeOverride>
</file>

<file path=ppt/theme/themeOverride2.xml><?xml version="1.0" encoding="utf-8"?>
<a:themeOverride xmlns:a="http://schemas.openxmlformats.org/drawingml/2006/main">
  <a:clrScheme name="AWS_2022_Light">
    <a:dk1>
      <a:srgbClr val="000000"/>
    </a:dk1>
    <a:lt1>
      <a:srgbClr val="FFFFFF"/>
    </a:lt1>
    <a:dk2>
      <a:srgbClr val="232F3E"/>
    </a:dk2>
    <a:lt2>
      <a:srgbClr val="F1F3F3"/>
    </a:lt2>
    <a:accent1>
      <a:srgbClr val="2074D5"/>
    </a:accent1>
    <a:accent2>
      <a:srgbClr val="7C59ED"/>
    </a:accent2>
    <a:accent3>
      <a:srgbClr val="38EF7D"/>
    </a:accent3>
    <a:accent4>
      <a:srgbClr val="F46DBA"/>
    </a:accent4>
    <a:accent5>
      <a:srgbClr val="9FFCEA"/>
    </a:accent5>
    <a:accent6>
      <a:srgbClr val="FBD8BF"/>
    </a:accent6>
    <a:hlink>
      <a:srgbClr val="41B1E8"/>
    </a:hlink>
    <a:folHlink>
      <a:srgbClr val="41B1E8"/>
    </a:folHlink>
  </a:clrScheme>
</a:themeOverride>
</file>

<file path=ppt/theme/themeOverride3.xml><?xml version="1.0" encoding="utf-8"?>
<a:themeOverride xmlns:a="http://schemas.openxmlformats.org/drawingml/2006/main">
  <a:clrScheme name="AWS_2022_Light">
    <a:dk1>
      <a:srgbClr val="000000"/>
    </a:dk1>
    <a:lt1>
      <a:srgbClr val="FFFFFF"/>
    </a:lt1>
    <a:dk2>
      <a:srgbClr val="232F3E"/>
    </a:dk2>
    <a:lt2>
      <a:srgbClr val="F1F3F3"/>
    </a:lt2>
    <a:accent1>
      <a:srgbClr val="2074D5"/>
    </a:accent1>
    <a:accent2>
      <a:srgbClr val="7C59ED"/>
    </a:accent2>
    <a:accent3>
      <a:srgbClr val="38EF7D"/>
    </a:accent3>
    <a:accent4>
      <a:srgbClr val="F46DBA"/>
    </a:accent4>
    <a:accent5>
      <a:srgbClr val="9FFCEA"/>
    </a:accent5>
    <a:accent6>
      <a:srgbClr val="FBD8BF"/>
    </a:accent6>
    <a:hlink>
      <a:srgbClr val="41B1E8"/>
    </a:hlink>
    <a:folHlink>
      <a:srgbClr val="41B1E8"/>
    </a:folHlink>
  </a:clrScheme>
</a:themeOverride>
</file>

<file path=ppt/theme/themeOverride4.xml><?xml version="1.0" encoding="utf-8"?>
<a:themeOverride xmlns:a="http://schemas.openxmlformats.org/drawingml/2006/main">
  <a:clrScheme name="AWS_2022_Light">
    <a:dk1>
      <a:srgbClr val="000000"/>
    </a:dk1>
    <a:lt1>
      <a:srgbClr val="FFFFFF"/>
    </a:lt1>
    <a:dk2>
      <a:srgbClr val="232F3E"/>
    </a:dk2>
    <a:lt2>
      <a:srgbClr val="F1F3F3"/>
    </a:lt2>
    <a:accent1>
      <a:srgbClr val="2074D5"/>
    </a:accent1>
    <a:accent2>
      <a:srgbClr val="7C59ED"/>
    </a:accent2>
    <a:accent3>
      <a:srgbClr val="38EF7D"/>
    </a:accent3>
    <a:accent4>
      <a:srgbClr val="F46DBA"/>
    </a:accent4>
    <a:accent5>
      <a:srgbClr val="9FFCEA"/>
    </a:accent5>
    <a:accent6>
      <a:srgbClr val="FBD8BF"/>
    </a:accent6>
    <a:hlink>
      <a:srgbClr val="41B1E8"/>
    </a:hlink>
    <a:folHlink>
      <a:srgbClr val="41B1E8"/>
    </a:folHlink>
  </a:clrScheme>
</a:themeOverride>
</file>

<file path=ppt/theme/themeOverride5.xml><?xml version="1.0" encoding="utf-8"?>
<a:themeOverride xmlns:a="http://schemas.openxmlformats.org/drawingml/2006/main">
  <a:clrScheme name="AWS_2022_Light">
    <a:dk1>
      <a:srgbClr val="000000"/>
    </a:dk1>
    <a:lt1>
      <a:srgbClr val="FFFFFF"/>
    </a:lt1>
    <a:dk2>
      <a:srgbClr val="232F3E"/>
    </a:dk2>
    <a:lt2>
      <a:srgbClr val="F1F3F3"/>
    </a:lt2>
    <a:accent1>
      <a:srgbClr val="2074D5"/>
    </a:accent1>
    <a:accent2>
      <a:srgbClr val="7C59ED"/>
    </a:accent2>
    <a:accent3>
      <a:srgbClr val="38EF7D"/>
    </a:accent3>
    <a:accent4>
      <a:srgbClr val="F46DBA"/>
    </a:accent4>
    <a:accent5>
      <a:srgbClr val="9FFCEA"/>
    </a:accent5>
    <a:accent6>
      <a:srgbClr val="FBD8BF"/>
    </a:accent6>
    <a:hlink>
      <a:srgbClr val="41B1E8"/>
    </a:hlink>
    <a:folHlink>
      <a:srgbClr val="41B1E8"/>
    </a:folHlink>
  </a:clrScheme>
</a:themeOverride>
</file>

<file path=ppt/theme/themeOverride6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Amazon">
    <a:dk1>
      <a:srgbClr val="002D43"/>
    </a:dk1>
    <a:lt1>
      <a:srgbClr val="FFFFFF"/>
    </a:lt1>
    <a:dk2>
      <a:srgbClr val="232F3E"/>
    </a:dk2>
    <a:lt2>
      <a:srgbClr val="FFFFFF"/>
    </a:lt2>
    <a:accent1>
      <a:srgbClr val="FF9900"/>
    </a:accent1>
    <a:accent2>
      <a:srgbClr val="00A0C8"/>
    </a:accent2>
    <a:accent3>
      <a:srgbClr val="007DBC"/>
    </a:accent3>
    <a:accent4>
      <a:srgbClr val="69AE35"/>
    </a:accent4>
    <a:accent5>
      <a:srgbClr val="1D8900"/>
    </a:accent5>
    <a:accent6>
      <a:srgbClr val="FF5745"/>
    </a:accent6>
    <a:hlink>
      <a:srgbClr val="00E0EA"/>
    </a:hlink>
    <a:folHlink>
      <a:srgbClr val="00A0C8"/>
    </a:folHlink>
  </a:clrScheme>
  <a:fontScheme name="Test">
    <a:majorFont>
      <a:latin typeface="Amazon Ember"/>
      <a:ea typeface=""/>
      <a:cs typeface=""/>
    </a:majorFont>
    <a:minorFont>
      <a:latin typeface="Amazon Embe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Light</Template>
  <TotalTime>21710</TotalTime>
  <Words>6497</Words>
  <Application>Microsoft Macintosh PowerPoint</Application>
  <PresentationFormat>와이드스크린</PresentationFormat>
  <Paragraphs>1274</Paragraphs>
  <Slides>34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6" baseType="lpstr">
      <vt:lpstr>Arial</vt:lpstr>
      <vt:lpstr>Amazon Ember Display</vt:lpstr>
      <vt:lpstr>Amazon Ember Light</vt:lpstr>
      <vt:lpstr>NanumSquareOTF_ac</vt:lpstr>
      <vt:lpstr>굴림</vt:lpstr>
      <vt:lpstr>Amazon Ember Mono</vt:lpstr>
      <vt:lpstr>Amazon Ember</vt:lpstr>
      <vt:lpstr>Wingdings</vt:lpstr>
      <vt:lpstr>NanumGothicOTF</vt:lpstr>
      <vt:lpstr>NanumSquareOTF</vt:lpstr>
      <vt:lpstr>NanumSquareOTF Bold</vt:lpstr>
      <vt:lpstr>AWS Confidential Light</vt:lpstr>
      <vt:lpstr>당근을 위한 AWS WADD (Well-Architected Dive Deep) 제언</vt:lpstr>
      <vt:lpstr>1. 비용 분석</vt:lpstr>
      <vt:lpstr>1. AWS 사용량에 대한 분석 – 전체 서비스</vt:lpstr>
      <vt:lpstr>1. AWS 사용량에 대한 분석 – 컴퓨팅</vt:lpstr>
      <vt:lpstr>1. AWS 사용량에 대한 분석 – 컴퓨팅</vt:lpstr>
      <vt:lpstr>1. AWS 사용량에 대한 분석 – 컴퓨팅</vt:lpstr>
      <vt:lpstr>1. AWS 사용량에 대한 분석 – 컴퓨팅</vt:lpstr>
      <vt:lpstr>1. AWS 사용량에 대한 분석 – 컴퓨팅</vt:lpstr>
      <vt:lpstr>1. AWS 사용량에 대한 분석 – 컴퓨팅</vt:lpstr>
      <vt:lpstr>2. AWS 사용량에 대한 분석 – 네트워크 전송 비용</vt:lpstr>
      <vt:lpstr>2. AWS 사용량에 대한 분석 – 네트워크 전송 비용</vt:lpstr>
      <vt:lpstr>2. AWS 사용량에 대한 분석 – 네트워킹</vt:lpstr>
      <vt:lpstr>3. AWS 사용량에 대한 분석 – 스토리지</vt:lpstr>
      <vt:lpstr>3. AWS 사용량에 대한 분석 – 스토리지</vt:lpstr>
      <vt:lpstr>2. AWS 사용량에 대한 분석 – 스토리지</vt:lpstr>
      <vt:lpstr>2. 당근 VPC Architecture 분석 </vt:lpstr>
      <vt:lpstr>당근 Production VPC 아키텍쳐 구성도 – 서울 리전</vt:lpstr>
      <vt:lpstr>당근 Production VPC 아키텍쳐 구성도 – 도쿄 리전</vt:lpstr>
      <vt:lpstr>당근 Production VPC 아키텍쳐 구성도 – 센트럴 리전</vt:lpstr>
      <vt:lpstr>당근 Production VPC 아키텍쳐 구성도 – 런던 리전</vt:lpstr>
      <vt:lpstr>VPC 구조 분석</vt:lpstr>
      <vt:lpstr>VPC 구조 분석</vt:lpstr>
      <vt:lpstr>3. 당근 VPC Architecture To-Be 모델 제언</vt:lpstr>
      <vt:lpstr>당근을 위한 Super Cell 기반 EKS VPC 아키텍쳐 제언</vt:lpstr>
      <vt:lpstr>당근을 위한 Super Cell 기반 EKS VPC 아키텍쳐 요약</vt:lpstr>
      <vt:lpstr>당근을 위한 Super Cell 기반 EKS VPC 아키텍쳐 요약</vt:lpstr>
      <vt:lpstr>당근 VPC 아키텍쳐 개선안 – Ingress Traffic 보안 제어 개선</vt:lpstr>
      <vt:lpstr>당근 VPC 아키텍쳐 개선안 – Ingress Traffic 보안 제어 개선</vt:lpstr>
      <vt:lpstr>당근 VPC 아키텍쳐 개선안 – Egress Traffic 보안 제어 개선</vt:lpstr>
      <vt:lpstr>당근 VPC 아키텍쳐 개선안 – Egress Traffic 보안 제어 개선</vt:lpstr>
      <vt:lpstr>당근 VPC 아키텍쳐 개선안 – Ingress , Egress Traffic 보안 제어 개선 고려 사항</vt:lpstr>
      <vt:lpstr>당근 VPC 아키텍쳐 개선안 – VPC Peering to TGW 로의 이전 방안</vt:lpstr>
      <vt:lpstr>당근 VPC 아키텍쳐 개선안 – Customer-Managed Prefix List 활용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Microsoft Office User</cp:lastModifiedBy>
  <cp:revision>51</cp:revision>
  <dcterms:created xsi:type="dcterms:W3CDTF">2024-02-17T04:18:00Z</dcterms:created>
  <dcterms:modified xsi:type="dcterms:W3CDTF">2024-06-02T07:44:44Z</dcterms:modified>
</cp:coreProperties>
</file>