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Override3.xml" ContentType="application/vnd.openxmlformats-officedocument.themeOverr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theme/themeOverride4.xml" ContentType="application/vnd.openxmlformats-officedocument.themeOverride+xml"/>
  <Override PartName="/ppt/charts/chart4.xml" ContentType="application/vnd.openxmlformats-officedocument.drawingml.chart+xml"/>
  <Override PartName="/ppt/theme/themeOverride5.xml" ContentType="application/vnd.openxmlformats-officedocument.themeOverride+xml"/>
  <Override PartName="/ppt/charts/chart5.xml" ContentType="application/vnd.openxmlformats-officedocument.drawingml.chart+xml"/>
  <Override PartName="/ppt/theme/themeOverride6.xml" ContentType="application/vnd.openxmlformats-officedocument.themeOverride+xml"/>
  <Override PartName="/ppt/charts/chart6.xml" ContentType="application/vnd.openxmlformats-officedocument.drawingml.chart+xml"/>
  <Override PartName="/ppt/theme/themeOverride7.xml" ContentType="application/vnd.openxmlformats-officedocument.themeOverride+xml"/>
  <Override PartName="/ppt/charts/chart7.xml" ContentType="application/vnd.openxmlformats-officedocument.drawingml.chart+xml"/>
  <Override PartName="/ppt/theme/themeOverride8.xml" ContentType="application/vnd.openxmlformats-officedocument.themeOverride+xml"/>
  <Override PartName="/ppt/charts/chart8.xml" ContentType="application/vnd.openxmlformats-officedocument.drawingml.chart+xml"/>
  <Override PartName="/ppt/theme/themeOverride9.xml" ContentType="application/vnd.openxmlformats-officedocument.themeOverride+xml"/>
  <Override PartName="/ppt/charts/chart9.xml" ContentType="application/vnd.openxmlformats-officedocument.drawingml.chart+xml"/>
  <Override PartName="/ppt/theme/themeOverride10.xml" ContentType="application/vnd.openxmlformats-officedocument.themeOverride+xml"/>
  <Override PartName="/ppt/charts/chart10.xml" ContentType="application/vnd.openxmlformats-officedocument.drawingml.chart+xml"/>
  <Override PartName="/ppt/theme/themeOverride11.xml" ContentType="application/vnd.openxmlformats-officedocument.themeOverride+xml"/>
  <Override PartName="/ppt/charts/chart11.xml" ContentType="application/vnd.openxmlformats-officedocument.drawingml.chart+xml"/>
  <Override PartName="/ppt/theme/themeOverride12.xml" ContentType="application/vnd.openxmlformats-officedocument.themeOverride+xml"/>
  <Override PartName="/ppt/charts/chart12.xml" ContentType="application/vnd.openxmlformats-officedocument.drawingml.chart+xml"/>
  <Override PartName="/ppt/theme/themeOverride13.xml" ContentType="application/vnd.openxmlformats-officedocument.themeOverride+xml"/>
  <Override PartName="/ppt/charts/chart13.xml" ContentType="application/vnd.openxmlformats-officedocument.drawingml.chart+xml"/>
  <Override PartName="/ppt/theme/themeOverride14.xml" ContentType="application/vnd.openxmlformats-officedocument.themeOverride+xml"/>
  <Override PartName="/ppt/charts/chart14.xml" ContentType="application/vnd.openxmlformats-officedocument.drawingml.chart+xml"/>
  <Override PartName="/ppt/theme/themeOverride15.xml" ContentType="application/vnd.openxmlformats-officedocument.themeOverride+xml"/>
  <Override PartName="/ppt/charts/chart15.xml" ContentType="application/vnd.openxmlformats-officedocument.drawingml.chart+xml"/>
  <Override PartName="/ppt/theme/themeOverride16.xml" ContentType="application/vnd.openxmlformats-officedocument.themeOverride+xml"/>
  <Override PartName="/ppt/charts/chart16.xml" ContentType="application/vnd.openxmlformats-officedocument.drawingml.chart+xml"/>
  <Override PartName="/ppt/theme/themeOverride17.xml" ContentType="application/vnd.openxmlformats-officedocument.themeOverride+xml"/>
  <Override PartName="/ppt/charts/chart17.xml" ContentType="application/vnd.openxmlformats-officedocument.drawingml.chart+xml"/>
  <Override PartName="/ppt/theme/themeOverride18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8.xml" ContentType="application/vnd.openxmlformats-officedocument.drawingml.chart+xml"/>
  <Override PartName="/ppt/theme/themeOverride19.xml" ContentType="application/vnd.openxmlformats-officedocument.themeOverride+xml"/>
  <Override PartName="/ppt/charts/chart19.xml" ContentType="application/vnd.openxmlformats-officedocument.drawingml.chart+xml"/>
  <Override PartName="/ppt/theme/themeOverride20.xml" ContentType="application/vnd.openxmlformats-officedocument.themeOverride+xml"/>
  <Override PartName="/ppt/charts/chart20.xml" ContentType="application/vnd.openxmlformats-officedocument.drawingml.chart+xml"/>
  <Override PartName="/ppt/theme/themeOverride21.xml" ContentType="application/vnd.openxmlformats-officedocument.themeOverride+xml"/>
  <Override PartName="/ppt/charts/chart2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2.xml" ContentType="application/vnd.openxmlformats-officedocument.themeOverride+xml"/>
  <Override PartName="/ppt/charts/chart22.xml" ContentType="application/vnd.openxmlformats-officedocument.drawingml.chart+xml"/>
  <Override PartName="/ppt/theme/themeOverride23.xml" ContentType="application/vnd.openxmlformats-officedocument.themeOverride+xml"/>
  <Override PartName="/ppt/charts/chart23.xml" ContentType="application/vnd.openxmlformats-officedocument.drawingml.chart+xml"/>
  <Override PartName="/ppt/theme/themeOverride24.xml" ContentType="application/vnd.openxmlformats-officedocument.themeOverride+xml"/>
  <Override PartName="/ppt/charts/chart24.xml" ContentType="application/vnd.openxmlformats-officedocument.drawingml.chart+xml"/>
  <Override PartName="/ppt/theme/themeOverride25.xml" ContentType="application/vnd.openxmlformats-officedocument.themeOverride+xml"/>
  <Override PartName="/ppt/charts/chart25.xml" ContentType="application/vnd.openxmlformats-officedocument.drawingml.chart+xml"/>
  <Override PartName="/ppt/theme/themeOverride26.xml" ContentType="application/vnd.openxmlformats-officedocument.themeOverride+xml"/>
  <Override PartName="/ppt/charts/chart26.xml" ContentType="application/vnd.openxmlformats-officedocument.drawingml.chart+xml"/>
  <Override PartName="/ppt/theme/themeOverride27.xml" ContentType="application/vnd.openxmlformats-officedocument.themeOverride+xml"/>
  <Override PartName="/ppt/charts/chart27.xml" ContentType="application/vnd.openxmlformats-officedocument.drawingml.chart+xml"/>
  <Override PartName="/ppt/theme/themeOverride28.xml" ContentType="application/vnd.openxmlformats-officedocument.themeOverride+xml"/>
  <Override PartName="/ppt/charts/chart28.xml" ContentType="application/vnd.openxmlformats-officedocument.drawingml.chart+xml"/>
  <Override PartName="/ppt/theme/themeOverride29.xml" ContentType="application/vnd.openxmlformats-officedocument.themeOverride+xml"/>
  <Override PartName="/ppt/charts/chart29.xml" ContentType="application/vnd.openxmlformats-officedocument.drawingml.chart+xml"/>
  <Override PartName="/ppt/theme/themeOverride30.xml" ContentType="application/vnd.openxmlformats-officedocument.themeOverride+xml"/>
  <Override PartName="/ppt/charts/chart30.xml" ContentType="application/vnd.openxmlformats-officedocument.drawingml.chart+xml"/>
  <Override PartName="/ppt/theme/themeOverride31.xml" ContentType="application/vnd.openxmlformats-officedocument.themeOverride+xml"/>
  <Override PartName="/ppt/charts/chart31.xml" ContentType="application/vnd.openxmlformats-officedocument.drawingml.chart+xml"/>
  <Override PartName="/ppt/theme/themeOverride32.xml" ContentType="application/vnd.openxmlformats-officedocument.themeOverride+xml"/>
  <Override PartName="/ppt/charts/chart32.xml" ContentType="application/vnd.openxmlformats-officedocument.drawingml.chart+xml"/>
  <Override PartName="/ppt/theme/themeOverride33.xml" ContentType="application/vnd.openxmlformats-officedocument.themeOverride+xml"/>
  <Override PartName="/ppt/charts/chart33.xml" ContentType="application/vnd.openxmlformats-officedocument.drawingml.chart+xml"/>
  <Override PartName="/ppt/theme/themeOverride34.xml" ContentType="application/vnd.openxmlformats-officedocument.themeOverride+xml"/>
  <Override PartName="/ppt/notesSlides/notesSlide6.xml" ContentType="application/vnd.openxmlformats-officedocument.presentationml.notesSlide+xml"/>
  <Override PartName="/ppt/charts/chart34.xml" ContentType="application/vnd.openxmlformats-officedocument.drawingml.chart+xml"/>
  <Override PartName="/ppt/theme/themeOverride35.xml" ContentType="application/vnd.openxmlformats-officedocument.themeOverride+xml"/>
  <Override PartName="/ppt/charts/chart35.xml" ContentType="application/vnd.openxmlformats-officedocument.drawingml.chart+xml"/>
  <Override PartName="/ppt/theme/themeOverride36.xml" ContentType="application/vnd.openxmlformats-officedocument.themeOverride+xml"/>
  <Override PartName="/ppt/notesSlides/notesSlide7.xml" ContentType="application/vnd.openxmlformats-officedocument.presentationml.notesSlide+xml"/>
  <Override PartName="/ppt/charts/chart36.xml" ContentType="application/vnd.openxmlformats-officedocument.drawingml.chart+xml"/>
  <Override PartName="/ppt/theme/themeOverride37.xml" ContentType="application/vnd.openxmlformats-officedocument.themeOverride+xml"/>
  <Override PartName="/ppt/charts/chart37.xml" ContentType="application/vnd.openxmlformats-officedocument.drawingml.chart+xml"/>
  <Override PartName="/ppt/theme/themeOverride38.xml" ContentType="application/vnd.openxmlformats-officedocument.themeOverride+xml"/>
  <Override PartName="/ppt/charts/chart38.xml" ContentType="application/vnd.openxmlformats-officedocument.drawingml.chart+xml"/>
  <Override PartName="/ppt/theme/themeOverride39.xml" ContentType="application/vnd.openxmlformats-officedocument.themeOverride+xml"/>
  <Override PartName="/ppt/charts/chart39.xml" ContentType="application/vnd.openxmlformats-officedocument.drawingml.chart+xml"/>
  <Override PartName="/ppt/theme/themeOverride40.xml" ContentType="application/vnd.openxmlformats-officedocument.themeOverride+xml"/>
  <Override PartName="/ppt/charts/chart40.xml" ContentType="application/vnd.openxmlformats-officedocument.drawingml.chart+xml"/>
  <Override PartName="/ppt/theme/themeOverride41.xml" ContentType="application/vnd.openxmlformats-officedocument.themeOverride+xml"/>
  <Override PartName="/ppt/charts/chart41.xml" ContentType="application/vnd.openxmlformats-officedocument.drawingml.chart+xml"/>
  <Override PartName="/ppt/theme/themeOverride42.xml" ContentType="application/vnd.openxmlformats-officedocument.themeOverride+xml"/>
  <Override PartName="/ppt/charts/chart42.xml" ContentType="application/vnd.openxmlformats-officedocument.drawingml.chart+xml"/>
  <Override PartName="/ppt/theme/themeOverride43.xml" ContentType="application/vnd.openxmlformats-officedocument.themeOverride+xml"/>
  <Override PartName="/ppt/charts/chart43.xml" ContentType="application/vnd.openxmlformats-officedocument.drawingml.chart+xml"/>
  <Override PartName="/ppt/theme/themeOverride44.xml" ContentType="application/vnd.openxmlformats-officedocument.themeOverride+xml"/>
  <Override PartName="/ppt/charts/chart44.xml" ContentType="application/vnd.openxmlformats-officedocument.drawingml.chart+xml"/>
  <Override PartName="/ppt/theme/themeOverride45.xml" ContentType="application/vnd.openxmlformats-officedocument.themeOverride+xml"/>
  <Override PartName="/ppt/charts/chart45.xml" ContentType="application/vnd.openxmlformats-officedocument.drawingml.chart+xml"/>
  <Override PartName="/ppt/theme/themeOverride4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1813" r:id="rId2"/>
    <p:sldId id="2095" r:id="rId3"/>
    <p:sldId id="2096" r:id="rId4"/>
    <p:sldId id="543" r:id="rId5"/>
    <p:sldId id="550" r:id="rId6"/>
    <p:sldId id="1027" r:id="rId7"/>
    <p:sldId id="1969" r:id="rId8"/>
    <p:sldId id="1971" r:id="rId9"/>
    <p:sldId id="1970" r:id="rId10"/>
    <p:sldId id="2097" r:id="rId11"/>
    <p:sldId id="2209" r:id="rId12"/>
    <p:sldId id="1980" r:id="rId13"/>
    <p:sldId id="1991" r:id="rId14"/>
    <p:sldId id="2212" r:id="rId15"/>
    <p:sldId id="2213" r:id="rId16"/>
    <p:sldId id="1999" r:id="rId17"/>
    <p:sldId id="1984" r:id="rId18"/>
    <p:sldId id="2210" r:id="rId19"/>
    <p:sldId id="1993" r:id="rId20"/>
    <p:sldId id="2214" r:id="rId21"/>
    <p:sldId id="2215" r:id="rId22"/>
    <p:sldId id="2216" r:id="rId23"/>
    <p:sldId id="2217" r:id="rId24"/>
    <p:sldId id="2002" r:id="rId25"/>
    <p:sldId id="1981" r:id="rId26"/>
    <p:sldId id="1998" r:id="rId27"/>
    <p:sldId id="2218" r:id="rId28"/>
    <p:sldId id="2220" r:id="rId29"/>
    <p:sldId id="2219" r:id="rId30"/>
    <p:sldId id="1995" r:id="rId31"/>
    <p:sldId id="2105" r:id="rId32"/>
    <p:sldId id="2134" r:id="rId33"/>
    <p:sldId id="2151" r:id="rId34"/>
    <p:sldId id="2182" r:id="rId35"/>
    <p:sldId id="2207" r:id="rId36"/>
    <p:sldId id="2208" r:id="rId37"/>
    <p:sldId id="2104" r:id="rId38"/>
  </p:sldIdLst>
  <p:sldSz cx="12192000" cy="6858000"/>
  <p:notesSz cx="6858000" cy="9144000"/>
  <p:embeddedFontLst>
    <p:embeddedFont>
      <p:font typeface="Malgun Gothic" panose="020B0503020000020004" pitchFamily="34" charset="-127"/>
      <p:regular r:id="rId41"/>
      <p:bold r:id="rId42"/>
    </p:embeddedFont>
    <p:embeddedFont>
      <p:font typeface="Amazon Ember" panose="020B0603020204020204" pitchFamily="34" charset="0"/>
      <p:regular r:id="rId43"/>
      <p:bold r:id="rId44"/>
      <p:italic r:id="rId45"/>
      <p:boldItalic r:id="rId46"/>
    </p:embeddedFont>
    <p:embeddedFont>
      <p:font typeface="Amazon Ember Display" panose="020B0603020204020204" pitchFamily="34" charset="0"/>
      <p:regular r:id="rId47"/>
      <p:bold r:id="rId48"/>
      <p:italic r:id="rId49"/>
      <p:boldItalic r:id="rId50"/>
    </p:embeddedFont>
    <p:embeddedFont>
      <p:font typeface="Amazon Ember Light" panose="020B0403020204020204" pitchFamily="34" charset="0"/>
      <p:regular r:id="rId51"/>
      <p:italic r:id="rId52"/>
    </p:embeddedFont>
    <p:embeddedFont>
      <p:font typeface="Amazon Ember Medium" panose="020B0603020204020204" pitchFamily="34" charset="0"/>
      <p:regular r:id="rId53"/>
      <p:italic r:id="rId54"/>
    </p:embeddedFont>
    <p:embeddedFont>
      <p:font typeface="Lato Light" panose="020F0302020204030204" pitchFamily="34" charset="0"/>
      <p:regular r:id="rId55"/>
      <p:italic r:id="rId56"/>
    </p:embeddedFont>
    <p:embeddedFont>
      <p:font typeface="NanumGothicOTF" panose="020D0604000000000000" pitchFamily="34" charset="-127"/>
      <p:regular r:id="rId57"/>
      <p:bold r:id="rId58"/>
    </p:embeddedFont>
    <p:embeddedFont>
      <p:font typeface="NanumSquareOTF" panose="020B0600000101010101" pitchFamily="34" charset="-127"/>
      <p:regular r:id="rId59"/>
    </p:embeddedFont>
    <p:embeddedFont>
      <p:font typeface="NanumSquareOTF Bold" panose="020B0600000101010101" pitchFamily="34" charset="-127"/>
      <p:bold r:id="rId60"/>
    </p:embeddedFont>
    <p:embeddedFont>
      <p:font typeface="NanumSquareOTF ExtraBold" panose="020B0600000101010101" pitchFamily="34" charset="-127"/>
      <p:bold r:id="rId61"/>
    </p:embeddedFont>
    <p:embeddedFont>
      <p:font typeface="NanumSquareOTF_ac" panose="020B0600000101010101" pitchFamily="34" charset="-127"/>
      <p:regular r:id="rId62"/>
    </p:embeddedFont>
    <p:embeddedFont>
      <p:font typeface="Wingdings 2" pitchFamily="2" charset="2"/>
      <p:regular r:id="rId63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5396C1E-7322-6745-82C9-04C8106B296B}">
          <p14:sldIdLst>
            <p14:sldId id="1813"/>
            <p14:sldId id="2095"/>
          </p14:sldIdLst>
        </p14:section>
        <p14:section name="1.프로젝트소개" id="{50B6ED2F-67E8-3342-A32B-9DD4540C0B1A}">
          <p14:sldIdLst>
            <p14:sldId id="2096"/>
            <p14:sldId id="543"/>
            <p14:sldId id="550"/>
            <p14:sldId id="1027"/>
            <p14:sldId id="1969"/>
            <p14:sldId id="1971"/>
            <p14:sldId id="1970"/>
          </p14:sldIdLst>
        </p14:section>
        <p14:section name="2.비용 기반 아키텍쳐 분석" id="{74D7FCE0-B764-3B40-B9F6-399F629020DD}">
          <p14:sldIdLst>
            <p14:sldId id="2097"/>
            <p14:sldId id="2209"/>
            <p14:sldId id="1980"/>
            <p14:sldId id="1991"/>
            <p14:sldId id="2212"/>
            <p14:sldId id="2213"/>
            <p14:sldId id="1999"/>
            <p14:sldId id="1984"/>
            <p14:sldId id="2210"/>
            <p14:sldId id="1993"/>
            <p14:sldId id="2214"/>
            <p14:sldId id="2215"/>
            <p14:sldId id="2216"/>
            <p14:sldId id="2217"/>
            <p14:sldId id="2002"/>
            <p14:sldId id="1981"/>
            <p14:sldId id="1998"/>
            <p14:sldId id="2218"/>
            <p14:sldId id="2220"/>
            <p14:sldId id="2219"/>
            <p14:sldId id="1995"/>
            <p14:sldId id="2105"/>
            <p14:sldId id="2134"/>
            <p14:sldId id="2151"/>
            <p14:sldId id="2182"/>
            <p14:sldId id="2207"/>
            <p14:sldId id="2208"/>
            <p14:sldId id="2104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3652"/>
    <a:srgbClr val="FF0077"/>
    <a:srgbClr val="E62C39"/>
    <a:srgbClr val="E42C38"/>
    <a:srgbClr val="A69C90"/>
    <a:srgbClr val="FF6E16"/>
    <a:srgbClr val="E22B37"/>
    <a:srgbClr val="DE2B37"/>
    <a:srgbClr val="DF2B38"/>
    <a:srgbClr val="FF47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4508" autoAdjust="0"/>
  </p:normalViewPr>
  <p:slideViewPr>
    <p:cSldViewPr snapToGrid="0">
      <p:cViewPr>
        <p:scale>
          <a:sx n="105" d="100"/>
          <a:sy n="105" d="100"/>
        </p:scale>
        <p:origin x="64" y="-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font" Target="fonts/font2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whchoi/Work/01.AWS/01.Account/10.COT/COT_Ably_Payer_250102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4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5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6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7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8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9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10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11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12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13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14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15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16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17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18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19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20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21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whchoi/Downloads/gc_240613_linked%20Cost%20Optimization%20Report%20095150450685%202024-06-13%20121717.xlsx" TargetMode="Externa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23.xml"/></Relationships>
</file>

<file path=ppt/charts/_rels/chart23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24.xml"/></Relationships>
</file>

<file path=ppt/charts/_rels/chart24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25.xml"/></Relationships>
</file>

<file path=ppt/charts/_rels/chart25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26.xml"/></Relationships>
</file>

<file path=ppt/charts/_rels/chart26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27.xml"/></Relationships>
</file>

<file path=ppt/charts/_rels/chart27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28.xml"/></Relationships>
</file>

<file path=ppt/charts/_rels/chart28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29.xml"/></Relationships>
</file>

<file path=ppt/charts/_rels/chart29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0.xml"/></Relationships>
</file>

<file path=ppt/charts/_rels/chart30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1.xml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2.xml"/></Relationships>
</file>

<file path=ppt/charts/_rels/chart32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yanolja_Payer_20250102.xlsx" TargetMode="External"/><Relationship Id="rId1" Type="http://schemas.openxmlformats.org/officeDocument/2006/relationships/themeOverride" Target="../theme/themeOverride33.xml"/></Relationships>
</file>

<file path=ppt/charts/_rels/chart33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yanolja_Payer_20250102.xlsx" TargetMode="External"/><Relationship Id="rId1" Type="http://schemas.openxmlformats.org/officeDocument/2006/relationships/themeOverride" Target="../theme/themeOverride34.xml"/></Relationships>
</file>

<file path=ppt/charts/_rels/chart34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5.xml"/></Relationships>
</file>

<file path=ppt/charts/_rels/chart35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6.xml"/></Relationships>
</file>

<file path=ppt/charts/_rels/chart36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7.xml"/></Relationships>
</file>

<file path=ppt/charts/_rels/chart37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8.xml"/></Relationships>
</file>

<file path=ppt/charts/_rels/chart38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39.xml"/></Relationships>
</file>

<file path=ppt/charts/_rels/chart39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40.xml"/></Relationships>
</file>

<file path=ppt/charts/_rels/chart40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41.xml"/></Relationships>
</file>

<file path=ppt/charts/_rels/chart41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Sendbird_Payer_20250102.xlsx" TargetMode="External"/><Relationship Id="rId1" Type="http://schemas.openxmlformats.org/officeDocument/2006/relationships/themeOverride" Target="../theme/themeOverride42.xml"/></Relationships>
</file>

<file path=ppt/charts/_rels/chart42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43.xml"/></Relationships>
</file>

<file path=ppt/charts/_rels/chart43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Ably_Payer_250102.xlsx" TargetMode="External"/><Relationship Id="rId1" Type="http://schemas.openxmlformats.org/officeDocument/2006/relationships/themeOverride" Target="../theme/themeOverride44.xml"/></Relationships>
</file>

<file path=ppt/charts/_rels/chart44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45.xml"/></Relationships>
</file>

<file path=ppt/charts/_rels/chart45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10.COT/COT_Daangn_Payer_250102.xlsx" TargetMode="External"/><Relationship Id="rId1" Type="http://schemas.openxmlformats.org/officeDocument/2006/relationships/themeOverride" Target="../theme/themeOverride4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070584325997712"/>
          <c:y val="6.8584912690330124E-2"/>
          <c:w val="0.87403922752467444"/>
          <c:h val="0.649469639079925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Unblended Costs'!$AR$5</c:f>
              <c:strCache>
                <c:ptCount val="1"/>
                <c:pt idx="0">
                  <c:v>Usage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numRef>
              <c:f>'Data Unblended Costs'!$AP$6:$AP$17</c:f>
              <c:numCache>
                <c:formatCode>[$-409]mmm;@</c:formatCode>
                <c:ptCount val="12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</c:numCache>
            </c:numRef>
          </c:cat>
          <c:val>
            <c:numRef>
              <c:f>'Data Unblended Costs'!$AR$6:$AR$17</c:f>
              <c:numCache>
                <c:formatCode>_("$"* #,##0.00_);_("$"* \(#,##0.00\);_("$"* "-"??_);_(@_)</c:formatCode>
                <c:ptCount val="12"/>
                <c:pt idx="0">
                  <c:v>587433.53698224074</c:v>
                </c:pt>
                <c:pt idx="1">
                  <c:v>581127.60744944657</c:v>
                </c:pt>
                <c:pt idx="2">
                  <c:v>548983.53450060834</c:v>
                </c:pt>
                <c:pt idx="3">
                  <c:v>561863.94221403543</c:v>
                </c:pt>
                <c:pt idx="4">
                  <c:v>607489.03072311427</c:v>
                </c:pt>
                <c:pt idx="5">
                  <c:v>652209.81742509082</c:v>
                </c:pt>
                <c:pt idx="6">
                  <c:v>699021.30222132022</c:v>
                </c:pt>
                <c:pt idx="7">
                  <c:v>645652.69698627433</c:v>
                </c:pt>
                <c:pt idx="8">
                  <c:v>671691.88094240811</c:v>
                </c:pt>
                <c:pt idx="9">
                  <c:v>774853.72996035195</c:v>
                </c:pt>
                <c:pt idx="10">
                  <c:v>729744.68757366168</c:v>
                </c:pt>
                <c:pt idx="11">
                  <c:v>764871.34480960015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34-264F-86DA-B5802E4127FC}"/>
            </c:ext>
          </c:extLst>
        </c:ser>
        <c:ser>
          <c:idx val="1"/>
          <c:order val="1"/>
          <c:tx>
            <c:strRef>
              <c:f>'Data Unblended Costs'!$AQ$5</c:f>
              <c:strCache>
                <c:ptCount val="1"/>
                <c:pt idx="0">
                  <c:v>SP &amp; RI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numRef>
              <c:f>'Data Unblended Costs'!$AP$6:$AP$17</c:f>
              <c:numCache>
                <c:formatCode>[$-409]mmm;@</c:formatCode>
                <c:ptCount val="12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</c:numCache>
            </c:numRef>
          </c:cat>
          <c:val>
            <c:numRef>
              <c:f>'Data Unblended Costs'!$AQ$6:$AQ$17</c:f>
              <c:numCache>
                <c:formatCode>_("$"* #,##0.00_);_("$"* \(#,##0.00\);_("$"* "-"??_);_(@_)</c:formatCode>
                <c:ptCount val="12"/>
                <c:pt idx="0">
                  <c:v>50345.435179165797</c:v>
                </c:pt>
                <c:pt idx="1">
                  <c:v>55888.8000000096</c:v>
                </c:pt>
                <c:pt idx="2">
                  <c:v>59703.667825381701</c:v>
                </c:pt>
                <c:pt idx="3">
                  <c:v>57816.000000028798</c:v>
                </c:pt>
                <c:pt idx="4">
                  <c:v>58599.100000006903</c:v>
                </c:pt>
                <c:pt idx="5">
                  <c:v>57299.339506265998</c:v>
                </c:pt>
                <c:pt idx="6">
                  <c:v>94011.327999995498</c:v>
                </c:pt>
                <c:pt idx="7">
                  <c:v>114436.6220000148</c:v>
                </c:pt>
                <c:pt idx="8">
                  <c:v>106863.0000000218</c:v>
                </c:pt>
                <c:pt idx="9">
                  <c:v>110460.453070009</c:v>
                </c:pt>
                <c:pt idx="10">
                  <c:v>105019.72109673399</c:v>
                </c:pt>
                <c:pt idx="11">
                  <c:v>104556.21119738629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34-264F-86DA-B5802E4127FC}"/>
            </c:ext>
          </c:extLst>
        </c:ser>
        <c:ser>
          <c:idx val="2"/>
          <c:order val="2"/>
          <c:tx>
            <c:strRef>
              <c:f>'Data Unblended Costs'!$AS$5</c:f>
              <c:strCache>
                <c:ptCount val="1"/>
                <c:pt idx="0">
                  <c:v>3 Month Trend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numRef>
              <c:f>'Data Unblended Costs'!$AP$6:$AP$17</c:f>
              <c:numCache>
                <c:formatCode>[$-409]mmm;@</c:formatCode>
                <c:ptCount val="12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</c:numCache>
            </c:numRef>
          </c:cat>
          <c:val>
            <c:numRef>
              <c:f>'Data Unblended Costs'!$AS$6:$AS$17</c:f>
              <c:numCache>
                <c:formatCode>_("$"* #,##0.00_);_("$"* \(#,##0.00\);_("$"* "-"??_);_(@_)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34-264F-86DA-B5802E412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90177632"/>
        <c:axId val="612463520"/>
      </c:barChart>
      <c:dateAx>
        <c:axId val="290177632"/>
        <c:scaling>
          <c:orientation val="minMax"/>
        </c:scaling>
        <c:delete val="0"/>
        <c:axPos val="b"/>
        <c:numFmt formatCode="[$-409]m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612463520"/>
        <c:crosses val="autoZero"/>
        <c:auto val="0"/>
        <c:lblOffset val="100"/>
        <c:baseTimeUnit val="months"/>
      </c:dateAx>
      <c:valAx>
        <c:axId val="612463520"/>
        <c:scaling>
          <c:orientation val="minMax"/>
        </c:scaling>
        <c:delete val="0"/>
        <c:axPos val="l"/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29017763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7578316201888231"/>
          <c:y val="0.8770154328821691"/>
          <c:w val="0.44843367596223532"/>
          <c:h val="0.12298456711783094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 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>
        <c:manualLayout>
          <c:layoutTarget val="inner"/>
          <c:xMode val="edge"/>
          <c:yMode val="edge"/>
          <c:x val="8.8105555992376849E-2"/>
          <c:y val="0"/>
          <c:w val="0.91189444400762321"/>
          <c:h val="1"/>
        </c:manualLayout>
      </c:layout>
      <c:lineChart>
        <c:grouping val="standard"/>
        <c:varyColors val="0"/>
        <c:ser>
          <c:idx val="0"/>
          <c:order val="0"/>
          <c:tx>
            <c:strRef>
              <c:f>'Data Unblended Costs'!$AX$5</c:f>
              <c:strCache>
                <c:ptCount val="1"/>
                <c:pt idx="0">
                  <c:v>Total Spend</c:v>
                </c:pt>
              </c:strCache>
            </c:strRef>
          </c:tx>
          <c:spPr>
            <a:ln w="19050" cap="rnd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6.1918073486587039E-2"/>
                  <c:y val="0.278076183568598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01-C845-8EBE-5677B3F898C7}"/>
                </c:ext>
              </c:extLst>
            </c:dLbl>
            <c:dLbl>
              <c:idx val="9"/>
              <c:layout>
                <c:manualLayout>
                  <c:x val="-0.12154288499218936"/>
                  <c:y val="0.3128357065146735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601-C845-8EBE-5677B3F898C7}"/>
                </c:ext>
              </c:extLst>
            </c:dLbl>
            <c:dLbl>
              <c:idx val="11"/>
              <c:layout>
                <c:manualLayout>
                  <c:x val="-2.2932619809848732E-3"/>
                  <c:y val="0.278076183568598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01-C845-8EBE-5677B3F898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Unblended Costs'!$AW$6:$AW$17</c:f>
              <c:numCache>
                <c:formatCode>mmm</c:formatCode>
                <c:ptCount val="12"/>
                <c:pt idx="0">
                  <c:v>45292</c:v>
                </c:pt>
                <c:pt idx="1">
                  <c:v>45323</c:v>
                </c:pt>
                <c:pt idx="2">
                  <c:v>45352</c:v>
                </c:pt>
                <c:pt idx="3">
                  <c:v>45383</c:v>
                </c:pt>
                <c:pt idx="4">
                  <c:v>45413</c:v>
                </c:pt>
                <c:pt idx="5">
                  <c:v>45444</c:v>
                </c:pt>
                <c:pt idx="6">
                  <c:v>45474</c:v>
                </c:pt>
                <c:pt idx="7">
                  <c:v>45505</c:v>
                </c:pt>
                <c:pt idx="8">
                  <c:v>45536</c:v>
                </c:pt>
                <c:pt idx="9">
                  <c:v>45566</c:v>
                </c:pt>
                <c:pt idx="10">
                  <c:v>45597</c:v>
                </c:pt>
                <c:pt idx="11">
                  <c:v>45627</c:v>
                </c:pt>
              </c:numCache>
            </c:numRef>
          </c:cat>
          <c:val>
            <c:numRef>
              <c:f>'Data Unblended Costs'!$AX$6:$AX$17</c:f>
              <c:numCache>
                <c:formatCode>_("$"* #,##0.00_);_("$"* \(#,##0.00\);_("$"* "-"??_);_(@_)</c:formatCode>
                <c:ptCount val="12"/>
                <c:pt idx="0">
                  <c:v>637778.97216140653</c:v>
                </c:pt>
                <c:pt idx="1">
                  <c:v>637016.40744945616</c:v>
                </c:pt>
                <c:pt idx="2">
                  <c:v>608687.20232599007</c:v>
                </c:pt>
                <c:pt idx="3">
                  <c:v>619679.94221406418</c:v>
                </c:pt>
                <c:pt idx="4">
                  <c:v>666088.13072312111</c:v>
                </c:pt>
                <c:pt idx="5">
                  <c:v>709509.15693135676</c:v>
                </c:pt>
                <c:pt idx="6">
                  <c:v>793032.63022131566</c:v>
                </c:pt>
                <c:pt idx="7">
                  <c:v>760089.31898628909</c:v>
                </c:pt>
                <c:pt idx="8">
                  <c:v>778554.88094242988</c:v>
                </c:pt>
                <c:pt idx="9">
                  <c:v>885314.18303036096</c:v>
                </c:pt>
                <c:pt idx="10">
                  <c:v>834764.40867039561</c:v>
                </c:pt>
                <c:pt idx="11">
                  <c:v>869427.55600698642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601-C845-8EBE-5677B3F898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2536656"/>
        <c:axId val="868942800"/>
      </c:lineChart>
      <c:dateAx>
        <c:axId val="1432536656"/>
        <c:scaling>
          <c:orientation val="minMax"/>
        </c:scaling>
        <c:delete val="0"/>
        <c:axPos val="b"/>
        <c:numFmt formatCode="mmm" sourceLinked="1"/>
        <c:majorTickMark val="out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868942800"/>
        <c:crosses val="autoZero"/>
        <c:auto val="0"/>
        <c:lblOffset val="100"/>
        <c:baseTimeUnit val="months"/>
      </c:dateAx>
      <c:valAx>
        <c:axId val="86894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,&quot;k&quot;" sourceLinked="0"/>
        <c:majorTickMark val="out"/>
        <c:minorTickMark val="none"/>
        <c:tickLblPos val="nextTo"/>
        <c:spPr>
          <a:noFill/>
          <a:ln w="9525" cap="flat" cmpd="sng" algn="ctr">
            <a:noFill/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432536656"/>
        <c:crosses val="autoZero"/>
        <c:crossBetween val="between"/>
      </c:valAx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9508525830860512E-2"/>
          <c:y val="0"/>
          <c:w val="0.9006337179061078"/>
          <c:h val="0.4390669835902077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Usage'!$CK$6</c:f>
              <c:strCache>
                <c:ptCount val="1"/>
                <c:pt idx="0">
                  <c:v>Graviton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Usage'!$CQ$6,'Data On Demand Usage'!$CQ$14)</c:f>
              <c:numCache>
                <c:formatCode>0%</c:formatCode>
                <c:ptCount val="2"/>
                <c:pt idx="0">
                  <c:v>0.15956809023161794</c:v>
                </c:pt>
                <c:pt idx="1">
                  <c:v>0.99405004921038831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1-E44F-BD94-27AD77194A89}"/>
            </c:ext>
          </c:extLst>
        </c:ser>
        <c:ser>
          <c:idx val="1"/>
          <c:order val="1"/>
          <c:tx>
            <c:strRef>
              <c:f>'Data On Demand Usage'!$CK$7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Usage'!$CQ$7,'Data On Demand Usage'!$CQ$15)</c:f>
              <c:numCache>
                <c:formatCode>0%</c:formatCode>
                <c:ptCount val="2"/>
                <c:pt idx="0">
                  <c:v>0.79075570805873852</c:v>
                </c:pt>
                <c:pt idx="1">
                  <c:v>3.2220381642546828E-3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21-E44F-BD94-27AD77194A89}"/>
            </c:ext>
          </c:extLst>
        </c:ser>
        <c:ser>
          <c:idx val="2"/>
          <c:order val="2"/>
          <c:tx>
            <c:strRef>
              <c:f>'Data On Demand Usage'!$CK$8</c:f>
              <c:strCache>
                <c:ptCount val="1"/>
                <c:pt idx="0">
                  <c:v>Preceding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5.167589852994446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21-E44F-BD94-27AD77194A89}"/>
                </c:ext>
              </c:extLst>
            </c:dLbl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strike="noStrike" kern="1200" baseline="0">
                    <a:solidFill>
                      <a:schemeClr val="bg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Usage'!$CQ$8,'Data On Demand Usage'!$CQ$16)</c:f>
              <c:numCache>
                <c:formatCode>0%</c:formatCode>
                <c:ptCount val="2"/>
                <c:pt idx="0">
                  <c:v>4.9587223263609682E-2</c:v>
                </c:pt>
                <c:pt idx="1">
                  <c:v>2.7279126253568851E-3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21-E44F-BD94-27AD77194A89}"/>
            </c:ext>
          </c:extLst>
        </c:ser>
        <c:ser>
          <c:idx val="3"/>
          <c:order val="3"/>
          <c:tx>
            <c:strRef>
              <c:f>'Data On Demand Usage'!$CK$9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Usage'!$CQ$9,'Data On Demand Usage'!$CQ$17)</c:f>
              <c:numCache>
                <c:formatCode>0%</c:formatCode>
                <c:ptCount val="2"/>
                <c:pt idx="0">
                  <c:v>8.8978446033963373E-5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21-E44F-BD94-27AD77194A8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defRPr>
                </a:pPr>
                <a:r>
                  <a:rPr lang="en-US" sz="800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6.4384043849887787E-2"/>
          <c:y val="0"/>
          <c:w val="0.89249266429961294"/>
          <c:h val="0.4285391295836374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Usage'!$CL$5</c:f>
              <c:strCache>
                <c:ptCount val="1"/>
                <c:pt idx="0">
                  <c:v>On Demand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Usage'!$CL$11,'Data On Demand Usage'!$CL$19)</c:f>
              <c:numCache>
                <c:formatCode>0%</c:formatCode>
                <c:ptCount val="2"/>
                <c:pt idx="0">
                  <c:v>0.22130794014486013</c:v>
                </c:pt>
                <c:pt idx="1">
                  <c:v>0.34471632885368869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69-2946-970C-B7B69218C4C0}"/>
            </c:ext>
          </c:extLst>
        </c:ser>
        <c:ser>
          <c:idx val="1"/>
          <c:order val="1"/>
          <c:tx>
            <c:strRef>
              <c:f>'Data On Demand Usage'!$CM$5</c:f>
              <c:strCache>
                <c:ptCount val="1"/>
                <c:pt idx="0">
                  <c:v>Reserved Instance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Usage'!$CM$11,'Data On Demand Usage'!$CM$19)</c:f>
              <c:numCache>
                <c:formatCode>0%</c:formatCode>
                <c:ptCount val="2"/>
                <c:pt idx="0">
                  <c:v>0</c:v>
                </c:pt>
                <c:pt idx="1">
                  <c:v>0.65528367114631125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69-2946-970C-B7B69218C4C0}"/>
            </c:ext>
          </c:extLst>
        </c:ser>
        <c:ser>
          <c:idx val="2"/>
          <c:order val="2"/>
          <c:tx>
            <c:strRef>
              <c:f>'Data On Demand Usage'!$CN$5</c:f>
              <c:strCache>
                <c:ptCount val="1"/>
                <c:pt idx="0">
                  <c:v>Spot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Usage'!$CN$11,'Data On Demand Usage'!$CN$19)</c:f>
              <c:numCache>
                <c:formatCode>0%</c:formatCode>
                <c:ptCount val="2"/>
                <c:pt idx="0">
                  <c:v>0.21738308219523422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69-2946-970C-B7B69218C4C0}"/>
            </c:ext>
          </c:extLst>
        </c:ser>
        <c:ser>
          <c:idx val="3"/>
          <c:order val="3"/>
          <c:tx>
            <c:strRef>
              <c:f>'Data On Demand Usage'!$CO$5</c:f>
              <c:strCache>
                <c:ptCount val="1"/>
                <c:pt idx="0">
                  <c:v>Savings Plan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Usage'!$CO$11,'Data On Demand Usage'!$CO$19)</c:f>
              <c:numCache>
                <c:formatCode>0%</c:formatCode>
                <c:ptCount val="2"/>
                <c:pt idx="0">
                  <c:v>0.56130897765990573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369-2946-970C-B7B69218C4C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defRPr>
                </a:pPr>
                <a:r>
                  <a:rPr lang="en-US" sz="800"/>
                  <a:t>% of Total vCPU Hours</a:t>
                </a:r>
              </a:p>
            </c:rich>
          </c:tx>
          <c:layout>
            <c:manualLayout>
              <c:xMode val="edge"/>
              <c:yMode val="edge"/>
              <c:x val="0.2874653689122193"/>
              <c:y val="0.60233897007804671"/>
            </c:manualLayout>
          </c:layout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3.6258354303650409E-4"/>
          <c:y val="0.78566094970565292"/>
          <c:w val="0.99163802978235982"/>
          <c:h val="0.15882797321189859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"/>
              <a:t> 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>
        <c:manualLayout>
          <c:layoutTarget val="inner"/>
          <c:xMode val="edge"/>
          <c:yMode val="edge"/>
          <c:x val="0.1125826483135402"/>
          <c:y val="0"/>
          <c:w val="0.88741735168645985"/>
          <c:h val="0.60630767017625586"/>
        </c:manualLayout>
      </c:layout>
      <c:lineChart>
        <c:grouping val="standard"/>
        <c:varyColors val="0"/>
        <c:ser>
          <c:idx val="0"/>
          <c:order val="0"/>
          <c:tx>
            <c:strRef>
              <c:f>'Data On Demand Usage'!$ED$18</c:f>
              <c:strCache>
                <c:ptCount val="1"/>
                <c:pt idx="0">
                  <c:v>EC2 vCPU Unit Cost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6.9764644120662439E-3"/>
                  <c:y val="-0.13692122649614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2D-A946-9D28-5296073D8ED8}"/>
                </c:ext>
              </c:extLst>
            </c:dLbl>
            <c:dLbl>
              <c:idx val="11"/>
              <c:layout>
                <c:manualLayout>
                  <c:x val="-1.8603905098843316E-2"/>
                  <c:y val="-0.13692122649614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2D-A946-9D28-5296073D8ED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On Demand Usage'!$EE$13:$EP$13</c:f>
              <c:numCache>
                <c:formatCode>mmm</c:formatCode>
                <c:ptCount val="12"/>
                <c:pt idx="0">
                  <c:v>45627</c:v>
                </c:pt>
                <c:pt idx="1">
                  <c:v>45597</c:v>
                </c:pt>
                <c:pt idx="2">
                  <c:v>45566</c:v>
                </c:pt>
                <c:pt idx="3">
                  <c:v>45536</c:v>
                </c:pt>
                <c:pt idx="4">
                  <c:v>45505</c:v>
                </c:pt>
                <c:pt idx="5">
                  <c:v>45474</c:v>
                </c:pt>
                <c:pt idx="6">
                  <c:v>45444</c:v>
                </c:pt>
                <c:pt idx="7">
                  <c:v>45413</c:v>
                </c:pt>
                <c:pt idx="8">
                  <c:v>45383</c:v>
                </c:pt>
                <c:pt idx="9">
                  <c:v>45352</c:v>
                </c:pt>
                <c:pt idx="10">
                  <c:v>45323</c:v>
                </c:pt>
                <c:pt idx="11">
                  <c:v>45292</c:v>
                </c:pt>
              </c:numCache>
            </c:numRef>
          </c:cat>
          <c:val>
            <c:numRef>
              <c:f>'Data On Demand Usage'!$EE$18:$EP$18</c:f>
              <c:numCache>
                <c:formatCode>_("$"* #,##0.00_);_("$"* \(#,##0.00\);_("$"* "-"??_);_(@_)</c:formatCode>
                <c:ptCount val="12"/>
                <c:pt idx="0">
                  <c:v>3.8201434084043015E-2</c:v>
                </c:pt>
                <c:pt idx="1">
                  <c:v>3.3846493567477071E-2</c:v>
                </c:pt>
                <c:pt idx="2">
                  <c:v>3.6693686151200486E-2</c:v>
                </c:pt>
                <c:pt idx="3">
                  <c:v>3.4195024078262685E-2</c:v>
                </c:pt>
                <c:pt idx="4">
                  <c:v>3.363051997120553E-2</c:v>
                </c:pt>
                <c:pt idx="5">
                  <c:v>3.7368383372284687E-2</c:v>
                </c:pt>
                <c:pt idx="6">
                  <c:v>4.2094191378184972E-2</c:v>
                </c:pt>
                <c:pt idx="7">
                  <c:v>3.6781488642093102E-2</c:v>
                </c:pt>
                <c:pt idx="8">
                  <c:v>3.5554549242988107E-2</c:v>
                </c:pt>
                <c:pt idx="9">
                  <c:v>3.6688737816785978E-2</c:v>
                </c:pt>
                <c:pt idx="10">
                  <c:v>3.8361650623065423E-2</c:v>
                </c:pt>
                <c:pt idx="11">
                  <c:v>4.2932359301052415E-2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92D-A946-9D28-5296073D8ED8}"/>
            </c:ext>
          </c:extLst>
        </c:ser>
        <c:ser>
          <c:idx val="1"/>
          <c:order val="1"/>
          <c:tx>
            <c:strRef>
              <c:f>'Data On Demand Usage'!$ED$19</c:f>
              <c:strCache>
                <c:ptCount val="1"/>
                <c:pt idx="0">
                  <c:v>RDS vCPU Unit Cost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-0.102690919872108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92D-A946-9D28-5296073D8ED8}"/>
                </c:ext>
              </c:extLst>
            </c:dLbl>
            <c:dLbl>
              <c:idx val="11"/>
              <c:layout>
                <c:manualLayout>
                  <c:x val="-1.1627440686777074E-2"/>
                  <c:y val="-0.154036379808162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92D-A946-9D28-5296073D8ED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'Data On Demand Usage'!$EE$19:$EP$19</c:f>
              <c:numCache>
                <c:formatCode>_("$"* #,##0.00_);_("$"* \(#,##0.00\);_("$"* "-"??_);_(@_)</c:formatCode>
                <c:ptCount val="12"/>
                <c:pt idx="0">
                  <c:v>0.13421557418190433</c:v>
                </c:pt>
                <c:pt idx="1">
                  <c:v>0.13473628783266425</c:v>
                </c:pt>
                <c:pt idx="2">
                  <c:v>0.13757346386032746</c:v>
                </c:pt>
                <c:pt idx="3">
                  <c:v>0.13544051624086584</c:v>
                </c:pt>
                <c:pt idx="4">
                  <c:v>0.12589514712314015</c:v>
                </c:pt>
                <c:pt idx="5">
                  <c:v>0.12798830853396176</c:v>
                </c:pt>
                <c:pt idx="6">
                  <c:v>0.1327732780938424</c:v>
                </c:pt>
                <c:pt idx="7">
                  <c:v>0.13005873907721852</c:v>
                </c:pt>
                <c:pt idx="8">
                  <c:v>0.12955071844904881</c:v>
                </c:pt>
                <c:pt idx="9">
                  <c:v>0.12912672144629014</c:v>
                </c:pt>
                <c:pt idx="10">
                  <c:v>0.13896924130193586</c:v>
                </c:pt>
                <c:pt idx="11">
                  <c:v>0.15039840182859845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2D-A946-9D28-5296073D8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3538992"/>
        <c:axId val="1858824912"/>
      </c:lineChart>
      <c:dateAx>
        <c:axId val="2123538992"/>
        <c:scaling>
          <c:orientation val="minMax"/>
        </c:scaling>
        <c:delete val="0"/>
        <c:axPos val="b"/>
        <c:numFmt formatCode="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mazon Ember" panose="020B0603020204020204" pitchFamily="34" charset="0"/>
              </a:defRPr>
            </a:pPr>
            <a:endParaRPr lang="ko-KR"/>
          </a:p>
        </c:txPr>
        <c:crossAx val="1858824912"/>
        <c:crosses val="autoZero"/>
        <c:auto val="0"/>
        <c:lblOffset val="100"/>
        <c:baseTimeUnit val="months"/>
      </c:dateAx>
      <c:valAx>
        <c:axId val="1858824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.0000" sourceLinked="0"/>
        <c:majorTickMark val="out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212353899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9508525830860512E-2"/>
          <c:y val="0"/>
          <c:w val="0.9006337179061078"/>
          <c:h val="0.4390669835902077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Usage'!$CK$6</c:f>
              <c:strCache>
                <c:ptCount val="1"/>
                <c:pt idx="0">
                  <c:v>Graviton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Usage'!$CQ$6,'Data On Demand Usage'!$CQ$14)</c:f>
              <c:numCache>
                <c:formatCode>0%</c:formatCode>
                <c:ptCount val="2"/>
                <c:pt idx="0">
                  <c:v>0.15956809023161794</c:v>
                </c:pt>
                <c:pt idx="1">
                  <c:v>0.99405004921038831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1-7941-A6C6-4A1AD2E54EC9}"/>
            </c:ext>
          </c:extLst>
        </c:ser>
        <c:ser>
          <c:idx val="1"/>
          <c:order val="1"/>
          <c:tx>
            <c:strRef>
              <c:f>'Data On Demand Usage'!$CK$7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Usage'!$CQ$7,'Data On Demand Usage'!$CQ$15)</c:f>
              <c:numCache>
                <c:formatCode>0%</c:formatCode>
                <c:ptCount val="2"/>
                <c:pt idx="0">
                  <c:v>0.79075570805873852</c:v>
                </c:pt>
                <c:pt idx="1">
                  <c:v>3.2220381642546828E-3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01-7941-A6C6-4A1AD2E54EC9}"/>
            </c:ext>
          </c:extLst>
        </c:ser>
        <c:ser>
          <c:idx val="2"/>
          <c:order val="2"/>
          <c:tx>
            <c:strRef>
              <c:f>'Data On Demand Usage'!$CK$8</c:f>
              <c:strCache>
                <c:ptCount val="1"/>
                <c:pt idx="0">
                  <c:v>Preceding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5.167589852994446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601-7941-A6C6-4A1AD2E54EC9}"/>
                </c:ext>
              </c:extLst>
            </c:dLbl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Usage'!$CQ$8,'Data On Demand Usage'!$CQ$16)</c:f>
              <c:numCache>
                <c:formatCode>0%</c:formatCode>
                <c:ptCount val="2"/>
                <c:pt idx="0">
                  <c:v>4.9587223263609682E-2</c:v>
                </c:pt>
                <c:pt idx="1">
                  <c:v>2.7279126253568851E-3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01-7941-A6C6-4A1AD2E54EC9}"/>
            </c:ext>
          </c:extLst>
        </c:ser>
        <c:ser>
          <c:idx val="3"/>
          <c:order val="3"/>
          <c:tx>
            <c:strRef>
              <c:f>'Data On Demand Usage'!$CK$9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Usage'!$CQ$9,'Data On Demand Usage'!$CQ$17)</c:f>
              <c:numCache>
                <c:formatCode>0%</c:formatCode>
                <c:ptCount val="2"/>
                <c:pt idx="0">
                  <c:v>8.8978446033963373E-5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01-7941-A6C6-4A1AD2E54EC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1075665935163874"/>
          <c:y val="0.69963990242032181"/>
          <c:w val="0.77848635690524037"/>
          <c:h val="0.11736687728741525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6.4384043849887787E-2"/>
          <c:y val="0"/>
          <c:w val="0.89249266429961294"/>
          <c:h val="0.4285391295836374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Usage'!$CL$5</c:f>
              <c:strCache>
                <c:ptCount val="1"/>
                <c:pt idx="0">
                  <c:v>On Demand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Usage'!$CL$11,'Data On Demand Usage'!$CL$19)</c:f>
              <c:numCache>
                <c:formatCode>0%</c:formatCode>
                <c:ptCount val="2"/>
                <c:pt idx="0">
                  <c:v>0.22130794014486013</c:v>
                </c:pt>
                <c:pt idx="1">
                  <c:v>0.34471632885368869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18-EE43-BAFE-40B9F2C875D4}"/>
            </c:ext>
          </c:extLst>
        </c:ser>
        <c:ser>
          <c:idx val="1"/>
          <c:order val="1"/>
          <c:tx>
            <c:strRef>
              <c:f>'Data On Demand Usage'!$CM$5</c:f>
              <c:strCache>
                <c:ptCount val="1"/>
                <c:pt idx="0">
                  <c:v>Reserved Instance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Usage'!$CM$11,'Data On Demand Usage'!$CM$19)</c:f>
              <c:numCache>
                <c:formatCode>0%</c:formatCode>
                <c:ptCount val="2"/>
                <c:pt idx="0">
                  <c:v>0</c:v>
                </c:pt>
                <c:pt idx="1">
                  <c:v>0.65528367114631125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18-EE43-BAFE-40B9F2C875D4}"/>
            </c:ext>
          </c:extLst>
        </c:ser>
        <c:ser>
          <c:idx val="2"/>
          <c:order val="2"/>
          <c:tx>
            <c:strRef>
              <c:f>'Data On Demand Usage'!$CN$5</c:f>
              <c:strCache>
                <c:ptCount val="1"/>
                <c:pt idx="0">
                  <c:v>Spot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Usage'!$CN$11,'Data On Demand Usage'!$CN$19)</c:f>
              <c:numCache>
                <c:formatCode>0%</c:formatCode>
                <c:ptCount val="2"/>
                <c:pt idx="0">
                  <c:v>0.21738308219523422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18-EE43-BAFE-40B9F2C875D4}"/>
            </c:ext>
          </c:extLst>
        </c:ser>
        <c:ser>
          <c:idx val="3"/>
          <c:order val="3"/>
          <c:tx>
            <c:strRef>
              <c:f>'Data On Demand Usage'!$CO$5</c:f>
              <c:strCache>
                <c:ptCount val="1"/>
                <c:pt idx="0">
                  <c:v>Savings Plan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Usage'!$CO$11,'Data On Demand Usage'!$CO$19)</c:f>
              <c:numCache>
                <c:formatCode>0%</c:formatCode>
                <c:ptCount val="2"/>
                <c:pt idx="0">
                  <c:v>0.56130897765990573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18-EE43-BAFE-40B9F2C875D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defRPr>
                </a:pPr>
                <a:r>
                  <a:rPr lang="en-US" sz="800"/>
                  <a:t>% of Total vCPU Hours</a:t>
                </a:r>
              </a:p>
            </c:rich>
          </c:tx>
          <c:layout>
            <c:manualLayout>
              <c:xMode val="edge"/>
              <c:yMode val="edge"/>
              <c:x val="0.2874653689122193"/>
              <c:y val="0.60233897007804671"/>
            </c:manualLayout>
          </c:layout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3.6271507728200648E-4"/>
          <c:y val="0.6620132519482701"/>
          <c:w val="0.99163802978235982"/>
          <c:h val="0.15882797321189859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9508525830860512E-2"/>
          <c:y val="0"/>
          <c:w val="0.9006337179061078"/>
          <c:h val="0.4390669835902077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Usage'!$CK$6</c:f>
              <c:strCache>
                <c:ptCount val="1"/>
                <c:pt idx="0">
                  <c:v>Graviton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Usage'!$CQ$6,'Data On Demand Usage'!$CQ$14)</c:f>
              <c:numCache>
                <c:formatCode>0%</c:formatCode>
                <c:ptCount val="2"/>
                <c:pt idx="0">
                  <c:v>0.89514726045740856</c:v>
                </c:pt>
                <c:pt idx="1">
                  <c:v>0.82376654021242646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46-5B47-9559-8DD2B9488244}"/>
            </c:ext>
          </c:extLst>
        </c:ser>
        <c:ser>
          <c:idx val="1"/>
          <c:order val="1"/>
          <c:tx>
            <c:strRef>
              <c:f>'Data On Demand Usage'!$CK$7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Usage'!$CQ$7,'Data On Demand Usage'!$CQ$15)</c:f>
              <c:numCache>
                <c:formatCode>0%</c:formatCode>
                <c:ptCount val="2"/>
                <c:pt idx="0">
                  <c:v>9.0635831632258579E-2</c:v>
                </c:pt>
                <c:pt idx="1">
                  <c:v>0.17432129470022287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46-5B47-9559-8DD2B9488244}"/>
            </c:ext>
          </c:extLst>
        </c:ser>
        <c:ser>
          <c:idx val="2"/>
          <c:order val="2"/>
          <c:tx>
            <c:strRef>
              <c:f>'Data On Demand Usage'!$CK$8</c:f>
              <c:strCache>
                <c:ptCount val="1"/>
                <c:pt idx="0">
                  <c:v>Preceding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Usage'!$CQ$8,'Data On Demand Usage'!$CQ$16)</c:f>
              <c:numCache>
                <c:formatCode>0%</c:formatCode>
                <c:ptCount val="2"/>
                <c:pt idx="0">
                  <c:v>1.4216907910332982E-2</c:v>
                </c:pt>
                <c:pt idx="1">
                  <c:v>1.912165087350728E-3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46-5B47-9559-8DD2B9488244}"/>
            </c:ext>
          </c:extLst>
        </c:ser>
        <c:ser>
          <c:idx val="3"/>
          <c:order val="3"/>
          <c:tx>
            <c:strRef>
              <c:f>'Data On Demand Usage'!$CK$9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Usage'!$CQ$9,'Data On Demand Usage'!$CQ$17)</c:f>
              <c:numCache>
                <c:formatCode>0%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846-5B47-9559-8DD2B948824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3231745918904525"/>
          <c:y val="0.68303463517386664"/>
          <c:w val="0.7353650816219095"/>
          <c:h val="0.11762397621715968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6.4384043849887787E-2"/>
          <c:y val="0"/>
          <c:w val="0.89249266429961294"/>
          <c:h val="0.4285391295836374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Usage'!$CL$5</c:f>
              <c:strCache>
                <c:ptCount val="1"/>
                <c:pt idx="0">
                  <c:v>On Demand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Usage'!$CL$11,'Data On Demand Usage'!$CL$19)</c:f>
              <c:numCache>
                <c:formatCode>0%</c:formatCode>
                <c:ptCount val="2"/>
                <c:pt idx="0">
                  <c:v>0.16862835750020666</c:v>
                </c:pt>
                <c:pt idx="1">
                  <c:v>0.15846184549115996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1-5348-ABD0-1EF3BAE3C02D}"/>
            </c:ext>
          </c:extLst>
        </c:ser>
        <c:ser>
          <c:idx val="1"/>
          <c:order val="1"/>
          <c:tx>
            <c:strRef>
              <c:f>'Data On Demand Usage'!$CM$5</c:f>
              <c:strCache>
                <c:ptCount val="1"/>
                <c:pt idx="0">
                  <c:v>Reserved Instance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291-5348-ABD0-1EF3BAE3C02D}"/>
                </c:ext>
              </c:extLst>
            </c:dLbl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Usage'!$CM$11,'Data On Demand Usage'!$CM$19)</c:f>
              <c:numCache>
                <c:formatCode>0%</c:formatCode>
                <c:ptCount val="2"/>
                <c:pt idx="0">
                  <c:v>0</c:v>
                </c:pt>
                <c:pt idx="1">
                  <c:v>0.84153815450883995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91-5348-ABD0-1EF3BAE3C02D}"/>
            </c:ext>
          </c:extLst>
        </c:ser>
        <c:ser>
          <c:idx val="2"/>
          <c:order val="2"/>
          <c:tx>
            <c:strRef>
              <c:f>'Data On Demand Usage'!$CN$5</c:f>
              <c:strCache>
                <c:ptCount val="1"/>
                <c:pt idx="0">
                  <c:v>Spot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Usage'!$CN$11,'Data On Demand Usage'!$CN$19)</c:f>
              <c:numCache>
                <c:formatCode>0%</c:formatCode>
                <c:ptCount val="2"/>
                <c:pt idx="0">
                  <c:v>7.1447489829800329E-2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91-5348-ABD0-1EF3BAE3C02D}"/>
            </c:ext>
          </c:extLst>
        </c:ser>
        <c:ser>
          <c:idx val="3"/>
          <c:order val="3"/>
          <c:tx>
            <c:strRef>
              <c:f>'Data On Demand Usage'!$CO$5</c:f>
              <c:strCache>
                <c:ptCount val="1"/>
                <c:pt idx="0">
                  <c:v>Savings Plan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Usage'!$CO$11,'Data On Demand Usage'!$CO$19)</c:f>
              <c:numCache>
                <c:formatCode>0%</c:formatCode>
                <c:ptCount val="2"/>
                <c:pt idx="0">
                  <c:v>0.75992415266999302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291-5348-ABD0-1EF3BAE3C02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3.624558003409519E-4"/>
          <c:y val="0.65746635366676098"/>
          <c:w val="0.99163802978235982"/>
          <c:h val="0.15882797321189859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"/>
              <a:t> 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>
        <c:manualLayout>
          <c:layoutTarget val="inner"/>
          <c:xMode val="edge"/>
          <c:yMode val="edge"/>
          <c:x val="0.1125826483135402"/>
          <c:y val="0"/>
          <c:w val="0.88741735168645985"/>
          <c:h val="0.60630767017625586"/>
        </c:manualLayout>
      </c:layout>
      <c:lineChart>
        <c:grouping val="standard"/>
        <c:varyColors val="0"/>
        <c:ser>
          <c:idx val="0"/>
          <c:order val="0"/>
          <c:tx>
            <c:strRef>
              <c:f>'Data On Demand Usage'!$ED$18</c:f>
              <c:strCache>
                <c:ptCount val="1"/>
                <c:pt idx="0">
                  <c:v>EC2 vCPU Unit Cost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6.9764644120662439E-3"/>
                  <c:y val="-0.13692122649614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DA-B649-B8E7-4DA1A601C393}"/>
                </c:ext>
              </c:extLst>
            </c:dLbl>
            <c:dLbl>
              <c:idx val="11"/>
              <c:layout>
                <c:manualLayout>
                  <c:x val="-1.8603905098843316E-2"/>
                  <c:y val="-0.13692122649614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DA-B649-B8E7-4DA1A601C3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On Demand Usage'!$EE$13:$EP$13</c:f>
              <c:numCache>
                <c:formatCode>mmm</c:formatCode>
                <c:ptCount val="12"/>
                <c:pt idx="0">
                  <c:v>45627</c:v>
                </c:pt>
                <c:pt idx="1">
                  <c:v>45597</c:v>
                </c:pt>
                <c:pt idx="2">
                  <c:v>45566</c:v>
                </c:pt>
                <c:pt idx="3">
                  <c:v>45536</c:v>
                </c:pt>
                <c:pt idx="4">
                  <c:v>45505</c:v>
                </c:pt>
                <c:pt idx="5">
                  <c:v>45474</c:v>
                </c:pt>
                <c:pt idx="6">
                  <c:v>45444</c:v>
                </c:pt>
                <c:pt idx="7">
                  <c:v>45413</c:v>
                </c:pt>
                <c:pt idx="8">
                  <c:v>45383</c:v>
                </c:pt>
                <c:pt idx="9">
                  <c:v>45352</c:v>
                </c:pt>
                <c:pt idx="10">
                  <c:v>45323</c:v>
                </c:pt>
                <c:pt idx="11">
                  <c:v>45292</c:v>
                </c:pt>
              </c:numCache>
            </c:numRef>
          </c:cat>
          <c:val>
            <c:numRef>
              <c:f>'Data On Demand Usage'!$EE$18:$EP$18</c:f>
              <c:numCache>
                <c:formatCode>_("$"* #,##0.00_);_("$"* \(#,##0.00\);_("$"* "-"??_);_(@_)</c:formatCode>
                <c:ptCount val="12"/>
                <c:pt idx="0">
                  <c:v>3.8201434084043015E-2</c:v>
                </c:pt>
                <c:pt idx="1">
                  <c:v>3.3846493567477071E-2</c:v>
                </c:pt>
                <c:pt idx="2">
                  <c:v>3.6693686151200486E-2</c:v>
                </c:pt>
                <c:pt idx="3">
                  <c:v>3.4195024078262685E-2</c:v>
                </c:pt>
                <c:pt idx="4">
                  <c:v>3.363051997120553E-2</c:v>
                </c:pt>
                <c:pt idx="5">
                  <c:v>3.7368383372284687E-2</c:v>
                </c:pt>
                <c:pt idx="6">
                  <c:v>4.2094191378184972E-2</c:v>
                </c:pt>
                <c:pt idx="7">
                  <c:v>3.6781488642093102E-2</c:v>
                </c:pt>
                <c:pt idx="8">
                  <c:v>3.5554549242988107E-2</c:v>
                </c:pt>
                <c:pt idx="9">
                  <c:v>3.6688737816785978E-2</c:v>
                </c:pt>
                <c:pt idx="10">
                  <c:v>3.8361650623065423E-2</c:v>
                </c:pt>
                <c:pt idx="11">
                  <c:v>4.2932359301052415E-2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BDA-B649-B8E7-4DA1A601C393}"/>
            </c:ext>
          </c:extLst>
        </c:ser>
        <c:ser>
          <c:idx val="1"/>
          <c:order val="1"/>
          <c:tx>
            <c:strRef>
              <c:f>'Data On Demand Usage'!$ED$19</c:f>
              <c:strCache>
                <c:ptCount val="1"/>
                <c:pt idx="0">
                  <c:v>RDS vCPU Unit Cost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-0.102690919872108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DA-B649-B8E7-4DA1A601C393}"/>
                </c:ext>
              </c:extLst>
            </c:dLbl>
            <c:dLbl>
              <c:idx val="11"/>
              <c:layout>
                <c:manualLayout>
                  <c:x val="-1.1627440686777074E-2"/>
                  <c:y val="-0.154036379808162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DA-B649-B8E7-4DA1A601C3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'Data On Demand Usage'!$EE$19:$EP$19</c:f>
              <c:numCache>
                <c:formatCode>_("$"* #,##0.00_);_("$"* \(#,##0.00\);_("$"* "-"??_);_(@_)</c:formatCode>
                <c:ptCount val="12"/>
                <c:pt idx="0">
                  <c:v>0.13421557418190433</c:v>
                </c:pt>
                <c:pt idx="1">
                  <c:v>0.13473628783266425</c:v>
                </c:pt>
                <c:pt idx="2">
                  <c:v>0.13757346386032746</c:v>
                </c:pt>
                <c:pt idx="3">
                  <c:v>0.13544051624086584</c:v>
                </c:pt>
                <c:pt idx="4">
                  <c:v>0.12589514712314015</c:v>
                </c:pt>
                <c:pt idx="5">
                  <c:v>0.12798830853396176</c:v>
                </c:pt>
                <c:pt idx="6">
                  <c:v>0.1327732780938424</c:v>
                </c:pt>
                <c:pt idx="7">
                  <c:v>0.13005873907721852</c:v>
                </c:pt>
                <c:pt idx="8">
                  <c:v>0.12955071844904881</c:v>
                </c:pt>
                <c:pt idx="9">
                  <c:v>0.12912672144629014</c:v>
                </c:pt>
                <c:pt idx="10">
                  <c:v>0.13896924130193586</c:v>
                </c:pt>
                <c:pt idx="11">
                  <c:v>0.15039840182859845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BDA-B649-B8E7-4DA1A601C3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3538992"/>
        <c:axId val="1858824912"/>
      </c:lineChart>
      <c:dateAx>
        <c:axId val="2123538992"/>
        <c:scaling>
          <c:orientation val="minMax"/>
        </c:scaling>
        <c:delete val="0"/>
        <c:axPos val="b"/>
        <c:numFmt formatCode="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mazon Ember" panose="020B0603020204020204" pitchFamily="34" charset="0"/>
              </a:defRPr>
            </a:pPr>
            <a:endParaRPr lang="ko-KR"/>
          </a:p>
        </c:txPr>
        <c:crossAx val="1858824912"/>
        <c:crosses val="autoZero"/>
        <c:auto val="0"/>
        <c:lblOffset val="100"/>
        <c:baseTimeUnit val="months"/>
      </c:dateAx>
      <c:valAx>
        <c:axId val="1858824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.0000" sourceLinked="0"/>
        <c:majorTickMark val="out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212353899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 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>
        <c:manualLayout>
          <c:layoutTarget val="inner"/>
          <c:xMode val="edge"/>
          <c:yMode val="edge"/>
          <c:x val="0.1125826483135402"/>
          <c:y val="0"/>
          <c:w val="0.88741735168645985"/>
          <c:h val="0.60630767017625586"/>
        </c:manualLayout>
      </c:layout>
      <c:lineChart>
        <c:grouping val="standard"/>
        <c:varyColors val="0"/>
        <c:ser>
          <c:idx val="0"/>
          <c:order val="0"/>
          <c:tx>
            <c:strRef>
              <c:f>'Data On Demand Usage'!$ED$18</c:f>
              <c:strCache>
                <c:ptCount val="1"/>
                <c:pt idx="0">
                  <c:v>EC2 vCPU Unit Cost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9.3740358398176557E-3"/>
                  <c:y val="-0.140841762746538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595-A949-8A1C-71D1F31B696E}"/>
                </c:ext>
              </c:extLst>
            </c:dLbl>
            <c:dLbl>
              <c:idx val="11"/>
              <c:layout>
                <c:manualLayout>
                  <c:x val="-2.5778598559498555E-2"/>
                  <c:y val="-0.115987334026561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95-A949-8A1C-71D1F31B69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On Demand Usage'!$EE$13:$EP$13</c:f>
              <c:numCache>
                <c:formatCode>mmm</c:formatCode>
                <c:ptCount val="12"/>
                <c:pt idx="0">
                  <c:v>45627</c:v>
                </c:pt>
                <c:pt idx="1">
                  <c:v>45597</c:v>
                </c:pt>
                <c:pt idx="2">
                  <c:v>45566</c:v>
                </c:pt>
                <c:pt idx="3">
                  <c:v>45536</c:v>
                </c:pt>
                <c:pt idx="4">
                  <c:v>45505</c:v>
                </c:pt>
                <c:pt idx="5">
                  <c:v>45474</c:v>
                </c:pt>
                <c:pt idx="6">
                  <c:v>45444</c:v>
                </c:pt>
                <c:pt idx="7">
                  <c:v>45413</c:v>
                </c:pt>
                <c:pt idx="8">
                  <c:v>45383</c:v>
                </c:pt>
                <c:pt idx="9">
                  <c:v>45352</c:v>
                </c:pt>
                <c:pt idx="10">
                  <c:v>45323</c:v>
                </c:pt>
                <c:pt idx="11">
                  <c:v>45292</c:v>
                </c:pt>
              </c:numCache>
            </c:numRef>
          </c:cat>
          <c:val>
            <c:numRef>
              <c:f>'Data On Demand Usage'!$EE$18:$EP$18</c:f>
              <c:numCache>
                <c:formatCode>_("$"* #,##0.00_);_("$"* \(#,##0.00\);_("$"* "-"??_);_(@_)</c:formatCode>
                <c:ptCount val="12"/>
                <c:pt idx="0">
                  <c:v>2.4136769294788429E-2</c:v>
                </c:pt>
                <c:pt idx="1">
                  <c:v>2.3158146781339657E-2</c:v>
                </c:pt>
                <c:pt idx="2">
                  <c:v>2.548813619496422E-2</c:v>
                </c:pt>
                <c:pt idx="3">
                  <c:v>2.4255104085588237E-2</c:v>
                </c:pt>
                <c:pt idx="4">
                  <c:v>2.2800786580875348E-2</c:v>
                </c:pt>
                <c:pt idx="5">
                  <c:v>2.3234340526212292E-2</c:v>
                </c:pt>
                <c:pt idx="6">
                  <c:v>2.170158981387791E-2</c:v>
                </c:pt>
                <c:pt idx="7">
                  <c:v>2.1590695621765989E-2</c:v>
                </c:pt>
                <c:pt idx="8">
                  <c:v>2.0773562523560923E-2</c:v>
                </c:pt>
                <c:pt idx="9">
                  <c:v>2.1259212331881695E-2</c:v>
                </c:pt>
                <c:pt idx="10">
                  <c:v>3.1272119413352867E-2</c:v>
                </c:pt>
                <c:pt idx="11">
                  <c:v>3.1257575297206575E-2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95-A949-8A1C-71D1F31B696E}"/>
            </c:ext>
          </c:extLst>
        </c:ser>
        <c:ser>
          <c:idx val="1"/>
          <c:order val="1"/>
          <c:tx>
            <c:strRef>
              <c:f>'Data On Demand Usage'!$ED$19</c:f>
              <c:strCache>
                <c:ptCount val="1"/>
                <c:pt idx="0">
                  <c:v>RDS vCPU Unit Cost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7.0305268798632426E-3"/>
                  <c:y val="-0.1491265723198641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95-A949-8A1C-71D1F31B696E}"/>
                </c:ext>
              </c:extLst>
            </c:dLbl>
            <c:dLbl>
              <c:idx val="11"/>
              <c:layout>
                <c:manualLayout>
                  <c:x val="-1.8748071679635311E-2"/>
                  <c:y val="-0.182265810613167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595-A949-8A1C-71D1F31B69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'Data On Demand Usage'!$EE$19:$EP$19</c:f>
              <c:numCache>
                <c:formatCode>_("$"* #,##0.00_);_("$"* \(#,##0.00\);_("$"* "-"??_);_(@_)</c:formatCode>
                <c:ptCount val="12"/>
                <c:pt idx="0">
                  <c:v>0.11346067315709171</c:v>
                </c:pt>
                <c:pt idx="1">
                  <c:v>0.11460534469502989</c:v>
                </c:pt>
                <c:pt idx="2">
                  <c:v>0.11527793967644641</c:v>
                </c:pt>
                <c:pt idx="3">
                  <c:v>0.11732303139218861</c:v>
                </c:pt>
                <c:pt idx="4">
                  <c:v>0.1181904672528872</c:v>
                </c:pt>
                <c:pt idx="5">
                  <c:v>0.11658615705165461</c:v>
                </c:pt>
                <c:pt idx="6">
                  <c:v>0.11522285842035103</c:v>
                </c:pt>
                <c:pt idx="7">
                  <c:v>0.11337728996687237</c:v>
                </c:pt>
                <c:pt idx="8">
                  <c:v>0.11597694224582838</c:v>
                </c:pt>
                <c:pt idx="9">
                  <c:v>0.11531243341500197</c:v>
                </c:pt>
                <c:pt idx="10">
                  <c:v>0.13361684934364043</c:v>
                </c:pt>
                <c:pt idx="11">
                  <c:v>0.12797588096359278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95-A949-8A1C-71D1F31B6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3538992"/>
        <c:axId val="1858824912"/>
      </c:lineChart>
      <c:dateAx>
        <c:axId val="2123538992"/>
        <c:scaling>
          <c:orientation val="minMax"/>
        </c:scaling>
        <c:delete val="0"/>
        <c:axPos val="b"/>
        <c:numFmt formatCode="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858824912"/>
        <c:crosses val="autoZero"/>
        <c:auto val="0"/>
        <c:lblOffset val="100"/>
        <c:baseTimeUnit val="months"/>
      </c:dateAx>
      <c:valAx>
        <c:axId val="1858824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.0000" sourceLinked="0"/>
        <c:majorTickMark val="out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212353899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9508525830860512E-2"/>
          <c:y val="0"/>
          <c:w val="0.9006337179061078"/>
          <c:h val="0.4390669835902077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Usage'!$CK$6</c:f>
              <c:strCache>
                <c:ptCount val="1"/>
                <c:pt idx="0">
                  <c:v>Graviton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Usage'!$CQ$6,'Data On Demand Usage'!$CQ$14)</c:f>
              <c:numCache>
                <c:formatCode>0%</c:formatCode>
                <c:ptCount val="2"/>
                <c:pt idx="0">
                  <c:v>0.15956809023161794</c:v>
                </c:pt>
                <c:pt idx="1">
                  <c:v>0.99405004921038831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1-7941-A6C6-4A1AD2E54EC9}"/>
            </c:ext>
          </c:extLst>
        </c:ser>
        <c:ser>
          <c:idx val="1"/>
          <c:order val="1"/>
          <c:tx>
            <c:strRef>
              <c:f>'Data On Demand Usage'!$CK$7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Usage'!$CQ$7,'Data On Demand Usage'!$CQ$15)</c:f>
              <c:numCache>
                <c:formatCode>0%</c:formatCode>
                <c:ptCount val="2"/>
                <c:pt idx="0">
                  <c:v>0.79075570805873852</c:v>
                </c:pt>
                <c:pt idx="1">
                  <c:v>3.2220381642546828E-3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01-7941-A6C6-4A1AD2E54EC9}"/>
            </c:ext>
          </c:extLst>
        </c:ser>
        <c:ser>
          <c:idx val="2"/>
          <c:order val="2"/>
          <c:tx>
            <c:strRef>
              <c:f>'Data On Demand Usage'!$CK$8</c:f>
              <c:strCache>
                <c:ptCount val="1"/>
                <c:pt idx="0">
                  <c:v>Preceding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5.167589852994446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601-7941-A6C6-4A1AD2E54EC9}"/>
                </c:ext>
              </c:extLst>
            </c:dLbl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Usage'!$CQ$8,'Data On Demand Usage'!$CQ$16)</c:f>
              <c:numCache>
                <c:formatCode>0%</c:formatCode>
                <c:ptCount val="2"/>
                <c:pt idx="0">
                  <c:v>4.9587223263609682E-2</c:v>
                </c:pt>
                <c:pt idx="1">
                  <c:v>2.7279126253568851E-3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01-7941-A6C6-4A1AD2E54EC9}"/>
            </c:ext>
          </c:extLst>
        </c:ser>
        <c:ser>
          <c:idx val="3"/>
          <c:order val="3"/>
          <c:tx>
            <c:strRef>
              <c:f>'Data On Demand Usage'!$CK$9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Usage'!$CQ$9,'Data On Demand Usage'!$CQ$17)</c:f>
              <c:numCache>
                <c:formatCode>0%</c:formatCode>
                <c:ptCount val="2"/>
                <c:pt idx="0">
                  <c:v>8.8978446033963373E-5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01-7941-A6C6-4A1AD2E54EC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9.8397343882544314E-2"/>
          <c:y val="0.65985876757417772"/>
          <c:w val="0.77848635690524037"/>
          <c:h val="0.11736687728741525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6.4384043849887787E-2"/>
          <c:y val="0"/>
          <c:w val="0.89249266429961294"/>
          <c:h val="0.4285391295836374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Usage'!$CL$5</c:f>
              <c:strCache>
                <c:ptCount val="1"/>
                <c:pt idx="0">
                  <c:v>On Demand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Usage'!$CL$11,'Data On Demand Usage'!$CL$19)</c:f>
              <c:numCache>
                <c:formatCode>0%</c:formatCode>
                <c:ptCount val="2"/>
                <c:pt idx="0">
                  <c:v>0.22130794014486013</c:v>
                </c:pt>
                <c:pt idx="1">
                  <c:v>0.34471632885368869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18-EE43-BAFE-40B9F2C875D4}"/>
            </c:ext>
          </c:extLst>
        </c:ser>
        <c:ser>
          <c:idx val="1"/>
          <c:order val="1"/>
          <c:tx>
            <c:strRef>
              <c:f>'Data On Demand Usage'!$CM$5</c:f>
              <c:strCache>
                <c:ptCount val="1"/>
                <c:pt idx="0">
                  <c:v>Reserved Instance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Usage'!$CM$11,'Data On Demand Usage'!$CM$19)</c:f>
              <c:numCache>
                <c:formatCode>0%</c:formatCode>
                <c:ptCount val="2"/>
                <c:pt idx="0">
                  <c:v>0</c:v>
                </c:pt>
                <c:pt idx="1">
                  <c:v>0.65528367114631125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18-EE43-BAFE-40B9F2C875D4}"/>
            </c:ext>
          </c:extLst>
        </c:ser>
        <c:ser>
          <c:idx val="2"/>
          <c:order val="2"/>
          <c:tx>
            <c:strRef>
              <c:f>'Data On Demand Usage'!$CN$5</c:f>
              <c:strCache>
                <c:ptCount val="1"/>
                <c:pt idx="0">
                  <c:v>Spot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Usage'!$CN$11,'Data On Demand Usage'!$CN$19)</c:f>
              <c:numCache>
                <c:formatCode>0%</c:formatCode>
                <c:ptCount val="2"/>
                <c:pt idx="0">
                  <c:v>0.21738308219523422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18-EE43-BAFE-40B9F2C875D4}"/>
            </c:ext>
          </c:extLst>
        </c:ser>
        <c:ser>
          <c:idx val="3"/>
          <c:order val="3"/>
          <c:tx>
            <c:strRef>
              <c:f>'Data On Demand Usage'!$CO$5</c:f>
              <c:strCache>
                <c:ptCount val="1"/>
                <c:pt idx="0">
                  <c:v>Savings Plan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strike="noStrike" kern="1200" baseline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Amazon Ember" panose="020B0603020204020204" pitchFamily="34" charset="0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Usage'!$CO$11,'Data On Demand Usage'!$CO$19)</c:f>
              <c:numCache>
                <c:formatCode>0%</c:formatCode>
                <c:ptCount val="2"/>
                <c:pt idx="0">
                  <c:v>0.56130897765990573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18-EE43-BAFE-40B9F2C875D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defRPr>
                </a:pPr>
                <a:r>
                  <a:rPr lang="en-US" sz="800"/>
                  <a:t>% of Total vCPU Hours</a:t>
                </a:r>
              </a:p>
            </c:rich>
          </c:tx>
          <c:layout>
            <c:manualLayout>
              <c:xMode val="edge"/>
              <c:yMode val="edge"/>
              <c:x val="0.2874653689122193"/>
              <c:y val="0.60233897007804671"/>
            </c:manualLayout>
          </c:layout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6620132519482701"/>
          <c:w val="0.99163802978235982"/>
          <c:h val="0.15882797321189859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0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"/>
              <a:t> 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>
        <c:manualLayout>
          <c:layoutTarget val="inner"/>
          <c:xMode val="edge"/>
          <c:yMode val="edge"/>
          <c:x val="0.1125826483135402"/>
          <c:y val="0"/>
          <c:w val="0.88741735168645985"/>
          <c:h val="0.60630767017625586"/>
        </c:manualLayout>
      </c:layout>
      <c:lineChart>
        <c:grouping val="standard"/>
        <c:varyColors val="0"/>
        <c:ser>
          <c:idx val="0"/>
          <c:order val="0"/>
          <c:tx>
            <c:strRef>
              <c:f>'Data On Demand Usage'!$ED$18</c:f>
              <c:strCache>
                <c:ptCount val="1"/>
                <c:pt idx="0">
                  <c:v>EC2 vCPU Unit Cost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6.9764644120662439E-3"/>
                  <c:y val="-0.13692122649614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DA-B649-B8E7-4DA1A601C393}"/>
                </c:ext>
              </c:extLst>
            </c:dLbl>
            <c:dLbl>
              <c:idx val="11"/>
              <c:layout>
                <c:manualLayout>
                  <c:x val="-1.8603905098843316E-2"/>
                  <c:y val="-0.136921226496144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DA-B649-B8E7-4DA1A601C3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On Demand Usage'!$EE$13:$EP$13</c:f>
              <c:numCache>
                <c:formatCode>mmm</c:formatCode>
                <c:ptCount val="12"/>
                <c:pt idx="0">
                  <c:v>45627</c:v>
                </c:pt>
                <c:pt idx="1">
                  <c:v>45597</c:v>
                </c:pt>
                <c:pt idx="2">
                  <c:v>45566</c:v>
                </c:pt>
                <c:pt idx="3">
                  <c:v>45536</c:v>
                </c:pt>
                <c:pt idx="4">
                  <c:v>45505</c:v>
                </c:pt>
                <c:pt idx="5">
                  <c:v>45474</c:v>
                </c:pt>
                <c:pt idx="6">
                  <c:v>45444</c:v>
                </c:pt>
                <c:pt idx="7">
                  <c:v>45413</c:v>
                </c:pt>
                <c:pt idx="8">
                  <c:v>45383</c:v>
                </c:pt>
                <c:pt idx="9">
                  <c:v>45352</c:v>
                </c:pt>
                <c:pt idx="10">
                  <c:v>45323</c:v>
                </c:pt>
                <c:pt idx="11">
                  <c:v>45292</c:v>
                </c:pt>
              </c:numCache>
            </c:numRef>
          </c:cat>
          <c:val>
            <c:numRef>
              <c:f>'Data On Demand Usage'!$EE$18:$EP$18</c:f>
              <c:numCache>
                <c:formatCode>_("$"* #,##0.00_);_("$"* \(#,##0.00\);_("$"* "-"??_);_(@_)</c:formatCode>
                <c:ptCount val="12"/>
                <c:pt idx="0">
                  <c:v>3.8201434084043015E-2</c:v>
                </c:pt>
                <c:pt idx="1">
                  <c:v>3.3846493567477071E-2</c:v>
                </c:pt>
                <c:pt idx="2">
                  <c:v>3.6693686151200486E-2</c:v>
                </c:pt>
                <c:pt idx="3">
                  <c:v>3.4195024078262685E-2</c:v>
                </c:pt>
                <c:pt idx="4">
                  <c:v>3.363051997120553E-2</c:v>
                </c:pt>
                <c:pt idx="5">
                  <c:v>3.7368383372284687E-2</c:v>
                </c:pt>
                <c:pt idx="6">
                  <c:v>4.2094191378184972E-2</c:v>
                </c:pt>
                <c:pt idx="7">
                  <c:v>3.6781488642093102E-2</c:v>
                </c:pt>
                <c:pt idx="8">
                  <c:v>3.5554549242988107E-2</c:v>
                </c:pt>
                <c:pt idx="9">
                  <c:v>3.6688737816785978E-2</c:v>
                </c:pt>
                <c:pt idx="10">
                  <c:v>3.8361650623065423E-2</c:v>
                </c:pt>
                <c:pt idx="11">
                  <c:v>4.2932359301052415E-2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BDA-B649-B8E7-4DA1A601C393}"/>
            </c:ext>
          </c:extLst>
        </c:ser>
        <c:ser>
          <c:idx val="1"/>
          <c:order val="1"/>
          <c:tx>
            <c:strRef>
              <c:f>'Data On Demand Usage'!$ED$19</c:f>
              <c:strCache>
                <c:ptCount val="1"/>
                <c:pt idx="0">
                  <c:v>RDS vCPU Unit Cost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0"/>
                  <c:y val="-0.1026909198721080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DA-B649-B8E7-4DA1A601C393}"/>
                </c:ext>
              </c:extLst>
            </c:dLbl>
            <c:dLbl>
              <c:idx val="11"/>
              <c:layout>
                <c:manualLayout>
                  <c:x val="-1.1627440686777074E-2"/>
                  <c:y val="-0.154036379808162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DA-B649-B8E7-4DA1A601C3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'Data On Demand Usage'!$EE$19:$EP$19</c:f>
              <c:numCache>
                <c:formatCode>_("$"* #,##0.00_);_("$"* \(#,##0.00\);_("$"* "-"??_);_(@_)</c:formatCode>
                <c:ptCount val="12"/>
                <c:pt idx="0">
                  <c:v>0.13421557418190433</c:v>
                </c:pt>
                <c:pt idx="1">
                  <c:v>0.13473628783266425</c:v>
                </c:pt>
                <c:pt idx="2">
                  <c:v>0.13757346386032746</c:v>
                </c:pt>
                <c:pt idx="3">
                  <c:v>0.13544051624086584</c:v>
                </c:pt>
                <c:pt idx="4">
                  <c:v>0.12589514712314015</c:v>
                </c:pt>
                <c:pt idx="5">
                  <c:v>0.12798830853396176</c:v>
                </c:pt>
                <c:pt idx="6">
                  <c:v>0.1327732780938424</c:v>
                </c:pt>
                <c:pt idx="7">
                  <c:v>0.13005873907721852</c:v>
                </c:pt>
                <c:pt idx="8">
                  <c:v>0.12955071844904881</c:v>
                </c:pt>
                <c:pt idx="9">
                  <c:v>0.12912672144629014</c:v>
                </c:pt>
                <c:pt idx="10">
                  <c:v>0.13896924130193586</c:v>
                </c:pt>
                <c:pt idx="11">
                  <c:v>0.15039840182859845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BDA-B649-B8E7-4DA1A601C3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3538992"/>
        <c:axId val="1858824912"/>
      </c:lineChart>
      <c:dateAx>
        <c:axId val="2123538992"/>
        <c:scaling>
          <c:orientation val="minMax"/>
        </c:scaling>
        <c:delete val="0"/>
        <c:axPos val="b"/>
        <c:numFmt formatCode="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Amazon Ember" panose="020B0603020204020204" pitchFamily="34" charset="0"/>
              </a:defRPr>
            </a:pPr>
            <a:endParaRPr lang="ko-KR"/>
          </a:p>
        </c:txPr>
        <c:crossAx val="1858824912"/>
        <c:crosses val="autoZero"/>
        <c:auto val="0"/>
        <c:lblOffset val="100"/>
        <c:baseTimeUnit val="months"/>
      </c:dateAx>
      <c:valAx>
        <c:axId val="1858824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.0000" sourceLinked="0"/>
        <c:majorTickMark val="out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pPr>
            <a:endParaRPr lang="ko-KR"/>
          </a:p>
        </c:txPr>
        <c:crossAx val="212353899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mazon Ember" panose="020B0603020204020204" pitchFamily="34" charset="0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9508525830860512E-2"/>
          <c:y val="0"/>
          <c:w val="0.9006337179061078"/>
          <c:h val="0.4390669835902077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Usage'!$CK$6</c:f>
              <c:strCache>
                <c:ptCount val="1"/>
                <c:pt idx="0">
                  <c:v>Graviton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9189629896450017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6D-D54D-BF88-4DF455660A1C}"/>
                </c:ext>
              </c:extLst>
            </c:dLbl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Usage'!$CQ$6,'Data On Demand Usage'!$CQ$14)</c:f>
              <c:numCache>
                <c:formatCode>0%</c:formatCode>
                <c:ptCount val="2"/>
                <c:pt idx="0">
                  <c:v>2.0705432563446265E-2</c:v>
                </c:pt>
                <c:pt idx="1">
                  <c:v>0.74815095649598362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D-D54D-BF88-4DF455660A1C}"/>
            </c:ext>
          </c:extLst>
        </c:ser>
        <c:ser>
          <c:idx val="1"/>
          <c:order val="1"/>
          <c:tx>
            <c:strRef>
              <c:f>'Data On Demand Usage'!$CK$7</c:f>
              <c:strCache>
                <c:ptCount val="1"/>
                <c:pt idx="0">
                  <c:v>Latest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Usage'!$CQ$7,'Data On Demand Usage'!$CQ$15)</c:f>
              <c:numCache>
                <c:formatCode>0%</c:formatCode>
                <c:ptCount val="2"/>
                <c:pt idx="0">
                  <c:v>0.87839379422706632</c:v>
                </c:pt>
                <c:pt idx="1">
                  <c:v>0.10881496470139665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6D-D54D-BF88-4DF455660A1C}"/>
            </c:ext>
          </c:extLst>
        </c:ser>
        <c:ser>
          <c:idx val="2"/>
          <c:order val="2"/>
          <c:tx>
            <c:strRef>
              <c:f>'Data On Demand Usage'!$CK$8</c:f>
              <c:strCache>
                <c:ptCount val="1"/>
                <c:pt idx="0">
                  <c:v>Preceding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Usage'!$CQ$8,'Data On Demand Usage'!$CQ$16)</c:f>
              <c:numCache>
                <c:formatCode>0%</c:formatCode>
                <c:ptCount val="2"/>
                <c:pt idx="0">
                  <c:v>9.9196644737506556E-2</c:v>
                </c:pt>
                <c:pt idx="1">
                  <c:v>0.14303407880261976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6D-D54D-BF88-4DF455660A1C}"/>
            </c:ext>
          </c:extLst>
        </c:ser>
        <c:ser>
          <c:idx val="3"/>
          <c:order val="3"/>
          <c:tx>
            <c:strRef>
              <c:f>'Data On Demand Usage'!$CK$9</c:f>
              <c:strCache>
                <c:ptCount val="1"/>
                <c:pt idx="0">
                  <c:v>Previous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delete val="1"/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Usage'!$CQ$9,'Data On Demand Usage'!$CQ$17)</c:f>
              <c:numCache>
                <c:formatCode>0%</c:formatCode>
                <c:ptCount val="2"/>
                <c:pt idx="0">
                  <c:v>1.704128471980926E-3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6D-D54D-BF88-4DF455660A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168056822414462"/>
          <c:y val="0.67848657435255733"/>
          <c:w val="0.7745869071665159"/>
          <c:h val="0.12563262256967986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6.4384043849887787E-2"/>
          <c:y val="0"/>
          <c:w val="0.89249266429961294"/>
          <c:h val="0.4285391295836374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'Data On Demand Usage'!$CL$5</c:f>
              <c:strCache>
                <c:ptCount val="1"/>
                <c:pt idx="0">
                  <c:v>On Demand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Usage'!$CL$11,'Data On Demand Usage'!$CL$19)</c:f>
              <c:numCache>
                <c:formatCode>0%</c:formatCode>
                <c:ptCount val="2"/>
                <c:pt idx="0">
                  <c:v>0.33519764572630412</c:v>
                </c:pt>
                <c:pt idx="1">
                  <c:v>0.20533526835767729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4A-6642-A281-C154E44B3C63}"/>
            </c:ext>
          </c:extLst>
        </c:ser>
        <c:ser>
          <c:idx val="1"/>
          <c:order val="1"/>
          <c:tx>
            <c:strRef>
              <c:f>'Data On Demand Usage'!$CM$5</c:f>
              <c:strCache>
                <c:ptCount val="1"/>
                <c:pt idx="0">
                  <c:v>Reserved Instance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Usage'!$CM$11,'Data On Demand Usage'!$CM$19)</c:f>
              <c:numCache>
                <c:formatCode>0%</c:formatCode>
                <c:ptCount val="2"/>
                <c:pt idx="0">
                  <c:v>0</c:v>
                </c:pt>
                <c:pt idx="1">
                  <c:v>0.79466473164232276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4A-6642-A281-C154E44B3C63}"/>
            </c:ext>
          </c:extLst>
        </c:ser>
        <c:ser>
          <c:idx val="2"/>
          <c:order val="2"/>
          <c:tx>
            <c:strRef>
              <c:f>'Data On Demand Usage'!$CN$5</c:f>
              <c:strCache>
                <c:ptCount val="1"/>
                <c:pt idx="0">
                  <c:v>Spot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/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Usage'!$CN$11,'Data On Demand Usage'!$CN$19)</c:f>
              <c:numCache>
                <c:formatCode>0%</c:formatCode>
                <c:ptCount val="2"/>
                <c:pt idx="0">
                  <c:v>2.2160853173998018E-3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4A-6642-A281-C154E44B3C63}"/>
            </c:ext>
          </c:extLst>
        </c:ser>
        <c:ser>
          <c:idx val="3"/>
          <c:order val="3"/>
          <c:tx>
            <c:strRef>
              <c:f>'Data On Demand Usage'!$CO$5</c:f>
              <c:strCache>
                <c:ptCount val="1"/>
                <c:pt idx="0">
                  <c:v>Savings Plan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  <a:prstDash val="solid"/>
              </a:ln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EC2</c:v>
              </c:pt>
              <c:pt idx="1">
                <c:v>RDS</c:v>
              </c:pt>
            </c:strLit>
          </c:cat>
          <c:val>
            <c:numRef>
              <c:f>('Data On Demand Usage'!$CO$11,'Data On Demand Usage'!$CO$19)</c:f>
              <c:numCache>
                <c:formatCode>0%</c:formatCode>
                <c:ptCount val="2"/>
                <c:pt idx="0">
                  <c:v>0.66258626895629602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4A-6642-A281-C154E44B3C6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729809552"/>
        <c:axId val="673672416"/>
      </c:barChart>
      <c:catAx>
        <c:axId val="729809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3672416"/>
        <c:crosses val="autoZero"/>
        <c:auto val="1"/>
        <c:lblAlgn val="ctr"/>
        <c:lblOffset val="100"/>
        <c:noMultiLvlLbl val="0"/>
      </c:catAx>
      <c:valAx>
        <c:axId val="6736724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% of Total vCPU Hours</a:t>
                </a:r>
              </a:p>
            </c:rich>
          </c:tx>
          <c:overlay val="0"/>
          <c:spPr>
            <a:noFill/>
            <a:ln>
              <a:noFill/>
              <a:prstDash val="solid"/>
            </a:ln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7298095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8.3620798314762209E-3"/>
          <c:y val="0.63932794432438522"/>
          <c:w val="0.99163802978235982"/>
          <c:h val="0.15882797321189859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 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>
        <c:manualLayout>
          <c:layoutTarget val="inner"/>
          <c:xMode val="edge"/>
          <c:yMode val="edge"/>
          <c:x val="0.1125826483135402"/>
          <c:y val="0"/>
          <c:w val="0.88741735168645985"/>
          <c:h val="0.60630767017625586"/>
        </c:manualLayout>
      </c:layout>
      <c:lineChart>
        <c:grouping val="standard"/>
        <c:varyColors val="0"/>
        <c:ser>
          <c:idx val="0"/>
          <c:order val="0"/>
          <c:tx>
            <c:strRef>
              <c:f>'Data On Demand Usage'!$ED$18</c:f>
              <c:strCache>
                <c:ptCount val="1"/>
                <c:pt idx="0">
                  <c:v>EC2 vCPU Unit Cost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2.3943362447456356E-3"/>
                  <c:y val="-0.1326097838872049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7B6-9F45-AB67-56EBF16A8C8E}"/>
                </c:ext>
              </c:extLst>
            </c:dLbl>
            <c:dLbl>
              <c:idx val="11"/>
              <c:layout>
                <c:manualLayout>
                  <c:x val="-3.8309379915930343E-2"/>
                  <c:y val="-0.1014074817960978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7B6-9F45-AB67-56EBF16A8C8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On Demand Usage'!$EE$13:$EP$13</c:f>
              <c:numCache>
                <c:formatCode>mmm</c:formatCode>
                <c:ptCount val="12"/>
                <c:pt idx="0">
                  <c:v>45627</c:v>
                </c:pt>
                <c:pt idx="1">
                  <c:v>45597</c:v>
                </c:pt>
                <c:pt idx="2">
                  <c:v>45566</c:v>
                </c:pt>
                <c:pt idx="3">
                  <c:v>45536</c:v>
                </c:pt>
                <c:pt idx="4">
                  <c:v>45505</c:v>
                </c:pt>
                <c:pt idx="5">
                  <c:v>45474</c:v>
                </c:pt>
                <c:pt idx="6">
                  <c:v>45444</c:v>
                </c:pt>
                <c:pt idx="7">
                  <c:v>45413</c:v>
                </c:pt>
                <c:pt idx="8">
                  <c:v>45383</c:v>
                </c:pt>
                <c:pt idx="9">
                  <c:v>45352</c:v>
                </c:pt>
                <c:pt idx="10">
                  <c:v>45323</c:v>
                </c:pt>
                <c:pt idx="11">
                  <c:v>45292</c:v>
                </c:pt>
              </c:numCache>
            </c:numRef>
          </c:cat>
          <c:val>
            <c:numRef>
              <c:f>'Data On Demand Usage'!$EE$18:$EP$18</c:f>
              <c:numCache>
                <c:formatCode>_("$"* #,##0.00_);_("$"* \(#,##0.00\);_("$"* "-"??_);_(@_)</c:formatCode>
                <c:ptCount val="12"/>
                <c:pt idx="0">
                  <c:v>3.7336664860436249E-2</c:v>
                </c:pt>
                <c:pt idx="1">
                  <c:v>3.7364160752738282E-2</c:v>
                </c:pt>
                <c:pt idx="2">
                  <c:v>3.8452276423253134E-2</c:v>
                </c:pt>
                <c:pt idx="3">
                  <c:v>3.7702708088110111E-2</c:v>
                </c:pt>
                <c:pt idx="4">
                  <c:v>3.7745310090214569E-2</c:v>
                </c:pt>
                <c:pt idx="5">
                  <c:v>3.668373979315559E-2</c:v>
                </c:pt>
                <c:pt idx="6">
                  <c:v>3.7346771343648652E-2</c:v>
                </c:pt>
                <c:pt idx="7">
                  <c:v>3.3439462554288216E-2</c:v>
                </c:pt>
                <c:pt idx="8">
                  <c:v>3.389469159351885E-2</c:v>
                </c:pt>
                <c:pt idx="9">
                  <c:v>3.3342683905698299E-2</c:v>
                </c:pt>
                <c:pt idx="10">
                  <c:v>3.3389923125429273E-2</c:v>
                </c:pt>
                <c:pt idx="11">
                  <c:v>3.2339108444190877E-2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7B6-9F45-AB67-56EBF16A8C8E}"/>
            </c:ext>
          </c:extLst>
        </c:ser>
        <c:ser>
          <c:idx val="1"/>
          <c:order val="1"/>
          <c:tx>
            <c:strRef>
              <c:f>'Data On Demand Usage'!$ED$19</c:f>
              <c:strCache>
                <c:ptCount val="1"/>
                <c:pt idx="0">
                  <c:v>RDS vCPU Unit Cost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9.5773449789826291E-3"/>
                  <c:y val="-0.117008632841651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7B6-9F45-AB67-56EBF16A8C8E}"/>
                </c:ext>
              </c:extLst>
            </c:dLbl>
            <c:dLbl>
              <c:idx val="11"/>
              <c:layout>
                <c:manualLayout>
                  <c:x val="-4.5492388650167491E-2"/>
                  <c:y val="-0.1638120859783119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7B6-9F45-AB67-56EBF16A8C8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'Data On Demand Usage'!$EE$19:$EP$19</c:f>
              <c:numCache>
                <c:formatCode>_("$"* #,##0.00_);_("$"* \(#,##0.00\);_("$"* "-"??_);_(@_)</c:formatCode>
                <c:ptCount val="12"/>
                <c:pt idx="0">
                  <c:v>8.8198569248530409E-2</c:v>
                </c:pt>
                <c:pt idx="1">
                  <c:v>8.6609469364477318E-2</c:v>
                </c:pt>
                <c:pt idx="2">
                  <c:v>8.5198869147389167E-2</c:v>
                </c:pt>
                <c:pt idx="3">
                  <c:v>8.4326478841709421E-2</c:v>
                </c:pt>
                <c:pt idx="4">
                  <c:v>0.11095645814041198</c:v>
                </c:pt>
                <c:pt idx="5">
                  <c:v>0.11234276153017014</c:v>
                </c:pt>
                <c:pt idx="6">
                  <c:v>0.12510230706970812</c:v>
                </c:pt>
                <c:pt idx="7">
                  <c:v>0.12341478780268372</c:v>
                </c:pt>
                <c:pt idx="8">
                  <c:v>0.11451270861503143</c:v>
                </c:pt>
                <c:pt idx="9">
                  <c:v>0.10926924888354428</c:v>
                </c:pt>
                <c:pt idx="10">
                  <c:v>0.10446219313688737</c:v>
                </c:pt>
                <c:pt idx="11">
                  <c:v>0.10387881593643862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7B6-9F45-AB67-56EBF16A8C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3538992"/>
        <c:axId val="1858824912"/>
      </c:lineChart>
      <c:dateAx>
        <c:axId val="2123538992"/>
        <c:scaling>
          <c:orientation val="minMax"/>
        </c:scaling>
        <c:delete val="0"/>
        <c:axPos val="b"/>
        <c:numFmt formatCode="m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858824912"/>
        <c:crosses val="autoZero"/>
        <c:auto val="0"/>
        <c:lblOffset val="100"/>
        <c:baseTimeUnit val="months"/>
      </c:dateAx>
      <c:valAx>
        <c:axId val="1858824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.0000" sourceLinked="0"/>
        <c:majorTickMark val="out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2123538992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DD-8846-A873-824EB820E599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BDD-8846-A873-824EB820E599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BDD-8846-A873-824EB820E599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BDD-8846-A873-824EB820E599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173989424438612E-2"/>
                  <c:y val="-0.20403050617538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DD-8846-A873-824EB820E599}"/>
                </c:ext>
              </c:extLst>
            </c:dLbl>
            <c:dLbl>
              <c:idx val="6"/>
              <c:layout>
                <c:manualLayout>
                  <c:x val="-8.388400621730617E-2"/>
                  <c:y val="-9.563929976971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BDD-8846-A873-824EB820E599}"/>
                </c:ext>
              </c:extLst>
            </c:dLbl>
            <c:dLbl>
              <c:idx val="7"/>
              <c:layout>
                <c:manualLayout>
                  <c:x val="-9.0685412126818316E-3"/>
                  <c:y val="-8.2887393133750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BDD-8846-A873-824EB820E599}"/>
                </c:ext>
              </c:extLst>
            </c:dLbl>
            <c:dLbl>
              <c:idx val="11"/>
              <c:layout>
                <c:manualLayout>
                  <c:x val="0"/>
                  <c:y val="-0.197654552857406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DD-8846-A873-824EB820E5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3543696.6166206747</c:v>
                </c:pt>
                <c:pt idx="1">
                  <c:v>4156254.7217367492</c:v>
                </c:pt>
                <c:pt idx="2">
                  <c:v>3409838.397346104</c:v>
                </c:pt>
                <c:pt idx="3">
                  <c:v>3543563.0803490374</c:v>
                </c:pt>
                <c:pt idx="4">
                  <c:v>3876882.2209684411</c:v>
                </c:pt>
                <c:pt idx="5">
                  <c:v>4697358.069809854</c:v>
                </c:pt>
                <c:pt idx="6">
                  <c:v>7494071.6264680689</c:v>
                </c:pt>
                <c:pt idx="7">
                  <c:v>7914258.1779676499</c:v>
                </c:pt>
                <c:pt idx="8">
                  <c:v>6031799.2174587399</c:v>
                </c:pt>
                <c:pt idx="9">
                  <c:v>6916011.4229366379</c:v>
                </c:pt>
                <c:pt idx="10">
                  <c:v>6937834.7311751572</c:v>
                </c:pt>
                <c:pt idx="11">
                  <c:v>5109947.4581459761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1BDD-8846-A873-824EB820E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8137082425363518E-2"/>
                  <c:y val="-0.178526692903463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55-7A4B-B933-5EAB9A2476DC}"/>
                </c:ext>
              </c:extLst>
            </c:dLbl>
            <c:dLbl>
              <c:idx val="6"/>
              <c:layout>
                <c:manualLayout>
                  <c:x val="-2.947275894121568E-2"/>
                  <c:y val="-0.1020152530876934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55-7A4B-B933-5EAB9A2476DC}"/>
                </c:ext>
              </c:extLst>
            </c:dLbl>
            <c:dLbl>
              <c:idx val="11"/>
              <c:layout>
                <c:manualLayout>
                  <c:x val="-6.8014059095113108E-3"/>
                  <c:y val="-8.92633464517317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55-7A4B-B933-5EAB9A247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55-7A4B-B933-5EAB9A2476DC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0781833538881247E-17"/>
                  <c:y val="-0.10839120640567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055-7A4B-B933-5EAB9A2476DC}"/>
                </c:ext>
              </c:extLst>
            </c:dLbl>
            <c:dLbl>
              <c:idx val="6"/>
              <c:layout>
                <c:manualLayout>
                  <c:x val="2.2671353031704287E-2"/>
                  <c:y val="-5.100762654384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55-7A4B-B933-5EAB9A2476DC}"/>
                </c:ext>
              </c:extLst>
            </c:dLbl>
            <c:dLbl>
              <c:idx val="11"/>
              <c:layout>
                <c:manualLayout>
                  <c:x val="-1.5869947122193227E-2"/>
                  <c:y val="-8.92633464517317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055-7A4B-B933-5EAB9A247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8055-7A4B-B933-5EAB9A2476DC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2671353031704163E-3"/>
                  <c:y val="-7.651143981577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055-7A4B-B933-5EAB9A2476DC}"/>
                </c:ext>
              </c:extLst>
            </c:dLbl>
            <c:dLbl>
              <c:idx val="6"/>
              <c:layout>
                <c:manualLayout>
                  <c:x val="0"/>
                  <c:y val="-8.9263346451731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55-7A4B-B933-5EAB9A2476DC}"/>
                </c:ext>
              </c:extLst>
            </c:dLbl>
            <c:dLbl>
              <c:idx val="11"/>
              <c:layout>
                <c:manualLayout>
                  <c:x val="-4.5342706063408907E-2"/>
                  <c:y val="-0.102015253087693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055-7A4B-B933-5EAB9A247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8055-7A4B-B933-5EAB9A2476DC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C-8055-7A4B-B933-5EAB9A247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 Data Transfer'!$AA$5</c:f>
              <c:strCache>
                <c:ptCount val="1"/>
                <c:pt idx="0">
                  <c:v> CloudFront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'Data Data Transfer'!$Z$6:$Z$18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Transfer'!$AA$6:$AA$18</c:f>
              <c:numCache>
                <c:formatCode>_("$"* #,##0.00_);_("$"* \(#,##0.00\);_("$"* "-"??_);_(@_)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3-F14F-AF3F-D0EC4B817E92}"/>
            </c:ext>
          </c:extLst>
        </c:ser>
        <c:ser>
          <c:idx val="1"/>
          <c:order val="1"/>
          <c:tx>
            <c:strRef>
              <c:f>'Data Data Transfer'!$AB$5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'Data Data Transfer'!$Z$6:$Z$18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Transfer'!$AB$6:$AB$18</c:f>
              <c:numCache>
                <c:formatCode>_("$"* #,##0.00_);_("$"* \(#,##0.00\);_("$"* "-"??_);_(@_)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63-F14F-AF3F-D0EC4B817E92}"/>
            </c:ext>
          </c:extLst>
        </c:ser>
        <c:ser>
          <c:idx val="2"/>
          <c:order val="2"/>
          <c:tx>
            <c:strRef>
              <c:f>'Data Data Transfer'!$AC$5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463-F14F-AF3F-D0EC4B817E92}"/>
                </c:ext>
              </c:extLst>
            </c:dLbl>
            <c:dLbl>
              <c:idx val="6"/>
              <c:layout>
                <c:manualLayout>
                  <c:x val="-2.0675998421894923E-2"/>
                  <c:y val="7.37109578593873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463-F14F-AF3F-D0EC4B817E92}"/>
                </c:ext>
              </c:extLst>
            </c:dLbl>
            <c:dLbl>
              <c:idx val="7"/>
              <c:layout>
                <c:manualLayout>
                  <c:x val="1.3783998947929949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463-F14F-AF3F-D0EC4B817E92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463-F14F-AF3F-D0EC4B817E9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Transfer'!$Z$6:$Z$18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Transfer'!$AC$6:$AC$18</c:f>
              <c:numCache>
                <c:formatCode>_("$"* #,##0.00_);_("$"* \(#,##0.00\);_("$"* "-"??_);_(@_)</c:formatCode>
                <c:ptCount val="13"/>
                <c:pt idx="0">
                  <c:v>5416.4308785569001</c:v>
                </c:pt>
                <c:pt idx="1">
                  <c:v>7933.5628710975998</c:v>
                </c:pt>
                <c:pt idx="2">
                  <c:v>7030.4203156836011</c:v>
                </c:pt>
                <c:pt idx="3">
                  <c:v>6210.4667069857005</c:v>
                </c:pt>
                <c:pt idx="4">
                  <c:v>6796.1941526660003</c:v>
                </c:pt>
                <c:pt idx="5">
                  <c:v>8517.3672772350001</c:v>
                </c:pt>
                <c:pt idx="6">
                  <c:v>9640.2813529846972</c:v>
                </c:pt>
                <c:pt idx="7">
                  <c:v>6911.6366051358009</c:v>
                </c:pt>
                <c:pt idx="8">
                  <c:v>7573.8049931912992</c:v>
                </c:pt>
                <c:pt idx="9">
                  <c:v>7306.8532661767003</c:v>
                </c:pt>
                <c:pt idx="10">
                  <c:v>7866.1854740980998</c:v>
                </c:pt>
                <c:pt idx="11">
                  <c:v>7002.4495918466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63-F14F-AF3F-D0EC4B817E92}"/>
            </c:ext>
          </c:extLst>
        </c:ser>
        <c:ser>
          <c:idx val="3"/>
          <c:order val="3"/>
          <c:tx>
            <c:strRef>
              <c:f>'Data Data Transfer'!$AD$5</c:f>
              <c:strCache>
                <c:ptCount val="1"/>
                <c:pt idx="0">
                  <c:v> Region-Region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Data Transfer'!$Z$6:$Z$18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Transfer'!$AD$6:$AD$18</c:f>
              <c:numCache>
                <c:formatCode>_("$"* #,##0.00_);_("$"* \(#,##0.00\);_("$"* "-"??_);_(@_)</c:formatCode>
                <c:ptCount val="13"/>
                <c:pt idx="0">
                  <c:v>1516.5323087415027</c:v>
                </c:pt>
                <c:pt idx="1">
                  <c:v>1642.139458673199</c:v>
                </c:pt>
                <c:pt idx="2">
                  <c:v>1627.1273300644002</c:v>
                </c:pt>
                <c:pt idx="3">
                  <c:v>1514.8397832869</c:v>
                </c:pt>
                <c:pt idx="4">
                  <c:v>1591.0306107143992</c:v>
                </c:pt>
                <c:pt idx="5">
                  <c:v>1695.4895619174001</c:v>
                </c:pt>
                <c:pt idx="6">
                  <c:v>1944.9739073434002</c:v>
                </c:pt>
                <c:pt idx="7">
                  <c:v>2172.4063527427011</c:v>
                </c:pt>
                <c:pt idx="8">
                  <c:v>2639.3475405523959</c:v>
                </c:pt>
                <c:pt idx="9">
                  <c:v>2821.5390041345972</c:v>
                </c:pt>
                <c:pt idx="10">
                  <c:v>2836.6101907743978</c:v>
                </c:pt>
                <c:pt idx="11">
                  <c:v>2523.7092123680013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63-F14F-AF3F-D0EC4B817E92}"/>
            </c:ext>
          </c:extLst>
        </c:ser>
        <c:ser>
          <c:idx val="4"/>
          <c:order val="4"/>
          <c:tx>
            <c:strRef>
              <c:f>'Data Data Transfer'!$AE$5</c:f>
              <c:strCache>
                <c:ptCount val="1"/>
                <c:pt idx="0">
                  <c:v> Inter AZ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3.6757330527813201E-2"/>
                  <c:y val="-0.272730544079733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463-F14F-AF3F-D0EC4B817E92}"/>
                </c:ext>
              </c:extLst>
            </c:dLbl>
            <c:dLbl>
              <c:idx val="6"/>
              <c:layout>
                <c:manualLayout>
                  <c:x val="1.83786652639066E-2"/>
                  <c:y val="-0.331699310367243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63-F14F-AF3F-D0EC4B817E92}"/>
                </c:ext>
              </c:extLst>
            </c:dLbl>
            <c:dLbl>
              <c:idx val="7"/>
              <c:layout>
                <c:manualLayout>
                  <c:x val="7.5811994213614634E-2"/>
                  <c:y val="-0.331699310367243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463-F14F-AF3F-D0EC4B817E92}"/>
                </c:ext>
              </c:extLst>
            </c:dLbl>
            <c:dLbl>
              <c:idx val="11"/>
              <c:layout>
                <c:manualLayout>
                  <c:x val="-6.8919994739649743E-3"/>
                  <c:y val="-0.324328214581304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463-F14F-AF3F-D0EC4B817E9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Transfer'!$Z$6:$Z$18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Transfer'!$AE$6:$AE$18</c:f>
              <c:numCache>
                <c:formatCode>_("$"* #,##0.00_);_("$"* \(#,##0.00\);_("$"* "-"??_);_(@_)</c:formatCode>
                <c:ptCount val="13"/>
                <c:pt idx="0">
                  <c:v>35436.956166091804</c:v>
                </c:pt>
                <c:pt idx="1">
                  <c:v>41562.537217051606</c:v>
                </c:pt>
                <c:pt idx="2">
                  <c:v>34098.3739735407</c:v>
                </c:pt>
                <c:pt idx="3">
                  <c:v>35435.620803718797</c:v>
                </c:pt>
                <c:pt idx="4">
                  <c:v>38768.812210043303</c:v>
                </c:pt>
                <c:pt idx="5">
                  <c:v>46973.5706983899</c:v>
                </c:pt>
                <c:pt idx="6">
                  <c:v>74940.706265017405</c:v>
                </c:pt>
                <c:pt idx="7">
                  <c:v>79142.571779978898</c:v>
                </c:pt>
                <c:pt idx="8">
                  <c:v>60317.982174790399</c:v>
                </c:pt>
                <c:pt idx="9">
                  <c:v>69160.104229543009</c:v>
                </c:pt>
                <c:pt idx="10">
                  <c:v>69378.337313696102</c:v>
                </c:pt>
                <c:pt idx="11">
                  <c:v>51099.464581979395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63-F14F-AF3F-D0EC4B817E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77225088"/>
        <c:axId val="1972075088"/>
      </c:bar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7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r>
              <a:rPr lang="en-GB" sz="1200" b="0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월별</a:t>
            </a:r>
            <a:r>
              <a:rPr lang="en-GB" sz="1200" b="0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GB" sz="1200" b="0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</a:t>
            </a:r>
            <a:r>
              <a:rPr lang="en-GB" sz="1200" b="0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GB" sz="1200" b="0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</a:t>
            </a:r>
            <a:r>
              <a:rPr lang="en-GB" sz="1200" b="0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GB" sz="1200" b="0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</a:t>
            </a:r>
            <a:r>
              <a:rPr lang="en-GB" sz="1200" b="0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GB" sz="1200" b="0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분석</a:t>
            </a:r>
            <a:endParaRPr lang="en-GB" sz="1200" b="0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c:rich>
      </c:tx>
      <c:layout>
        <c:manualLayout>
          <c:xMode val="edge"/>
          <c:yMode val="edge"/>
          <c:x val="0.11796108534057695"/>
          <c:y val="4.58358285027349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1241602125040549"/>
          <c:y val="4.1108999401159356E-2"/>
          <c:w val="0.86215324918073732"/>
          <c:h val="0.6647616698391848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'[2]Data Transfer'!$Z$6</c:f>
              <c:strCache>
                <c:ptCount val="1"/>
                <c:pt idx="0">
                  <c:v>CloudFront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'[2]Data Transfer'!$AA$5:$AL$5</c:f>
              <c:numCache>
                <c:formatCode>General</c:formatCode>
                <c:ptCount val="12"/>
                <c:pt idx="0">
                  <c:v>45078</c:v>
                </c:pt>
                <c:pt idx="1">
                  <c:v>45108</c:v>
                </c:pt>
                <c:pt idx="2">
                  <c:v>45139</c:v>
                </c:pt>
                <c:pt idx="3">
                  <c:v>45170</c:v>
                </c:pt>
                <c:pt idx="4">
                  <c:v>45200</c:v>
                </c:pt>
                <c:pt idx="5">
                  <c:v>45231</c:v>
                </c:pt>
                <c:pt idx="6">
                  <c:v>45261</c:v>
                </c:pt>
                <c:pt idx="7">
                  <c:v>45292</c:v>
                </c:pt>
                <c:pt idx="8">
                  <c:v>45323</c:v>
                </c:pt>
                <c:pt idx="9">
                  <c:v>45352</c:v>
                </c:pt>
                <c:pt idx="10">
                  <c:v>45383</c:v>
                </c:pt>
                <c:pt idx="11">
                  <c:v>45413</c:v>
                </c:pt>
              </c:numCache>
            </c:numRef>
          </c:cat>
          <c:val>
            <c:numRef>
              <c:f>'[2]Data Transfer'!$AA$6:$AL$6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A1-DE49-9992-9829D51FA838}"/>
            </c:ext>
          </c:extLst>
        </c:ser>
        <c:ser>
          <c:idx val="1"/>
          <c:order val="1"/>
          <c:tx>
            <c:strRef>
              <c:f>'[2]Data Transfer'!$Z$7</c:f>
              <c:strCache>
                <c:ptCount val="1"/>
                <c:pt idx="0">
                  <c:v>Data Transfer In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'[2]Data Transfer'!$AA$5:$AL$5</c:f>
              <c:numCache>
                <c:formatCode>General</c:formatCode>
                <c:ptCount val="12"/>
                <c:pt idx="0">
                  <c:v>45078</c:v>
                </c:pt>
                <c:pt idx="1">
                  <c:v>45108</c:v>
                </c:pt>
                <c:pt idx="2">
                  <c:v>45139</c:v>
                </c:pt>
                <c:pt idx="3">
                  <c:v>45170</c:v>
                </c:pt>
                <c:pt idx="4">
                  <c:v>45200</c:v>
                </c:pt>
                <c:pt idx="5">
                  <c:v>45231</c:v>
                </c:pt>
                <c:pt idx="6">
                  <c:v>45261</c:v>
                </c:pt>
                <c:pt idx="7">
                  <c:v>45292</c:v>
                </c:pt>
                <c:pt idx="8">
                  <c:v>45323</c:v>
                </c:pt>
                <c:pt idx="9">
                  <c:v>45352</c:v>
                </c:pt>
                <c:pt idx="10">
                  <c:v>45383</c:v>
                </c:pt>
                <c:pt idx="11">
                  <c:v>45413</c:v>
                </c:pt>
              </c:numCache>
            </c:numRef>
          </c:cat>
          <c:val>
            <c:numRef>
              <c:f>'[2]Data Transfer'!$AA$7:$AL$7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A1-DE49-9992-9829D51FA838}"/>
            </c:ext>
          </c:extLst>
        </c:ser>
        <c:ser>
          <c:idx val="2"/>
          <c:order val="2"/>
          <c:tx>
            <c:strRef>
              <c:f>'[2]Data Transfer'!$Z$8</c:f>
              <c:strCache>
                <c:ptCount val="1"/>
                <c:pt idx="0">
                  <c:v>Data Transfer Out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102495488184449"/>
                  <c:y val="-0.283074801587596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0A1-DE49-9992-9829D51FA838}"/>
                </c:ext>
              </c:extLst>
            </c:dLbl>
            <c:dLbl>
              <c:idx val="6"/>
              <c:layout>
                <c:manualLayout>
                  <c:x val="0.1109704563004678"/>
                  <c:y val="-0.327108659612333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0A1-DE49-9992-9829D51FA838}"/>
                </c:ext>
              </c:extLst>
            </c:dLbl>
            <c:dLbl>
              <c:idx val="9"/>
              <c:layout>
                <c:manualLayout>
                  <c:x val="-0.12252987883176653"/>
                  <c:y val="-0.452919682540154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0A1-DE49-9992-9829D51FA838}"/>
                </c:ext>
              </c:extLst>
            </c:dLbl>
            <c:dLbl>
              <c:idx val="11"/>
              <c:layout>
                <c:manualLayout>
                  <c:x val="-6.0108997162753391E-2"/>
                  <c:y val="-0.4214669268081991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0A1-DE49-9992-9829D51FA8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'[2]Data Transfer'!$AA$5:$AL$5</c:f>
              <c:numCache>
                <c:formatCode>General</c:formatCode>
                <c:ptCount val="12"/>
                <c:pt idx="0">
                  <c:v>45078</c:v>
                </c:pt>
                <c:pt idx="1">
                  <c:v>45108</c:v>
                </c:pt>
                <c:pt idx="2">
                  <c:v>45139</c:v>
                </c:pt>
                <c:pt idx="3">
                  <c:v>45170</c:v>
                </c:pt>
                <c:pt idx="4">
                  <c:v>45200</c:v>
                </c:pt>
                <c:pt idx="5">
                  <c:v>45231</c:v>
                </c:pt>
                <c:pt idx="6">
                  <c:v>45261</c:v>
                </c:pt>
                <c:pt idx="7">
                  <c:v>45292</c:v>
                </c:pt>
                <c:pt idx="8">
                  <c:v>45323</c:v>
                </c:pt>
                <c:pt idx="9">
                  <c:v>45352</c:v>
                </c:pt>
                <c:pt idx="10">
                  <c:v>45383</c:v>
                </c:pt>
                <c:pt idx="11">
                  <c:v>45413</c:v>
                </c:pt>
              </c:numCache>
            </c:numRef>
          </c:cat>
          <c:val>
            <c:numRef>
              <c:f>'[2]Data Transfer'!$AA$8:$AL$8</c:f>
              <c:numCache>
                <c:formatCode>General</c:formatCode>
                <c:ptCount val="12"/>
                <c:pt idx="0">
                  <c:v>3293.5430147742004</c:v>
                </c:pt>
                <c:pt idx="1">
                  <c:v>3967.1680771277997</c:v>
                </c:pt>
                <c:pt idx="2">
                  <c:v>3624.3518148846001</c:v>
                </c:pt>
                <c:pt idx="3">
                  <c:v>3033.1892961955</c:v>
                </c:pt>
                <c:pt idx="4">
                  <c:v>3212.9156148832003</c:v>
                </c:pt>
                <c:pt idx="5">
                  <c:v>3348.3407445715002</c:v>
                </c:pt>
                <c:pt idx="6">
                  <c:v>5172.5935945517003</c:v>
                </c:pt>
                <c:pt idx="7">
                  <c:v>5071.2427292783004</c:v>
                </c:pt>
                <c:pt idx="8">
                  <c:v>4954.9000959236</c:v>
                </c:pt>
                <c:pt idx="9">
                  <c:v>9025.180746845801</c:v>
                </c:pt>
                <c:pt idx="10">
                  <c:v>10350.851245658901</c:v>
                </c:pt>
                <c:pt idx="11">
                  <c:v>10744.0989549469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A1-DE49-9992-9829D51FA838}"/>
            </c:ext>
          </c:extLst>
        </c:ser>
        <c:ser>
          <c:idx val="3"/>
          <c:order val="3"/>
          <c:tx>
            <c:strRef>
              <c:f>'[2]Data Transfer'!$Z$9</c:f>
              <c:strCache>
                <c:ptCount val="1"/>
                <c:pt idx="0">
                  <c:v>Region-Region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'[2]Data Transfer'!$AA$5:$AL$5</c:f>
              <c:numCache>
                <c:formatCode>General</c:formatCode>
                <c:ptCount val="12"/>
                <c:pt idx="0">
                  <c:v>45078</c:v>
                </c:pt>
                <c:pt idx="1">
                  <c:v>45108</c:v>
                </c:pt>
                <c:pt idx="2">
                  <c:v>45139</c:v>
                </c:pt>
                <c:pt idx="3">
                  <c:v>45170</c:v>
                </c:pt>
                <c:pt idx="4">
                  <c:v>45200</c:v>
                </c:pt>
                <c:pt idx="5">
                  <c:v>45231</c:v>
                </c:pt>
                <c:pt idx="6">
                  <c:v>45261</c:v>
                </c:pt>
                <c:pt idx="7">
                  <c:v>45292</c:v>
                </c:pt>
                <c:pt idx="8">
                  <c:v>45323</c:v>
                </c:pt>
                <c:pt idx="9">
                  <c:v>45352</c:v>
                </c:pt>
                <c:pt idx="10">
                  <c:v>45383</c:v>
                </c:pt>
                <c:pt idx="11">
                  <c:v>45413</c:v>
                </c:pt>
              </c:numCache>
            </c:numRef>
          </c:cat>
          <c:val>
            <c:numRef>
              <c:f>'[2]Data Transfer'!$AA$9:$AL$9</c:f>
              <c:numCache>
                <c:formatCode>General</c:formatCode>
                <c:ptCount val="12"/>
                <c:pt idx="0">
                  <c:v>152.34261031609972</c:v>
                </c:pt>
                <c:pt idx="1">
                  <c:v>212.08907696299966</c:v>
                </c:pt>
                <c:pt idx="2">
                  <c:v>224.97064866259961</c:v>
                </c:pt>
                <c:pt idx="3">
                  <c:v>205.49640188539976</c:v>
                </c:pt>
                <c:pt idx="4">
                  <c:v>240.74979534499985</c:v>
                </c:pt>
                <c:pt idx="5">
                  <c:v>319.22114892879972</c:v>
                </c:pt>
                <c:pt idx="6">
                  <c:v>370.12166789469944</c:v>
                </c:pt>
                <c:pt idx="7">
                  <c:v>279.78744521550067</c:v>
                </c:pt>
                <c:pt idx="8">
                  <c:v>283.28495799679848</c:v>
                </c:pt>
                <c:pt idx="9">
                  <c:v>312.51161517600161</c:v>
                </c:pt>
                <c:pt idx="10">
                  <c:v>251.46721352069855</c:v>
                </c:pt>
                <c:pt idx="11">
                  <c:v>259.39794642629852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A1-DE49-9992-9829D51FA838}"/>
            </c:ext>
          </c:extLst>
        </c:ser>
        <c:ser>
          <c:idx val="4"/>
          <c:order val="4"/>
          <c:tx>
            <c:strRef>
              <c:f>'[2]Data Transfer'!$Z$10</c:f>
              <c:strCache>
                <c:ptCount val="1"/>
                <c:pt idx="0">
                  <c:v>Inter AZ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871307037558475"/>
                  <c:y val="-0.283074801587596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0A1-DE49-9992-9829D51FA838}"/>
                </c:ext>
              </c:extLst>
            </c:dLbl>
            <c:dLbl>
              <c:idx val="6"/>
              <c:layout>
                <c:manualLayout>
                  <c:x val="0.1109704563004678"/>
                  <c:y val="-0.2201692901236861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0A1-DE49-9992-9829D51FA838}"/>
                </c:ext>
              </c:extLst>
            </c:dLbl>
            <c:dLbl>
              <c:idx val="9"/>
              <c:layout>
                <c:manualLayout>
                  <c:x val="-0.12021799432550687"/>
                  <c:y val="-0.295655903880378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0A1-DE49-9992-9829D51FA838}"/>
                </c:ext>
              </c:extLst>
            </c:dLbl>
            <c:dLbl>
              <c:idx val="11"/>
              <c:layout>
                <c:manualLayout>
                  <c:x val="-5.5485228150233899E-2"/>
                  <c:y val="-0.2453314947092502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0A1-DE49-9992-9829D51FA8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'[2]Data Transfer'!$AA$5:$AL$5</c:f>
              <c:numCache>
                <c:formatCode>General</c:formatCode>
                <c:ptCount val="12"/>
                <c:pt idx="0">
                  <c:v>45078</c:v>
                </c:pt>
                <c:pt idx="1">
                  <c:v>45108</c:v>
                </c:pt>
                <c:pt idx="2">
                  <c:v>45139</c:v>
                </c:pt>
                <c:pt idx="3">
                  <c:v>45170</c:v>
                </c:pt>
                <c:pt idx="4">
                  <c:v>45200</c:v>
                </c:pt>
                <c:pt idx="5">
                  <c:v>45231</c:v>
                </c:pt>
                <c:pt idx="6">
                  <c:v>45261</c:v>
                </c:pt>
                <c:pt idx="7">
                  <c:v>45292</c:v>
                </c:pt>
                <c:pt idx="8">
                  <c:v>45323</c:v>
                </c:pt>
                <c:pt idx="9">
                  <c:v>45352</c:v>
                </c:pt>
                <c:pt idx="10">
                  <c:v>45383</c:v>
                </c:pt>
                <c:pt idx="11">
                  <c:v>45413</c:v>
                </c:pt>
              </c:numCache>
            </c:numRef>
          </c:cat>
          <c:val>
            <c:numRef>
              <c:f>'[2]Data Transfer'!$AA$10:$AL$10</c:f>
              <c:numCache>
                <c:formatCode>General</c:formatCode>
                <c:ptCount val="12"/>
                <c:pt idx="0">
                  <c:v>4178.5889199267003</c:v>
                </c:pt>
                <c:pt idx="1">
                  <c:v>4635.6750768557004</c:v>
                </c:pt>
                <c:pt idx="2">
                  <c:v>4752.7710106433997</c:v>
                </c:pt>
                <c:pt idx="3">
                  <c:v>4857.2497245454006</c:v>
                </c:pt>
                <c:pt idx="4">
                  <c:v>4621.6291202305001</c:v>
                </c:pt>
                <c:pt idx="5">
                  <c:v>5051.0179057795003</c:v>
                </c:pt>
                <c:pt idx="6">
                  <c:v>8024.7569665777</c:v>
                </c:pt>
                <c:pt idx="7">
                  <c:v>7866.7039384246</c:v>
                </c:pt>
                <c:pt idx="8">
                  <c:v>8082.5258380374999</c:v>
                </c:pt>
                <c:pt idx="9">
                  <c:v>8630.8990207139996</c:v>
                </c:pt>
                <c:pt idx="10">
                  <c:v>8853.1526415635999</c:v>
                </c:pt>
                <c:pt idx="11">
                  <c:v>8820.9448243098996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A1-DE49-9992-9829D51FA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6186128"/>
        <c:axId val="806187760"/>
      </c:barChart>
      <c:dateAx>
        <c:axId val="806186128"/>
        <c:scaling>
          <c:orientation val="minMax"/>
        </c:scaling>
        <c:delete val="0"/>
        <c:axPos val="b"/>
        <c:numFmt formatCode="[$-409]mm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806187760"/>
        <c:crosses val="autoZero"/>
        <c:auto val="0"/>
        <c:lblOffset val="100"/>
        <c:baseTimeUnit val="months"/>
        <c:majorUnit val="1"/>
        <c:majorTimeUnit val="months"/>
      </c:dateAx>
      <c:valAx>
        <c:axId val="80618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80618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D3-1C44-A25C-50C6F18F728B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0D3-1C44-A25C-50C6F18F728B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0D3-1C44-A25C-50C6F18F728B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F0D3-1C44-A25C-50C6F18F728B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173989424438612E-2"/>
                  <c:y val="-0.20403050617538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0D3-1C44-A25C-50C6F18F728B}"/>
                </c:ext>
              </c:extLst>
            </c:dLbl>
            <c:dLbl>
              <c:idx val="6"/>
              <c:layout>
                <c:manualLayout>
                  <c:x val="-8.388400621730617E-2"/>
                  <c:y val="-9.563929976971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0D3-1C44-A25C-50C6F18F728B}"/>
                </c:ext>
              </c:extLst>
            </c:dLbl>
            <c:dLbl>
              <c:idx val="7"/>
              <c:layout>
                <c:manualLayout>
                  <c:x val="-9.0685412126818316E-3"/>
                  <c:y val="-8.2887393133750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0D3-1C44-A25C-50C6F18F728B}"/>
                </c:ext>
              </c:extLst>
            </c:dLbl>
            <c:dLbl>
              <c:idx val="11"/>
              <c:layout>
                <c:manualLayout>
                  <c:x val="0"/>
                  <c:y val="-0.197654552857406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0D3-1C44-A25C-50C6F18F72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3543696.6166206747</c:v>
                </c:pt>
                <c:pt idx="1">
                  <c:v>4156254.7217367492</c:v>
                </c:pt>
                <c:pt idx="2">
                  <c:v>3409838.397346104</c:v>
                </c:pt>
                <c:pt idx="3">
                  <c:v>3543563.0803490374</c:v>
                </c:pt>
                <c:pt idx="4">
                  <c:v>3876882.2209684411</c:v>
                </c:pt>
                <c:pt idx="5">
                  <c:v>4697358.069809854</c:v>
                </c:pt>
                <c:pt idx="6">
                  <c:v>7494071.6264680689</c:v>
                </c:pt>
                <c:pt idx="7">
                  <c:v>7914258.1779676499</c:v>
                </c:pt>
                <c:pt idx="8">
                  <c:v>6031799.2174587399</c:v>
                </c:pt>
                <c:pt idx="9">
                  <c:v>6916011.4229366379</c:v>
                </c:pt>
                <c:pt idx="10">
                  <c:v>6937834.7311751572</c:v>
                </c:pt>
                <c:pt idx="11">
                  <c:v>5109947.4581459761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F0D3-1C44-A25C-50C6F18F7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8137082425363518E-2"/>
                  <c:y val="-0.178526692903463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9A-7A4C-969E-414FB3A281F8}"/>
                </c:ext>
              </c:extLst>
            </c:dLbl>
            <c:dLbl>
              <c:idx val="6"/>
              <c:layout>
                <c:manualLayout>
                  <c:x val="-2.947275894121568E-2"/>
                  <c:y val="-0.1020152530876934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A-7A4C-969E-414FB3A281F8}"/>
                </c:ext>
              </c:extLst>
            </c:dLbl>
            <c:dLbl>
              <c:idx val="11"/>
              <c:layout>
                <c:manualLayout>
                  <c:x val="-6.8014059095113108E-3"/>
                  <c:y val="-8.92633464517317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9A-7A4C-969E-414FB3A281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19A-7A4C-969E-414FB3A281F8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0781833538881247E-17"/>
                  <c:y val="-0.10839120640567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19A-7A4C-969E-414FB3A281F8}"/>
                </c:ext>
              </c:extLst>
            </c:dLbl>
            <c:dLbl>
              <c:idx val="6"/>
              <c:layout>
                <c:manualLayout>
                  <c:x val="2.2671353031704287E-2"/>
                  <c:y val="-5.100762654384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9A-7A4C-969E-414FB3A281F8}"/>
                </c:ext>
              </c:extLst>
            </c:dLbl>
            <c:dLbl>
              <c:idx val="11"/>
              <c:layout>
                <c:manualLayout>
                  <c:x val="-1.5869947122193227E-2"/>
                  <c:y val="-8.92633464517317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9A-7A4C-969E-414FB3A281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F19A-7A4C-969E-414FB3A281F8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2671353031704163E-3"/>
                  <c:y val="-7.651143981577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19A-7A4C-969E-414FB3A281F8}"/>
                </c:ext>
              </c:extLst>
            </c:dLbl>
            <c:dLbl>
              <c:idx val="6"/>
              <c:layout>
                <c:manualLayout>
                  <c:x val="0"/>
                  <c:y val="-8.9263346451731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19A-7A4C-969E-414FB3A281F8}"/>
                </c:ext>
              </c:extLst>
            </c:dLbl>
            <c:dLbl>
              <c:idx val="11"/>
              <c:layout>
                <c:manualLayout>
                  <c:x val="-4.5342706063408907E-2"/>
                  <c:y val="-0.102015253087693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19A-7A4C-969E-414FB3A281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F19A-7A4C-969E-414FB3A281F8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2.947275894121568E-2"/>
                  <c:y val="3.8255719907884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19A-7A4C-969E-414FB3A281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C-F19A-7A4C-969E-414FB3A281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5696.9496714542001</c:v>
                </c:pt>
                <c:pt idx="1">
                  <c:v>4433.2950913641998</c:v>
                </c:pt>
                <c:pt idx="2">
                  <c:v>7117.3912080848995</c:v>
                </c:pt>
                <c:pt idx="3">
                  <c:v>12075.948793424199</c:v>
                </c:pt>
                <c:pt idx="4">
                  <c:v>7309.0392666171992</c:v>
                </c:pt>
                <c:pt idx="5">
                  <c:v>6654.544587785399</c:v>
                </c:pt>
                <c:pt idx="6">
                  <c:v>14099.010827599999</c:v>
                </c:pt>
                <c:pt idx="7">
                  <c:v>9010.014742245201</c:v>
                </c:pt>
                <c:pt idx="8">
                  <c:v>45995.046247748294</c:v>
                </c:pt>
                <c:pt idx="9">
                  <c:v>57952.677192602991</c:v>
                </c:pt>
                <c:pt idx="10">
                  <c:v>57617.742199562992</c:v>
                </c:pt>
                <c:pt idx="11">
                  <c:v>78934.002987565094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D4-044F-B908-DDDA8FC74D38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195249.25468487875</c:v>
                </c:pt>
                <c:pt idx="1">
                  <c:v>202372.80036745459</c:v>
                </c:pt>
                <c:pt idx="2">
                  <c:v>196800.82069084491</c:v>
                </c:pt>
                <c:pt idx="3">
                  <c:v>364955.42290442146</c:v>
                </c:pt>
                <c:pt idx="4">
                  <c:v>298934.93667657749</c:v>
                </c:pt>
                <c:pt idx="5">
                  <c:v>186797.32453182037</c:v>
                </c:pt>
                <c:pt idx="6">
                  <c:v>200963.93652284509</c:v>
                </c:pt>
                <c:pt idx="7">
                  <c:v>206497.1390145577</c:v>
                </c:pt>
                <c:pt idx="8">
                  <c:v>198033.89215109139</c:v>
                </c:pt>
                <c:pt idx="9">
                  <c:v>204006.46432846354</c:v>
                </c:pt>
                <c:pt idx="10">
                  <c:v>208303.75029450172</c:v>
                </c:pt>
                <c:pt idx="11">
                  <c:v>276401.61012293841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1D4-044F-B908-DDDA8FC74D38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730187.10640291905</c:v>
                </c:pt>
                <c:pt idx="1">
                  <c:v>715764.80537592061</c:v>
                </c:pt>
                <c:pt idx="2">
                  <c:v>761239.15597395832</c:v>
                </c:pt>
                <c:pt idx="3">
                  <c:v>726552.54752051469</c:v>
                </c:pt>
                <c:pt idx="4">
                  <c:v>741098.94772106409</c:v>
                </c:pt>
                <c:pt idx="5">
                  <c:v>716886.93436835753</c:v>
                </c:pt>
                <c:pt idx="6">
                  <c:v>740495.67183400225</c:v>
                </c:pt>
                <c:pt idx="7">
                  <c:v>736256.54721681715</c:v>
                </c:pt>
                <c:pt idx="8">
                  <c:v>728588.7538042923</c:v>
                </c:pt>
                <c:pt idx="9">
                  <c:v>770181.35063498828</c:v>
                </c:pt>
                <c:pt idx="10">
                  <c:v>744809.01093547279</c:v>
                </c:pt>
                <c:pt idx="11">
                  <c:v>735097.59809248603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1D4-044F-B908-DDDA8FC74D38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139244.88001708229</c:v>
                </c:pt>
                <c:pt idx="1">
                  <c:v>133603.15657694239</c:v>
                </c:pt>
                <c:pt idx="2">
                  <c:v>174777.91041405528</c:v>
                </c:pt>
                <c:pt idx="3">
                  <c:v>163429.37173299477</c:v>
                </c:pt>
                <c:pt idx="4">
                  <c:v>154391.6356824236</c:v>
                </c:pt>
                <c:pt idx="5">
                  <c:v>148781.03373174273</c:v>
                </c:pt>
                <c:pt idx="6">
                  <c:v>203872.95566162266</c:v>
                </c:pt>
                <c:pt idx="7">
                  <c:v>223259.13500855479</c:v>
                </c:pt>
                <c:pt idx="8">
                  <c:v>221747.28871328942</c:v>
                </c:pt>
                <c:pt idx="9">
                  <c:v>311452.98000716948</c:v>
                </c:pt>
                <c:pt idx="10">
                  <c:v>357086.28281446092</c:v>
                </c:pt>
                <c:pt idx="11">
                  <c:v>416760.79948818788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E1D4-044F-B908-DDDA8FC74D38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8.9930652491141232E-3"/>
                  <c:y val="-9.70786585563945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1D4-044F-B908-DDDA8FC74D38}"/>
                </c:ext>
              </c:extLst>
            </c:dLbl>
            <c:dLbl>
              <c:idx val="11"/>
              <c:layout>
                <c:manualLayout>
                  <c:x val="-1.7331022530329417E-2"/>
                  <c:y val="-7.9096045197740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1D4-044F-B908-DDDA8FC74D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4969094.5009681303</c:v>
                </c:pt>
                <c:pt idx="1">
                  <c:v>4749769.4002527185</c:v>
                </c:pt>
                <c:pt idx="2">
                  <c:v>5206691.3357682172</c:v>
                </c:pt>
                <c:pt idx="3">
                  <c:v>4748080.1812010249</c:v>
                </c:pt>
                <c:pt idx="4">
                  <c:v>5239520.5719523691</c:v>
                </c:pt>
                <c:pt idx="5">
                  <c:v>5107710.5158228949</c:v>
                </c:pt>
                <c:pt idx="6">
                  <c:v>5551075.4086145265</c:v>
                </c:pt>
                <c:pt idx="7">
                  <c:v>5744735.9186154325</c:v>
                </c:pt>
                <c:pt idx="8">
                  <c:v>5991488.1649227329</c:v>
                </c:pt>
                <c:pt idx="9">
                  <c:v>7370304.5091208778</c:v>
                </c:pt>
                <c:pt idx="10">
                  <c:v>6511874.3585066944</c:v>
                </c:pt>
                <c:pt idx="11">
                  <c:v>6975142.302377441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E1D4-044F-B908-DDDA8FC74D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1.3489597873671155E-2"/>
                  <c:y val="-4.24719131184225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F8A-4C48-9472-BB144CD11D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5696.9496714542001</c:v>
                </c:pt>
                <c:pt idx="1">
                  <c:v>4433.2950913641998</c:v>
                </c:pt>
                <c:pt idx="2">
                  <c:v>7117.3912080848995</c:v>
                </c:pt>
                <c:pt idx="3">
                  <c:v>12075.948793424199</c:v>
                </c:pt>
                <c:pt idx="4">
                  <c:v>7309.0392666171992</c:v>
                </c:pt>
                <c:pt idx="5">
                  <c:v>6654.544587785399</c:v>
                </c:pt>
                <c:pt idx="6">
                  <c:v>14099.010827599999</c:v>
                </c:pt>
                <c:pt idx="7">
                  <c:v>9010.014742245201</c:v>
                </c:pt>
                <c:pt idx="8">
                  <c:v>45995.046247748294</c:v>
                </c:pt>
                <c:pt idx="9">
                  <c:v>57952.677192602991</c:v>
                </c:pt>
                <c:pt idx="10">
                  <c:v>57617.742199562992</c:v>
                </c:pt>
                <c:pt idx="11">
                  <c:v>78934.002987565094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8A-4C48-9472-BB144CD11DF8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0234396810506754E-2"/>
                  <c:y val="-0.121348323195493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F8A-4C48-9472-BB144CD11DF8}"/>
                </c:ext>
              </c:extLst>
            </c:dLbl>
            <c:dLbl>
              <c:idx val="11"/>
              <c:layout>
                <c:manualLayout>
                  <c:x val="-2.0234396810506896E-2"/>
                  <c:y val="-2.42696646390986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F8A-4C48-9472-BB144CD11D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195249.25468487875</c:v>
                </c:pt>
                <c:pt idx="1">
                  <c:v>202372.80036745459</c:v>
                </c:pt>
                <c:pt idx="2">
                  <c:v>196800.82069084491</c:v>
                </c:pt>
                <c:pt idx="3">
                  <c:v>364955.42290442146</c:v>
                </c:pt>
                <c:pt idx="4">
                  <c:v>298934.93667657749</c:v>
                </c:pt>
                <c:pt idx="5">
                  <c:v>186797.32453182037</c:v>
                </c:pt>
                <c:pt idx="6">
                  <c:v>200963.93652284509</c:v>
                </c:pt>
                <c:pt idx="7">
                  <c:v>206497.1390145577</c:v>
                </c:pt>
                <c:pt idx="8">
                  <c:v>198033.89215109139</c:v>
                </c:pt>
                <c:pt idx="9">
                  <c:v>204006.46432846354</c:v>
                </c:pt>
                <c:pt idx="10">
                  <c:v>208303.75029450172</c:v>
                </c:pt>
                <c:pt idx="11">
                  <c:v>276401.61012293841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F8A-4C48-9472-BB144CD11DF8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5737864185949701E-2"/>
                  <c:y val="-9.1011242396619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F8A-4C48-9472-BB144CD11DF8}"/>
                </c:ext>
              </c:extLst>
            </c:dLbl>
            <c:dLbl>
              <c:idx val="11"/>
              <c:layout>
                <c:manualLayout>
                  <c:x val="-2.2482663122785258E-2"/>
                  <c:y val="-0.1213483231954931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F8A-4C48-9472-BB144CD11D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730187.10640291905</c:v>
                </c:pt>
                <c:pt idx="1">
                  <c:v>715764.80537592061</c:v>
                </c:pt>
                <c:pt idx="2">
                  <c:v>761239.15597395832</c:v>
                </c:pt>
                <c:pt idx="3">
                  <c:v>726552.54752051469</c:v>
                </c:pt>
                <c:pt idx="4">
                  <c:v>741098.94772106409</c:v>
                </c:pt>
                <c:pt idx="5">
                  <c:v>716886.93436835753</c:v>
                </c:pt>
                <c:pt idx="6">
                  <c:v>740495.67183400225</c:v>
                </c:pt>
                <c:pt idx="7">
                  <c:v>736256.54721681715</c:v>
                </c:pt>
                <c:pt idx="8">
                  <c:v>728588.7538042923</c:v>
                </c:pt>
                <c:pt idx="9">
                  <c:v>770181.35063498828</c:v>
                </c:pt>
                <c:pt idx="10">
                  <c:v>744809.01093547279</c:v>
                </c:pt>
                <c:pt idx="11">
                  <c:v>735097.59809248603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2F8A-4C48-9472-BB144CD11DF8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2.0234396810506896E-2"/>
                  <c:y val="-9.70786585563944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F8A-4C48-9472-BB144CD11D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139244.88001708229</c:v>
                </c:pt>
                <c:pt idx="1">
                  <c:v>133603.15657694239</c:v>
                </c:pt>
                <c:pt idx="2">
                  <c:v>174777.91041405528</c:v>
                </c:pt>
                <c:pt idx="3">
                  <c:v>163429.37173299477</c:v>
                </c:pt>
                <c:pt idx="4">
                  <c:v>154391.6356824236</c:v>
                </c:pt>
                <c:pt idx="5">
                  <c:v>148781.03373174273</c:v>
                </c:pt>
                <c:pt idx="6">
                  <c:v>203872.95566162266</c:v>
                </c:pt>
                <c:pt idx="7">
                  <c:v>223259.13500855479</c:v>
                </c:pt>
                <c:pt idx="8">
                  <c:v>221747.28871328942</c:v>
                </c:pt>
                <c:pt idx="9">
                  <c:v>311452.98000716948</c:v>
                </c:pt>
                <c:pt idx="10">
                  <c:v>357086.28281446092</c:v>
                </c:pt>
                <c:pt idx="11">
                  <c:v>416760.79948818788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2F8A-4C48-9472-BB144CD11D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1195727.5779393008</c:v>
                </c:pt>
                <c:pt idx="1">
                  <c:v>1106105.314230212</c:v>
                </c:pt>
                <c:pt idx="2">
                  <c:v>1166660.0003757095</c:v>
                </c:pt>
                <c:pt idx="3">
                  <c:v>1065240.9419781817</c:v>
                </c:pt>
                <c:pt idx="4">
                  <c:v>1104543.6025169215</c:v>
                </c:pt>
                <c:pt idx="5">
                  <c:v>1038244.6682948765</c:v>
                </c:pt>
                <c:pt idx="6">
                  <c:v>1083610.5395359988</c:v>
                </c:pt>
                <c:pt idx="7">
                  <c:v>1071664.6605426129</c:v>
                </c:pt>
                <c:pt idx="8">
                  <c:v>693078.02682471566</c:v>
                </c:pt>
                <c:pt idx="9">
                  <c:v>549542.19963404455</c:v>
                </c:pt>
                <c:pt idx="10">
                  <c:v>422042.64754711225</c:v>
                </c:pt>
                <c:pt idx="11">
                  <c:v>449990.63416037126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A4-564D-8EEB-2D55A889772C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458313.96619419364</c:v>
                </c:pt>
                <c:pt idx="1">
                  <c:v>468572.27461900085</c:v>
                </c:pt>
                <c:pt idx="2">
                  <c:v>500420.23363000038</c:v>
                </c:pt>
                <c:pt idx="3">
                  <c:v>493213.84724179539</c:v>
                </c:pt>
                <c:pt idx="4">
                  <c:v>600165.54906668258</c:v>
                </c:pt>
                <c:pt idx="5">
                  <c:v>569438.03602282854</c:v>
                </c:pt>
                <c:pt idx="6">
                  <c:v>554365.35820549051</c:v>
                </c:pt>
                <c:pt idx="7">
                  <c:v>562664.96180147678</c:v>
                </c:pt>
                <c:pt idx="8">
                  <c:v>551552.66679549695</c:v>
                </c:pt>
                <c:pt idx="9">
                  <c:v>578611.45256007777</c:v>
                </c:pt>
                <c:pt idx="10">
                  <c:v>588700.82486203359</c:v>
                </c:pt>
                <c:pt idx="11">
                  <c:v>557393.83511964616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7A4-564D-8EEB-2D55A889772C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794342.00459883327</c:v>
                </c:pt>
                <c:pt idx="1">
                  <c:v>675611.09343258129</c:v>
                </c:pt>
                <c:pt idx="2">
                  <c:v>718865.12465764815</c:v>
                </c:pt>
                <c:pt idx="3">
                  <c:v>746461.22115080862</c:v>
                </c:pt>
                <c:pt idx="4">
                  <c:v>770595.44816253649</c:v>
                </c:pt>
                <c:pt idx="5">
                  <c:v>725775.21718256956</c:v>
                </c:pt>
                <c:pt idx="6">
                  <c:v>736632.5618655096</c:v>
                </c:pt>
                <c:pt idx="7">
                  <c:v>684041.6119434085</c:v>
                </c:pt>
                <c:pt idx="8">
                  <c:v>676672.9605347754</c:v>
                </c:pt>
                <c:pt idx="9">
                  <c:v>691504.43682939955</c:v>
                </c:pt>
                <c:pt idx="10">
                  <c:v>594192.21811037336</c:v>
                </c:pt>
                <c:pt idx="11">
                  <c:v>608173.29097370396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7A4-564D-8EEB-2D55A889772C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1442479.1101230145</c:v>
                </c:pt>
                <c:pt idx="1">
                  <c:v>1415815.1786839394</c:v>
                </c:pt>
                <c:pt idx="2">
                  <c:v>1547289.6224061493</c:v>
                </c:pt>
                <c:pt idx="3">
                  <c:v>1452969.9698635628</c:v>
                </c:pt>
                <c:pt idx="4">
                  <c:v>1475987.1180013139</c:v>
                </c:pt>
                <c:pt idx="5">
                  <c:v>1450477.4195286857</c:v>
                </c:pt>
                <c:pt idx="6">
                  <c:v>1611854.6021016198</c:v>
                </c:pt>
                <c:pt idx="7">
                  <c:v>1718721.5551775836</c:v>
                </c:pt>
                <c:pt idx="8">
                  <c:v>1365996.8261828872</c:v>
                </c:pt>
                <c:pt idx="9">
                  <c:v>1280530.8632047048</c:v>
                </c:pt>
                <c:pt idx="10">
                  <c:v>1179042.5443758143</c:v>
                </c:pt>
                <c:pt idx="11">
                  <c:v>1205981.4107994295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7A4-564D-8EEB-2D55A889772C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2741797687177291E-3"/>
                  <c:y val="-0.1020152530876935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A4-564D-8EEB-2D55A889772C}"/>
                </c:ext>
              </c:extLst>
            </c:dLbl>
            <c:dLbl>
              <c:idx val="11"/>
              <c:layout>
                <c:manualLayout>
                  <c:x val="-3.4662045060658577E-3"/>
                  <c:y val="-0.1016949152542372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A4-564D-8EEB-2D55A889772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10245909.48326621</c:v>
                </c:pt>
                <c:pt idx="1">
                  <c:v>10297891.291275989</c:v>
                </c:pt>
                <c:pt idx="2">
                  <c:v>11256592.658111874</c:v>
                </c:pt>
                <c:pt idx="3">
                  <c:v>14295685.777474111</c:v>
                </c:pt>
                <c:pt idx="4">
                  <c:v>15825594.048322219</c:v>
                </c:pt>
                <c:pt idx="5">
                  <c:v>16276818.14300107</c:v>
                </c:pt>
                <c:pt idx="6">
                  <c:v>17695978.690185674</c:v>
                </c:pt>
                <c:pt idx="7">
                  <c:v>19883728.474211272</c:v>
                </c:pt>
                <c:pt idx="8">
                  <c:v>18750941.471945744</c:v>
                </c:pt>
                <c:pt idx="9">
                  <c:v>23472863.414489008</c:v>
                </c:pt>
                <c:pt idx="10">
                  <c:v>19127451.005526632</c:v>
                </c:pt>
                <c:pt idx="11">
                  <c:v>20679081.005053855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17A4-564D-8EEB-2D55A8897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1838516762047915E-2"/>
                  <c:y val="-3.18797665899042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9CE-9B4E-9D3D-00B097B1B610}"/>
                </c:ext>
              </c:extLst>
            </c:dLbl>
            <c:dLbl>
              <c:idx val="11"/>
              <c:layout>
                <c:manualLayout>
                  <c:x val="-6.8225393061532918E-3"/>
                  <c:y val="7.651143981577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9CE-9B4E-9D3D-00B097B1B61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1195727.5779393008</c:v>
                </c:pt>
                <c:pt idx="1">
                  <c:v>1106105.314230212</c:v>
                </c:pt>
                <c:pt idx="2">
                  <c:v>1166660.0003757095</c:v>
                </c:pt>
                <c:pt idx="3">
                  <c:v>1065240.9419781817</c:v>
                </c:pt>
                <c:pt idx="4">
                  <c:v>1104543.6025169215</c:v>
                </c:pt>
                <c:pt idx="5">
                  <c:v>1038244.6682948765</c:v>
                </c:pt>
                <c:pt idx="6">
                  <c:v>1083610.5395359988</c:v>
                </c:pt>
                <c:pt idx="7">
                  <c:v>1071664.6605426129</c:v>
                </c:pt>
                <c:pt idx="8">
                  <c:v>693078.02682471566</c:v>
                </c:pt>
                <c:pt idx="9">
                  <c:v>549542.19963404455</c:v>
                </c:pt>
                <c:pt idx="10">
                  <c:v>422042.64754711225</c:v>
                </c:pt>
                <c:pt idx="11">
                  <c:v>449990.63416037126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CE-9B4E-9D3D-00B097B1B610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0467617918459375E-2"/>
                  <c:y val="-4.46316732258659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9CE-9B4E-9D3D-00B097B1B610}"/>
                </c:ext>
              </c:extLst>
            </c:dLbl>
            <c:dLbl>
              <c:idx val="11"/>
              <c:layout>
                <c:manualLayout>
                  <c:x val="-2.0467617918459375E-2"/>
                  <c:y val="1.91278599539425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9CE-9B4E-9D3D-00B097B1B61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458313.96619419364</c:v>
                </c:pt>
                <c:pt idx="1">
                  <c:v>468572.27461900085</c:v>
                </c:pt>
                <c:pt idx="2">
                  <c:v>500420.23363000038</c:v>
                </c:pt>
                <c:pt idx="3">
                  <c:v>493213.84724179539</c:v>
                </c:pt>
                <c:pt idx="4">
                  <c:v>600165.54906668258</c:v>
                </c:pt>
                <c:pt idx="5">
                  <c:v>569438.03602282854</c:v>
                </c:pt>
                <c:pt idx="6">
                  <c:v>554365.35820549051</c:v>
                </c:pt>
                <c:pt idx="7">
                  <c:v>562664.96180147678</c:v>
                </c:pt>
                <c:pt idx="8">
                  <c:v>551552.66679549695</c:v>
                </c:pt>
                <c:pt idx="9">
                  <c:v>578611.45256007777</c:v>
                </c:pt>
                <c:pt idx="10">
                  <c:v>588700.82486203359</c:v>
                </c:pt>
                <c:pt idx="11">
                  <c:v>557393.83511964616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9CE-9B4E-9D3D-00B097B1B610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501597745589481E-2"/>
                  <c:y val="-5.7383579861827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9CE-9B4E-9D3D-00B097B1B610}"/>
                </c:ext>
              </c:extLst>
            </c:dLbl>
            <c:dLbl>
              <c:idx val="11"/>
              <c:layout>
                <c:manualLayout>
                  <c:x val="-3.8661056068201208E-2"/>
                  <c:y val="-7.01354864977892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9CE-9B4E-9D3D-00B097B1B61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794342.00459883327</c:v>
                </c:pt>
                <c:pt idx="1">
                  <c:v>675611.09343258129</c:v>
                </c:pt>
                <c:pt idx="2">
                  <c:v>718865.12465764815</c:v>
                </c:pt>
                <c:pt idx="3">
                  <c:v>746461.22115080862</c:v>
                </c:pt>
                <c:pt idx="4">
                  <c:v>770595.44816253649</c:v>
                </c:pt>
                <c:pt idx="5">
                  <c:v>725775.21718256956</c:v>
                </c:pt>
                <c:pt idx="6">
                  <c:v>736632.5618655096</c:v>
                </c:pt>
                <c:pt idx="7">
                  <c:v>684041.6119434085</c:v>
                </c:pt>
                <c:pt idx="8">
                  <c:v>676672.9605347754</c:v>
                </c:pt>
                <c:pt idx="9">
                  <c:v>691504.43682939955</c:v>
                </c:pt>
                <c:pt idx="10">
                  <c:v>594192.21811037336</c:v>
                </c:pt>
                <c:pt idx="11">
                  <c:v>608173.29097370396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9CE-9B4E-9D3D-00B097B1B610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501597745589481E-2"/>
                  <c:y val="-0.127519066359616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9CE-9B4E-9D3D-00B097B1B610}"/>
                </c:ext>
              </c:extLst>
            </c:dLbl>
            <c:dLbl>
              <c:idx val="11"/>
              <c:layout>
                <c:manualLayout>
                  <c:x val="-2.2741797687178748E-3"/>
                  <c:y val="-0.102015253087693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9CE-9B4E-9D3D-00B097B1B61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1442479.1101230145</c:v>
                </c:pt>
                <c:pt idx="1">
                  <c:v>1415815.1786839394</c:v>
                </c:pt>
                <c:pt idx="2">
                  <c:v>1547289.6224061493</c:v>
                </c:pt>
                <c:pt idx="3">
                  <c:v>1452969.9698635628</c:v>
                </c:pt>
                <c:pt idx="4">
                  <c:v>1475987.1180013139</c:v>
                </c:pt>
                <c:pt idx="5">
                  <c:v>1450477.4195286857</c:v>
                </c:pt>
                <c:pt idx="6">
                  <c:v>1611854.6021016198</c:v>
                </c:pt>
                <c:pt idx="7">
                  <c:v>1718721.5551775836</c:v>
                </c:pt>
                <c:pt idx="8">
                  <c:v>1365996.8261828872</c:v>
                </c:pt>
                <c:pt idx="9">
                  <c:v>1280530.8632047048</c:v>
                </c:pt>
                <c:pt idx="10">
                  <c:v>1179042.5443758143</c:v>
                </c:pt>
                <c:pt idx="11">
                  <c:v>1205981.4107994295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9CE-9B4E-9D3D-00B097B1B6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txPr>
    <a:bodyPr/>
    <a:lstStyle/>
    <a:p>
      <a:pPr>
        <a:defRPr sz="8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9B-7742-A0B1-E378FEBECFD3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59B-7742-A0B1-E378FEBECFD3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59B-7742-A0B1-E378FEBECFD3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59B-7742-A0B1-E378FEBECFD3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173989424438612E-2"/>
                  <c:y val="-0.20403050617538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59B-7742-A0B1-E378FEBECFD3}"/>
                </c:ext>
              </c:extLst>
            </c:dLbl>
            <c:dLbl>
              <c:idx val="6"/>
              <c:layout>
                <c:manualLayout>
                  <c:x val="-8.388400621730617E-2"/>
                  <c:y val="-9.563929976971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9B-7742-A0B1-E378FEBECFD3}"/>
                </c:ext>
              </c:extLst>
            </c:dLbl>
            <c:dLbl>
              <c:idx val="7"/>
              <c:layout>
                <c:manualLayout>
                  <c:x val="-9.0685412126818316E-3"/>
                  <c:y val="-8.2887393133750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59B-7742-A0B1-E378FEBECFD3}"/>
                </c:ext>
              </c:extLst>
            </c:dLbl>
            <c:dLbl>
              <c:idx val="11"/>
              <c:layout>
                <c:manualLayout>
                  <c:x val="0"/>
                  <c:y val="-0.197654552857406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9B-7742-A0B1-E378FEBECF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3543696.6166206747</c:v>
                </c:pt>
                <c:pt idx="1">
                  <c:v>4156254.7217367492</c:v>
                </c:pt>
                <c:pt idx="2">
                  <c:v>3409838.397346104</c:v>
                </c:pt>
                <c:pt idx="3">
                  <c:v>3543563.0803490374</c:v>
                </c:pt>
                <c:pt idx="4">
                  <c:v>3876882.2209684411</c:v>
                </c:pt>
                <c:pt idx="5">
                  <c:v>4697358.069809854</c:v>
                </c:pt>
                <c:pt idx="6">
                  <c:v>7494071.6264680689</c:v>
                </c:pt>
                <c:pt idx="7">
                  <c:v>7914258.1779676499</c:v>
                </c:pt>
                <c:pt idx="8">
                  <c:v>6031799.2174587399</c:v>
                </c:pt>
                <c:pt idx="9">
                  <c:v>6916011.4229366379</c:v>
                </c:pt>
                <c:pt idx="10">
                  <c:v>6937834.7311751572</c:v>
                </c:pt>
                <c:pt idx="11">
                  <c:v>5109947.4581459761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D59B-7742-A0B1-E378FEBEC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8137082425363518E-2"/>
                  <c:y val="-0.178526692903463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B0-F840-8F28-386FB1B5215F}"/>
                </c:ext>
              </c:extLst>
            </c:dLbl>
            <c:dLbl>
              <c:idx val="6"/>
              <c:layout>
                <c:manualLayout>
                  <c:x val="-2.947275894121568E-2"/>
                  <c:y val="-0.1020152530876934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B0-F840-8F28-386FB1B5215F}"/>
                </c:ext>
              </c:extLst>
            </c:dLbl>
            <c:dLbl>
              <c:idx val="11"/>
              <c:layout>
                <c:manualLayout>
                  <c:x val="-6.8014059095113108E-3"/>
                  <c:y val="-8.92633464517317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B0-F840-8F28-386FB1B5215F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0781833538881247E-17"/>
                  <c:y val="-0.10839120640567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4B0-F840-8F28-386FB1B5215F}"/>
                </c:ext>
              </c:extLst>
            </c:dLbl>
            <c:dLbl>
              <c:idx val="6"/>
              <c:layout>
                <c:manualLayout>
                  <c:x val="2.2671353031704287E-2"/>
                  <c:y val="-5.100762654384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B0-F840-8F28-386FB1B5215F}"/>
                </c:ext>
              </c:extLst>
            </c:dLbl>
            <c:dLbl>
              <c:idx val="11"/>
              <c:layout>
                <c:manualLayout>
                  <c:x val="-1.5869947122193227E-2"/>
                  <c:y val="-8.92633464517317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E4B0-F840-8F28-386FB1B5215F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2671353031704163E-3"/>
                  <c:y val="-7.651143981577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4B0-F840-8F28-386FB1B5215F}"/>
                </c:ext>
              </c:extLst>
            </c:dLbl>
            <c:dLbl>
              <c:idx val="6"/>
              <c:layout>
                <c:manualLayout>
                  <c:x val="0"/>
                  <c:y val="-8.9263346451731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4B0-F840-8F28-386FB1B5215F}"/>
                </c:ext>
              </c:extLst>
            </c:dLbl>
            <c:dLbl>
              <c:idx val="11"/>
              <c:layout>
                <c:manualLayout>
                  <c:x val="-4.5342706063408907E-2"/>
                  <c:y val="-0.102015253087693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E4B0-F840-8F28-386FB1B5215F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2.947275894121568E-2"/>
                  <c:y val="3.8255719907884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E4B0-F840-8F28-386FB1B52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9B-7742-A0B1-E378FEBECFD3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59B-7742-A0B1-E378FEBECFD3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59B-7742-A0B1-E378FEBECFD3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59B-7742-A0B1-E378FEBECFD3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173989424438612E-2"/>
                  <c:y val="-0.20403050617538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59B-7742-A0B1-E378FEBECFD3}"/>
                </c:ext>
              </c:extLst>
            </c:dLbl>
            <c:dLbl>
              <c:idx val="6"/>
              <c:layout>
                <c:manualLayout>
                  <c:x val="-8.388400621730617E-2"/>
                  <c:y val="-9.563929976971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9B-7742-A0B1-E378FEBECFD3}"/>
                </c:ext>
              </c:extLst>
            </c:dLbl>
            <c:dLbl>
              <c:idx val="7"/>
              <c:layout>
                <c:manualLayout>
                  <c:x val="-9.0685412126818316E-3"/>
                  <c:y val="-8.28873931337509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59B-7742-A0B1-E378FEBECFD3}"/>
                </c:ext>
              </c:extLst>
            </c:dLbl>
            <c:dLbl>
              <c:idx val="11"/>
              <c:layout>
                <c:manualLayout>
                  <c:x val="0"/>
                  <c:y val="-0.197654552857406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9B-7742-A0B1-E378FEBECF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3543696.6166206747</c:v>
                </c:pt>
                <c:pt idx="1">
                  <c:v>4156254.7217367492</c:v>
                </c:pt>
                <c:pt idx="2">
                  <c:v>3409838.397346104</c:v>
                </c:pt>
                <c:pt idx="3">
                  <c:v>3543563.0803490374</c:v>
                </c:pt>
                <c:pt idx="4">
                  <c:v>3876882.2209684411</c:v>
                </c:pt>
                <c:pt idx="5">
                  <c:v>4697358.069809854</c:v>
                </c:pt>
                <c:pt idx="6">
                  <c:v>7494071.6264680689</c:v>
                </c:pt>
                <c:pt idx="7">
                  <c:v>7914258.1779676499</c:v>
                </c:pt>
                <c:pt idx="8">
                  <c:v>6031799.2174587399</c:v>
                </c:pt>
                <c:pt idx="9">
                  <c:v>6916011.4229366379</c:v>
                </c:pt>
                <c:pt idx="10">
                  <c:v>6937834.7311751572</c:v>
                </c:pt>
                <c:pt idx="11">
                  <c:v>5109947.4581459761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D59B-7742-A0B1-E378FEBEC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8137082425363518E-2"/>
                  <c:y val="-0.178526692903463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B0-F840-8F28-386FB1B5215F}"/>
                </c:ext>
              </c:extLst>
            </c:dLbl>
            <c:dLbl>
              <c:idx val="6"/>
              <c:layout>
                <c:manualLayout>
                  <c:x val="-2.947275894121568E-2"/>
                  <c:y val="-0.1020152530876934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4B0-F840-8F28-386FB1B5215F}"/>
                </c:ext>
              </c:extLst>
            </c:dLbl>
            <c:dLbl>
              <c:idx val="11"/>
              <c:layout>
                <c:manualLayout>
                  <c:x val="-6.8014059095113108E-3"/>
                  <c:y val="-8.92633464517317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221076.48185308889</c:v>
                </c:pt>
                <c:pt idx="1">
                  <c:v>259108.02196245332</c:v>
                </c:pt>
                <c:pt idx="2">
                  <c:v>237481.77841304569</c:v>
                </c:pt>
                <c:pt idx="3">
                  <c:v>220845.54482755446</c:v>
                </c:pt>
                <c:pt idx="4">
                  <c:v>239805.65473169071</c:v>
                </c:pt>
                <c:pt idx="5">
                  <c:v>239835.3971841773</c:v>
                </c:pt>
                <c:pt idx="6">
                  <c:v>281168.85716020665</c:v>
                </c:pt>
                <c:pt idx="7">
                  <c:v>289094.473004981</c:v>
                </c:pt>
                <c:pt idx="8">
                  <c:v>297323.54506410396</c:v>
                </c:pt>
                <c:pt idx="9">
                  <c:v>303985.54916654562</c:v>
                </c:pt>
                <c:pt idx="10">
                  <c:v>299932.24609708425</c:v>
                </c:pt>
                <c:pt idx="11">
                  <c:v>304836.75100301212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B0-F840-8F28-386FB1B5215F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0781833538881247E-17"/>
                  <c:y val="-0.108391206405674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4B0-F840-8F28-386FB1B5215F}"/>
                </c:ext>
              </c:extLst>
            </c:dLbl>
            <c:dLbl>
              <c:idx val="6"/>
              <c:layout>
                <c:manualLayout>
                  <c:x val="2.2671353031704287E-2"/>
                  <c:y val="-5.1007626543846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4B0-F840-8F28-386FB1B5215F}"/>
                </c:ext>
              </c:extLst>
            </c:dLbl>
            <c:dLbl>
              <c:idx val="11"/>
              <c:layout>
                <c:manualLayout>
                  <c:x val="-1.5869947122193227E-2"/>
                  <c:y val="-8.92633464517317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115478.0008245793</c:v>
                </c:pt>
                <c:pt idx="1">
                  <c:v>131268.19320217549</c:v>
                </c:pt>
                <c:pt idx="2">
                  <c:v>145843.17245158472</c:v>
                </c:pt>
                <c:pt idx="3">
                  <c:v>145157.9096519468</c:v>
                </c:pt>
                <c:pt idx="4">
                  <c:v>151842.89720775752</c:v>
                </c:pt>
                <c:pt idx="5">
                  <c:v>170337.09736150719</c:v>
                </c:pt>
                <c:pt idx="6">
                  <c:v>225507.26925184249</c:v>
                </c:pt>
                <c:pt idx="7">
                  <c:v>207426.24730528618</c:v>
                </c:pt>
                <c:pt idx="8">
                  <c:v>181929.698025021</c:v>
                </c:pt>
                <c:pt idx="9">
                  <c:v>187866.23081075322</c:v>
                </c:pt>
                <c:pt idx="10">
                  <c:v>177160.27166911319</c:v>
                </c:pt>
                <c:pt idx="11">
                  <c:v>191759.75054894009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E4B0-F840-8F28-386FB1B5215F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2671353031704163E-3"/>
                  <c:y val="-7.65114398157700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4B0-F840-8F28-386FB1B5215F}"/>
                </c:ext>
              </c:extLst>
            </c:dLbl>
            <c:dLbl>
              <c:idx val="6"/>
              <c:layout>
                <c:manualLayout>
                  <c:x val="0"/>
                  <c:y val="-8.9263346451731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4B0-F840-8F28-386FB1B5215F}"/>
                </c:ext>
              </c:extLst>
            </c:dLbl>
            <c:dLbl>
              <c:idx val="11"/>
              <c:layout>
                <c:manualLayout>
                  <c:x val="-4.5342706063408907E-2"/>
                  <c:y val="-0.1020152530876934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 i="0">
                    <a:latin typeface="NanumSquareOTF Bold" panose="020B0600000101010101" pitchFamily="34" charset="-127"/>
                    <a:ea typeface="NanumSquareOTF Bold" panose="020B0600000101010101" pitchFamily="34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44260.267781777497</c:v>
                </c:pt>
                <c:pt idx="1">
                  <c:v>65466.830024756804</c:v>
                </c:pt>
                <c:pt idx="2">
                  <c:v>57767.249647172597</c:v>
                </c:pt>
                <c:pt idx="3">
                  <c:v>50838.706052133595</c:v>
                </c:pt>
                <c:pt idx="4">
                  <c:v>55733.809401200102</c:v>
                </c:pt>
                <c:pt idx="5">
                  <c:v>70454.682287246309</c:v>
                </c:pt>
                <c:pt idx="6">
                  <c:v>80071.478775516909</c:v>
                </c:pt>
                <c:pt idx="7">
                  <c:v>56754.163203870499</c:v>
                </c:pt>
                <c:pt idx="8">
                  <c:v>62431.170865126303</c:v>
                </c:pt>
                <c:pt idx="9">
                  <c:v>60232.741938255</c:v>
                </c:pt>
                <c:pt idx="10">
                  <c:v>65025.285534303002</c:v>
                </c:pt>
                <c:pt idx="11">
                  <c:v>57586.954473746395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E4B0-F840-8F28-386FB1B5215F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2.947275894121568E-2"/>
                  <c:y val="3.8255719907884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4B0-F840-8F28-386FB1B5215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28740.881151035032</c:v>
                </c:pt>
                <c:pt idx="1">
                  <c:v>29733.741767841886</c:v>
                </c:pt>
                <c:pt idx="2">
                  <c:v>27691.798087044546</c:v>
                </c:pt>
                <c:pt idx="3">
                  <c:v>25411.572406089719</c:v>
                </c:pt>
                <c:pt idx="4">
                  <c:v>27065.128755812162</c:v>
                </c:pt>
                <c:pt idx="5">
                  <c:v>28168.016993975285</c:v>
                </c:pt>
                <c:pt idx="6">
                  <c:v>32050.912879596144</c:v>
                </c:pt>
                <c:pt idx="7">
                  <c:v>34672.06076604635</c:v>
                </c:pt>
                <c:pt idx="8">
                  <c:v>41103.460764573443</c:v>
                </c:pt>
                <c:pt idx="9">
                  <c:v>43544.357038005131</c:v>
                </c:pt>
                <c:pt idx="10">
                  <c:v>44037.314918786302</c:v>
                </c:pt>
                <c:pt idx="11">
                  <c:v>40268.714874546626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E4B0-F840-8F28-386FB1B52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8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700" b="1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4.9999973222811377E-2"/>
          <c:y val="0.88606020807697738"/>
          <c:w val="0.8999998750397864"/>
          <c:h val="0.10756383860504182"/>
        </c:manualLayout>
      </c:layout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17120.0670925056</c:v>
                </c:pt>
                <c:pt idx="1">
                  <c:v>31771.336212739501</c:v>
                </c:pt>
                <c:pt idx="2">
                  <c:v>123081.0284095789</c:v>
                </c:pt>
                <c:pt idx="3">
                  <c:v>118046.66037689173</c:v>
                </c:pt>
                <c:pt idx="4">
                  <c:v>154246.12772673331</c:v>
                </c:pt>
                <c:pt idx="5">
                  <c:v>139347.73115452297</c:v>
                </c:pt>
                <c:pt idx="6">
                  <c:v>137341.02574737062</c:v>
                </c:pt>
                <c:pt idx="7">
                  <c:v>157366.80076211953</c:v>
                </c:pt>
                <c:pt idx="8">
                  <c:v>173901.3960011536</c:v>
                </c:pt>
                <c:pt idx="9">
                  <c:v>170087.9052059566</c:v>
                </c:pt>
                <c:pt idx="10">
                  <c:v>172991.90098140249</c:v>
                </c:pt>
                <c:pt idx="11">
                  <c:v>199046.71445727532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51-694E-BF47-B157EF9ACAB7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287681.54259947612</c:v>
                </c:pt>
                <c:pt idx="1">
                  <c:v>245727.9392859886</c:v>
                </c:pt>
                <c:pt idx="2">
                  <c:v>549291.53797097679</c:v>
                </c:pt>
                <c:pt idx="3">
                  <c:v>591942.52874925535</c:v>
                </c:pt>
                <c:pt idx="4">
                  <c:v>638471.96654447902</c:v>
                </c:pt>
                <c:pt idx="5">
                  <c:v>565559.88676796458</c:v>
                </c:pt>
                <c:pt idx="6">
                  <c:v>551274.20120870124</c:v>
                </c:pt>
                <c:pt idx="7">
                  <c:v>584810.34526853019</c:v>
                </c:pt>
                <c:pt idx="8">
                  <c:v>571750.74959489051</c:v>
                </c:pt>
                <c:pt idx="9">
                  <c:v>624354.50746088033</c:v>
                </c:pt>
                <c:pt idx="10">
                  <c:v>780247.8702550726</c:v>
                </c:pt>
                <c:pt idx="11">
                  <c:v>836277.71009231126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551-694E-BF47-B157EF9ACAB7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286714.49597543105</c:v>
                </c:pt>
                <c:pt idx="1">
                  <c:v>248926.27679203541</c:v>
                </c:pt>
                <c:pt idx="2">
                  <c:v>290422.1928331696</c:v>
                </c:pt>
                <c:pt idx="3">
                  <c:v>295752.77722762374</c:v>
                </c:pt>
                <c:pt idx="4">
                  <c:v>295893.9345806553</c:v>
                </c:pt>
                <c:pt idx="5">
                  <c:v>302716.06455519533</c:v>
                </c:pt>
                <c:pt idx="6">
                  <c:v>331457.76743974187</c:v>
                </c:pt>
                <c:pt idx="7">
                  <c:v>314874.11885675567</c:v>
                </c:pt>
                <c:pt idx="8">
                  <c:v>254450.47816728582</c:v>
                </c:pt>
                <c:pt idx="9">
                  <c:v>253255.18104135917</c:v>
                </c:pt>
                <c:pt idx="10">
                  <c:v>254057.44310478133</c:v>
                </c:pt>
                <c:pt idx="11">
                  <c:v>268291.25200538989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551-694E-BF47-B157EF9ACAB7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47563.768995855069</c:v>
                </c:pt>
                <c:pt idx="1">
                  <c:v>54309.787594951405</c:v>
                </c:pt>
                <c:pt idx="2">
                  <c:v>91537.907729996441</c:v>
                </c:pt>
                <c:pt idx="3">
                  <c:v>86942.125409065469</c:v>
                </c:pt>
                <c:pt idx="4">
                  <c:v>103766.34258332168</c:v>
                </c:pt>
                <c:pt idx="5">
                  <c:v>98570.874163815824</c:v>
                </c:pt>
                <c:pt idx="6">
                  <c:v>99385.822359098631</c:v>
                </c:pt>
                <c:pt idx="7">
                  <c:v>89404.510445837717</c:v>
                </c:pt>
                <c:pt idx="8">
                  <c:v>94371.182147336731</c:v>
                </c:pt>
                <c:pt idx="9">
                  <c:v>105211.37093570517</c:v>
                </c:pt>
                <c:pt idx="10">
                  <c:v>105669.02511603669</c:v>
                </c:pt>
                <c:pt idx="11">
                  <c:v>112011.25385805198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551-694E-BF47-B157EF9ACAB7}"/>
            </c:ext>
          </c:extLst>
        </c:ser>
        <c:ser>
          <c:idx val="4"/>
          <c:order val="4"/>
          <c:tx>
            <c:strRef>
              <c:f>'Data Data Transfer'!$AL$5</c:f>
              <c:strCache>
                <c:ptCount val="1"/>
                <c:pt idx="0">
                  <c:v> Inter AZ </c:v>
                </c:pt>
              </c:strCache>
            </c:strRef>
          </c:tx>
          <c:spPr>
            <a:ln w="28575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2.4263431542461134E-2"/>
                  <c:y val="-0.1694915254237288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51-694E-BF47-B157EF9ACAB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Transfer'!$AL$6:$AL$18</c:f>
              <c:numCache>
                <c:formatCode>_(* #,##0.00_);_(* \(#,##0.00\);_(* "-"??_);_(@_)</c:formatCode>
                <c:ptCount val="13"/>
                <c:pt idx="0">
                  <c:v>2896273.4922271101</c:v>
                </c:pt>
                <c:pt idx="1">
                  <c:v>2847179.9536750237</c:v>
                </c:pt>
                <c:pt idx="2">
                  <c:v>3366716.2000729102</c:v>
                </c:pt>
                <c:pt idx="3">
                  <c:v>3791219.2237971751</c:v>
                </c:pt>
                <c:pt idx="4">
                  <c:v>4281906.1111320006</c:v>
                </c:pt>
                <c:pt idx="5">
                  <c:v>4762555.1122703785</c:v>
                </c:pt>
                <c:pt idx="6">
                  <c:v>5821460.2575610811</c:v>
                </c:pt>
                <c:pt idx="7">
                  <c:v>5477902.4060146753</c:v>
                </c:pt>
                <c:pt idx="8">
                  <c:v>5946440.25552228</c:v>
                </c:pt>
                <c:pt idx="9">
                  <c:v>5303163.8954733321</c:v>
                </c:pt>
                <c:pt idx="10">
                  <c:v>4317896.7711827504</c:v>
                </c:pt>
                <c:pt idx="11">
                  <c:v>4564813.168265109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8551-694E-BF47-B157EF9ACA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'Data Data Transfer'!$AH$5</c:f>
              <c:strCache>
                <c:ptCount val="1"/>
                <c:pt idx="0">
                  <c:v> CloudFront </c:v>
                </c:pt>
              </c:strCache>
            </c:strRef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6.0898592565860721E-2"/>
                  <c:y val="5.7885906422646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6A-524A-B083-43B063CA8842}"/>
                </c:ext>
              </c:extLst>
            </c:dLbl>
            <c:dLbl>
              <c:idx val="11"/>
              <c:layout>
                <c:manualLayout>
                  <c:x val="-1.1277517141826055E-2"/>
                  <c:y val="1.15771812845292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6A-524A-B083-43B063CA88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Transfer'!$AH$6:$AH$18</c:f>
              <c:numCache>
                <c:formatCode>_(* #,##0.00_);_(* \(#,##0.00\);_(* "-"??_);_(@_)</c:formatCode>
                <c:ptCount val="13"/>
                <c:pt idx="0">
                  <c:v>17120.0670925056</c:v>
                </c:pt>
                <c:pt idx="1">
                  <c:v>31771.336212739501</c:v>
                </c:pt>
                <c:pt idx="2">
                  <c:v>123081.0284095789</c:v>
                </c:pt>
                <c:pt idx="3">
                  <c:v>118046.66037689173</c:v>
                </c:pt>
                <c:pt idx="4">
                  <c:v>154246.12772673331</c:v>
                </c:pt>
                <c:pt idx="5">
                  <c:v>139347.73115452297</c:v>
                </c:pt>
                <c:pt idx="6">
                  <c:v>137341.02574737062</c:v>
                </c:pt>
                <c:pt idx="7">
                  <c:v>157366.80076211953</c:v>
                </c:pt>
                <c:pt idx="8">
                  <c:v>173901.3960011536</c:v>
                </c:pt>
                <c:pt idx="9">
                  <c:v>170087.9052059566</c:v>
                </c:pt>
                <c:pt idx="10">
                  <c:v>172991.90098140249</c:v>
                </c:pt>
                <c:pt idx="11">
                  <c:v>199046.71445727532</c:v>
                </c:pt>
                <c:pt idx="1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6A-524A-B083-43B063CA8842}"/>
            </c:ext>
          </c:extLst>
        </c:ser>
        <c:ser>
          <c:idx val="1"/>
          <c:order val="1"/>
          <c:tx>
            <c:strRef>
              <c:f>'Data Data Transfer'!$AI$5</c:f>
              <c:strCache>
                <c:ptCount val="1"/>
                <c:pt idx="0">
                  <c:v> Data Transfer In </c:v>
                </c:pt>
              </c:strCache>
            </c:strRef>
          </c:tx>
          <c:spPr>
            <a:ln w="28575" cap="rnd">
              <a:solidFill>
                <a:schemeClr val="accent5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5.6387585709130286E-2"/>
                  <c:y val="-5.7885906422646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6A-524A-B083-43B063CA8842}"/>
                </c:ext>
              </c:extLst>
            </c:dLbl>
            <c:dLbl>
              <c:idx val="11"/>
              <c:layout>
                <c:manualLayout>
                  <c:x val="-2.4810537712017487E-2"/>
                  <c:y val="-4.63087251381171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6A-524A-B083-43B063CA88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Transfer'!$AI$6:$AI$18</c:f>
              <c:numCache>
                <c:formatCode>_(* #,##0.00_);_(* \(#,##0.00\);_(* "-"??_);_(@_)</c:formatCode>
                <c:ptCount val="13"/>
                <c:pt idx="0">
                  <c:v>287681.54259947612</c:v>
                </c:pt>
                <c:pt idx="1">
                  <c:v>245727.9392859886</c:v>
                </c:pt>
                <c:pt idx="2">
                  <c:v>549291.53797097679</c:v>
                </c:pt>
                <c:pt idx="3">
                  <c:v>591942.52874925535</c:v>
                </c:pt>
                <c:pt idx="4">
                  <c:v>638471.96654447902</c:v>
                </c:pt>
                <c:pt idx="5">
                  <c:v>565559.88676796458</c:v>
                </c:pt>
                <c:pt idx="6">
                  <c:v>551274.20120870124</c:v>
                </c:pt>
                <c:pt idx="7">
                  <c:v>584810.34526853019</c:v>
                </c:pt>
                <c:pt idx="8">
                  <c:v>571750.74959489051</c:v>
                </c:pt>
                <c:pt idx="9">
                  <c:v>624354.50746088033</c:v>
                </c:pt>
                <c:pt idx="10">
                  <c:v>780247.8702550726</c:v>
                </c:pt>
                <c:pt idx="11">
                  <c:v>836277.71009231126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F6A-524A-B083-43B063CA8842}"/>
            </c:ext>
          </c:extLst>
        </c:ser>
        <c:ser>
          <c:idx val="2"/>
          <c:order val="2"/>
          <c:tx>
            <c:strRef>
              <c:f>'Data Data Transfer'!$AJ$5</c:f>
              <c:strCache>
                <c:ptCount val="1"/>
                <c:pt idx="0">
                  <c:v> Data Transfer Out </c:v>
                </c:pt>
              </c:strCache>
            </c:strRef>
          </c:tx>
          <c:spPr>
            <a:ln w="28575" cap="rnd">
              <a:solidFill>
                <a:schemeClr val="accent6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5.6387585709130286E-2"/>
                  <c:y val="5.20973157803817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6A-524A-B083-43B063CA8842}"/>
                </c:ext>
              </c:extLst>
            </c:dLbl>
            <c:dLbl>
              <c:idx val="11"/>
              <c:layout>
                <c:manualLayout>
                  <c:x val="-1.3533020570191267E-2"/>
                  <c:y val="-7.52516783494404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6A-524A-B083-43B063CA88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Transfer'!$AJ$6:$AJ$18</c:f>
              <c:numCache>
                <c:formatCode>_(* #,##0.00_);_(* \(#,##0.00\);_(* "-"??_);_(@_)</c:formatCode>
                <c:ptCount val="13"/>
                <c:pt idx="0">
                  <c:v>286714.49597543105</c:v>
                </c:pt>
                <c:pt idx="1">
                  <c:v>248926.27679203541</c:v>
                </c:pt>
                <c:pt idx="2">
                  <c:v>290422.1928331696</c:v>
                </c:pt>
                <c:pt idx="3">
                  <c:v>295752.77722762374</c:v>
                </c:pt>
                <c:pt idx="4">
                  <c:v>295893.9345806553</c:v>
                </c:pt>
                <c:pt idx="5">
                  <c:v>302716.06455519533</c:v>
                </c:pt>
                <c:pt idx="6">
                  <c:v>331457.76743974187</c:v>
                </c:pt>
                <c:pt idx="7">
                  <c:v>314874.11885675567</c:v>
                </c:pt>
                <c:pt idx="8">
                  <c:v>254450.47816728582</c:v>
                </c:pt>
                <c:pt idx="9">
                  <c:v>253255.18104135917</c:v>
                </c:pt>
                <c:pt idx="10">
                  <c:v>254057.44310478133</c:v>
                </c:pt>
                <c:pt idx="11">
                  <c:v>268291.25200538989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F6A-524A-B083-43B063CA8842}"/>
            </c:ext>
          </c:extLst>
        </c:ser>
        <c:ser>
          <c:idx val="3"/>
          <c:order val="3"/>
          <c:tx>
            <c:strRef>
              <c:f>'Data Data Transfer'!$AK$5</c:f>
              <c:strCache>
                <c:ptCount val="1"/>
                <c:pt idx="0">
                  <c:v> Region-Region </c:v>
                </c:pt>
              </c:strCache>
            </c:strRef>
          </c:tx>
          <c:spPr>
            <a:ln w="28575" cap="rnd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5110068567304221E-2"/>
                  <c:y val="-5.7885906422646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6A-524A-B083-43B063CA8842}"/>
                </c:ext>
              </c:extLst>
            </c:dLbl>
            <c:dLbl>
              <c:idx val="11"/>
              <c:layout>
                <c:manualLayout>
                  <c:x val="-1.5788523998556479E-2"/>
                  <c:y val="3.47315438535878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6A-524A-B083-43B063CA884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Data Transfer'!$AG$6:$AG$18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'Data Data Transfer'!$AK$6:$AK$18</c:f>
              <c:numCache>
                <c:formatCode>_(* #,##0.00_);_(* \(#,##0.00\);_(* "-"??_);_(@_)</c:formatCode>
                <c:ptCount val="13"/>
                <c:pt idx="0">
                  <c:v>47563.768995855069</c:v>
                </c:pt>
                <c:pt idx="1">
                  <c:v>54309.787594951405</c:v>
                </c:pt>
                <c:pt idx="2">
                  <c:v>91537.907729996441</c:v>
                </c:pt>
                <c:pt idx="3">
                  <c:v>86942.125409065469</c:v>
                </c:pt>
                <c:pt idx="4">
                  <c:v>103766.34258332168</c:v>
                </c:pt>
                <c:pt idx="5">
                  <c:v>98570.874163815824</c:v>
                </c:pt>
                <c:pt idx="6">
                  <c:v>99385.822359098631</c:v>
                </c:pt>
                <c:pt idx="7">
                  <c:v>89404.510445837717</c:v>
                </c:pt>
                <c:pt idx="8">
                  <c:v>94371.182147336731</c:v>
                </c:pt>
                <c:pt idx="9">
                  <c:v>105211.37093570517</c:v>
                </c:pt>
                <c:pt idx="10">
                  <c:v>105669.02511603669</c:v>
                </c:pt>
                <c:pt idx="11">
                  <c:v>112011.25385805198</c:v>
                </c:pt>
                <c:pt idx="1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F6A-524A-B083-43B063CA8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7225088"/>
        <c:axId val="1972075088"/>
      </c:lineChart>
      <c:dateAx>
        <c:axId val="1977225088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2075088"/>
        <c:crosses val="autoZero"/>
        <c:auto val="0"/>
        <c:lblOffset val="100"/>
        <c:baseTimeUnit val="months"/>
      </c:dateAx>
      <c:valAx>
        <c:axId val="1972075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77225088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spcFirstLastPara="1" vertOverflow="ellipsis" vert="horz" wrap="square" anchor="ctr" anchorCtr="1"/>
        <a:lstStyle/>
        <a:p>
          <a:pPr>
            <a:defRPr sz="800" b="1" i="0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prstDash val="solid"/>
      <a:round/>
    </a:ln>
  </c:spPr>
  <c:externalData r:id="rId2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2297761140806928E-2"/>
          <c:y val="9.7995545657015584E-2"/>
          <c:w val="0.87992451187822418"/>
          <c:h val="0.532752748890798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Storage'!$Y$15</c:f>
              <c:strCache>
                <c:ptCount val="1"/>
                <c:pt idx="0">
                  <c:v> S3 Standard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9.047671969884789E-3"/>
                  <c:y val="-0.303895719416493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2EA-BC49-AA9F-6C102246180F}"/>
                </c:ext>
              </c:extLst>
            </c:dLbl>
            <c:dLbl>
              <c:idx val="5"/>
              <c:layout>
                <c:manualLayout>
                  <c:x val="0"/>
                  <c:y val="-0.296828377104482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2EA-BC49-AA9F-6C102246180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Storage'!$AY$15:$BD$15</c:f>
              <c:numCache>
                <c:formatCode>0</c:formatCode>
                <c:ptCount val="6"/>
                <c:pt idx="0">
                  <c:v>278396.19744890882</c:v>
                </c:pt>
                <c:pt idx="1">
                  <c:v>280994.61136384204</c:v>
                </c:pt>
                <c:pt idx="2">
                  <c:v>253346.53477430347</c:v>
                </c:pt>
                <c:pt idx="3">
                  <c:v>232523.8396972802</c:v>
                </c:pt>
                <c:pt idx="4">
                  <c:v>229888.18654160493</c:v>
                </c:pt>
                <c:pt idx="5">
                  <c:v>241125.68192256422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EA-BC49-AA9F-6C102246180F}"/>
            </c:ext>
          </c:extLst>
        </c:ser>
        <c:ser>
          <c:idx val="1"/>
          <c:order val="1"/>
          <c:tx>
            <c:strRef>
              <c:f>'Data Storage'!$Y$16</c:f>
              <c:strCache>
                <c:ptCount val="1"/>
                <c:pt idx="0">
                  <c:v> S3 Infrequent Access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Storage'!$AY$16:$BD$16</c:f>
              <c:numCache>
                <c:formatCode>0</c:formatCode>
                <c:ptCount val="6"/>
                <c:pt idx="0">
                  <c:v>5.6107636600000003E-2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EA-BC49-AA9F-6C102246180F}"/>
            </c:ext>
          </c:extLst>
        </c:ser>
        <c:ser>
          <c:idx val="2"/>
          <c:order val="2"/>
          <c:tx>
            <c:strRef>
              <c:f>'Data Storage'!$Y$17</c:f>
              <c:strCache>
                <c:ptCount val="1"/>
                <c:pt idx="0">
                  <c:v> S3 Glacier Flexible Retrieval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Storage'!$AY$17:$BD$17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EA-BC49-AA9F-6C102246180F}"/>
            </c:ext>
          </c:extLst>
        </c:ser>
        <c:ser>
          <c:idx val="3"/>
          <c:order val="3"/>
          <c:tx>
            <c:strRef>
              <c:f>'Data Storage'!$Y$18</c:f>
              <c:strCache>
                <c:ptCount val="1"/>
                <c:pt idx="0">
                  <c:v> S3 Glacier Deep Archive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Storage'!$AY$18:$BD$18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EA-BC49-AA9F-6C10224618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3741437665503393"/>
          <c:w val="1"/>
          <c:h val="0.1091335075320484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119861879328797"/>
          <c:y val="9.355069416356171E-2"/>
          <c:w val="0.86256074937314775"/>
          <c:h val="0.502926388929812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Storage'!$Y$15</c:f>
              <c:strCache>
                <c:ptCount val="1"/>
                <c:pt idx="0">
                  <c:v> S3 Standard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7.0119457766607107E-2"/>
                  <c:y val="-0.2960921662639113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F3-0C4A-B36F-330743F76E23}"/>
                </c:ext>
              </c:extLst>
            </c:dLbl>
            <c:dLbl>
              <c:idx val="5"/>
              <c:layout>
                <c:manualLayout>
                  <c:x val="3.1666851894596761E-2"/>
                  <c:y val="-0.318299078733704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F3-0C4A-B36F-330743F76E2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Storage'!$AG$15:$AL$15</c:f>
              <c:numCache>
                <c:formatCode>_("$"* #,##0.00_);_("$"* \(#,##0.00\);_("$"* "-"??_);_(@_)</c:formatCode>
                <c:ptCount val="6"/>
                <c:pt idx="0">
                  <c:v>6733.0603231808</c:v>
                </c:pt>
                <c:pt idx="1">
                  <c:v>6795.50477366</c:v>
                </c:pt>
                <c:pt idx="2">
                  <c:v>6132.0746848120998</c:v>
                </c:pt>
                <c:pt idx="3">
                  <c:v>5632.468596891199</c:v>
                </c:pt>
                <c:pt idx="4">
                  <c:v>5569.386415328001</c:v>
                </c:pt>
                <c:pt idx="5">
                  <c:v>5839.5728558985993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F3-0C4A-B36F-330743F76E23}"/>
            </c:ext>
          </c:extLst>
        </c:ser>
        <c:ser>
          <c:idx val="1"/>
          <c:order val="1"/>
          <c:tx>
            <c:strRef>
              <c:f>'Data Storage'!$Y$16</c:f>
              <c:strCache>
                <c:ptCount val="1"/>
                <c:pt idx="0">
                  <c:v> S3 Infrequent Access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Storage'!$AG$16:$AL$16</c:f>
              <c:numCache>
                <c:formatCode>_("$"* #,##0.00_);_("$"* \(#,##0.00\);_("$"* "-"??_);_(@_)</c:formatCode>
                <c:ptCount val="6"/>
                <c:pt idx="0">
                  <c:v>7.7428540000000002E-4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F3-0C4A-B36F-330743F76E23}"/>
            </c:ext>
          </c:extLst>
        </c:ser>
        <c:ser>
          <c:idx val="2"/>
          <c:order val="2"/>
          <c:tx>
            <c:strRef>
              <c:f>'Data Storage'!$Y$17</c:f>
              <c:strCache>
                <c:ptCount val="1"/>
                <c:pt idx="0">
                  <c:v> S3 Glacier Flexible Retrieval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Storage'!$AG$17:$AL$17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F3-0C4A-B36F-330743F76E23}"/>
            </c:ext>
          </c:extLst>
        </c:ser>
        <c:ser>
          <c:idx val="3"/>
          <c:order val="3"/>
          <c:tx>
            <c:strRef>
              <c:f>'Data Storage'!$Y$18</c:f>
              <c:strCache>
                <c:ptCount val="1"/>
                <c:pt idx="0">
                  <c:v> S3 Glacier Deep Archive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Storage'!$AG$18:$AL$18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F3-0C4A-B36F-330743F76E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[$-409]mmm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month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9536120209877519E-3"/>
          <c:y val="0.73776608710326341"/>
          <c:w val="0.99177886116766323"/>
          <c:h val="0.21120626153479391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0982946162849271E-2"/>
          <c:y val="0.1054958266092644"/>
          <c:w val="0.88291462319076708"/>
          <c:h val="0.44585541861151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Storage'!$Z$6</c:f>
              <c:strCache>
                <c:ptCount val="1"/>
                <c:pt idx="0">
                  <c:v> gp2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Storage'!$AY$6:$BD$6</c:f>
              <c:numCache>
                <c:formatCode>0</c:formatCode>
                <c:ptCount val="6"/>
                <c:pt idx="0">
                  <c:v>6241.2317920364003</c:v>
                </c:pt>
                <c:pt idx="1">
                  <c:v>4530.2618900685002</c:v>
                </c:pt>
                <c:pt idx="2">
                  <c:v>4479.5196766526005</c:v>
                </c:pt>
                <c:pt idx="3">
                  <c:v>4534.0582164348998</c:v>
                </c:pt>
                <c:pt idx="4">
                  <c:v>4381.6349625160001</c:v>
                </c:pt>
                <c:pt idx="5">
                  <c:v>4334.2740018472005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4D-E84A-B947-26AC32ABD1D0}"/>
            </c:ext>
          </c:extLst>
        </c:ser>
        <c:ser>
          <c:idx val="1"/>
          <c:order val="1"/>
          <c:tx>
            <c:strRef>
              <c:f>'Data Storage'!$Z$7</c:f>
              <c:strCache>
                <c:ptCount val="1"/>
                <c:pt idx="0">
                  <c:v> gp3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93220017731601E-2"/>
                  <c:y val="-0.22430577803245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B4D-E84A-B947-26AC32ABD1D0}"/>
                </c:ext>
              </c:extLst>
            </c:dLbl>
            <c:dLbl>
              <c:idx val="5"/>
              <c:layout>
                <c:manualLayout>
                  <c:x val="1.5747627006206053E-2"/>
                  <c:y val="-0.274151506484114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B4D-E84A-B947-26AC32ABD1D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Storage'!$AY$7:$BD$7</c:f>
              <c:numCache>
                <c:formatCode>0</c:formatCode>
                <c:ptCount val="6"/>
                <c:pt idx="0">
                  <c:v>93980.487689025598</c:v>
                </c:pt>
                <c:pt idx="1">
                  <c:v>118845.47658027809</c:v>
                </c:pt>
                <c:pt idx="2">
                  <c:v>122052.9684834614</c:v>
                </c:pt>
                <c:pt idx="3">
                  <c:v>128958.3344350386</c:v>
                </c:pt>
                <c:pt idx="4">
                  <c:v>130557.2946911975</c:v>
                </c:pt>
                <c:pt idx="5">
                  <c:v>124160.13578851281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4D-E84A-B947-26AC32ABD1D0}"/>
            </c:ext>
          </c:extLst>
        </c:ser>
        <c:ser>
          <c:idx val="2"/>
          <c:order val="2"/>
          <c:tx>
            <c:strRef>
              <c:f>'Data Storage'!$Z$8</c:f>
              <c:strCache>
                <c:ptCount val="1"/>
                <c:pt idx="0">
                  <c:v> st1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Storage'!$AY$8:$BD$8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4D-E84A-B947-26AC32ABD1D0}"/>
            </c:ext>
          </c:extLst>
        </c:ser>
        <c:ser>
          <c:idx val="3"/>
          <c:order val="3"/>
          <c:tx>
            <c:strRef>
              <c:f>'Data Storage'!$Z$9</c:f>
              <c:strCache>
                <c:ptCount val="1"/>
                <c:pt idx="0">
                  <c:v> sc1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Storage'!$AY$9:$BD$9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B4D-E84A-B947-26AC32ABD1D0}"/>
            </c:ext>
          </c:extLst>
        </c:ser>
        <c:ser>
          <c:idx val="4"/>
          <c:order val="4"/>
          <c:tx>
            <c:strRef>
              <c:f>'Data Storage'!$Z$10</c:f>
              <c:strCache>
                <c:ptCount val="1"/>
                <c:pt idx="0">
                  <c:v> piops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Storage'!$AY$10:$BD$10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4D-E84A-B947-26AC32ABD1D0}"/>
            </c:ext>
          </c:extLst>
        </c:ser>
        <c:ser>
          <c:idx val="5"/>
          <c:order val="5"/>
          <c:tx>
            <c:strRef>
              <c:f>'Data Storage'!$Z$11</c:f>
              <c:strCache>
                <c:ptCount val="1"/>
                <c:pt idx="0">
                  <c:v> io1 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Storage'!$AY$11:$BD$11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B4D-E84A-B947-26AC32ABD1D0}"/>
            </c:ext>
          </c:extLst>
        </c:ser>
        <c:ser>
          <c:idx val="6"/>
          <c:order val="6"/>
          <c:tx>
            <c:strRef>
              <c:f>'Data Storage'!$Z$12</c:f>
              <c:strCache>
                <c:ptCount val="1"/>
                <c:pt idx="0">
                  <c:v> io2 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Storage'!$AY$12:$BD$12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4D-E84A-B947-26AC32ABD1D0}"/>
            </c:ext>
          </c:extLst>
        </c:ser>
        <c:ser>
          <c:idx val="7"/>
          <c:order val="7"/>
          <c:tx>
            <c:strRef>
              <c:f>'Data Storage'!$Z$13</c:f>
              <c:strCache>
                <c:ptCount val="1"/>
                <c:pt idx="0">
                  <c:v> magnetic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Storage'!$AY$13:$BD$13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B4D-E84A-B947-26AC32ABD1D0}"/>
            </c:ext>
          </c:extLst>
        </c:ser>
        <c:ser>
          <c:idx val="8"/>
          <c:order val="8"/>
          <c:tx>
            <c:strRef>
              <c:f>'Data Storage'!$Z$14</c:f>
              <c:strCache>
                <c:ptCount val="1"/>
                <c:pt idx="0">
                  <c:v> snapshot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Storage'!$AY$14:$BD$14</c:f>
              <c:numCache>
                <c:formatCode>0</c:formatCode>
                <c:ptCount val="6"/>
                <c:pt idx="0">
                  <c:v>2590.8037109235997</c:v>
                </c:pt>
                <c:pt idx="1">
                  <c:v>2590.8037109235997</c:v>
                </c:pt>
                <c:pt idx="2">
                  <c:v>2590.8037109490001</c:v>
                </c:pt>
                <c:pt idx="3">
                  <c:v>2590.8037109235997</c:v>
                </c:pt>
                <c:pt idx="4">
                  <c:v>2590.8721428880003</c:v>
                </c:pt>
                <c:pt idx="5">
                  <c:v>2590.8037109235997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B4D-E84A-B947-26AC32ABD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8.3298038455032017E-2"/>
          <c:y val="0.76232820789230937"/>
          <c:w val="0.83340374595127442"/>
          <c:h val="0.11465892846052735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'Data Storage'!$Z$6</c:f>
              <c:strCache>
                <c:ptCount val="1"/>
                <c:pt idx="0">
                  <c:v> gp2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Storage'!$AG$6:$AL$6</c:f>
              <c:numCache>
                <c:formatCode>_("$"* #,##0.00_);_("$"* \(#,##0.00\);_("$"* "-"??_);_(@_)</c:formatCode>
                <c:ptCount val="6"/>
                <c:pt idx="0">
                  <c:v>715.69763563729998</c:v>
                </c:pt>
                <c:pt idx="1">
                  <c:v>520.75418023710006</c:v>
                </c:pt>
                <c:pt idx="2">
                  <c:v>515.51634022949997</c:v>
                </c:pt>
                <c:pt idx="3">
                  <c:v>521.95107718020006</c:v>
                </c:pt>
                <c:pt idx="4">
                  <c:v>504.68375329190002</c:v>
                </c:pt>
                <c:pt idx="5">
                  <c:v>499.47412678320001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B8-5144-9DB0-7929EC710E94}"/>
            </c:ext>
          </c:extLst>
        </c:ser>
        <c:ser>
          <c:idx val="1"/>
          <c:order val="1"/>
          <c:tx>
            <c:strRef>
              <c:f>'Data Storage'!$Z$7</c:f>
              <c:strCache>
                <c:ptCount val="1"/>
                <c:pt idx="0">
                  <c:v> gp3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3.6159697739093548E-2"/>
                  <c:y val="-0.2589580934331104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6B8-5144-9DB0-7929EC710E94}"/>
                </c:ext>
              </c:extLst>
            </c:dLbl>
            <c:dLbl>
              <c:idx val="5"/>
              <c:layout>
                <c:manualLayout>
                  <c:x val="4.5199622173866935E-3"/>
                  <c:y val="-0.3543637068032036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6B8-5144-9DB0-7929EC710E9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Storage'!$AG$7:$AL$7</c:f>
              <c:numCache>
                <c:formatCode>_("$"* #,##0.00_);_("$"* \(#,##0.00\);_("$"* "-"??_);_(@_)</c:formatCode>
                <c:ptCount val="6"/>
                <c:pt idx="0">
                  <c:v>8550.7073850437991</c:v>
                </c:pt>
                <c:pt idx="1">
                  <c:v>10828.065336609399</c:v>
                </c:pt>
                <c:pt idx="2">
                  <c:v>11120.2809172742</c:v>
                </c:pt>
                <c:pt idx="3">
                  <c:v>11752.7463395594</c:v>
                </c:pt>
                <c:pt idx="4">
                  <c:v>11899.2423828012</c:v>
                </c:pt>
                <c:pt idx="5">
                  <c:v>11318.725003690599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B8-5144-9DB0-7929EC710E94}"/>
            </c:ext>
          </c:extLst>
        </c:ser>
        <c:ser>
          <c:idx val="2"/>
          <c:order val="2"/>
          <c:tx>
            <c:strRef>
              <c:f>'Data Storage'!$Z$8</c:f>
              <c:strCache>
                <c:ptCount val="1"/>
                <c:pt idx="0">
                  <c:v> st1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Storage'!$AG$8:$AL$8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B8-5144-9DB0-7929EC710E94}"/>
            </c:ext>
          </c:extLst>
        </c:ser>
        <c:ser>
          <c:idx val="3"/>
          <c:order val="3"/>
          <c:tx>
            <c:strRef>
              <c:f>'Data Storage'!$Z$9</c:f>
              <c:strCache>
                <c:ptCount val="1"/>
                <c:pt idx="0">
                  <c:v> sc1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Storage'!$AG$9:$AL$9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B8-5144-9DB0-7929EC710E94}"/>
            </c:ext>
          </c:extLst>
        </c:ser>
        <c:ser>
          <c:idx val="4"/>
          <c:order val="4"/>
          <c:tx>
            <c:strRef>
              <c:f>'Data Storage'!$Z$10</c:f>
              <c:strCache>
                <c:ptCount val="1"/>
                <c:pt idx="0">
                  <c:v> piops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Storage'!$AG$10:$AL$10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B8-5144-9DB0-7929EC710E94}"/>
            </c:ext>
          </c:extLst>
        </c:ser>
        <c:ser>
          <c:idx val="5"/>
          <c:order val="5"/>
          <c:tx>
            <c:strRef>
              <c:f>'Data Storage'!$Z$11</c:f>
              <c:strCache>
                <c:ptCount val="1"/>
                <c:pt idx="0">
                  <c:v> io1 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Storage'!$AG$11:$AL$11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6B8-5144-9DB0-7929EC710E94}"/>
            </c:ext>
          </c:extLst>
        </c:ser>
        <c:ser>
          <c:idx val="6"/>
          <c:order val="6"/>
          <c:tx>
            <c:strRef>
              <c:f>'Data Storage'!$Z$12</c:f>
              <c:strCache>
                <c:ptCount val="1"/>
                <c:pt idx="0">
                  <c:v> io2 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Storage'!$AG$12:$AL$12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B8-5144-9DB0-7929EC710E94}"/>
            </c:ext>
          </c:extLst>
        </c:ser>
        <c:ser>
          <c:idx val="7"/>
          <c:order val="7"/>
          <c:tx>
            <c:strRef>
              <c:f>'Data Storage'!$Z$13</c:f>
              <c:strCache>
                <c:ptCount val="1"/>
                <c:pt idx="0">
                  <c:v> magnetic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Storage'!$AG$13:$AL$13</c:f>
              <c:numCache>
                <c:formatCode>_("$"* #,##0.00_);_("$"* \(#,##0.00\);_("$"* "-"??_);_(@_)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6B8-5144-9DB0-7929EC710E94}"/>
            </c:ext>
          </c:extLst>
        </c:ser>
        <c:ser>
          <c:idx val="8"/>
          <c:order val="8"/>
          <c:tx>
            <c:strRef>
              <c:f>'Data Storage'!$Z$14</c:f>
              <c:strCache>
                <c:ptCount val="1"/>
                <c:pt idx="0">
                  <c:v> snapshot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numRef>
              <c:f>'Data Storage'!$AG$4:$AL$4</c:f>
              <c:numCache>
                <c:formatCode>[$-409]mmm;@</c:formatCode>
                <c:ptCount val="6"/>
                <c:pt idx="0">
                  <c:v>45474</c:v>
                </c:pt>
                <c:pt idx="1">
                  <c:v>45505</c:v>
                </c:pt>
                <c:pt idx="2">
                  <c:v>45536</c:v>
                </c:pt>
                <c:pt idx="3">
                  <c:v>45566</c:v>
                </c:pt>
                <c:pt idx="4">
                  <c:v>45597</c:v>
                </c:pt>
                <c:pt idx="5">
                  <c:v>45627</c:v>
                </c:pt>
              </c:numCache>
            </c:numRef>
          </c:cat>
          <c:val>
            <c:numRef>
              <c:f>'Data Storage'!$AG$14:$AL$14</c:f>
              <c:numCache>
                <c:formatCode>_("$"* #,##0.00_);_("$"* \(#,##0.00\);_("$"* "-"??_);_(@_)</c:formatCode>
                <c:ptCount val="6"/>
                <c:pt idx="0">
                  <c:v>129.54018554369998</c:v>
                </c:pt>
                <c:pt idx="1">
                  <c:v>129.54018554369998</c:v>
                </c:pt>
                <c:pt idx="2">
                  <c:v>129.54018555599998</c:v>
                </c:pt>
                <c:pt idx="3">
                  <c:v>129.54018554369998</c:v>
                </c:pt>
                <c:pt idx="4">
                  <c:v>129.54360715289999</c:v>
                </c:pt>
                <c:pt idx="5">
                  <c:v>129.54018554369998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6B8-5144-9DB0-7929EC710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[$-409]mmm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month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2297761140806928E-2"/>
          <c:y val="9.7995545657015584E-2"/>
          <c:w val="0.87992451187822418"/>
          <c:h val="0.532752748890798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Storage'!$Y$15</c:f>
              <c:strCache>
                <c:ptCount val="1"/>
                <c:pt idx="0">
                  <c:v> S3 Standard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11083398163108865"/>
                  <c:y val="-0.303895719416493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91-134D-A450-F874D913FA77}"/>
                </c:ext>
              </c:extLst>
            </c:dLbl>
            <c:dLbl>
              <c:idx val="5"/>
              <c:layout>
                <c:manualLayout>
                  <c:x val="0"/>
                  <c:y val="-0.296828377104482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91-134D-A450-F874D913FA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Storage'!$AY$15:$BD$15</c:f>
              <c:numCache>
                <c:formatCode>0</c:formatCode>
                <c:ptCount val="6"/>
                <c:pt idx="0">
                  <c:v>278396.19744890882</c:v>
                </c:pt>
                <c:pt idx="1">
                  <c:v>280994.61136384204</c:v>
                </c:pt>
                <c:pt idx="2">
                  <c:v>253346.53477430347</c:v>
                </c:pt>
                <c:pt idx="3">
                  <c:v>232523.8396972802</c:v>
                </c:pt>
                <c:pt idx="4">
                  <c:v>229888.18654160493</c:v>
                </c:pt>
                <c:pt idx="5">
                  <c:v>241125.68192256422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91-134D-A450-F874D913FA77}"/>
            </c:ext>
          </c:extLst>
        </c:ser>
        <c:ser>
          <c:idx val="1"/>
          <c:order val="1"/>
          <c:tx>
            <c:strRef>
              <c:f>'Data Storage'!$Y$16</c:f>
              <c:strCache>
                <c:ptCount val="1"/>
                <c:pt idx="0">
                  <c:v> S3 Infrequent Access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Storage'!$AY$16:$BD$16</c:f>
              <c:numCache>
                <c:formatCode>0</c:formatCode>
                <c:ptCount val="6"/>
                <c:pt idx="0">
                  <c:v>5.6107636600000003E-2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91-134D-A450-F874D913FA77}"/>
            </c:ext>
          </c:extLst>
        </c:ser>
        <c:ser>
          <c:idx val="2"/>
          <c:order val="2"/>
          <c:tx>
            <c:strRef>
              <c:f>'Data Storage'!$Y$17</c:f>
              <c:strCache>
                <c:ptCount val="1"/>
                <c:pt idx="0">
                  <c:v> S3 Glacier Flexible Retrieval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Storage'!$AY$17:$BD$17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91-134D-A450-F874D913FA77}"/>
            </c:ext>
          </c:extLst>
        </c:ser>
        <c:ser>
          <c:idx val="3"/>
          <c:order val="3"/>
          <c:tx>
            <c:strRef>
              <c:f>'Data Storage'!$Y$18</c:f>
              <c:strCache>
                <c:ptCount val="1"/>
                <c:pt idx="0">
                  <c:v> S3 Glacier Deep Archive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Storage'!$AY$18:$BD$18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91-134D-A450-F874D913F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3741437665503393"/>
          <c:w val="1"/>
          <c:h val="0.1091335075320484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0982946162849271E-2"/>
          <c:y val="0.1054958266092644"/>
          <c:w val="0.88291462319076708"/>
          <c:h val="0.44585541861151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Storage'!$Z$6</c:f>
              <c:strCache>
                <c:ptCount val="1"/>
                <c:pt idx="0">
                  <c:v> gp2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Storage'!$AY$6:$BD$6</c:f>
              <c:numCache>
                <c:formatCode>0</c:formatCode>
                <c:ptCount val="6"/>
                <c:pt idx="0">
                  <c:v>6241.2317920364003</c:v>
                </c:pt>
                <c:pt idx="1">
                  <c:v>4530.2618900685002</c:v>
                </c:pt>
                <c:pt idx="2">
                  <c:v>4479.5196766526005</c:v>
                </c:pt>
                <c:pt idx="3">
                  <c:v>4534.0582164348998</c:v>
                </c:pt>
                <c:pt idx="4">
                  <c:v>4381.6349625160001</c:v>
                </c:pt>
                <c:pt idx="5">
                  <c:v>4334.2740018472005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C-EE4B-8ED5-4E3DF3C316F2}"/>
            </c:ext>
          </c:extLst>
        </c:ser>
        <c:ser>
          <c:idx val="1"/>
          <c:order val="1"/>
          <c:tx>
            <c:strRef>
              <c:f>'Data Storage'!$Z$7</c:f>
              <c:strCache>
                <c:ptCount val="1"/>
                <c:pt idx="0">
                  <c:v> gp3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93220017731601E-2"/>
                  <c:y val="-0.22430577803245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7C-EE4B-8ED5-4E3DF3C316F2}"/>
                </c:ext>
              </c:extLst>
            </c:dLbl>
            <c:dLbl>
              <c:idx val="5"/>
              <c:layout>
                <c:manualLayout>
                  <c:x val="1.5747627006206053E-2"/>
                  <c:y val="-0.274151506484114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57C-EE4B-8ED5-4E3DF3C316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Storage'!$AY$7:$BD$7</c:f>
              <c:numCache>
                <c:formatCode>0</c:formatCode>
                <c:ptCount val="6"/>
                <c:pt idx="0">
                  <c:v>93980.487689025598</c:v>
                </c:pt>
                <c:pt idx="1">
                  <c:v>118845.47658027809</c:v>
                </c:pt>
                <c:pt idx="2">
                  <c:v>122052.9684834614</c:v>
                </c:pt>
                <c:pt idx="3">
                  <c:v>128958.3344350386</c:v>
                </c:pt>
                <c:pt idx="4">
                  <c:v>130557.2946911975</c:v>
                </c:pt>
                <c:pt idx="5">
                  <c:v>124160.13578851281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7C-EE4B-8ED5-4E3DF3C316F2}"/>
            </c:ext>
          </c:extLst>
        </c:ser>
        <c:ser>
          <c:idx val="2"/>
          <c:order val="2"/>
          <c:tx>
            <c:strRef>
              <c:f>'Data Storage'!$Z$8</c:f>
              <c:strCache>
                <c:ptCount val="1"/>
                <c:pt idx="0">
                  <c:v> st1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Storage'!$AY$8:$BD$8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7C-EE4B-8ED5-4E3DF3C316F2}"/>
            </c:ext>
          </c:extLst>
        </c:ser>
        <c:ser>
          <c:idx val="3"/>
          <c:order val="3"/>
          <c:tx>
            <c:strRef>
              <c:f>'Data Storage'!$Z$9</c:f>
              <c:strCache>
                <c:ptCount val="1"/>
                <c:pt idx="0">
                  <c:v> sc1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Storage'!$AY$9:$BD$9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7C-EE4B-8ED5-4E3DF3C316F2}"/>
            </c:ext>
          </c:extLst>
        </c:ser>
        <c:ser>
          <c:idx val="4"/>
          <c:order val="4"/>
          <c:tx>
            <c:strRef>
              <c:f>'Data Storage'!$Z$10</c:f>
              <c:strCache>
                <c:ptCount val="1"/>
                <c:pt idx="0">
                  <c:v> piops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Storage'!$AY$10:$BD$10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7C-EE4B-8ED5-4E3DF3C316F2}"/>
            </c:ext>
          </c:extLst>
        </c:ser>
        <c:ser>
          <c:idx val="5"/>
          <c:order val="5"/>
          <c:tx>
            <c:strRef>
              <c:f>'Data Storage'!$Z$11</c:f>
              <c:strCache>
                <c:ptCount val="1"/>
                <c:pt idx="0">
                  <c:v> io1 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Storage'!$AY$11:$BD$11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57C-EE4B-8ED5-4E3DF3C316F2}"/>
            </c:ext>
          </c:extLst>
        </c:ser>
        <c:ser>
          <c:idx val="6"/>
          <c:order val="6"/>
          <c:tx>
            <c:strRef>
              <c:f>'Data Storage'!$Z$12</c:f>
              <c:strCache>
                <c:ptCount val="1"/>
                <c:pt idx="0">
                  <c:v> io2 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Storage'!$AY$12:$BD$12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7C-EE4B-8ED5-4E3DF3C316F2}"/>
            </c:ext>
          </c:extLst>
        </c:ser>
        <c:ser>
          <c:idx val="7"/>
          <c:order val="7"/>
          <c:tx>
            <c:strRef>
              <c:f>'Data Storage'!$Z$13</c:f>
              <c:strCache>
                <c:ptCount val="1"/>
                <c:pt idx="0">
                  <c:v> magnetic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Storage'!$AY$13:$BD$13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57C-EE4B-8ED5-4E3DF3C316F2}"/>
            </c:ext>
          </c:extLst>
        </c:ser>
        <c:ser>
          <c:idx val="8"/>
          <c:order val="8"/>
          <c:tx>
            <c:strRef>
              <c:f>'Data Storage'!$Z$14</c:f>
              <c:strCache>
                <c:ptCount val="1"/>
                <c:pt idx="0">
                  <c:v> snapshot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Storage'!$AY$14:$BD$14</c:f>
              <c:numCache>
                <c:formatCode>0</c:formatCode>
                <c:ptCount val="6"/>
                <c:pt idx="0">
                  <c:v>2590.8037109235997</c:v>
                </c:pt>
                <c:pt idx="1">
                  <c:v>2590.8037109235997</c:v>
                </c:pt>
                <c:pt idx="2">
                  <c:v>2590.8037109490001</c:v>
                </c:pt>
                <c:pt idx="3">
                  <c:v>2590.8037109235997</c:v>
                </c:pt>
                <c:pt idx="4">
                  <c:v>2590.8721428880003</c:v>
                </c:pt>
                <c:pt idx="5">
                  <c:v>2590.8037109235997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7C-EE4B-8ED5-4E3DF3C316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8.3298038455032017E-2"/>
          <c:y val="0.76232820789230937"/>
          <c:w val="0.83340374595127442"/>
          <c:h val="0.11465892846052735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2297761140806928E-2"/>
          <c:y val="9.7995545657015584E-2"/>
          <c:w val="0.87992451187822418"/>
          <c:h val="0.532752748890798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Storage'!$Y$15</c:f>
              <c:strCache>
                <c:ptCount val="1"/>
                <c:pt idx="0">
                  <c:v> S3 Standard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-0.12642467577998234"/>
                  <c:y val="-0.3956230033192947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5F-F246-92E0-DB02F23ADC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Storage'!$AY$15:$BD$15</c:f>
              <c:numCache>
                <c:formatCode>0</c:formatCode>
                <c:ptCount val="6"/>
                <c:pt idx="0">
                  <c:v>204631.61842010182</c:v>
                </c:pt>
                <c:pt idx="1">
                  <c:v>208836.2088912717</c:v>
                </c:pt>
                <c:pt idx="2">
                  <c:v>219270.66438174498</c:v>
                </c:pt>
                <c:pt idx="3">
                  <c:v>233218.51248515196</c:v>
                </c:pt>
                <c:pt idx="4">
                  <c:v>263864.74617198849</c:v>
                </c:pt>
                <c:pt idx="5">
                  <c:v>292038.7055672119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5F-F246-92E0-DB02F23ADC24}"/>
            </c:ext>
          </c:extLst>
        </c:ser>
        <c:ser>
          <c:idx val="1"/>
          <c:order val="1"/>
          <c:tx>
            <c:strRef>
              <c:f>'Data Storage'!$Y$16</c:f>
              <c:strCache>
                <c:ptCount val="1"/>
                <c:pt idx="0">
                  <c:v> S3 Infrequent Access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4.8271239843265978E-2"/>
                  <c:y val="-0.2401996805867147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55F-F246-92E0-DB02F23ADC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Storage'!$AY$16:$BD$16</c:f>
              <c:numCache>
                <c:formatCode>0</c:formatCode>
                <c:ptCount val="6"/>
                <c:pt idx="0">
                  <c:v>278989.75782495091</c:v>
                </c:pt>
                <c:pt idx="1">
                  <c:v>281417.909941044</c:v>
                </c:pt>
                <c:pt idx="2">
                  <c:v>285917.91834277019</c:v>
                </c:pt>
                <c:pt idx="3">
                  <c:v>290045.81935368513</c:v>
                </c:pt>
                <c:pt idx="4">
                  <c:v>294619.10560780362</c:v>
                </c:pt>
                <c:pt idx="5">
                  <c:v>291568.82727480162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5F-F246-92E0-DB02F23ADC24}"/>
            </c:ext>
          </c:extLst>
        </c:ser>
        <c:ser>
          <c:idx val="2"/>
          <c:order val="2"/>
          <c:tx>
            <c:strRef>
              <c:f>'Data Storage'!$Y$17</c:f>
              <c:strCache>
                <c:ptCount val="1"/>
                <c:pt idx="0">
                  <c:v> S3 Glacier Flexible Retrieval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Storage'!$AY$17:$BD$17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43.874261175400001</c:v>
                </c:pt>
                <c:pt idx="4">
                  <c:v>205.9068457004</c:v>
                </c:pt>
                <c:pt idx="5">
                  <c:v>207.65789860530001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5F-F246-92E0-DB02F23ADC24}"/>
            </c:ext>
          </c:extLst>
        </c:ser>
        <c:ser>
          <c:idx val="3"/>
          <c:order val="3"/>
          <c:tx>
            <c:strRef>
              <c:f>'Data Storage'!$Y$18</c:f>
              <c:strCache>
                <c:ptCount val="1"/>
                <c:pt idx="0">
                  <c:v> S3 Glacier Deep Archive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Storage'!$AY$18:$BD$18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6.2574372114000001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5F-F246-92E0-DB02F23ADC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3741437665503393"/>
          <c:w val="1"/>
          <c:h val="0.1091335075320484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0982946162849271E-2"/>
          <c:y val="0.1054958266092644"/>
          <c:w val="0.88291462319076708"/>
          <c:h val="0.44585541861151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Storage'!$Z$6</c:f>
              <c:strCache>
                <c:ptCount val="1"/>
                <c:pt idx="0">
                  <c:v> gp2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Storage'!$AY$6:$BD$6</c:f>
              <c:numCache>
                <c:formatCode>0</c:formatCode>
                <c:ptCount val="6"/>
                <c:pt idx="0">
                  <c:v>14212.962788990502</c:v>
                </c:pt>
                <c:pt idx="1">
                  <c:v>15085.805369002699</c:v>
                </c:pt>
                <c:pt idx="2">
                  <c:v>16265.611333507699</c:v>
                </c:pt>
                <c:pt idx="3">
                  <c:v>13376.751338963199</c:v>
                </c:pt>
                <c:pt idx="4">
                  <c:v>13597.231064076597</c:v>
                </c:pt>
                <c:pt idx="5">
                  <c:v>13694.712794421599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ED-F147-9FB6-7320D88DD48F}"/>
            </c:ext>
          </c:extLst>
        </c:ser>
        <c:ser>
          <c:idx val="1"/>
          <c:order val="1"/>
          <c:tx>
            <c:strRef>
              <c:f>'Data Storage'!$Z$7</c:f>
              <c:strCache>
                <c:ptCount val="1"/>
                <c:pt idx="0">
                  <c:v> gp3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-0.13533020570191268"/>
                  <c:y val="-0.294039249163979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ED-F147-9FB6-7320D88DD48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Storage'!$AY$7:$BD$7</c:f>
              <c:numCache>
                <c:formatCode>0</c:formatCode>
                <c:ptCount val="6"/>
                <c:pt idx="0">
                  <c:v>153420.31675681108</c:v>
                </c:pt>
                <c:pt idx="1">
                  <c:v>159002.94046935491</c:v>
                </c:pt>
                <c:pt idx="2">
                  <c:v>191313.79970439474</c:v>
                </c:pt>
                <c:pt idx="3">
                  <c:v>260476.2908111377</c:v>
                </c:pt>
                <c:pt idx="4">
                  <c:v>238849.19142751096</c:v>
                </c:pt>
                <c:pt idx="5">
                  <c:v>214743.53798772997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ED-F147-9FB6-7320D88DD48F}"/>
            </c:ext>
          </c:extLst>
        </c:ser>
        <c:ser>
          <c:idx val="2"/>
          <c:order val="2"/>
          <c:tx>
            <c:strRef>
              <c:f>'Data Storage'!$Z$8</c:f>
              <c:strCache>
                <c:ptCount val="1"/>
                <c:pt idx="0">
                  <c:v> st1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4.5110068567304054E-2"/>
                  <c:y val="-0.203565634036601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5ED-F147-9FB6-7320D88DD48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Storage'!$AY$8:$BD$8</c:f>
              <c:numCache>
                <c:formatCode>0</c:formatCode>
                <c:ptCount val="6"/>
                <c:pt idx="0">
                  <c:v>29045.541136677402</c:v>
                </c:pt>
                <c:pt idx="1">
                  <c:v>28750.000002024</c:v>
                </c:pt>
                <c:pt idx="2">
                  <c:v>29294.791664791803</c:v>
                </c:pt>
                <c:pt idx="3">
                  <c:v>29495.631722506601</c:v>
                </c:pt>
                <c:pt idx="4">
                  <c:v>29499.999998112005</c:v>
                </c:pt>
                <c:pt idx="5">
                  <c:v>28632.896507392103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ED-F147-9FB6-7320D88DD48F}"/>
            </c:ext>
          </c:extLst>
        </c:ser>
        <c:ser>
          <c:idx val="3"/>
          <c:order val="3"/>
          <c:tx>
            <c:strRef>
              <c:f>'Data Storage'!$Z$9</c:f>
              <c:strCache>
                <c:ptCount val="1"/>
                <c:pt idx="0">
                  <c:v> sc1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Storage'!$AY$9:$BD$9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ED-F147-9FB6-7320D88DD48F}"/>
            </c:ext>
          </c:extLst>
        </c:ser>
        <c:ser>
          <c:idx val="4"/>
          <c:order val="4"/>
          <c:tx>
            <c:strRef>
              <c:f>'Data Storage'!$Z$10</c:f>
              <c:strCache>
                <c:ptCount val="1"/>
                <c:pt idx="0">
                  <c:v> piops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Storage'!$AY$10:$BD$10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ED-F147-9FB6-7320D88DD48F}"/>
            </c:ext>
          </c:extLst>
        </c:ser>
        <c:ser>
          <c:idx val="5"/>
          <c:order val="5"/>
          <c:tx>
            <c:strRef>
              <c:f>'Data Storage'!$Z$11</c:f>
              <c:strCache>
                <c:ptCount val="1"/>
                <c:pt idx="0">
                  <c:v> io1 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Storage'!$AY$11:$BD$11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ED-F147-9FB6-7320D88DD48F}"/>
            </c:ext>
          </c:extLst>
        </c:ser>
        <c:ser>
          <c:idx val="6"/>
          <c:order val="6"/>
          <c:tx>
            <c:strRef>
              <c:f>'Data Storage'!$Z$12</c:f>
              <c:strCache>
                <c:ptCount val="1"/>
                <c:pt idx="0">
                  <c:v> io2 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Storage'!$AY$12:$BD$12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1035.0107526720001</c:v>
                </c:pt>
                <c:pt idx="4">
                  <c:v>2047.9999999680001</c:v>
                </c:pt>
                <c:pt idx="5">
                  <c:v>1077.3165113332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ED-F147-9FB6-7320D88DD48F}"/>
            </c:ext>
          </c:extLst>
        </c:ser>
        <c:ser>
          <c:idx val="7"/>
          <c:order val="7"/>
          <c:tx>
            <c:strRef>
              <c:f>'Data Storage'!$Z$13</c:f>
              <c:strCache>
                <c:ptCount val="1"/>
                <c:pt idx="0">
                  <c:v> magnetic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Storage'!$AY$13:$BD$13</c:f>
              <c:numCache>
                <c:formatCode>0</c:formatCode>
                <c:ptCount val="6"/>
                <c:pt idx="0">
                  <c:v>170.00000003280002</c:v>
                </c:pt>
                <c:pt idx="1">
                  <c:v>170.00000003280002</c:v>
                </c:pt>
                <c:pt idx="2">
                  <c:v>169.999999992</c:v>
                </c:pt>
                <c:pt idx="3">
                  <c:v>170.00000003280002</c:v>
                </c:pt>
                <c:pt idx="4">
                  <c:v>169.999999992</c:v>
                </c:pt>
                <c:pt idx="5">
                  <c:v>165.12096777389999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ED-F147-9FB6-7320D88DD48F}"/>
            </c:ext>
          </c:extLst>
        </c:ser>
        <c:ser>
          <c:idx val="8"/>
          <c:order val="8"/>
          <c:tx>
            <c:strRef>
              <c:f>'Data Storage'!$Z$14</c:f>
              <c:strCache>
                <c:ptCount val="1"/>
                <c:pt idx="0">
                  <c:v> snapshot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-4.0599061710573967E-2"/>
                  <c:y val="-0.226184037818446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5ED-F147-9FB6-7320D88DD48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Storage'!$AY$14:$BD$14</c:f>
              <c:numCache>
                <c:formatCode>0</c:formatCode>
                <c:ptCount val="6"/>
                <c:pt idx="0">
                  <c:v>84396.318445786892</c:v>
                </c:pt>
                <c:pt idx="1">
                  <c:v>81488.563551263302</c:v>
                </c:pt>
                <c:pt idx="2">
                  <c:v>82508.681587018305</c:v>
                </c:pt>
                <c:pt idx="3">
                  <c:v>84607.38311466531</c:v>
                </c:pt>
                <c:pt idx="4">
                  <c:v>87376.197153021014</c:v>
                </c:pt>
                <c:pt idx="5">
                  <c:v>83263.838516592674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ED-F147-9FB6-7320D88DD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2297761140806928E-2"/>
          <c:y val="9.7995545657015584E-2"/>
          <c:w val="0.87992451187822418"/>
          <c:h val="0.532752748890798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Storage'!$Y$15</c:f>
              <c:strCache>
                <c:ptCount val="1"/>
                <c:pt idx="0">
                  <c:v> S3 Standard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11083398163108865"/>
                  <c:y val="-0.3038957194164935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91-134D-A450-F874D913FA77}"/>
                </c:ext>
              </c:extLst>
            </c:dLbl>
            <c:dLbl>
              <c:idx val="5"/>
              <c:layout>
                <c:manualLayout>
                  <c:x val="0"/>
                  <c:y val="-0.296828377104482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91-134D-A450-F874D913FA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Storage'!$AY$15:$BD$15</c:f>
              <c:numCache>
                <c:formatCode>0</c:formatCode>
                <c:ptCount val="6"/>
                <c:pt idx="0">
                  <c:v>278396.19744890882</c:v>
                </c:pt>
                <c:pt idx="1">
                  <c:v>280994.61136384204</c:v>
                </c:pt>
                <c:pt idx="2">
                  <c:v>253346.53477430347</c:v>
                </c:pt>
                <c:pt idx="3">
                  <c:v>232523.8396972802</c:v>
                </c:pt>
                <c:pt idx="4">
                  <c:v>229888.18654160493</c:v>
                </c:pt>
                <c:pt idx="5">
                  <c:v>241125.68192256422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91-134D-A450-F874D913FA77}"/>
            </c:ext>
          </c:extLst>
        </c:ser>
        <c:ser>
          <c:idx val="1"/>
          <c:order val="1"/>
          <c:tx>
            <c:strRef>
              <c:f>'Data Storage'!$Y$16</c:f>
              <c:strCache>
                <c:ptCount val="1"/>
                <c:pt idx="0">
                  <c:v> S3 Infrequent Access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Storage'!$AY$16:$BD$16</c:f>
              <c:numCache>
                <c:formatCode>0</c:formatCode>
                <c:ptCount val="6"/>
                <c:pt idx="0">
                  <c:v>5.6107636600000003E-2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91-134D-A450-F874D913FA77}"/>
            </c:ext>
          </c:extLst>
        </c:ser>
        <c:ser>
          <c:idx val="2"/>
          <c:order val="2"/>
          <c:tx>
            <c:strRef>
              <c:f>'Data Storage'!$Y$17</c:f>
              <c:strCache>
                <c:ptCount val="1"/>
                <c:pt idx="0">
                  <c:v> S3 Glacier Flexible Retrieval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Storage'!$AY$17:$BD$17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91-134D-A450-F874D913FA77}"/>
            </c:ext>
          </c:extLst>
        </c:ser>
        <c:ser>
          <c:idx val="3"/>
          <c:order val="3"/>
          <c:tx>
            <c:strRef>
              <c:f>'Data Storage'!$Y$18</c:f>
              <c:strCache>
                <c:ptCount val="1"/>
                <c:pt idx="0">
                  <c:v> S3 Glacier Deep Archive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Storage'!$AY$18:$BD$18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91-134D-A450-F874D913F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3741437665503393"/>
          <c:w val="1"/>
          <c:h val="0.1091335075320484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0982946162849271E-2"/>
          <c:y val="0.1054958266092644"/>
          <c:w val="0.88291462319076708"/>
          <c:h val="0.44585541861151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Storage'!$Z$6</c:f>
              <c:strCache>
                <c:ptCount val="1"/>
                <c:pt idx="0">
                  <c:v> gp2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Storage'!$AY$6:$BD$6</c:f>
              <c:numCache>
                <c:formatCode>0</c:formatCode>
                <c:ptCount val="6"/>
                <c:pt idx="0">
                  <c:v>6241.2317920364003</c:v>
                </c:pt>
                <c:pt idx="1">
                  <c:v>4530.2618900685002</c:v>
                </c:pt>
                <c:pt idx="2">
                  <c:v>4479.5196766526005</c:v>
                </c:pt>
                <c:pt idx="3">
                  <c:v>4534.0582164348998</c:v>
                </c:pt>
                <c:pt idx="4">
                  <c:v>4381.6349625160001</c:v>
                </c:pt>
                <c:pt idx="5">
                  <c:v>4334.2740018472005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C-EE4B-8ED5-4E3DF3C316F2}"/>
            </c:ext>
          </c:extLst>
        </c:ser>
        <c:ser>
          <c:idx val="1"/>
          <c:order val="1"/>
          <c:tx>
            <c:strRef>
              <c:f>'Data Storage'!$Z$7</c:f>
              <c:strCache>
                <c:ptCount val="1"/>
                <c:pt idx="0">
                  <c:v> gp3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4.4993220017731601E-2"/>
                  <c:y val="-0.22430577803245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7C-EE4B-8ED5-4E3DF3C316F2}"/>
                </c:ext>
              </c:extLst>
            </c:dLbl>
            <c:dLbl>
              <c:idx val="5"/>
              <c:layout>
                <c:manualLayout>
                  <c:x val="1.5747627006206053E-2"/>
                  <c:y val="-0.274151506484114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57C-EE4B-8ED5-4E3DF3C316F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Storage'!$AY$7:$BD$7</c:f>
              <c:numCache>
                <c:formatCode>0</c:formatCode>
                <c:ptCount val="6"/>
                <c:pt idx="0">
                  <c:v>93980.487689025598</c:v>
                </c:pt>
                <c:pt idx="1">
                  <c:v>118845.47658027809</c:v>
                </c:pt>
                <c:pt idx="2">
                  <c:v>122052.9684834614</c:v>
                </c:pt>
                <c:pt idx="3">
                  <c:v>128958.3344350386</c:v>
                </c:pt>
                <c:pt idx="4">
                  <c:v>130557.2946911975</c:v>
                </c:pt>
                <c:pt idx="5">
                  <c:v>124160.13578851281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7C-EE4B-8ED5-4E3DF3C316F2}"/>
            </c:ext>
          </c:extLst>
        </c:ser>
        <c:ser>
          <c:idx val="2"/>
          <c:order val="2"/>
          <c:tx>
            <c:strRef>
              <c:f>'Data Storage'!$Z$8</c:f>
              <c:strCache>
                <c:ptCount val="1"/>
                <c:pt idx="0">
                  <c:v> st1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Storage'!$AY$8:$BD$8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7C-EE4B-8ED5-4E3DF3C316F2}"/>
            </c:ext>
          </c:extLst>
        </c:ser>
        <c:ser>
          <c:idx val="3"/>
          <c:order val="3"/>
          <c:tx>
            <c:strRef>
              <c:f>'Data Storage'!$Z$9</c:f>
              <c:strCache>
                <c:ptCount val="1"/>
                <c:pt idx="0">
                  <c:v> sc1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Storage'!$AY$9:$BD$9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7C-EE4B-8ED5-4E3DF3C316F2}"/>
            </c:ext>
          </c:extLst>
        </c:ser>
        <c:ser>
          <c:idx val="4"/>
          <c:order val="4"/>
          <c:tx>
            <c:strRef>
              <c:f>'Data Storage'!$Z$10</c:f>
              <c:strCache>
                <c:ptCount val="1"/>
                <c:pt idx="0">
                  <c:v> piops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Storage'!$AY$10:$BD$10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7C-EE4B-8ED5-4E3DF3C316F2}"/>
            </c:ext>
          </c:extLst>
        </c:ser>
        <c:ser>
          <c:idx val="5"/>
          <c:order val="5"/>
          <c:tx>
            <c:strRef>
              <c:f>'Data Storage'!$Z$11</c:f>
              <c:strCache>
                <c:ptCount val="1"/>
                <c:pt idx="0">
                  <c:v> io1 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Storage'!$AY$11:$BD$11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57C-EE4B-8ED5-4E3DF3C316F2}"/>
            </c:ext>
          </c:extLst>
        </c:ser>
        <c:ser>
          <c:idx val="6"/>
          <c:order val="6"/>
          <c:tx>
            <c:strRef>
              <c:f>'Data Storage'!$Z$12</c:f>
              <c:strCache>
                <c:ptCount val="1"/>
                <c:pt idx="0">
                  <c:v> io2 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Storage'!$AY$12:$BD$12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7C-EE4B-8ED5-4E3DF3C316F2}"/>
            </c:ext>
          </c:extLst>
        </c:ser>
        <c:ser>
          <c:idx val="7"/>
          <c:order val="7"/>
          <c:tx>
            <c:strRef>
              <c:f>'Data Storage'!$Z$13</c:f>
              <c:strCache>
                <c:ptCount val="1"/>
                <c:pt idx="0">
                  <c:v> magnetic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Storage'!$AY$13:$BD$13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57C-EE4B-8ED5-4E3DF3C316F2}"/>
            </c:ext>
          </c:extLst>
        </c:ser>
        <c:ser>
          <c:idx val="8"/>
          <c:order val="8"/>
          <c:tx>
            <c:strRef>
              <c:f>'Data Storage'!$Z$14</c:f>
              <c:strCache>
                <c:ptCount val="1"/>
                <c:pt idx="0">
                  <c:v> snapshot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Storage'!$AY$14:$BD$14</c:f>
              <c:numCache>
                <c:formatCode>0</c:formatCode>
                <c:ptCount val="6"/>
                <c:pt idx="0">
                  <c:v>2590.8037109235997</c:v>
                </c:pt>
                <c:pt idx="1">
                  <c:v>2590.8037109235997</c:v>
                </c:pt>
                <c:pt idx="2">
                  <c:v>2590.8037109490001</c:v>
                </c:pt>
                <c:pt idx="3">
                  <c:v>2590.8037109235997</c:v>
                </c:pt>
                <c:pt idx="4">
                  <c:v>2590.8721428880003</c:v>
                </c:pt>
                <c:pt idx="5">
                  <c:v>2590.8037109235997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7C-EE4B-8ED5-4E3DF3C316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8.3298038455032017E-2"/>
          <c:y val="0.76232820789230937"/>
          <c:w val="0.83340374595127442"/>
          <c:h val="0.11465892846052735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2297761140806928E-2"/>
          <c:y val="9.7995545657015584E-2"/>
          <c:w val="0.87992451187822418"/>
          <c:h val="0.5327527488907984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Storage'!$Y$15</c:f>
              <c:strCache>
                <c:ptCount val="1"/>
                <c:pt idx="0">
                  <c:v> S3 Standard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7A3-FB45-BEB4-4CE9BB4FFA5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A3-FB45-BEB4-4CE9BB4FFA5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7A3-FB45-BEB4-4CE9BB4FFA5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7A3-FB45-BEB4-4CE9BB4FFA5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7A3-FB45-BEB4-4CE9BB4FFA52}"/>
                </c:ext>
              </c:extLst>
            </c:dLbl>
            <c:dLbl>
              <c:idx val="5"/>
              <c:layout>
                <c:manualLayout>
                  <c:x val="-0.12222165390598699"/>
                  <c:y val="-0.311222500696184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7A3-FB45-BEB4-4CE9BB4FFA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Storage'!$AY$15:$BD$15</c:f>
              <c:numCache>
                <c:formatCode>0</c:formatCode>
                <c:ptCount val="6"/>
                <c:pt idx="0">
                  <c:v>1048154.3361706783</c:v>
                </c:pt>
                <c:pt idx="1">
                  <c:v>1097524.7610157197</c:v>
                </c:pt>
                <c:pt idx="2">
                  <c:v>1114839.9174083145</c:v>
                </c:pt>
                <c:pt idx="3">
                  <c:v>1156694.8836412621</c:v>
                </c:pt>
                <c:pt idx="4">
                  <c:v>1304493.3389894029</c:v>
                </c:pt>
                <c:pt idx="5">
                  <c:v>1298338.2732059143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A3-FB45-BEB4-4CE9BB4FFA52}"/>
            </c:ext>
          </c:extLst>
        </c:ser>
        <c:ser>
          <c:idx val="1"/>
          <c:order val="1"/>
          <c:tx>
            <c:strRef>
              <c:f>'Data Storage'!$Y$16</c:f>
              <c:strCache>
                <c:ptCount val="1"/>
                <c:pt idx="0">
                  <c:v> S3 Infrequent Access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Storage'!$AY$16:$BD$16</c:f>
              <c:numCache>
                <c:formatCode>0</c:formatCode>
                <c:ptCount val="6"/>
                <c:pt idx="0">
                  <c:v>96452.964034935198</c:v>
                </c:pt>
                <c:pt idx="1">
                  <c:v>96455.121169175793</c:v>
                </c:pt>
                <c:pt idx="2">
                  <c:v>96460.158550684209</c:v>
                </c:pt>
                <c:pt idx="3">
                  <c:v>96456.542380980391</c:v>
                </c:pt>
                <c:pt idx="4">
                  <c:v>96454.761971713117</c:v>
                </c:pt>
                <c:pt idx="5">
                  <c:v>93344.370605190605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A3-FB45-BEB4-4CE9BB4FFA52}"/>
            </c:ext>
          </c:extLst>
        </c:ser>
        <c:ser>
          <c:idx val="2"/>
          <c:order val="2"/>
          <c:tx>
            <c:strRef>
              <c:f>'Data Storage'!$Y$17</c:f>
              <c:strCache>
                <c:ptCount val="1"/>
                <c:pt idx="0">
                  <c:v> S3 Glacier Flexible Retrieval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7A3-FB45-BEB4-4CE9BB4FFA5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7A3-FB45-BEB4-4CE9BB4FFA5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7A3-FB45-BEB4-4CE9BB4FFA5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7A3-FB45-BEB4-4CE9BB4FFA5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7A3-FB45-BEB4-4CE9BB4FFA52}"/>
                </c:ext>
              </c:extLst>
            </c:dLbl>
            <c:dLbl>
              <c:idx val="5"/>
              <c:layout>
                <c:manualLayout>
                  <c:x val="3.395045941832972E-2"/>
                  <c:y val="-5.6585909217488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7A3-FB45-BEB4-4CE9BB4FFA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Storage'!$AY$17:$BD$17</c:f>
              <c:numCache>
                <c:formatCode>0</c:formatCode>
                <c:ptCount val="6"/>
                <c:pt idx="0">
                  <c:v>19.951026366699999</c:v>
                </c:pt>
                <c:pt idx="1">
                  <c:v>19.951026366699999</c:v>
                </c:pt>
                <c:pt idx="2">
                  <c:v>19.9516572685</c:v>
                </c:pt>
                <c:pt idx="3">
                  <c:v>19.951783448699999</c:v>
                </c:pt>
                <c:pt idx="4">
                  <c:v>19.951783449000001</c:v>
                </c:pt>
                <c:pt idx="5">
                  <c:v>19.308177530999998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A3-FB45-BEB4-4CE9BB4FFA52}"/>
            </c:ext>
          </c:extLst>
        </c:ser>
        <c:ser>
          <c:idx val="3"/>
          <c:order val="3"/>
          <c:tx>
            <c:strRef>
              <c:f>'Data Storage'!$Y$18</c:f>
              <c:strCache>
                <c:ptCount val="1"/>
                <c:pt idx="0">
                  <c:v> S3 Glacier Deep Archive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Storage'!$AY$18:$BD$18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7A3-FB45-BEB4-4CE9BB4FF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3741437665503393"/>
          <c:w val="1"/>
          <c:h val="0.1091335075320484"/>
        </c:manualLayout>
      </c:layout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9.0982946162849271E-2"/>
          <c:y val="0.1054958266092644"/>
          <c:w val="0.88291462319076708"/>
          <c:h val="0.44585541861151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'Data Storage'!$Z$6</c:f>
              <c:strCache>
                <c:ptCount val="1"/>
                <c:pt idx="0">
                  <c:v> gp2 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-0.10429684114589886"/>
                  <c:y val="-0.3551210600636607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84F-8A4E-A50B-01F9D67BF07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Storage'!$AY$6:$BD$6</c:f>
              <c:numCache>
                <c:formatCode>0</c:formatCode>
                <c:ptCount val="6"/>
                <c:pt idx="0">
                  <c:v>64200.049418414004</c:v>
                </c:pt>
                <c:pt idx="1">
                  <c:v>61626.508486169012</c:v>
                </c:pt>
                <c:pt idx="2">
                  <c:v>61485.014638818204</c:v>
                </c:pt>
                <c:pt idx="3">
                  <c:v>61435.096812818796</c:v>
                </c:pt>
                <c:pt idx="4">
                  <c:v>55734.193916058503</c:v>
                </c:pt>
                <c:pt idx="5">
                  <c:v>47738.926249012999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4F-8A4E-A50B-01F9D67BF076}"/>
            </c:ext>
          </c:extLst>
        </c:ser>
        <c:ser>
          <c:idx val="1"/>
          <c:order val="1"/>
          <c:tx>
            <c:strRef>
              <c:f>'Data Storage'!$Z$7</c:f>
              <c:strCache>
                <c:ptCount val="1"/>
                <c:pt idx="0">
                  <c:v> gp3 </c:v>
                </c:pt>
              </c:strCache>
            </c:strRef>
          </c:tx>
          <c:spPr>
            <a:solidFill>
              <a:schemeClr val="accent5"/>
            </a:solidFill>
            <a:ln>
              <a:noFill/>
              <a:prstDash val="solid"/>
            </a:ln>
          </c:spPr>
          <c:invertIfNegative val="0"/>
          <c:dLbls>
            <c:dLbl>
              <c:idx val="5"/>
              <c:layout>
                <c:manualLayout>
                  <c:x val="-0.10207775941939037"/>
                  <c:y val="-0.312299478769632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84F-8A4E-A50B-01F9D67BF07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Storage'!$AY$7:$BD$7</c:f>
              <c:numCache>
                <c:formatCode>0</c:formatCode>
                <c:ptCount val="6"/>
                <c:pt idx="0">
                  <c:v>425407.57588166161</c:v>
                </c:pt>
                <c:pt idx="1">
                  <c:v>337281.75670973159</c:v>
                </c:pt>
                <c:pt idx="2">
                  <c:v>330312.53734610166</c:v>
                </c:pt>
                <c:pt idx="3">
                  <c:v>333867.97940601077</c:v>
                </c:pt>
                <c:pt idx="4">
                  <c:v>343482.01850572979</c:v>
                </c:pt>
                <c:pt idx="5">
                  <c:v>366716.33183432266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4F-8A4E-A50B-01F9D67BF076}"/>
            </c:ext>
          </c:extLst>
        </c:ser>
        <c:ser>
          <c:idx val="2"/>
          <c:order val="2"/>
          <c:tx>
            <c:strRef>
              <c:f>'Data Storage'!$Z$8</c:f>
              <c:strCache>
                <c:ptCount val="1"/>
                <c:pt idx="0">
                  <c:v> st1 </c:v>
                </c:pt>
              </c:strCache>
            </c:strRef>
          </c:tx>
          <c:spPr>
            <a:solidFill>
              <a:schemeClr val="accent6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Storage'!$AY$8:$BD$8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4F-8A4E-A50B-01F9D67BF076}"/>
            </c:ext>
          </c:extLst>
        </c:ser>
        <c:ser>
          <c:idx val="3"/>
          <c:order val="3"/>
          <c:tx>
            <c:strRef>
              <c:f>'Data Storage'!$Z$9</c:f>
              <c:strCache>
                <c:ptCount val="1"/>
                <c:pt idx="0">
                  <c:v> sc1 </c:v>
                </c:pt>
              </c:strCache>
            </c:strRef>
          </c:tx>
          <c:spPr>
            <a:solidFill>
              <a:schemeClr val="accent4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Storage'!$AY$9:$BD$9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4F-8A4E-A50B-01F9D67BF076}"/>
            </c:ext>
          </c:extLst>
        </c:ser>
        <c:ser>
          <c:idx val="4"/>
          <c:order val="4"/>
          <c:tx>
            <c:strRef>
              <c:f>'Data Storage'!$Z$10</c:f>
              <c:strCache>
                <c:ptCount val="1"/>
                <c:pt idx="0">
                  <c:v> piops </c:v>
                </c:pt>
              </c:strCache>
            </c:strRef>
          </c:tx>
          <c:spPr>
            <a:solidFill>
              <a:schemeClr val="accent2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Storage'!$AY$10:$BD$10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4F-8A4E-A50B-01F9D67BF076}"/>
            </c:ext>
          </c:extLst>
        </c:ser>
        <c:ser>
          <c:idx val="5"/>
          <c:order val="5"/>
          <c:tx>
            <c:strRef>
              <c:f>'Data Storage'!$Z$11</c:f>
              <c:strCache>
                <c:ptCount val="1"/>
                <c:pt idx="0">
                  <c:v> io1 </c:v>
                </c:pt>
              </c:strCache>
            </c:strRef>
          </c:tx>
          <c:spPr>
            <a:solidFill>
              <a:schemeClr val="accent3"/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Storage'!$AY$11:$BD$11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4F-8A4E-A50B-01F9D67BF076}"/>
            </c:ext>
          </c:extLst>
        </c:ser>
        <c:ser>
          <c:idx val="6"/>
          <c:order val="6"/>
          <c:tx>
            <c:strRef>
              <c:f>'Data Storage'!$Z$12</c:f>
              <c:strCache>
                <c:ptCount val="1"/>
                <c:pt idx="0">
                  <c:v> io2 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Storage'!$AY$12:$BD$12</c:f>
              <c:numCache>
                <c:formatCode>0</c:formatCode>
                <c:ptCount val="6"/>
                <c:pt idx="0">
                  <c:v>450.0000001656</c:v>
                </c:pt>
                <c:pt idx="1">
                  <c:v>450.0000001656</c:v>
                </c:pt>
                <c:pt idx="2">
                  <c:v>449.99999971199998</c:v>
                </c:pt>
                <c:pt idx="3">
                  <c:v>450.0000001656</c:v>
                </c:pt>
                <c:pt idx="4">
                  <c:v>449.99999971199998</c:v>
                </c:pt>
                <c:pt idx="5">
                  <c:v>437.63440876319999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4F-8A4E-A50B-01F9D67BF076}"/>
            </c:ext>
          </c:extLst>
        </c:ser>
        <c:ser>
          <c:idx val="7"/>
          <c:order val="7"/>
          <c:tx>
            <c:strRef>
              <c:f>'Data Storage'!$Z$13</c:f>
              <c:strCache>
                <c:ptCount val="1"/>
                <c:pt idx="0">
                  <c:v> magnetic 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Storage'!$AY$13:$BD$13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84F-8A4E-A50B-01F9D67BF076}"/>
            </c:ext>
          </c:extLst>
        </c:ser>
        <c:ser>
          <c:idx val="8"/>
          <c:order val="8"/>
          <c:tx>
            <c:strRef>
              <c:f>'Data Storage'!$Z$14</c:f>
              <c:strCache>
                <c:ptCount val="1"/>
                <c:pt idx="0">
                  <c:v> snapshot 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  <a:prstDash val="solid"/>
            </a:ln>
          </c:spPr>
          <c:invertIfNegative val="0"/>
          <c:cat>
            <c:strRef>
              <c:f>'Data Storage'!$AY$4:$BD$4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'Data Storage'!$AY$14:$BD$14</c:f>
              <c:numCache>
                <c:formatCode>0</c:formatCode>
                <c:ptCount val="6"/>
                <c:pt idx="0">
                  <c:v>4613.7016601564992</c:v>
                </c:pt>
                <c:pt idx="1">
                  <c:v>4613.7016601564992</c:v>
                </c:pt>
                <c:pt idx="2">
                  <c:v>4613.7368483118989</c:v>
                </c:pt>
                <c:pt idx="3">
                  <c:v>4613.2800371726989</c:v>
                </c:pt>
                <c:pt idx="4">
                  <c:v>4613.9379089670992</c:v>
                </c:pt>
                <c:pt idx="5">
                  <c:v>4465.5647563319008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4F-8A4E-A50B-01F9D67BF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40052704"/>
        <c:axId val="543397408"/>
      </c:barChart>
      <c:dateAx>
        <c:axId val="54005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3397408"/>
        <c:crosses val="autoZero"/>
        <c:auto val="0"/>
        <c:lblOffset val="100"/>
        <c:baseTimeUnit val="days"/>
      </c:dateAx>
      <c:valAx>
        <c:axId val="54339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#,##0,&quot; TB&quot;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vert="horz"/>
          <a:lstStyle/>
          <a:p>
            <a:pPr>
              <a:defRPr/>
            </a:pPr>
            <a:endParaRPr lang="ko-KR"/>
          </a:p>
        </c:txPr>
        <c:crossAx val="540052704"/>
        <c:crosses val="autoZero"/>
        <c:crossBetween val="between"/>
      </c:valAx>
    </c:plotArea>
    <c:legend>
      <c:legendPos val="b"/>
      <c:overlay val="0"/>
      <c:spPr>
        <a:noFill/>
        <a:ln>
          <a:noFill/>
          <a:prstDash val="solid"/>
        </a:ln>
      </c:spPr>
      <c:txPr>
        <a:bodyPr rot="0" vert="horz"/>
        <a:lstStyle/>
        <a:p>
          <a:pPr>
            <a:defRPr/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</c:spPr>
  <c:txPr>
    <a:bodyPr/>
    <a:lstStyle/>
    <a:p>
      <a:pPr>
        <a:defRPr sz="9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E26E0-60BC-9567-D228-A0C93AD20E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latin typeface="NanumSquareOTF Bold" panose="020B0600000101010101" pitchFamily="34" charset="-127"/>
                <a:ea typeface="굴림" panose="020B0600000101010101" pitchFamily="34" charset="-127"/>
              </a:defRPr>
            </a:lvl1pPr>
          </a:lstStyle>
          <a:p>
            <a:fld id="{C5B13ACA-BECE-8D46-83EB-BFAE9F2AAE3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808B9C-9C3E-091D-B414-1A8D687D7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3343F2-A56B-9B7F-655A-EC730B3D9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9100" y="4197350"/>
            <a:ext cx="6000750" cy="432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8BE70-A94A-DF30-9EB5-F5932C5C0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latin typeface="NanumSquareOTF Bold" panose="020B0600000101010101" pitchFamily="34" charset="-127"/>
                <a:ea typeface="굴림" panose="020B0600000101010101" pitchFamily="34" charset="-127"/>
              </a:defRPr>
            </a:lvl1pPr>
          </a:lstStyle>
          <a:p>
            <a:fld id="{6E24AC62-FC75-3B4E-B2A8-2670C170513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ts val="300"/>
      </a:spcAft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1pPr>
    <a:lvl2pPr marL="225425" indent="-106363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2pPr>
    <a:lvl3pPr marL="463550" indent="-119063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3pPr>
    <a:lvl4pPr marL="747713" indent="-119063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4pPr>
    <a:lvl5pPr marL="973138" indent="-117475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4301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1216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2053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CA5F-A28C-4969-3F1F-AFBEBD4E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76DBD5-1968-F108-ED34-1FC7DB941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13483-8E9E-41D0-0974-3C8907811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05FED-B2F4-60E4-E170-FE0DD4786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7030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3395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4898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 smtClean="0"/>
              <a:pPr/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1167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.프로젝트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1026213" y="437018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1040910" y="452384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1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1298123" y="454325"/>
            <a:ext cx="804707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프로젝트 개요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AB4A1D-BF2A-4B05-E593-08E615E3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7073DF-ED6D-9924-DFC2-22F712A7D60B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88266" y="6549154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C7DC92-EDFB-F29C-9ECB-BD18941E2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46161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.비용기반아키텍쳐분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0477986" y="454650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0492683" y="470016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2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749896" y="471957"/>
            <a:ext cx="13529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비용기반 아키텍쳐 분석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BCF5D1-7B5B-C638-6DFD-1BA5E3438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69314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.클라우드 인프라 아키텍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0127353" y="461907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0142050" y="477273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3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329909" y="471957"/>
            <a:ext cx="17729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클라우드 인프라 아키텍쳐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분석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330D76-5B91-A357-3E60-212272560B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812563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.DB 아키텍쳐 분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3" name="양쪽 모서리가 둥근 사각형 2">
            <a:extLst>
              <a:ext uri="{FF2B5EF4-FFF2-40B4-BE49-F238E27FC236}">
                <a16:creationId xmlns:a16="http://schemas.microsoft.com/office/drawing/2014/main" id="{04B9B287-E176-0F3D-81B4-0C9304FB0628}"/>
              </a:ext>
            </a:extLst>
          </p:cNvPr>
          <p:cNvSpPr/>
          <p:nvPr userDrawn="1"/>
        </p:nvSpPr>
        <p:spPr>
          <a:xfrm>
            <a:off x="10798586" y="473732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260D595-416E-8EB1-94BF-A49D11FB628C}"/>
              </a:ext>
            </a:extLst>
          </p:cNvPr>
          <p:cNvSpPr/>
          <p:nvPr userDrawn="1"/>
        </p:nvSpPr>
        <p:spPr>
          <a:xfrm>
            <a:off x="10813283" y="489098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4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A4243-F6F3-844D-5A96-FB88183FE4BF}"/>
              </a:ext>
            </a:extLst>
          </p:cNvPr>
          <p:cNvSpPr txBox="1"/>
          <p:nvPr userDrawn="1"/>
        </p:nvSpPr>
        <p:spPr>
          <a:xfrm>
            <a:off x="11070496" y="491039"/>
            <a:ext cx="10323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DB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아키텍쳐 분석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A0B32AA-8841-3B73-AAFB-F17CBFD839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30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.컨테이너 인프라 아키텍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0547340" y="458270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0562037" y="473636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5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749896" y="468320"/>
            <a:ext cx="135293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컨테이너 아키텍쳐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분석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1F89CC-53FC-DF67-4915-2B9F574614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3459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.Observability 아키텍쳐 분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0159413" y="461907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0174110" y="477273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6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361969" y="471957"/>
            <a:ext cx="174086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Observability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아키텍쳐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분석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51A7B6-B07A-75A5-043B-F768FE9A64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19916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5.컨테이너 인프라 아키텍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en-US" sz="1799" dirty="0" err="1"/>
              <a:t>eiifc</a:t>
            </a:r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0512073" y="461907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0526770" y="477273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7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714629" y="471957"/>
            <a:ext cx="138820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개선안 및 실행도출 계획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538621-BE7C-1187-EE0A-20CB471F51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1198294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.추가제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11277536" y="450721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11292233" y="466087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8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1480092" y="460771"/>
            <a:ext cx="25648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기타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9B009-56C6-E35E-36CA-69EB594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149529-D20C-30B5-BA6B-165F1CD52499}"/>
              </a:ext>
            </a:extLst>
          </p:cNvPr>
          <p:cNvSpPr/>
          <p:nvPr userDrawn="1"/>
        </p:nvSpPr>
        <p:spPr>
          <a:xfrm>
            <a:off x="0" y="0"/>
            <a:ext cx="149290" cy="630048"/>
          </a:xfrm>
          <a:prstGeom prst="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CD8368A-E2D2-0FE6-534A-B18D5834B934}"/>
              </a:ext>
            </a:extLst>
          </p:cNvPr>
          <p:cNvSpPr txBox="1">
            <a:spLocks/>
          </p:cNvSpPr>
          <p:nvPr userDrawn="1"/>
        </p:nvSpPr>
        <p:spPr>
          <a:xfrm>
            <a:off x="4888266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900" b="1" kern="1200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mazon Ember Display" panose="020B0603020204020204" pitchFamily="34" charset="0"/>
                <a:ea typeface="+mn-ea"/>
                <a:cs typeface="+mn-cs"/>
              </a:defRPr>
            </a:lvl9pPr>
          </a:lstStyle>
          <a:p>
            <a:fld id="{FCE3D07C-C609-5F4C-A74A-B90C9508442B}" type="slidenum">
              <a:rPr lang="en-US" altLang="ko-KR" smtClean="0"/>
              <a:pPr/>
              <a:t>‹#›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632F2C-45D3-F2AB-7B0F-BB6CC4207C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7008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아키텍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778092"/>
            <a:ext cx="11737975" cy="5871188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536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6FFCB4-D6E2-3201-5878-C8361122FF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76286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833248"/>
            <a:ext cx="11737975" cy="5816032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DF2B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64BA3D-9898-3700-7640-1265747A89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7536" y="72617"/>
            <a:ext cx="825294" cy="32672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41795647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2874167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649830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44E5D3F-BDFE-86DA-972A-56E395641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B5C529-99F9-B249-A956-629C1B5D136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793959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3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89B0880E-2C2F-FE53-2900-82EAD1D055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9835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69CBFA-05FB-0D69-B70B-E4B2681486DD}"/>
              </a:ext>
            </a:extLst>
          </p:cNvPr>
          <p:cNvSpPr txBox="1"/>
          <p:nvPr userDrawn="1"/>
        </p:nvSpPr>
        <p:spPr>
          <a:xfrm>
            <a:off x="1141084" y="6389813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latin typeface="NanumSquareOTF Bold" panose="020B0600000101010101" pitchFamily="34" charset="-127"/>
              </a:rPr>
              <a:t>© </a:t>
            </a:r>
            <a:fld id="{891D98CA-91DB-C845-88C4-F4C26858D263}" type="datetimeyyyy">
              <a:rPr lang="en-US" sz="600" b="1"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2025</a:t>
            </a:fld>
            <a:r>
              <a:rPr lang="en-US" sz="600" b="1" dirty="0"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8DD696-2341-F0C8-0906-AB0D55B0F7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37300"/>
            <a:ext cx="3651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 anchor="ctr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20DBDCC-539E-C545-242F-C420886E1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B4CD45-2DE6-9B44-B35E-F91D79085AA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26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3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548DCF-A824-85F8-3728-F9E5D67F44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9835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D19F7C96-4F1D-EDDC-5B3F-4D0CB2B64E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600" y="2460625"/>
            <a:ext cx="68675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9pPr>
          </a:lstStyle>
          <a:p>
            <a:pPr eaLnBrk="1" hangingPunct="1"/>
            <a:r>
              <a:rPr lang="en-US" altLang="ko-KR" sz="4800" b="1">
                <a:latin typeface="NanumSquareOTF Bold" panose="020B0600000101010101" pitchFamily="34" charset="-127"/>
                <a:ea typeface="굴림" panose="020B0600000101010101" pitchFamily="34" charset="-127"/>
              </a:rPr>
              <a:t>Thank you!</a:t>
            </a:r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D0C26D4A-DB74-F081-C720-42F886E24F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03263"/>
            <a:ext cx="10033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88B8CB-B473-2E2F-1D26-DCE95BFF9DBB}"/>
              </a:ext>
            </a:extLst>
          </p:cNvPr>
          <p:cNvSpPr txBox="1"/>
          <p:nvPr userDrawn="1"/>
        </p:nvSpPr>
        <p:spPr>
          <a:xfrm>
            <a:off x="504476" y="6389813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latin typeface="NanumSquareOTF Bold" panose="020B0600000101010101" pitchFamily="34" charset="-127"/>
              </a:rPr>
              <a:t>© </a:t>
            </a:r>
            <a:fld id="{C9305E1C-00C6-7741-A376-0D18F41A32E6}" type="datetimeyyyy">
              <a:rPr lang="en-US" sz="600" b="1"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2025</a:t>
            </a:fld>
            <a:r>
              <a:rPr lang="en-US" sz="600" b="1" dirty="0"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-619677"/>
            <a:ext cx="10972800" cy="5355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9125" y="3621643"/>
            <a:ext cx="1994088" cy="3693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2714625" y="3621643"/>
            <a:ext cx="1994088" cy="3693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4810125" y="3621643"/>
            <a:ext cx="1994088" cy="3693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54650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5">
            <a:extLst>
              <a:ext uri="{FF2B5EF4-FFF2-40B4-BE49-F238E27FC236}">
                <a16:creationId xmlns:a16="http://schemas.microsoft.com/office/drawing/2014/main" id="{20BC7483-FF7E-C742-8762-5CF836A485FF}"/>
              </a:ext>
            </a:extLst>
          </p:cNvPr>
          <p:cNvSpPr/>
          <p:nvPr userDrawn="1"/>
        </p:nvSpPr>
        <p:spPr>
          <a:xfrm>
            <a:off x="0" y="-1"/>
            <a:ext cx="12188827" cy="6858001"/>
          </a:xfrm>
          <a:prstGeom prst="rect">
            <a:avLst/>
          </a:prstGeom>
          <a:gradFill flip="none" rotWithShape="1">
            <a:gsLst>
              <a:gs pos="22000">
                <a:srgbClr val="001334">
                  <a:alpha val="86000"/>
                </a:srgbClr>
              </a:gs>
              <a:gs pos="88000">
                <a:srgbClr val="002060">
                  <a:alpha val="78000"/>
                </a:srgbClr>
              </a:gs>
            </a:gsLst>
            <a:lin ang="30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DB737D1-D3AF-4C4C-B9E4-5AFFE9956D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8" y="4613513"/>
            <a:ext cx="12192000" cy="6120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0" i="0" baseline="0">
                <a:solidFill>
                  <a:schemeClr val="accent1"/>
                </a:solidFill>
                <a:latin typeface="+mj-lt"/>
                <a:ea typeface="NanumSquareOTF_ac" panose="020B0600000101010101" pitchFamily="34" charset="-127"/>
                <a:cs typeface="Arial" pitchFamily="34" charset="0"/>
              </a:defRPr>
            </a:lvl1pPr>
          </a:lstStyle>
          <a:p>
            <a:endParaRPr lang="en-US" altLang="ko-KR" b="1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FF22DE8-35F4-A94D-85A5-6953334949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5238605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 baseline="0">
                <a:solidFill>
                  <a:schemeClr val="accent1"/>
                </a:solidFill>
                <a:latin typeface="+mn-lt"/>
                <a:ea typeface="NanumSquareOTF_ac" panose="020B0600000101010101" pitchFamily="34" charset="-127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23486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1D63A2F-910A-A191-C6FA-A1BA5A518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14400"/>
            <a:ext cx="109728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5587D46-93EA-CBDA-82AC-BC5B3C41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4411C-2B9C-BC3F-CFF4-E58B15BB5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688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 b="1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</a:defRPr>
            </a:lvl1pPr>
          </a:lstStyle>
          <a:p>
            <a:fld id="{2D5842A4-21FB-C54D-BAB4-96CB4CEC04B7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EB4F6-A854-5479-2F4B-1A22C255B593}"/>
              </a:ext>
            </a:extLst>
          </p:cNvPr>
          <p:cNvSpPr txBox="1"/>
          <p:nvPr userDrawn="1"/>
        </p:nvSpPr>
        <p:spPr>
          <a:xfrm>
            <a:off x="1141084" y="6547051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© </a:t>
            </a:r>
            <a:fld id="{C09C7244-04FA-4945-8501-81AE75998B9F}" type="datetimeyyyy">
              <a:rPr lang="en-US" sz="600" b="1">
                <a:solidFill>
                  <a:schemeClr val="tx2"/>
                </a:solidFill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2025</a:t>
            </a:fld>
            <a:r>
              <a:rPr lang="en-US" sz="600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345BF80-77C3-A1FD-0094-2D2037909C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496126"/>
            <a:ext cx="3651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7" r:id="rId1"/>
    <p:sldLayoutId id="2147484088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3997" r:id="rId9"/>
    <p:sldLayoutId id="2147484089" r:id="rId10"/>
    <p:sldLayoutId id="2147484083" r:id="rId11"/>
    <p:sldLayoutId id="2147483998" r:id="rId12"/>
    <p:sldLayoutId id="2147484050" r:id="rId13"/>
    <p:sldLayoutId id="2147484068" r:id="rId14"/>
    <p:sldLayoutId id="2147484086" r:id="rId15"/>
  </p:sldLayoutIdLst>
  <p:transition spd="med">
    <p:fade/>
  </p:transition>
  <p:hf hdr="0" ftr="0" dt="0"/>
  <p:txStyles>
    <p:titleStyle>
      <a:lvl1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j-cs"/>
        </a:defRPr>
      </a:lvl1pPr>
      <a:lvl2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2pPr>
      <a:lvl3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3pPr>
      <a:lvl4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4pPr>
      <a:lvl5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9pPr>
    </p:titleStyle>
    <p:bodyStyle>
      <a:lvl1pPr marL="228600" indent="-228600" algn="l" rtl="0" fontAlgn="base" latinLnBrk="1">
        <a:lnSpc>
          <a:spcPct val="90000"/>
        </a:lnSpc>
        <a:spcBef>
          <a:spcPct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b="0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1pPr>
      <a:lvl2pPr marL="514350" indent="-228600" algn="l" rtl="0" fontAlgn="base" latinLnBrk="1">
        <a:lnSpc>
          <a:spcPct val="90000"/>
        </a:lnSpc>
        <a:spcBef>
          <a:spcPct val="0"/>
        </a:spcBef>
        <a:spcAft>
          <a:spcPts val="1200"/>
        </a:spcAft>
        <a:buSzPct val="90000"/>
        <a:buFont typeface="Wingdings" pitchFamily="2" charset="2"/>
        <a:buChar char="§"/>
        <a:defRPr sz="2400" b="0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2pPr>
      <a:lvl3pPr marL="857250" indent="-228600" algn="l" rtl="0" fontAlgn="base" latinLnBrk="1">
        <a:lnSpc>
          <a:spcPct val="90000"/>
        </a:lnSpc>
        <a:spcBef>
          <a:spcPct val="0"/>
        </a:spcBef>
        <a:spcAft>
          <a:spcPts val="1200"/>
        </a:spcAft>
        <a:buFont typeface="Amazon Ember" panose="020B0603020204020204" pitchFamily="34" charset="0"/>
        <a:buChar char="–"/>
        <a:defRPr sz="2000" b="0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3pPr>
      <a:lvl4pPr marL="1030288" indent="-171450" algn="l" rtl="0" fontAlgn="base" latinLnBrk="1">
        <a:lnSpc>
          <a:spcPct val="90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b="0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4pPr>
      <a:lvl5pPr marL="1201738" indent="-171450" algn="l" rtl="0" fontAlgn="base" latinLnBrk="1">
        <a:lnSpc>
          <a:spcPct val="90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b="0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7" Type="http://schemas.openxmlformats.org/officeDocument/2006/relationships/chart" Target="../charts/chart17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5.xml"/><Relationship Id="rId4" Type="http://schemas.openxmlformats.org/officeDocument/2006/relationships/chart" Target="../charts/chart2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3.xml"/><Relationship Id="rId4" Type="http://schemas.openxmlformats.org/officeDocument/2006/relationships/chart" Target="../charts/char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1.xml"/><Relationship Id="rId4" Type="http://schemas.openxmlformats.org/officeDocument/2006/relationships/chart" Target="../charts/chart4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5.xml"/><Relationship Id="rId4" Type="http://schemas.openxmlformats.org/officeDocument/2006/relationships/chart" Target="../charts/chart4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7666D4-3418-4446-A736-2FF2CD87F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852215"/>
            <a:ext cx="12192000" cy="612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280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Ably</a:t>
            </a:r>
            <a:r>
              <a:rPr lang="ko-KR" altLang="en-US" sz="280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를 위한 </a:t>
            </a:r>
            <a:r>
              <a:rPr lang="en-US" altLang="ko-KR" sz="280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AWS WADD (Well-Architected Deep Dive) </a:t>
            </a:r>
            <a:r>
              <a:rPr lang="ko-KR" altLang="en-US" sz="2800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제언</a:t>
            </a:r>
            <a:endParaRPr lang="en-KR" sz="2800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61B3D-9B85-874E-B99F-DC773ECE23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148" y="3855854"/>
            <a:ext cx="12192000" cy="28803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NanumSquareOTF ExtraBold" panose="020B0600000101010101" pitchFamily="34" charset="-127"/>
                <a:ea typeface="NanumSquareOTF ExtraBold" panose="020B0600000101010101" pitchFamily="34" charset="-127"/>
              </a:rPr>
              <a:t>Amazon Web Services</a:t>
            </a:r>
            <a:endParaRPr lang="en-KR" b="1" dirty="0">
              <a:solidFill>
                <a:schemeClr val="bg1"/>
              </a:solidFill>
              <a:latin typeface="NanumSquareOTF ExtraBold" panose="020B0600000101010101" pitchFamily="34" charset="-127"/>
              <a:ea typeface="NanumSquareOTF ExtraBold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14AE80-1C0E-454D-B268-156FC143A64F}"/>
              </a:ext>
            </a:extLst>
          </p:cNvPr>
          <p:cNvSpPr txBox="1"/>
          <p:nvPr/>
        </p:nvSpPr>
        <p:spPr>
          <a:xfrm>
            <a:off x="5614137" y="4210870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20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2</a:t>
            </a:r>
            <a:r>
              <a:rPr lang="en-US" altLang="ko-KR" sz="1100" b="1" dirty="0">
                <a:solidFill>
                  <a:prstClr val="whit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.0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1</a:t>
            </a:r>
            <a:r>
              <a:rPr lang="en-US" altLang="ko-KR" sz="1100" b="1" dirty="0">
                <a:solidFill>
                  <a:prstClr val="white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.07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endParaRPr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B500084-F97C-0042-BA3E-2BC0A7943864}"/>
              </a:ext>
            </a:extLst>
          </p:cNvPr>
          <p:cNvCxnSpPr>
            <a:cxnSpLocks/>
          </p:cNvCxnSpPr>
          <p:nvPr/>
        </p:nvCxnSpPr>
        <p:spPr>
          <a:xfrm>
            <a:off x="501705" y="2597543"/>
            <a:ext cx="111589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FD554ABC-034A-C54E-8DF8-A9DB766B019C}"/>
              </a:ext>
            </a:extLst>
          </p:cNvPr>
          <p:cNvCxnSpPr>
            <a:cxnSpLocks/>
          </p:cNvCxnSpPr>
          <p:nvPr/>
        </p:nvCxnSpPr>
        <p:spPr>
          <a:xfrm>
            <a:off x="501705" y="3664343"/>
            <a:ext cx="111589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FA472AFE-E497-CB9B-4D50-CE12EE2FB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550863"/>
            <a:ext cx="10033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08D2AD-4100-5D2C-7718-C737E91C7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322" y="55086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9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752AA2C-2000-2F50-AA40-02FFDC06324B}"/>
              </a:ext>
            </a:extLst>
          </p:cNvPr>
          <p:cNvSpPr txBox="1"/>
          <p:nvPr/>
        </p:nvSpPr>
        <p:spPr>
          <a:xfrm>
            <a:off x="1008324" y="651809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828434"/>
            <a:r>
              <a:rPr lang="en-US" sz="36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Lato Black" charset="0"/>
              </a:rPr>
              <a:t>목차</a:t>
            </a:r>
            <a:endParaRPr lang="en-US" sz="36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Lato Black" charset="0"/>
            </a:endParaRPr>
          </a:p>
        </p:txBody>
      </p: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97EADF8F-BB0C-F6DD-01C3-35C9026E0883}"/>
              </a:ext>
            </a:extLst>
          </p:cNvPr>
          <p:cNvCxnSpPr/>
          <p:nvPr/>
        </p:nvCxnSpPr>
        <p:spPr>
          <a:xfrm>
            <a:off x="3172078" y="655455"/>
            <a:ext cx="0" cy="54297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3648829" y="1298140"/>
            <a:ext cx="7957955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defTabSz="1042996">
              <a:lnSpc>
                <a:spcPct val="150000"/>
              </a:lnSpc>
              <a:buAutoNum type="romanUcPeriod"/>
            </a:pP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소개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기반 아키텍쳐 분석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인프라 아키텍쳐 분석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en-US" altLang="ko-KR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Container </a:t>
            </a: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분석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en-US" altLang="ko-KR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Observability </a:t>
            </a: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분석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아키텍쳐 분석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 및 실행도출 계획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571500" indent="-571500" defTabSz="1042996">
              <a:lnSpc>
                <a:spcPct val="150000"/>
              </a:lnSpc>
              <a:buFontTx/>
              <a:buAutoNum type="romanUcPeriod"/>
            </a:pPr>
            <a:r>
              <a:rPr lang="ko-KR" altLang="en-US" sz="2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기타</a:t>
            </a:r>
            <a:endParaRPr lang="en-US" altLang="ko-KR" sz="24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4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832477" y="1834588"/>
            <a:ext cx="7957955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defTabSz="1042996">
              <a:lnSpc>
                <a:spcPct val="150000"/>
              </a:lnSpc>
              <a:buAutoNum type="romanUcPeriod"/>
            </a:pPr>
            <a:r>
              <a:rPr lang="ko-KR" altLang="en-US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소개</a:t>
            </a:r>
            <a:endParaRPr lang="en-US" altLang="ko-KR" sz="36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62435B8E-1971-DC6D-D11F-C566D67618F5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E9440239-4FFB-7291-34F1-A0E3FEA6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3784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프로젝트 소개 및 목표 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4D4D4D"/>
                </a:solidFill>
              </a14:hiddenFill>
            </a:ext>
            <a:ext uri="{91240B29-F687-4f45-9708-019B960494DF}">
              <a14:hiddenLine xmlns:a14="http://schemas.microsoft.com/office/drawing/2010/main" xmlns="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369879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3698791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830" y="1863293"/>
            <a:ext cx="369879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940A2769-C939-1171-1471-5D0351122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609" y="1855286"/>
            <a:ext cx="369879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958619" y="1686634"/>
            <a:ext cx="2304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배경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830" y="1658816"/>
            <a:ext cx="3698791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4885420" y="1683123"/>
            <a:ext cx="2421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목표 </a:t>
            </a:r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/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수행 내역</a:t>
            </a:r>
          </a:p>
        </p:txBody>
      </p:sp>
      <p:sp>
        <p:nvSpPr>
          <p:cNvPr id="34" name="AutoShape 51">
            <a:extLst>
              <a:ext uri="{FF2B5EF4-FFF2-40B4-BE49-F238E27FC236}">
                <a16:creationId xmlns:a16="http://schemas.microsoft.com/office/drawing/2014/main" id="{F44C7F69-8300-F6AC-B2BB-362A0F477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161" y="1656119"/>
            <a:ext cx="3698791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6AA312-21E8-F1F9-E4DA-FBCAE189F244}"/>
              </a:ext>
            </a:extLst>
          </p:cNvPr>
          <p:cNvSpPr txBox="1"/>
          <p:nvPr/>
        </p:nvSpPr>
        <p:spPr>
          <a:xfrm>
            <a:off x="8869117" y="1680426"/>
            <a:ext cx="2234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수행 일정 및 참여인원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751911-6505-6A11-9E2D-10F71A369F84}"/>
              </a:ext>
            </a:extLst>
          </p:cNvPr>
          <p:cNvSpPr txBox="1"/>
          <p:nvPr/>
        </p:nvSpPr>
        <p:spPr>
          <a:xfrm>
            <a:off x="411488" y="2550566"/>
            <a:ext cx="3587913" cy="283571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증가하는 비지니스 요구 사항에 대응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고객 수요의 다변화와 증가하는 비지니스 요구사항에 따라</a:t>
            </a:r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 고도화된 클라우드 기술 인프라</a:t>
            </a:r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/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운영 최적화 및 유연성 높고</a:t>
            </a:r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 확장성 갖춘 환경으로 전환</a:t>
            </a:r>
            <a:endParaRPr kumimoji="1" lang="en-US" altLang="ko-KR" sz="120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업계 경쟁력 강화를 위한 기술 혁신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경쟁사 대비 선도적 입지 확보를 위한 최신 기술 및 전략을 활용한 플랫폼 혁신</a:t>
            </a:r>
            <a:endParaRPr kumimoji="1" lang="en-US" altLang="ko-KR" sz="120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비용최적화를 통한 운영 효율성 극대화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클라우드 리소스 활용도를 최적화하여 불필요한 비용을 절감하고</a:t>
            </a:r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,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 필요한 영역에 자원을 기술 혁신을 재투자</a:t>
            </a:r>
            <a:endParaRPr kumimoji="1" lang="en-US" altLang="ko-KR" sz="120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pic>
        <p:nvPicPr>
          <p:cNvPr id="40" name="그림 16">
            <a:extLst>
              <a:ext uri="{FF2B5EF4-FFF2-40B4-BE49-F238E27FC236}">
                <a16:creationId xmlns:a16="http://schemas.microsoft.com/office/drawing/2014/main" id="{B64700AA-DBB1-8CA8-9203-88CC6F50780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4054839" y="3440264"/>
            <a:ext cx="310823" cy="1243975"/>
          </a:xfrm>
          <a:prstGeom prst="rect">
            <a:avLst/>
          </a:prstGeom>
        </p:spPr>
      </p:pic>
      <p:sp>
        <p:nvSpPr>
          <p:cNvPr id="41" name="AutoShape 7">
            <a:extLst>
              <a:ext uri="{FF2B5EF4-FFF2-40B4-BE49-F238E27FC236}">
                <a16:creationId xmlns:a16="http://schemas.microsoft.com/office/drawing/2014/main" id="{7482B432-BCF3-FBD8-D744-32B680008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8" y="2149361"/>
            <a:ext cx="959085" cy="268539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배경</a:t>
            </a:r>
          </a:p>
        </p:txBody>
      </p:sp>
      <p:sp>
        <p:nvSpPr>
          <p:cNvPr id="42" name="AutoShape 7">
            <a:extLst>
              <a:ext uri="{FF2B5EF4-FFF2-40B4-BE49-F238E27FC236}">
                <a16:creationId xmlns:a16="http://schemas.microsoft.com/office/drawing/2014/main" id="{A6F3A0D2-447E-494B-7515-FCCAC93C0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606" y="2149361"/>
            <a:ext cx="959085" cy="268539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목표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5F8F0F-0E1C-AFA0-C91E-F56091BE1484}"/>
              </a:ext>
            </a:extLst>
          </p:cNvPr>
          <p:cNvSpPr txBox="1"/>
          <p:nvPr/>
        </p:nvSpPr>
        <p:spPr>
          <a:xfrm>
            <a:off x="4313045" y="2550566"/>
            <a:ext cx="3587913" cy="283571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리뷰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-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200" dirty="0"/>
              <a:t>기존의 아키텍처를 리뷰하여 개선점 및 전환 가능성 평가</a:t>
            </a:r>
            <a:endParaRPr kumimoji="1" lang="en-US" altLang="ko-KR" sz="12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WA 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프레임워크 적용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Well Architecture </a:t>
            </a:r>
            <a:r>
              <a:rPr lang="en-US" altLang="ko-KR" sz="12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Framework</a:t>
            </a:r>
            <a:r>
              <a:rPr lang="ko-KR" altLang="en-US" sz="120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</a:t>
            </a:r>
            <a:r>
              <a:rPr lang="ko-KR" altLang="en-US" sz="12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적용한 아키텍처 최적화</a:t>
            </a:r>
            <a:endParaRPr lang="en-US" altLang="ko-KR" sz="12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컨설팅 기반 접근</a:t>
            </a:r>
            <a:b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</a:b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Cloud </a:t>
            </a:r>
            <a:r>
              <a:rPr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인프라</a:t>
            </a:r>
            <a:r>
              <a:rPr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(Computing/ Storage, Networking/Security)  , DB, EKS, Observability</a:t>
            </a:r>
            <a:r>
              <a:rPr lang="ko-KR" altLang="en-US" sz="1200" dirty="0"/>
              <a:t>를 포함한 아키텍처에 대한 컨설팅을 통해 구체적인 개선안 및 실행 전략 수립</a:t>
            </a:r>
            <a:endParaRPr lang="en-US" altLang="ko-KR" sz="12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비용최적화 </a:t>
            </a:r>
            <a:r>
              <a:rPr kumimoji="1"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kumimoji="1" lang="ko-KR" altLang="en-US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비용최적화 개선 전략 수립과 실행</a:t>
            </a:r>
          </a:p>
        </p:txBody>
      </p:sp>
      <p:cxnSp>
        <p:nvCxnSpPr>
          <p:cNvPr id="50" name="직선 화살표 연결선 40">
            <a:extLst>
              <a:ext uri="{FF2B5EF4-FFF2-40B4-BE49-F238E27FC236}">
                <a16:creationId xmlns:a16="http://schemas.microsoft.com/office/drawing/2014/main" id="{E669D535-6A7D-0C82-5D7C-6F8FBAD24F24}"/>
              </a:ext>
            </a:extLst>
          </p:cNvPr>
          <p:cNvCxnSpPr>
            <a:cxnSpLocks/>
          </p:cNvCxnSpPr>
          <p:nvPr/>
        </p:nvCxnSpPr>
        <p:spPr bwMode="auto">
          <a:xfrm flipH="1">
            <a:off x="9249525" y="2688844"/>
            <a:ext cx="18174" cy="3799780"/>
          </a:xfrm>
          <a:prstGeom prst="straightConnector1">
            <a:avLst/>
          </a:prstGeom>
          <a:solidFill>
            <a:srgbClr val="BBE0E3"/>
          </a:solidFill>
          <a:ln w="28575" cap="flat" cmpd="sng" algn="ctr">
            <a:solidFill>
              <a:srgbClr val="FF0077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52" name="AutoShape 7">
            <a:extLst>
              <a:ext uri="{FF2B5EF4-FFF2-40B4-BE49-F238E27FC236}">
                <a16:creationId xmlns:a16="http://schemas.microsoft.com/office/drawing/2014/main" id="{B118380A-F542-A92F-3565-37E8C049F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2670449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1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54" name="타원 44">
            <a:extLst>
              <a:ext uri="{FF2B5EF4-FFF2-40B4-BE49-F238E27FC236}">
                <a16:creationId xmlns:a16="http://schemas.microsoft.com/office/drawing/2014/main" id="{2D1F3F1D-BC9F-0F6E-0412-CF9EFA7AE9D2}"/>
              </a:ext>
            </a:extLst>
          </p:cNvPr>
          <p:cNvSpPr/>
          <p:nvPr/>
        </p:nvSpPr>
        <p:spPr bwMode="auto">
          <a:xfrm>
            <a:off x="9200591" y="6047117"/>
            <a:ext cx="113593" cy="113593"/>
          </a:xfrm>
          <a:prstGeom prst="ellipse">
            <a:avLst/>
          </a:prstGeom>
          <a:solidFill>
            <a:srgbClr val="FFFFFF"/>
          </a:solidFill>
          <a:ln w="38100" cap="flat" cmpd="sng" algn="ctr">
            <a:solidFill>
              <a:srgbClr val="FF0077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 panose="020B0503020000020004" pitchFamily="34" charset="-127"/>
              <a:ea typeface="Malgun Gothic" panose="020B0503020000020004" pitchFamily="34" charset="-127"/>
              <a:cs typeface="JBold" panose="0202060302010102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8FF377-8062-9F7A-3869-0EC27FC554CD}"/>
              </a:ext>
            </a:extLst>
          </p:cNvPr>
          <p:cNvSpPr txBox="1"/>
          <p:nvPr/>
        </p:nvSpPr>
        <p:spPr>
          <a:xfrm rot="16200000">
            <a:off x="8456705" y="4267422"/>
            <a:ext cx="158563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77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Bi-Weekly Meeting</a:t>
            </a:r>
            <a:endParaRPr lang="ko-KR" altLang="en-US" sz="1200" b="1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58" name="Rectangle 575">
            <a:extLst>
              <a:ext uri="{FF2B5EF4-FFF2-40B4-BE49-F238E27FC236}">
                <a16:creationId xmlns:a16="http://schemas.microsoft.com/office/drawing/2014/main" id="{C7BFCAF5-9615-0AF9-8D1E-BD88ACC0C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2688844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목표 및 기대 설정 및 초기 미팅</a:t>
            </a:r>
            <a:b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</a:b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참여인원 및 책임 분배 설명 및 목표 확인</a:t>
            </a:r>
          </a:p>
        </p:txBody>
      </p:sp>
      <p:sp>
        <p:nvSpPr>
          <p:cNvPr id="60" name="AutoShape 7">
            <a:extLst>
              <a:ext uri="{FF2B5EF4-FFF2-40B4-BE49-F238E27FC236}">
                <a16:creationId xmlns:a16="http://schemas.microsoft.com/office/drawing/2014/main" id="{DBBF80B2-7C6C-0729-91B5-7450A98D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3133301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2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61" name="Rectangle 575">
            <a:extLst>
              <a:ext uri="{FF2B5EF4-FFF2-40B4-BE49-F238E27FC236}">
                <a16:creationId xmlns:a16="http://schemas.microsoft.com/office/drawing/2014/main" id="{EEB889C8-DE81-CC9C-1A7A-B809C5E06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3151696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인프라 아키텍쳐 리뷰 결과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공유</a:t>
            </a:r>
            <a:b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</a:b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토론 개선안 도출 및 우선순위 설정</a:t>
            </a:r>
          </a:p>
        </p:txBody>
      </p:sp>
      <p:sp>
        <p:nvSpPr>
          <p:cNvPr id="62" name="AutoShape 7">
            <a:extLst>
              <a:ext uri="{FF2B5EF4-FFF2-40B4-BE49-F238E27FC236}">
                <a16:creationId xmlns:a16="http://schemas.microsoft.com/office/drawing/2014/main" id="{97B59AB7-B0F6-76F2-00B0-E021ED6F9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3606870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3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63" name="Rectangle 575">
            <a:extLst>
              <a:ext uri="{FF2B5EF4-FFF2-40B4-BE49-F238E27FC236}">
                <a16:creationId xmlns:a16="http://schemas.microsoft.com/office/drawing/2014/main" id="{B3F74B8F-2EC9-5985-B414-581EBA86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3625265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DB 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리뷰 결과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공유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토론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 도출 및 우선순위 설정</a:t>
            </a:r>
          </a:p>
        </p:txBody>
      </p:sp>
      <p:sp>
        <p:nvSpPr>
          <p:cNvPr id="64" name="AutoShape 7">
            <a:extLst>
              <a:ext uri="{FF2B5EF4-FFF2-40B4-BE49-F238E27FC236}">
                <a16:creationId xmlns:a16="http://schemas.microsoft.com/office/drawing/2014/main" id="{5F9BCE81-AA44-39FD-2D52-AAD2CC9B7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4080439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4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65" name="Rectangle 575">
            <a:extLst>
              <a:ext uri="{FF2B5EF4-FFF2-40B4-BE49-F238E27FC236}">
                <a16:creationId xmlns:a16="http://schemas.microsoft.com/office/drawing/2014/main" id="{95183B28-825C-99BC-BBE4-12B8457B0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4098834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리뷰 결과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공유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토론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 도출 및 우선 순위 설정</a:t>
            </a:r>
          </a:p>
        </p:txBody>
      </p:sp>
      <p:sp>
        <p:nvSpPr>
          <p:cNvPr id="66" name="AutoShape 7">
            <a:extLst>
              <a:ext uri="{FF2B5EF4-FFF2-40B4-BE49-F238E27FC236}">
                <a16:creationId xmlns:a16="http://schemas.microsoft.com/office/drawing/2014/main" id="{2B1508A8-12A1-8EF3-CFB8-64BF74AE3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4554008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5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67" name="Rectangle 575">
            <a:extLst>
              <a:ext uri="{FF2B5EF4-FFF2-40B4-BE49-F238E27FC236}">
                <a16:creationId xmlns:a16="http://schemas.microsoft.com/office/drawing/2014/main" id="{95F9134F-C565-ADE8-E7AC-D91BE8E0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4572403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Observability 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리뷰 결과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공유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토론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 도출 및 우선 순위 설정</a:t>
            </a:r>
          </a:p>
        </p:txBody>
      </p:sp>
      <p:sp>
        <p:nvSpPr>
          <p:cNvPr id="68" name="AutoShape 7">
            <a:extLst>
              <a:ext uri="{FF2B5EF4-FFF2-40B4-BE49-F238E27FC236}">
                <a16:creationId xmlns:a16="http://schemas.microsoft.com/office/drawing/2014/main" id="{6858914A-839B-380B-5265-0B4AB9333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5027577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6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69" name="Rectangle 575">
            <a:extLst>
              <a:ext uri="{FF2B5EF4-FFF2-40B4-BE49-F238E27FC236}">
                <a16:creationId xmlns:a16="http://schemas.microsoft.com/office/drawing/2014/main" id="{6BE4DEFE-06AD-0ABE-B758-20093C19B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5045972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개선안에 대한 향후 로드맵 및 </a:t>
            </a:r>
            <a:r>
              <a:rPr lang="en-US" altLang="ko-KR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Task </a:t>
            </a: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수립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필요 리소스 할당 및 협업 계획 수립</a:t>
            </a:r>
          </a:p>
        </p:txBody>
      </p:sp>
      <p:sp>
        <p:nvSpPr>
          <p:cNvPr id="70" name="AutoShape 7">
            <a:extLst>
              <a:ext uri="{FF2B5EF4-FFF2-40B4-BE49-F238E27FC236}">
                <a16:creationId xmlns:a16="http://schemas.microsoft.com/office/drawing/2014/main" id="{FD8D53B3-5F4B-54A6-7A44-A22D54623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5501146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7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1" name="Rectangle 575">
            <a:extLst>
              <a:ext uri="{FF2B5EF4-FFF2-40B4-BE49-F238E27FC236}">
                <a16:creationId xmlns:a16="http://schemas.microsoft.com/office/drawing/2014/main" id="{70CB51B9-4A9C-CDB7-5EA3-D371765A9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5519541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컨설팅 결과 문서 작성 및 최종 검토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보고서 및 산출물 제공 계획 수립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2" name="AutoShape 7">
            <a:extLst>
              <a:ext uri="{FF2B5EF4-FFF2-40B4-BE49-F238E27FC236}">
                <a16:creationId xmlns:a16="http://schemas.microsoft.com/office/drawing/2014/main" id="{242CB8D2-E8FD-F22E-F607-66318C6E0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5974715"/>
            <a:ext cx="885198" cy="257756"/>
          </a:xfrm>
          <a:prstGeom prst="roundRect">
            <a:avLst>
              <a:gd name="adj" fmla="val 16667"/>
            </a:avLst>
          </a:prstGeom>
          <a:solidFill>
            <a:srgbClr val="817C75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Meeting 8</a:t>
            </a:r>
            <a:endParaRPr lang="ko-KR" altLang="en-US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3" name="Rectangle 575">
            <a:extLst>
              <a:ext uri="{FF2B5EF4-FFF2-40B4-BE49-F238E27FC236}">
                <a16:creationId xmlns:a16="http://schemas.microsoft.com/office/drawing/2014/main" id="{2D068B02-94DF-2EC1-90B7-9644C0801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5993110"/>
            <a:ext cx="2304619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최종 보고서 및 산출물 제공</a:t>
            </a:r>
            <a:endParaRPr lang="en-US" altLang="ko-KR" sz="1050" i="0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eaLnBrk="1" latinLnBrk="1" hangingPunct="1">
              <a:spcAft>
                <a:spcPct val="0"/>
              </a:spcAft>
              <a:buClrTx/>
              <a:buFontTx/>
              <a:buNone/>
            </a:pPr>
            <a:r>
              <a:rPr lang="ko-KR" altLang="en-US" sz="1050" i="0" dirty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마무리 및 향후 조치 계획 수립</a:t>
            </a:r>
          </a:p>
        </p:txBody>
      </p:sp>
      <p:sp>
        <p:nvSpPr>
          <p:cNvPr id="76" name="AutoShape 7">
            <a:extLst>
              <a:ext uri="{FF2B5EF4-FFF2-40B4-BE49-F238E27FC236}">
                <a16:creationId xmlns:a16="http://schemas.microsoft.com/office/drawing/2014/main" id="{895D3F5E-6B51-5961-D1A0-9DA0B991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463" y="2154946"/>
            <a:ext cx="959085" cy="268539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일정</a:t>
            </a:r>
          </a:p>
        </p:txBody>
      </p:sp>
      <p:sp>
        <p:nvSpPr>
          <p:cNvPr id="77" name="AutoShape 7">
            <a:extLst>
              <a:ext uri="{FF2B5EF4-FFF2-40B4-BE49-F238E27FC236}">
                <a16:creationId xmlns:a16="http://schemas.microsoft.com/office/drawing/2014/main" id="{30472164-CE8A-33AF-71BF-4EEC70558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687" y="2161529"/>
            <a:ext cx="2213201" cy="268539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 w="6350" algn="ctr">
            <a:noFill/>
            <a:round/>
            <a:headEnd/>
            <a:tailEnd/>
          </a:ln>
          <a:effectLst/>
        </p:spPr>
        <p:txBody>
          <a:bodyPr lIns="43200" tIns="36000" rIns="43200" bIns="36000" anchor="ctr"/>
          <a:lstStyle/>
          <a:p>
            <a:pPr algn="ctr" defTabSz="995363" latinLnBrk="0">
              <a:buClr>
                <a:schemeClr val="bg2"/>
              </a:buClr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Task &amp;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참여인원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86901C9-61EA-41D1-772C-2CBD5717A010}"/>
              </a:ext>
            </a:extLst>
          </p:cNvPr>
          <p:cNvGrpSpPr/>
          <p:nvPr/>
        </p:nvGrpSpPr>
        <p:grpSpPr>
          <a:xfrm>
            <a:off x="10458376" y="2383111"/>
            <a:ext cx="987070" cy="305733"/>
            <a:chOff x="413970" y="1734383"/>
            <a:chExt cx="1902512" cy="589280"/>
          </a:xfrm>
        </p:grpSpPr>
        <p:sp>
          <p:nvSpPr>
            <p:cNvPr id="79" name="모서리가 둥근 직사각형 78">
              <a:extLst>
                <a:ext uri="{FF2B5EF4-FFF2-40B4-BE49-F238E27FC236}">
                  <a16:creationId xmlns:a16="http://schemas.microsoft.com/office/drawing/2014/main" id="{D1B64A50-DD2A-0533-B0F2-6EF33B3E95D9}"/>
                </a:ext>
              </a:extLst>
            </p:cNvPr>
            <p:cNvSpPr/>
            <p:nvPr/>
          </p:nvSpPr>
          <p:spPr>
            <a:xfrm>
              <a:off x="413970" y="1734383"/>
              <a:ext cx="1902512" cy="589280"/>
            </a:xfrm>
            <a:prstGeom prst="roundRect">
              <a:avLst>
                <a:gd name="adj" fmla="val 13219"/>
              </a:avLst>
            </a:prstGeom>
            <a:solidFill>
              <a:srgbClr val="FFFFFF">
                <a:lumMod val="95000"/>
              </a:srgbClr>
            </a:solidFill>
            <a:ln w="1270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lIns="45720" tIns="45720" r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endParaRPr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F260670F-9805-35B7-D48E-B50184C9C631}"/>
                </a:ext>
              </a:extLst>
            </p:cNvPr>
            <p:cNvGrpSpPr/>
            <p:nvPr/>
          </p:nvGrpSpPr>
          <p:grpSpPr>
            <a:xfrm>
              <a:off x="1796144" y="1820743"/>
              <a:ext cx="416560" cy="416560"/>
              <a:chOff x="1491344" y="2105223"/>
              <a:chExt cx="416560" cy="416560"/>
            </a:xfrm>
          </p:grpSpPr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DDCAC5A6-E36C-051E-0EF0-5DF3ABB72A7E}"/>
                  </a:ext>
                </a:extLst>
              </p:cNvPr>
              <p:cNvSpPr/>
              <p:nvPr/>
            </p:nvSpPr>
            <p:spPr>
              <a:xfrm>
                <a:off x="1491344" y="2105223"/>
                <a:ext cx="416560" cy="416560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FFFFFF">
                    <a:lumMod val="85000"/>
                  </a:srgbClr>
                </a:solidFill>
                <a:prstDash val="solid"/>
                <a:miter lim="800000"/>
              </a:ln>
              <a:effectLst/>
            </p:spPr>
            <p:txBody>
              <a:bodyPr lIns="45720" tIns="45720" rIns="4572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mazon Ember Display"/>
                  <a:ea typeface="+mn-ea"/>
                  <a:cs typeface="+mn-cs"/>
                </a:endParaRPr>
              </a:p>
            </p:txBody>
          </p:sp>
          <p:pic>
            <p:nvPicPr>
              <p:cNvPr id="83" name="Graphic 103">
                <a:extLst>
                  <a:ext uri="{FF2B5EF4-FFF2-40B4-BE49-F238E27FC236}">
                    <a16:creationId xmlns:a16="http://schemas.microsoft.com/office/drawing/2014/main" id="{3422844D-DC30-B741-6331-8EB63A7B9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60287" y="2227983"/>
                <a:ext cx="278674" cy="191361"/>
              </a:xfrm>
              <a:prstGeom prst="rect">
                <a:avLst/>
              </a:prstGeom>
            </p:spPr>
          </p:pic>
        </p:grp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649658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Well-Architected Framework Deep Dive 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환경의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아키텍처를 최적화하여 성능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안정성 및 운영 효율성을 개선하기 위한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프레임워크입니다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Computing, Networking,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Storage, DB, EKS, Observability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포함한 아키텍처에 대한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Deep Dive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컨설팅 제안을 위해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다음과 같이 목차와 상세 내용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그리고 스케쥴을 제안합니다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ko-KR" altLang="en-US" sz="1400" b="1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7F34A9-1524-AD42-52AD-791F54C8B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294" y="2427917"/>
            <a:ext cx="545270" cy="21586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88710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그림 16">
            <a:extLst>
              <a:ext uri="{FF2B5EF4-FFF2-40B4-BE49-F238E27FC236}">
                <a16:creationId xmlns:a16="http://schemas.microsoft.com/office/drawing/2014/main" id="{15B9C4CD-EEFA-9310-5539-C070AC58AAF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3255034" y="3462980"/>
            <a:ext cx="551555" cy="1243975"/>
          </a:xfrm>
          <a:prstGeom prst="rect">
            <a:avLst/>
          </a:prstGeom>
        </p:spPr>
      </p:pic>
      <p:sp>
        <p:nvSpPr>
          <p:cNvPr id="112" name="Rectangle 12">
            <a:extLst>
              <a:ext uri="{FF2B5EF4-FFF2-40B4-BE49-F238E27FC236}">
                <a16:creationId xmlns:a16="http://schemas.microsoft.com/office/drawing/2014/main" id="{8835C050-BD9E-EB56-817C-63956DF6D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" y="1971156"/>
            <a:ext cx="1132319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Review Process </a:t>
            </a:r>
            <a:r>
              <a:rPr lang="ko-KR" altLang="en-US" dirty="0"/>
              <a:t>및 방법론</a:t>
            </a:r>
          </a:p>
        </p:txBody>
      </p:sp>
      <p:sp>
        <p:nvSpPr>
          <p:cNvPr id="53" name="Rectangle 403">
            <a:extLst>
              <a:ext uri="{FF2B5EF4-FFF2-40B4-BE49-F238E27FC236}">
                <a16:creationId xmlns:a16="http://schemas.microsoft.com/office/drawing/2014/main" id="{578069E5-EF0A-9FAB-86D8-5EB0B910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641" y="2276801"/>
            <a:ext cx="6912302" cy="3314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36000" rIns="46800" bIns="0" anchor="ctr" anchorCtr="0"/>
          <a:lstStyle>
            <a:lvl1pPr marL="130175" indent="-130175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260350" indent="-128588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8425" indent="-98425" eaLnBrk="1" fontAlgn="ctr" hangingPunct="1">
              <a:buClr>
                <a:srgbClr val="333333"/>
              </a:buClr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인프라 구성을 파악하고 리소스 사용률을 분석하여 비효율적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리소스 할당이나 과도한 비용 발생 영역을 식별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4D7A6C-CF3C-C763-10EB-9DE4A890DD14}"/>
              </a:ext>
            </a:extLst>
          </p:cNvPr>
          <p:cNvSpPr txBox="1"/>
          <p:nvPr/>
        </p:nvSpPr>
        <p:spPr>
          <a:xfrm>
            <a:off x="1079660" y="1686634"/>
            <a:ext cx="1540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프로세스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B0199B6-65E2-7970-E497-BB5D2570364D}"/>
              </a:ext>
            </a:extLst>
          </p:cNvPr>
          <p:cNvGrpSpPr/>
          <p:nvPr/>
        </p:nvGrpSpPr>
        <p:grpSpPr>
          <a:xfrm>
            <a:off x="479569" y="2278038"/>
            <a:ext cx="2676655" cy="751160"/>
            <a:chOff x="490573" y="2043152"/>
            <a:chExt cx="2676655" cy="751160"/>
          </a:xfrm>
        </p:grpSpPr>
        <p:sp>
          <p:nvSpPr>
            <p:cNvPr id="10" name="Rectangle 577" descr="사각유형1-2">
              <a:extLst>
                <a:ext uri="{FF2B5EF4-FFF2-40B4-BE49-F238E27FC236}">
                  <a16:creationId xmlns:a16="http://schemas.microsoft.com/office/drawing/2014/main" id="{606B8751-E84B-E9E9-F415-9EFDE8ED9D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2490" y="2270879"/>
              <a:ext cx="741516" cy="305349"/>
            </a:xfrm>
            <a:prstGeom prst="rect">
              <a:avLst/>
            </a:prstGeom>
            <a:gradFill flip="none" rotWithShape="1">
              <a:gsLst>
                <a:gs pos="100000">
                  <a:srgbClr val="86817A"/>
                </a:gs>
                <a:gs pos="0">
                  <a:srgbClr val="565044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분석</a:t>
              </a:r>
              <a:endParaRPr lang="ko-KR" altLang="en-US" sz="1200" b="1" dirty="0">
                <a:solidFill>
                  <a:schemeClr val="lt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24" name="Rectangle 403">
              <a:extLst>
                <a:ext uri="{FF2B5EF4-FFF2-40B4-BE49-F238E27FC236}">
                  <a16:creationId xmlns:a16="http://schemas.microsoft.com/office/drawing/2014/main" id="{A6A80D3D-B812-109E-72A8-72CA101BA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025" y="2043152"/>
              <a:ext cx="2270203" cy="34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36000" rIns="46800" bIns="0" anchor="ctr" anchorCtr="0"/>
            <a:lstStyle>
              <a:lvl1pPr marL="130175" indent="-130175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260350" indent="-128588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8425" indent="-98425" eaLnBrk="1" fontAlgn="ctr" hangingPunct="1">
                <a:spcAft>
                  <a:spcPct val="0"/>
                </a:spcAft>
                <a:buClr>
                  <a:srgbClr val="333333"/>
                </a:buClr>
                <a:buFont typeface="Wingdings 2" pitchFamily="18" charset="2"/>
                <a:buNone/>
              </a:pP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인프라 구성 및 자원 사용률 분석</a:t>
              </a:r>
            </a:p>
          </p:txBody>
        </p:sp>
        <p:sp>
          <p:nvSpPr>
            <p:cNvPr id="92" name="Rectangle 403">
              <a:extLst>
                <a:ext uri="{FF2B5EF4-FFF2-40B4-BE49-F238E27FC236}">
                  <a16:creationId xmlns:a16="http://schemas.microsoft.com/office/drawing/2014/main" id="{767B19B5-C9E1-ABB3-0E29-81B7D1C8D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681" y="2445118"/>
              <a:ext cx="2272547" cy="34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36000" rIns="46800" bIns="0" anchor="ctr" anchorCtr="0"/>
            <a:lstStyle>
              <a:lvl1pPr marL="130175" indent="-130175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260350" indent="-128588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8425" indent="-98425" eaLnBrk="1" fontAlgn="ctr" hangingPunct="1">
                <a:spcAft>
                  <a:spcPct val="0"/>
                </a:spcAft>
                <a:buClr>
                  <a:srgbClr val="333333"/>
                </a:buClr>
                <a:buFont typeface="Wingdings 2" pitchFamily="18" charset="2"/>
                <a:buNone/>
              </a:pP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인터뷰</a:t>
              </a:r>
              <a:r>
                <a:rPr lang="en-US" altLang="ko-KR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,</a:t>
              </a: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en-US" altLang="ko-KR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COT, TA </a:t>
              </a: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도구 활용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B8430936-8052-3314-8A4D-891FB11E345C}"/>
              </a:ext>
            </a:extLst>
          </p:cNvPr>
          <p:cNvGrpSpPr/>
          <p:nvPr/>
        </p:nvGrpSpPr>
        <p:grpSpPr>
          <a:xfrm>
            <a:off x="479569" y="3480901"/>
            <a:ext cx="2679000" cy="746020"/>
            <a:chOff x="490572" y="2876985"/>
            <a:chExt cx="2679000" cy="746020"/>
          </a:xfrm>
        </p:grpSpPr>
        <p:sp>
          <p:nvSpPr>
            <p:cNvPr id="11" name="Rectangle 577" descr="사각유형1-2">
              <a:extLst>
                <a:ext uri="{FF2B5EF4-FFF2-40B4-BE49-F238E27FC236}">
                  <a16:creationId xmlns:a16="http://schemas.microsoft.com/office/drawing/2014/main" id="{4D7DF64A-A193-1A4D-CA8C-D385C3FC90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2489" y="3095068"/>
              <a:ext cx="741516" cy="305349"/>
            </a:xfrm>
            <a:prstGeom prst="rect">
              <a:avLst/>
            </a:prstGeom>
            <a:gradFill flip="none" rotWithShape="1">
              <a:gsLst>
                <a:gs pos="100000">
                  <a:srgbClr val="86817A"/>
                </a:gs>
                <a:gs pos="0">
                  <a:srgbClr val="565044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진단</a:t>
              </a:r>
              <a:endParaRPr lang="ko-KR" altLang="en-US" sz="1200" b="1" dirty="0">
                <a:solidFill>
                  <a:schemeClr val="lt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22" name="Rectangle 403">
              <a:extLst>
                <a:ext uri="{FF2B5EF4-FFF2-40B4-BE49-F238E27FC236}">
                  <a16:creationId xmlns:a16="http://schemas.microsoft.com/office/drawing/2014/main" id="{7B8BD3BA-3390-AB88-7381-28947508B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025" y="2876985"/>
              <a:ext cx="2272547" cy="34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36000" rIns="46800" bIns="0" anchor="ctr" anchorCtr="0"/>
            <a:lstStyle>
              <a:lvl1pPr marL="130175" indent="-130175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260350" indent="-128588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8425" indent="-98425" eaLnBrk="1" fontAlgn="ctr" hangingPunct="1">
                <a:spcAft>
                  <a:spcPct val="0"/>
                </a:spcAft>
                <a:buClr>
                  <a:srgbClr val="333333"/>
                </a:buClr>
                <a:buFont typeface="Wingdings 2" pitchFamily="18" charset="2"/>
                <a:buNone/>
              </a:pP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주요 항목별 진단 및 개선사항 도출</a:t>
              </a:r>
            </a:p>
          </p:txBody>
        </p:sp>
        <p:sp>
          <p:nvSpPr>
            <p:cNvPr id="93" name="Rectangle 403">
              <a:extLst>
                <a:ext uri="{FF2B5EF4-FFF2-40B4-BE49-F238E27FC236}">
                  <a16:creationId xmlns:a16="http://schemas.microsoft.com/office/drawing/2014/main" id="{57332DF0-D41C-4AE6-DA2E-8411E830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680" y="3274531"/>
              <a:ext cx="2274891" cy="34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36000" rIns="46800" bIns="0" anchor="ctr" anchorCtr="0"/>
            <a:lstStyle>
              <a:lvl1pPr marL="130175" indent="-130175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260350" indent="-128588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8425" indent="-98425" eaLnBrk="1" fontAlgn="ctr" hangingPunct="1">
                <a:spcAft>
                  <a:spcPct val="0"/>
                </a:spcAft>
                <a:buClr>
                  <a:srgbClr val="333333"/>
                </a:buClr>
                <a:buFont typeface="Wingdings 2" pitchFamily="18" charset="2"/>
                <a:buNone/>
              </a:pPr>
              <a:r>
                <a:rPr lang="en-US" altLang="ko-KR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AWS </a:t>
              </a: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모범사례 기반 진단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48077C13-8730-323C-EEB4-BFB126EC2B7F}"/>
              </a:ext>
            </a:extLst>
          </p:cNvPr>
          <p:cNvGrpSpPr/>
          <p:nvPr/>
        </p:nvGrpSpPr>
        <p:grpSpPr>
          <a:xfrm>
            <a:off x="479569" y="4737980"/>
            <a:ext cx="2679001" cy="758961"/>
            <a:chOff x="490572" y="3693457"/>
            <a:chExt cx="2679001" cy="758961"/>
          </a:xfrm>
        </p:grpSpPr>
        <p:sp>
          <p:nvSpPr>
            <p:cNvPr id="12" name="Rectangle 577" descr="사각유형1-2">
              <a:extLst>
                <a:ext uri="{FF2B5EF4-FFF2-40B4-BE49-F238E27FC236}">
                  <a16:creationId xmlns:a16="http://schemas.microsoft.com/office/drawing/2014/main" id="{EAF5F0AB-5D51-AC16-13E2-E26D2A0EA0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4464" y="3919565"/>
              <a:ext cx="757566" cy="305349"/>
            </a:xfrm>
            <a:prstGeom prst="rect">
              <a:avLst/>
            </a:prstGeom>
            <a:gradFill flip="none" rotWithShape="1">
              <a:gsLst>
                <a:gs pos="100000">
                  <a:srgbClr val="86817A"/>
                </a:gs>
                <a:gs pos="0">
                  <a:srgbClr val="565044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협업</a:t>
              </a:r>
              <a:endParaRPr lang="ko-KR" altLang="en-US" sz="1200" b="1" dirty="0">
                <a:solidFill>
                  <a:schemeClr val="lt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20" name="Rectangle 403">
              <a:extLst>
                <a:ext uri="{FF2B5EF4-FFF2-40B4-BE49-F238E27FC236}">
                  <a16:creationId xmlns:a16="http://schemas.microsoft.com/office/drawing/2014/main" id="{13763C78-131D-BB0E-8AF0-65A322628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027" y="3695725"/>
              <a:ext cx="2272546" cy="34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36000" rIns="46800" bIns="0" anchor="ctr" anchorCtr="0"/>
            <a:lstStyle>
              <a:lvl1pPr marL="130175" indent="-130175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260350" indent="-128588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8425" indent="-98425" eaLnBrk="1" fontAlgn="ctr" hangingPunct="1">
                <a:spcAft>
                  <a:spcPct val="0"/>
                </a:spcAft>
                <a:buClr>
                  <a:srgbClr val="333333"/>
                </a:buClr>
                <a:buFont typeface="Wingdings 2" pitchFamily="18" charset="2"/>
                <a:buNone/>
              </a:pP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참여인원 협업을 통한 데이터 수집</a:t>
              </a:r>
              <a:r>
                <a:rPr lang="en-US" altLang="ko-KR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/</a:t>
              </a: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분석</a:t>
              </a:r>
            </a:p>
          </p:txBody>
        </p:sp>
        <p:sp>
          <p:nvSpPr>
            <p:cNvPr id="94" name="Rectangle 403">
              <a:extLst>
                <a:ext uri="{FF2B5EF4-FFF2-40B4-BE49-F238E27FC236}">
                  <a16:creationId xmlns:a16="http://schemas.microsoft.com/office/drawing/2014/main" id="{AC3004E6-FF0B-0EA0-B263-17A7A038B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680" y="4103944"/>
              <a:ext cx="2272546" cy="3484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6800" tIns="36000" rIns="46800" bIns="0" anchor="ctr" anchorCtr="0"/>
            <a:lstStyle>
              <a:lvl1pPr marL="130175" indent="-130175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260350" indent="-128588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defTabSz="1076325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defTabSz="1076325" eaLnBrk="0" fontAlgn="base" hangingPunct="0">
                <a:spcBef>
                  <a:spcPct val="0"/>
                </a:spcBef>
                <a:spcAft>
                  <a:spcPct val="10000"/>
                </a:spcAft>
                <a:buClr>
                  <a:schemeClr val="bg2"/>
                </a:buClr>
                <a:buFont typeface="Wingdings" pitchFamily="2" charset="2"/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8425" indent="-98425" eaLnBrk="1" fontAlgn="ctr" hangingPunct="1">
                <a:spcAft>
                  <a:spcPct val="0"/>
                </a:spcAft>
                <a:buClr>
                  <a:srgbClr val="333333"/>
                </a:buClr>
                <a:buFont typeface="Wingdings 2" pitchFamily="18" charset="2"/>
                <a:buNone/>
              </a:pPr>
              <a:r>
                <a:rPr lang="en-US" altLang="ko-KR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AWS TF Team &amp; </a:t>
              </a:r>
              <a:r>
                <a:rPr lang="ko-KR" altLang="en-US" sz="1050" b="1" i="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에이블리</a:t>
              </a:r>
              <a:r>
                <a:rPr lang="ko-KR" altLang="en-US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</a:t>
              </a:r>
              <a:r>
                <a:rPr lang="en-US" altLang="ko-KR" sz="105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TF Team</a:t>
              </a:r>
              <a:endPara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sp>
        <p:nvSpPr>
          <p:cNvPr id="99" name="AutoShape 51">
            <a:extLst>
              <a:ext uri="{FF2B5EF4-FFF2-40B4-BE49-F238E27FC236}">
                <a16:creationId xmlns:a16="http://schemas.microsoft.com/office/drawing/2014/main" id="{69132C39-B849-5FB6-2BF1-EA33F417C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02" y="1662327"/>
            <a:ext cx="11324041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88F835F-62DB-671D-1A75-7012DED030D5}"/>
              </a:ext>
            </a:extLst>
          </p:cNvPr>
          <p:cNvSpPr txBox="1"/>
          <p:nvPr/>
        </p:nvSpPr>
        <p:spPr>
          <a:xfrm>
            <a:off x="4561341" y="1686634"/>
            <a:ext cx="2304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목표 및 상세 프로세스</a:t>
            </a:r>
          </a:p>
        </p:txBody>
      </p:sp>
      <p:sp>
        <p:nvSpPr>
          <p:cNvPr id="114" name="Rectangle 403">
            <a:extLst>
              <a:ext uri="{FF2B5EF4-FFF2-40B4-BE49-F238E27FC236}">
                <a16:creationId xmlns:a16="http://schemas.microsoft.com/office/drawing/2014/main" id="{88247150-60F8-68E7-4896-54589C814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641" y="2727033"/>
            <a:ext cx="6912302" cy="6375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36000" rIns="46800" bIns="0" anchor="ctr" anchorCtr="0"/>
          <a:lstStyle>
            <a:lvl1pPr marL="130175" indent="-130175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260350" indent="-128588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인프라 인벤토리 작성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EC2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데이터베이스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Lambda,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Container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등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리소스 목록을 작성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사용률 데이터 수집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COT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기반 자원 사용률 데이터를 수집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분석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AWS Cost Explorer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활용하여 리소스별 비용을 분석하고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최적화 기회를 식별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ko-KR" altLang="en-US" sz="1050" b="1" i="0" dirty="0">
              <a:ln>
                <a:solidFill>
                  <a:schemeClr val="bg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9" name="Rectangle 403">
            <a:extLst>
              <a:ext uri="{FF2B5EF4-FFF2-40B4-BE49-F238E27FC236}">
                <a16:creationId xmlns:a16="http://schemas.microsoft.com/office/drawing/2014/main" id="{6198414E-ED1F-CC68-39E4-B1AD20D1A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641" y="3471726"/>
            <a:ext cx="6912302" cy="3314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36000" rIns="46800" bIns="0" anchor="ctr" anchorCtr="0"/>
          <a:lstStyle>
            <a:lvl1pPr marL="130175" indent="-130175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260350" indent="-128588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8425" indent="-98425" eaLnBrk="1" fontAlgn="ctr" hangingPunct="1">
              <a:buClr>
                <a:srgbClr val="333333"/>
              </a:buClr>
            </a:pP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AS-IS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항목별 아키텍쳐 분석 및 개선사항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(To-Be)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도출</a:t>
            </a:r>
            <a:endParaRPr lang="ko-KR" altLang="en-US" b="1" i="0" dirty="0">
              <a:ln>
                <a:solidFill>
                  <a:schemeClr val="bg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21" name="Rectangle 403">
            <a:extLst>
              <a:ext uri="{FF2B5EF4-FFF2-40B4-BE49-F238E27FC236}">
                <a16:creationId xmlns:a16="http://schemas.microsoft.com/office/drawing/2014/main" id="{0CA5554C-9962-0C7D-FC3F-596B1737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641" y="3921958"/>
            <a:ext cx="6912302" cy="6375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36000" rIns="46800" bIns="0" anchor="ctr" anchorCtr="0"/>
          <a:lstStyle>
            <a:lvl1pPr marL="130175" indent="-130175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260350" indent="-128588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고객 담당자와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전문가 인터뷰 진행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기술 사상에 따른 진단 및 개선안 도출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 도출 이후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고객 담당자와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전문가 간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To-Be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모델 도출</a:t>
            </a:r>
          </a:p>
        </p:txBody>
      </p:sp>
      <p:sp>
        <p:nvSpPr>
          <p:cNvPr id="126" name="Rectangle 403">
            <a:extLst>
              <a:ext uri="{FF2B5EF4-FFF2-40B4-BE49-F238E27FC236}">
                <a16:creationId xmlns:a16="http://schemas.microsoft.com/office/drawing/2014/main" id="{1BE41379-381D-104C-A351-85939BAFA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641" y="4746215"/>
            <a:ext cx="6912302" cy="3314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36000" rIns="46800" bIns="0" anchor="ctr" anchorCtr="0"/>
          <a:lstStyle>
            <a:lvl1pPr marL="130175" indent="-130175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260350" indent="-128588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8425" indent="-98425" eaLnBrk="1" fontAlgn="ctr" hangingPunct="1">
              <a:buClr>
                <a:srgbClr val="333333"/>
              </a:buClr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다양한 전문가와 고객사 담당자 간의 협업을 통해 포괄적인 데이터 수집 및 분석을 수행</a:t>
            </a:r>
            <a:endParaRPr lang="ko-KR" altLang="en-US" sz="1050" b="1" i="0" dirty="0">
              <a:ln>
                <a:solidFill>
                  <a:schemeClr val="bg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28" name="Rectangle 403">
            <a:extLst>
              <a:ext uri="{FF2B5EF4-FFF2-40B4-BE49-F238E27FC236}">
                <a16:creationId xmlns:a16="http://schemas.microsoft.com/office/drawing/2014/main" id="{98E0576B-6A9D-6980-E743-E1F4E988C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641" y="5196446"/>
            <a:ext cx="6912302" cy="7412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xtLs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6800" tIns="36000" rIns="46800" bIns="0" anchor="ctr" anchorCtr="0"/>
          <a:lstStyle>
            <a:lvl1pPr marL="130175" indent="-130175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260350" indent="-128588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defTabSz="1076325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defTabSz="1076325" eaLnBrk="0" fontAlgn="base" hangingPunct="0">
              <a:spcBef>
                <a:spcPct val="0"/>
              </a:spcBef>
              <a:spcAft>
                <a:spcPct val="10000"/>
              </a:spcAft>
              <a:buClr>
                <a:schemeClr val="bg2"/>
              </a:buClr>
              <a:buFont typeface="Wingdings" pitchFamily="2" charset="2"/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워크샵 계획 및 실행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AWS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전문가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고객사 기술 팀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운영 팀과 함께 워크샵을 계획하고 실행하여 아키텍처에 대한 다양한 관점을 수집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수집 계획 수립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로깅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모니터링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사용률 데이터 등 필요한 정보의 수집 방법 및 도구를 결정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28600" indent="-228600" eaLnBrk="1" fontAlgn="ctr" hangingPunct="1">
              <a:buClr>
                <a:srgbClr val="333333"/>
              </a:buClr>
              <a:buFont typeface="+mj-lt"/>
              <a:buAutoNum type="arabicPeriod"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분석 도구 설정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수집된 데이터를 분석하기 위한 도구 및 시스템을 설정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endParaRPr lang="ko-KR" altLang="en-US" sz="1050" b="1" i="0" dirty="0">
              <a:ln>
                <a:solidFill>
                  <a:schemeClr val="bg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35" name="Rectangle 382" descr="도형04">
            <a:extLst>
              <a:ext uri="{FF2B5EF4-FFF2-40B4-BE49-F238E27FC236}">
                <a16:creationId xmlns:a16="http://schemas.microsoft.com/office/drawing/2014/main" id="{5285FFA7-9293-4930-D253-8C1DE9D6E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589" y="2306327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E76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목표</a:t>
            </a:r>
          </a:p>
        </p:txBody>
      </p:sp>
      <p:sp>
        <p:nvSpPr>
          <p:cNvPr id="137" name="Rectangle 382" descr="도형04">
            <a:extLst>
              <a:ext uri="{FF2B5EF4-FFF2-40B4-BE49-F238E27FC236}">
                <a16:creationId xmlns:a16="http://schemas.microsoft.com/office/drawing/2014/main" id="{8DF54F6F-EAF8-598A-D234-7EC3451F6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248" y="2766612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E76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프로세스</a:t>
            </a:r>
          </a:p>
        </p:txBody>
      </p:sp>
      <p:pic>
        <p:nvPicPr>
          <p:cNvPr id="138" name="Picture 66">
            <a:extLst>
              <a:ext uri="{FF2B5EF4-FFF2-40B4-BE49-F238E27FC236}">
                <a16:creationId xmlns:a16="http://schemas.microsoft.com/office/drawing/2014/main" id="{4EAC872F-0454-33A9-9E04-68A7EABDF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31113" y="2484283"/>
            <a:ext cx="944186" cy="431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9" name="Rectangle 382" descr="도형04">
            <a:extLst>
              <a:ext uri="{FF2B5EF4-FFF2-40B4-BE49-F238E27FC236}">
                <a16:creationId xmlns:a16="http://schemas.microsoft.com/office/drawing/2014/main" id="{BA8A14B4-C6F8-267F-6CE6-4C2A0163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930" y="3502765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E76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목표</a:t>
            </a:r>
          </a:p>
        </p:txBody>
      </p:sp>
      <p:sp>
        <p:nvSpPr>
          <p:cNvPr id="140" name="Rectangle 382" descr="도형04">
            <a:extLst>
              <a:ext uri="{FF2B5EF4-FFF2-40B4-BE49-F238E27FC236}">
                <a16:creationId xmlns:a16="http://schemas.microsoft.com/office/drawing/2014/main" id="{0DCD4E9E-7F00-77E5-327D-22E1695FB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589" y="3963050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E76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프로세스</a:t>
            </a:r>
          </a:p>
        </p:txBody>
      </p:sp>
      <p:pic>
        <p:nvPicPr>
          <p:cNvPr id="141" name="Picture 66">
            <a:extLst>
              <a:ext uri="{FF2B5EF4-FFF2-40B4-BE49-F238E27FC236}">
                <a16:creationId xmlns:a16="http://schemas.microsoft.com/office/drawing/2014/main" id="{3FD1E41F-6B65-EBDB-4A6B-BBDF57FB7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20454" y="3680721"/>
            <a:ext cx="944186" cy="431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" name="Rectangle 382" descr="도형04">
            <a:extLst>
              <a:ext uri="{FF2B5EF4-FFF2-40B4-BE49-F238E27FC236}">
                <a16:creationId xmlns:a16="http://schemas.microsoft.com/office/drawing/2014/main" id="{16A60A81-660E-CC55-1B77-A727DF996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930" y="4785229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E76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목표</a:t>
            </a:r>
          </a:p>
        </p:txBody>
      </p:sp>
      <p:sp>
        <p:nvSpPr>
          <p:cNvPr id="144" name="Rectangle 382" descr="도형04">
            <a:extLst>
              <a:ext uri="{FF2B5EF4-FFF2-40B4-BE49-F238E27FC236}">
                <a16:creationId xmlns:a16="http://schemas.microsoft.com/office/drawing/2014/main" id="{D682EA07-89CB-0753-B558-595F29D28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589" y="5245514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E761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프로세스</a:t>
            </a:r>
          </a:p>
        </p:txBody>
      </p:sp>
      <p:pic>
        <p:nvPicPr>
          <p:cNvPr id="145" name="Picture 66">
            <a:extLst>
              <a:ext uri="{FF2B5EF4-FFF2-40B4-BE49-F238E27FC236}">
                <a16:creationId xmlns:a16="http://schemas.microsoft.com/office/drawing/2014/main" id="{EE786E15-28AB-705F-D2E1-B54B32AB7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020454" y="4963185"/>
            <a:ext cx="944186" cy="431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46F61A7D-D7FD-7083-DC8F-0FEDEEB81CBB}"/>
              </a:ext>
            </a:extLst>
          </p:cNvPr>
          <p:cNvSpPr txBox="1"/>
          <p:nvPr/>
        </p:nvSpPr>
        <p:spPr>
          <a:xfrm>
            <a:off x="160666" y="649658"/>
            <a:ext cx="11675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WADD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수행하기 위해  현재 의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아키텍쳐를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 진단하고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개선점을 식별하는 방법을 소개합니다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주요 자원들에 대한 분석과 진단을 통한 개선점을 도출하고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Review Process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과정에서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전문가들과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에이블리의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클라우드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아키텍트들과의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긴밀한 협업을 통해 향후 개선과제를 모색합니다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endParaRPr lang="en-US" altLang="ko-KR" sz="1400" b="1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DF81696-7E86-72CB-EECB-27F482520DC5}"/>
              </a:ext>
            </a:extLst>
          </p:cNvPr>
          <p:cNvSpPr txBox="1"/>
          <p:nvPr/>
        </p:nvSpPr>
        <p:spPr>
          <a:xfrm>
            <a:off x="566057" y="6085408"/>
            <a:ext cx="11188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** 스케쥴은 프로젝트의 진행 상황에 따라 유동적으로 조정될 수 있습니다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각 프로세스와 목표는 충분한 준비와 사전 조사를 바탕으로 진행되며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고객사의 피드백을 적극적으로 반영하여 조정합니다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rPr>
              <a:t>.)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94367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제목 61">
            <a:extLst>
              <a:ext uri="{FF2B5EF4-FFF2-40B4-BE49-F238E27FC236}">
                <a16:creationId xmlns:a16="http://schemas.microsoft.com/office/drawing/2014/main" id="{7B109F54-C163-9C47-9699-68E4F26A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Architecture Review – </a:t>
            </a:r>
            <a:r>
              <a:rPr lang="ko-KR" altLang="en-US" dirty="0"/>
              <a:t>컴퓨팅</a:t>
            </a:r>
            <a:endParaRPr lang="ko-Kore-KR" altLang="en-US" dirty="0"/>
          </a:p>
        </p:txBody>
      </p:sp>
      <p:sp>
        <p:nvSpPr>
          <p:cNvPr id="4" name="AutoShape 112">
            <a:extLst>
              <a:ext uri="{FF2B5EF4-FFF2-40B4-BE49-F238E27FC236}">
                <a16:creationId xmlns:a16="http://schemas.microsoft.com/office/drawing/2014/main" id="{62A247E6-2B8E-1248-A853-45984EFB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2726182"/>
            <a:ext cx="11282105" cy="2873908"/>
          </a:xfrm>
          <a:prstGeom prst="roundRect">
            <a:avLst>
              <a:gd name="adj" fmla="val 2875"/>
            </a:avLst>
          </a:prstGeom>
          <a:solidFill>
            <a:srgbClr val="DADADE"/>
          </a:solidFill>
          <a:ln w="19050" algn="ctr">
            <a:solidFill>
              <a:srgbClr val="C0C0C0"/>
            </a:solidFill>
            <a:round/>
            <a:headEnd/>
            <a:tailEnd/>
          </a:ln>
        </p:spPr>
        <p:txBody>
          <a:bodyPr wrap="none" lIns="100785" tIns="50393" rIns="100785" bIns="50393" anchor="ctr"/>
          <a:lstStyle/>
          <a:p>
            <a:pPr algn="ctr"/>
            <a:endParaRPr lang="ko-KR" altLang="ko-KR" sz="1200" dirty="0">
              <a:latin typeface="Amazon Ember Medium" panose="020B0603020204020204" pitchFamily="34" charset="0"/>
              <a:ea typeface="Rix모던고딕 B" pitchFamily="18" charset="-127"/>
              <a:sym typeface="Wingdings" panose="05000000000000000000" pitchFamily="2" charset="2"/>
            </a:endParaRPr>
          </a:p>
        </p:txBody>
      </p:sp>
      <p:sp>
        <p:nvSpPr>
          <p:cNvPr id="11" name="AutoShape 114">
            <a:extLst>
              <a:ext uri="{FF2B5EF4-FFF2-40B4-BE49-F238E27FC236}">
                <a16:creationId xmlns:a16="http://schemas.microsoft.com/office/drawing/2014/main" id="{FBB23F41-B1A1-F941-B60C-0B61A05E2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82" y="2791274"/>
            <a:ext cx="2129086" cy="2725611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1ECA937D-E74E-7A4F-A42E-C46010E31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10" y="2787994"/>
            <a:ext cx="2126497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4301A542-1862-6E47-BD0B-892EB254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00" y="3302618"/>
            <a:ext cx="2057315" cy="1580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자동화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인프라와 소프트웨어 배포 프로세스의 자동화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모니터링 및 로깅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시스템의 성능 모니터링 및 로그 관리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대응 계획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장애 발생 시 대응 절차 및 자동화된 복구 프로세스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2AC04CC8-5821-644B-84F9-AB92BDA65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858" y="2857018"/>
            <a:ext cx="125510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운영 우수성</a:t>
            </a:r>
          </a:p>
        </p:txBody>
      </p:sp>
      <p:sp>
        <p:nvSpPr>
          <p:cNvPr id="16" name="AutoShape 114">
            <a:extLst>
              <a:ext uri="{FF2B5EF4-FFF2-40B4-BE49-F238E27FC236}">
                <a16:creationId xmlns:a16="http://schemas.microsoft.com/office/drawing/2014/main" id="{97316097-5547-CF4E-BC78-65FA4471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150" y="2792071"/>
            <a:ext cx="2119592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5C1672A1-A64D-AC47-ABC9-24525A775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150" y="2787994"/>
            <a:ext cx="2119592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114">
            <a:extLst>
              <a:ext uri="{FF2B5EF4-FFF2-40B4-BE49-F238E27FC236}">
                <a16:creationId xmlns:a16="http://schemas.microsoft.com/office/drawing/2014/main" id="{FAF6298E-C413-5C44-A96C-592AE231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259" y="2792071"/>
            <a:ext cx="2096275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D6EA42D1-786D-DA4E-9FDD-CA3C52DA1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260" y="2787994"/>
            <a:ext cx="2092702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AutoShape 114">
            <a:extLst>
              <a:ext uri="{FF2B5EF4-FFF2-40B4-BE49-F238E27FC236}">
                <a16:creationId xmlns:a16="http://schemas.microsoft.com/office/drawing/2014/main" id="{6AC3EC33-03E7-824C-A7BD-D5BBE28A5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740" y="2792071"/>
            <a:ext cx="2085348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0" name="AutoShape 114">
            <a:extLst>
              <a:ext uri="{FF2B5EF4-FFF2-40B4-BE49-F238E27FC236}">
                <a16:creationId xmlns:a16="http://schemas.microsoft.com/office/drawing/2014/main" id="{EB5E3F9B-4F97-DF42-A0EB-1E87FE2A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240" y="2784261"/>
            <a:ext cx="2096161" cy="2732258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D9613ED2-51DB-EB4A-8F49-CEC303418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240" y="2776814"/>
            <a:ext cx="2096161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50FC43A-4DEB-D449-BD45-C8161FF76990}"/>
              </a:ext>
            </a:extLst>
          </p:cNvPr>
          <p:cNvGrpSpPr>
            <a:grpSpLocks/>
          </p:cNvGrpSpPr>
          <p:nvPr/>
        </p:nvGrpSpPr>
        <p:grpSpPr bwMode="auto">
          <a:xfrm>
            <a:off x="2281357" y="1640612"/>
            <a:ext cx="8015242" cy="738071"/>
            <a:chOff x="656" y="1604"/>
            <a:chExt cx="1626" cy="378"/>
          </a:xfrm>
        </p:grpSpPr>
        <p:sp>
          <p:nvSpPr>
            <p:cNvPr id="37" name="Text Box 255">
              <a:extLst>
                <a:ext uri="{FF2B5EF4-FFF2-40B4-BE49-F238E27FC236}">
                  <a16:creationId xmlns:a16="http://schemas.microsoft.com/office/drawing/2014/main" id="{EDA86553-2132-EA47-90AF-D7E425719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F2B38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[</a:t>
              </a:r>
            </a:p>
          </p:txBody>
        </p:sp>
        <p:sp>
          <p:nvSpPr>
            <p:cNvPr id="38" name="Text Box 256">
              <a:extLst>
                <a:ext uri="{FF2B5EF4-FFF2-40B4-BE49-F238E27FC236}">
                  <a16:creationId xmlns:a16="http://schemas.microsoft.com/office/drawing/2014/main" id="{C42E80F1-A92D-9241-843B-1C8D4EAE1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F2B38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]</a:t>
              </a:r>
            </a:p>
          </p:txBody>
        </p:sp>
        <p:sp>
          <p:nvSpPr>
            <p:cNvPr id="41" name="Rectangle 82">
              <a:extLst>
                <a:ext uri="{FF2B5EF4-FFF2-40B4-BE49-F238E27FC236}">
                  <a16:creationId xmlns:a16="http://schemas.microsoft.com/office/drawing/2014/main" id="{8AAFA8BB-129C-FC4C-B86A-B1EF0B97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756"/>
              <a:ext cx="16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defRPr/>
              </a:pP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컴퓨팅 아키텍쳐 최적화 방안 진단 및 개선안</a:t>
              </a:r>
            </a:p>
          </p:txBody>
        </p:sp>
      </p:grpSp>
      <p:sp>
        <p:nvSpPr>
          <p:cNvPr id="44" name="AutoShape 7">
            <a:extLst>
              <a:ext uri="{FF2B5EF4-FFF2-40B4-BE49-F238E27FC236}">
                <a16:creationId xmlns:a16="http://schemas.microsoft.com/office/drawing/2014/main" id="{9EFB152C-1FE0-6D40-86A2-06A1F7F1A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455" y="2790439"/>
            <a:ext cx="2096161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45" name="Text Box 288">
            <a:extLst>
              <a:ext uri="{FF2B5EF4-FFF2-40B4-BE49-F238E27FC236}">
                <a16:creationId xmlns:a16="http://schemas.microsoft.com/office/drawing/2014/main" id="{1A3BB711-3B78-B64B-BC1A-18EFB7BF8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699" y="2859304"/>
            <a:ext cx="1515842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</a:p>
        </p:txBody>
      </p:sp>
      <p:sp>
        <p:nvSpPr>
          <p:cNvPr id="47" name="Text Box 288">
            <a:extLst>
              <a:ext uri="{FF2B5EF4-FFF2-40B4-BE49-F238E27FC236}">
                <a16:creationId xmlns:a16="http://schemas.microsoft.com/office/drawing/2014/main" id="{788C113F-2067-1042-BA68-90DEE3496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472" y="2869325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안정성</a:t>
            </a:r>
          </a:p>
        </p:txBody>
      </p:sp>
      <p:sp>
        <p:nvSpPr>
          <p:cNvPr id="48" name="Text Box 288">
            <a:extLst>
              <a:ext uri="{FF2B5EF4-FFF2-40B4-BE49-F238E27FC236}">
                <a16:creationId xmlns:a16="http://schemas.microsoft.com/office/drawing/2014/main" id="{8CC177F6-2AE6-7841-9E7F-EBA03B504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174" y="2861218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성능 효율성</a:t>
            </a:r>
          </a:p>
        </p:txBody>
      </p:sp>
      <p:sp>
        <p:nvSpPr>
          <p:cNvPr id="49" name="Text Box 288">
            <a:extLst>
              <a:ext uri="{FF2B5EF4-FFF2-40B4-BE49-F238E27FC236}">
                <a16:creationId xmlns:a16="http://schemas.microsoft.com/office/drawing/2014/main" id="{92302F47-00AD-BE4C-A78C-B8F86276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7031" y="2857017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최적화</a:t>
            </a:r>
          </a:p>
        </p:txBody>
      </p:sp>
      <p:sp>
        <p:nvSpPr>
          <p:cNvPr id="50" name="Rectangle 287">
            <a:extLst>
              <a:ext uri="{FF2B5EF4-FFF2-40B4-BE49-F238E27FC236}">
                <a16:creationId xmlns:a16="http://schemas.microsoft.com/office/drawing/2014/main" id="{CE9D599A-7775-1342-A16E-9AFFC271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399" y="3302618"/>
            <a:ext cx="2140082" cy="133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보안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그룹 및 네트워크 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ACLs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을 통한 접근 제어</a:t>
            </a:r>
            <a:endParaRPr lang="en-US" altLang="ko-KR" sz="105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인증 및 권한 부여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IAM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역할 및 정책을 통한 접근 관리 점검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전반적인 인프라 보안 점검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1" name="Rectangle 287">
            <a:extLst>
              <a:ext uri="{FF2B5EF4-FFF2-40B4-BE49-F238E27FC236}">
                <a16:creationId xmlns:a16="http://schemas.microsoft.com/office/drawing/2014/main" id="{3EBFB2ED-F210-FE4D-BC01-DF90DB90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386" y="3302618"/>
            <a:ext cx="2057315" cy="1580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latinLnBrk="0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고가용성 설계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다중 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배포 및 오토 스케일링 그룹 활용</a:t>
            </a:r>
            <a:endParaRPr lang="en-US" altLang="ko-KR" sz="105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백업 및 복구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EBS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스냅샷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AMI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등의 효율적인 사용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장애 허용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장애 발생 시 자동 장애 조치 및 장애 복구 계획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2" name="Rectangle 287">
            <a:extLst>
              <a:ext uri="{FF2B5EF4-FFF2-40B4-BE49-F238E27FC236}">
                <a16:creationId xmlns:a16="http://schemas.microsoft.com/office/drawing/2014/main" id="{7DF0DEE0-2B29-DE47-813A-E044A9C18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058" y="3302618"/>
            <a:ext cx="2057315" cy="182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latinLnBrk="0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리소스 선택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애플리케이션 요구사항에 맞는 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유형 선택</a:t>
            </a:r>
            <a:endParaRPr lang="en-US" altLang="ko-KR" sz="105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스케일링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수요에 따른 자동 또는 수동 스케일링 전략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최신 기술 활용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최신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 및 기능으로의 마이그레이션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3" name="Rectangle 287">
            <a:extLst>
              <a:ext uri="{FF2B5EF4-FFF2-40B4-BE49-F238E27FC236}">
                <a16:creationId xmlns:a16="http://schemas.microsoft.com/office/drawing/2014/main" id="{708FCCB4-0E2C-FF43-B647-F15499F04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800" y="3302618"/>
            <a:ext cx="2181723" cy="182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latinLnBrk="0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리소스 </a:t>
            </a:r>
            <a:r>
              <a:rPr lang="ko-KR" altLang="en-US" sz="105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사이징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 패턴 분석을 통한 적절한 인스턴스 </a:t>
            </a:r>
            <a:r>
              <a:rPr lang="ko-KR" altLang="en-US" sz="105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사이징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및 예약 인스턴스 활용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latinLnBrk="0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효율적인 리소스 할당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불필요한 리소스 제거 및 </a:t>
            </a:r>
            <a:r>
              <a:rPr lang="ko-KR" altLang="en-US" sz="105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스팟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인스턴스 활용</a:t>
            </a:r>
            <a:endParaRPr lang="en-US" altLang="ko-KR" sz="105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관리 도구 사용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AWS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및 사용량 보고서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AWS Budgets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FBE1FBB-2B06-7249-9CA8-A0F05FC52E0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3" y="2851354"/>
            <a:ext cx="360000" cy="3600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32928CD7-77FE-AD4B-8AE0-CEA72933C3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7423" y="2862375"/>
            <a:ext cx="360000" cy="360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C8CAA0B-4C02-D44D-B41D-4743BE6C8B7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47159" y="2862756"/>
            <a:ext cx="360000" cy="360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FB0AE8-FC6D-9949-A00A-3FDD2ECBEF4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393433" y="2857017"/>
            <a:ext cx="360000" cy="360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6733B32-D698-3348-AFF7-9FF7128789D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601042" y="2851354"/>
            <a:ext cx="360000" cy="360000"/>
          </a:xfrm>
          <a:prstGeom prst="rect">
            <a:avLst/>
          </a:prstGeom>
        </p:spPr>
      </p:pic>
      <p:sp>
        <p:nvSpPr>
          <p:cNvPr id="64" name="Rectangle 100">
            <a:extLst>
              <a:ext uri="{FF2B5EF4-FFF2-40B4-BE49-F238E27FC236}">
                <a16:creationId xmlns:a16="http://schemas.microsoft.com/office/drawing/2014/main" id="{F4DA0792-7ED0-7841-8C94-7B17B034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785470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defTabSz="914347">
              <a:buClr>
                <a:srgbClr val="808080"/>
              </a:buClr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포함한 어플리케이션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아키텍쳐에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대한 클라우드에서 운영되는 시스템의 설계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배포 및 운영을 최적화하기 위한 베스트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프랙티스와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지침을 제공하기 위해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아래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가지 항목 중심으로 진단 점검 및 개선안을 도출합니다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ko-KR" altLang="en-US" sz="700" b="1" kern="0" dirty="0">
              <a:ln>
                <a:solidFill>
                  <a:srgbClr val="BBE0E3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" name="사다리꼴 489">
            <a:extLst>
              <a:ext uri="{FF2B5EF4-FFF2-40B4-BE49-F238E27FC236}">
                <a16:creationId xmlns:a16="http://schemas.microsoft.com/office/drawing/2014/main" id="{50EE4536-E483-F07C-58E4-7BE952FFF614}"/>
              </a:ext>
            </a:extLst>
          </p:cNvPr>
          <p:cNvSpPr/>
          <p:nvPr/>
        </p:nvSpPr>
        <p:spPr bwMode="auto">
          <a:xfrm>
            <a:off x="452104" y="5731233"/>
            <a:ext cx="11236313" cy="164530"/>
          </a:xfrm>
          <a:prstGeom prst="trapezoid">
            <a:avLst>
              <a:gd name="adj" fmla="val 38590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381125"/>
            <a:endParaRPr lang="ko-KR" altLang="en-US" sz="12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A38DCB1-7AB8-4742-3E02-B9DDD47C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5895763"/>
            <a:ext cx="11282105" cy="519387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EAEA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25400" dir="5400000" sy="50000" rotWithShape="0">
                    <a:srgbClr val="F8F8F8"/>
                  </a:outerShdw>
                </a:effectLst>
              </a14:hiddenEffects>
            </a:ext>
          </a:extLst>
        </p:spPr>
        <p:txBody>
          <a:bodyPr lIns="54000" tIns="36000" rIns="54000" bIns="36000"/>
          <a:lstStyle/>
          <a:p>
            <a:pPr marL="109538" indent="-109538" latinLnBrk="0">
              <a:spcAft>
                <a:spcPct val="20000"/>
              </a:spcAft>
              <a:buClr>
                <a:schemeClr val="bg2"/>
              </a:buClr>
              <a:buFont typeface="Wingdings" pitchFamily="2" charset="2"/>
              <a:buChar char="§"/>
            </a:pPr>
            <a:endParaRPr lang="ko-KR" altLang="en-US" sz="900" dirty="0">
              <a:ea typeface="NanumSquareOTF_ac" panose="020B0600000101010101" pitchFamily="34" charset="-127"/>
            </a:endParaRPr>
          </a:p>
        </p:txBody>
      </p:sp>
      <p:sp>
        <p:nvSpPr>
          <p:cNvPr id="10" name="Rectangle 440">
            <a:extLst>
              <a:ext uri="{FF2B5EF4-FFF2-40B4-BE49-F238E27FC236}">
                <a16:creationId xmlns:a16="http://schemas.microsoft.com/office/drawing/2014/main" id="{EB0720DC-7E1C-3418-265B-0AF5D220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72" y="6092955"/>
            <a:ext cx="10876247" cy="19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30175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1pPr>
            <a:lvl2pPr marL="266700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-윤고딕330" panose="02030504000101010101" pitchFamily="18" charset="-127"/>
              <a:buChar char="-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2pPr>
            <a:lvl3pPr marL="11430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808080"/>
              </a:buClr>
              <a:buSzPct val="100000"/>
              <a:buNone/>
            </a:pP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아키텍처의 전반적인 효율성과 운영의 지속 가능성을 보장하며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특히 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EC2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같은 컴퓨팅 리소스를 효과적으로 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" name="Rectangle 382" descr="도형04">
            <a:extLst>
              <a:ext uri="{FF2B5EF4-FFF2-40B4-BE49-F238E27FC236}">
                <a16:creationId xmlns:a16="http://schemas.microsoft.com/office/drawing/2014/main" id="{BCB6C89D-81E9-6035-5A87-7D61F95DE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82" y="5731233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기대효과</a:t>
            </a:r>
          </a:p>
        </p:txBody>
      </p:sp>
      <p:sp>
        <p:nvSpPr>
          <p:cNvPr id="22" name="Rectangle 382" descr="도형04">
            <a:extLst>
              <a:ext uri="{FF2B5EF4-FFF2-40B4-BE49-F238E27FC236}">
                <a16:creationId xmlns:a16="http://schemas.microsoft.com/office/drawing/2014/main" id="{E89C78A6-12D5-8B32-24B2-794B74BBC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542" y="1522581"/>
            <a:ext cx="3181296" cy="290720"/>
          </a:xfrm>
          <a:prstGeom prst="roundRect">
            <a:avLst>
              <a:gd name="adj" fmla="val 50000"/>
            </a:avLst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Well Architected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플랫폼</a:t>
            </a:r>
          </a:p>
        </p:txBody>
      </p:sp>
    </p:spTree>
    <p:extLst>
      <p:ext uri="{BB962C8B-B14F-4D97-AF65-F5344CB8AC3E}">
        <p14:creationId xmlns:p14="http://schemas.microsoft.com/office/powerpoint/2010/main" val="293275338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제목 61">
            <a:extLst>
              <a:ext uri="{FF2B5EF4-FFF2-40B4-BE49-F238E27FC236}">
                <a16:creationId xmlns:a16="http://schemas.microsoft.com/office/drawing/2014/main" id="{7B109F54-C163-9C47-9699-68E4F26A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Architecture Review – </a:t>
            </a:r>
            <a:r>
              <a:rPr lang="ko-KR" altLang="en-US" dirty="0"/>
              <a:t>네트워킹</a:t>
            </a:r>
            <a:endParaRPr lang="ko-Kore-KR" altLang="en-US" dirty="0"/>
          </a:p>
        </p:txBody>
      </p:sp>
      <p:sp>
        <p:nvSpPr>
          <p:cNvPr id="4" name="AutoShape 112">
            <a:extLst>
              <a:ext uri="{FF2B5EF4-FFF2-40B4-BE49-F238E27FC236}">
                <a16:creationId xmlns:a16="http://schemas.microsoft.com/office/drawing/2014/main" id="{62A247E6-2B8E-1248-A853-45984EFB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2726182"/>
            <a:ext cx="11282105" cy="2873908"/>
          </a:xfrm>
          <a:prstGeom prst="roundRect">
            <a:avLst>
              <a:gd name="adj" fmla="val 2875"/>
            </a:avLst>
          </a:prstGeom>
          <a:solidFill>
            <a:srgbClr val="DADADE"/>
          </a:solidFill>
          <a:ln w="19050" algn="ctr">
            <a:solidFill>
              <a:srgbClr val="C0C0C0"/>
            </a:solidFill>
            <a:round/>
            <a:headEnd/>
            <a:tailEnd/>
          </a:ln>
        </p:spPr>
        <p:txBody>
          <a:bodyPr wrap="none" lIns="100785" tIns="50393" rIns="100785" bIns="50393" anchor="ctr"/>
          <a:lstStyle/>
          <a:p>
            <a:pPr algn="ctr"/>
            <a:endParaRPr lang="ko-KR" altLang="ko-KR" sz="1200" dirty="0">
              <a:latin typeface="Amazon Ember Medium" panose="020B0603020204020204" pitchFamily="34" charset="0"/>
              <a:ea typeface="Rix모던고딕 B" pitchFamily="18" charset="-127"/>
              <a:sym typeface="Wingdings" panose="05000000000000000000" pitchFamily="2" charset="2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50FC43A-4DEB-D449-BD45-C8161FF76990}"/>
              </a:ext>
            </a:extLst>
          </p:cNvPr>
          <p:cNvGrpSpPr>
            <a:grpSpLocks/>
          </p:cNvGrpSpPr>
          <p:nvPr/>
        </p:nvGrpSpPr>
        <p:grpSpPr bwMode="auto">
          <a:xfrm>
            <a:off x="2281357" y="1640612"/>
            <a:ext cx="8015242" cy="738071"/>
            <a:chOff x="656" y="1604"/>
            <a:chExt cx="1626" cy="378"/>
          </a:xfrm>
        </p:grpSpPr>
        <p:sp>
          <p:nvSpPr>
            <p:cNvPr id="37" name="Text Box 255">
              <a:extLst>
                <a:ext uri="{FF2B5EF4-FFF2-40B4-BE49-F238E27FC236}">
                  <a16:creationId xmlns:a16="http://schemas.microsoft.com/office/drawing/2014/main" id="{EDA86553-2132-EA47-90AF-D7E425719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F2B38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[</a:t>
              </a:r>
            </a:p>
          </p:txBody>
        </p:sp>
        <p:sp>
          <p:nvSpPr>
            <p:cNvPr id="38" name="Text Box 256">
              <a:extLst>
                <a:ext uri="{FF2B5EF4-FFF2-40B4-BE49-F238E27FC236}">
                  <a16:creationId xmlns:a16="http://schemas.microsoft.com/office/drawing/2014/main" id="{C42E80F1-A92D-9241-843B-1C8D4EAE1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F2B38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]</a:t>
              </a:r>
            </a:p>
          </p:txBody>
        </p:sp>
        <p:sp>
          <p:nvSpPr>
            <p:cNvPr id="41" name="Rectangle 82">
              <a:extLst>
                <a:ext uri="{FF2B5EF4-FFF2-40B4-BE49-F238E27FC236}">
                  <a16:creationId xmlns:a16="http://schemas.microsoft.com/office/drawing/2014/main" id="{8AAFA8BB-129C-FC4C-B86A-B1EF0B97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756"/>
              <a:ext cx="16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defRPr/>
              </a:pP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네트워킹 아키텍쳐 최적화 방안 진단 및 개선안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737379D-1969-0421-B5D9-20CBFF4CBF08}"/>
              </a:ext>
            </a:extLst>
          </p:cNvPr>
          <p:cNvGrpSpPr/>
          <p:nvPr/>
        </p:nvGrpSpPr>
        <p:grpSpPr>
          <a:xfrm>
            <a:off x="661496" y="2787994"/>
            <a:ext cx="2140082" cy="2728891"/>
            <a:chOff x="2789399" y="2787994"/>
            <a:chExt cx="2140082" cy="2728891"/>
          </a:xfrm>
        </p:grpSpPr>
        <p:sp>
          <p:nvSpPr>
            <p:cNvPr id="16" name="AutoShape 114">
              <a:extLst>
                <a:ext uri="{FF2B5EF4-FFF2-40B4-BE49-F238E27FC236}">
                  <a16:creationId xmlns:a16="http://schemas.microsoft.com/office/drawing/2014/main" id="{97316097-5547-CF4E-BC78-65FA4471D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150" y="2792071"/>
              <a:ext cx="2119592" cy="2724814"/>
            </a:xfrm>
            <a:prstGeom prst="roundRect">
              <a:avLst>
                <a:gd name="adj" fmla="val 3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1270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5C1672A1-A64D-AC47-ABC9-24525A775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150" y="2787994"/>
              <a:ext cx="2119592" cy="497905"/>
            </a:xfrm>
            <a:prstGeom prst="round2SameRect">
              <a:avLst/>
            </a:prstGeom>
            <a:solidFill>
              <a:srgbClr val="F53652"/>
            </a:soli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45" name="Text Box 288">
              <a:extLst>
                <a:ext uri="{FF2B5EF4-FFF2-40B4-BE49-F238E27FC236}">
                  <a16:creationId xmlns:a16="http://schemas.microsoft.com/office/drawing/2014/main" id="{1A3BB711-3B78-B64B-BC1A-18EFB7BF8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5526" y="2859304"/>
              <a:ext cx="1515842" cy="359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5718" rIns="54000" bIns="45718" anchor="ctr" anchorCtr="1"/>
            <a:lstStyle>
              <a:lvl1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742950" indent="-28575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ko-KR" altLang="en-US" sz="1400" b="1" i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보안</a:t>
              </a:r>
            </a:p>
          </p:txBody>
        </p:sp>
        <p:sp>
          <p:nvSpPr>
            <p:cNvPr id="50" name="Rectangle 287">
              <a:extLst>
                <a:ext uri="{FF2B5EF4-FFF2-40B4-BE49-F238E27FC236}">
                  <a16:creationId xmlns:a16="http://schemas.microsoft.com/office/drawing/2014/main" id="{CE9D599A-7775-1342-A16E-9AFFC271D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399" y="3302618"/>
              <a:ext cx="2140082" cy="2204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square" lIns="43200" tIns="36000" rIns="43200" bIns="36000" anchor="ctr" anchorCtr="0">
              <a:spAutoFit/>
            </a:bodyPr>
            <a:lstStyle>
              <a:lvl1pPr marL="92075" indent="-920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198438" indent="-1047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296863" indent="-96838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414463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네트워크 액세스 제어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:Amazon VPC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를 통한 네트워크 리소스 분리 및 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SG, NACL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을 통한 트래픽 제어 점검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.</a:t>
              </a: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데이터 암호화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데이터 전송 중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(TLS)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및 저장 시 암호화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(S3,EBS).</a:t>
              </a: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네트워크 모니터링 및 감사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:VPC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플로우 로그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CloudWatch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로그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AWS Shield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와 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WAF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을 통한 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DDoS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방어 및 애플리케이션 보호</a:t>
              </a:r>
              <a:endPara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32928CD7-77FE-AD4B-8AE0-CEA72933C3B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7423" y="2862375"/>
              <a:ext cx="360000" cy="360000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9148BFE-8CC1-2435-8051-CA76B49F9701}"/>
              </a:ext>
            </a:extLst>
          </p:cNvPr>
          <p:cNvGrpSpPr/>
          <p:nvPr/>
        </p:nvGrpSpPr>
        <p:grpSpPr>
          <a:xfrm>
            <a:off x="3647401" y="2787994"/>
            <a:ext cx="2096275" cy="2728891"/>
            <a:chOff x="5089259" y="2787994"/>
            <a:chExt cx="2096275" cy="2728891"/>
          </a:xfrm>
        </p:grpSpPr>
        <p:sp>
          <p:nvSpPr>
            <p:cNvPr id="20" name="AutoShape 114">
              <a:extLst>
                <a:ext uri="{FF2B5EF4-FFF2-40B4-BE49-F238E27FC236}">
                  <a16:creationId xmlns:a16="http://schemas.microsoft.com/office/drawing/2014/main" id="{FAF6298E-C413-5C44-A96C-592AE2312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259" y="2792071"/>
              <a:ext cx="2096275" cy="2724814"/>
            </a:xfrm>
            <a:prstGeom prst="roundRect">
              <a:avLst>
                <a:gd name="adj" fmla="val 3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1270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21" name="AutoShape 7">
              <a:extLst>
                <a:ext uri="{FF2B5EF4-FFF2-40B4-BE49-F238E27FC236}">
                  <a16:creationId xmlns:a16="http://schemas.microsoft.com/office/drawing/2014/main" id="{D6EA42D1-786D-DA4E-9FDD-CA3C52DA1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260" y="2787994"/>
              <a:ext cx="2092702" cy="497905"/>
            </a:xfrm>
            <a:prstGeom prst="round2SameRect">
              <a:avLst/>
            </a:prstGeom>
            <a:solidFill>
              <a:srgbClr val="F53652"/>
            </a:soli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47" name="Text Box 288">
              <a:extLst>
                <a:ext uri="{FF2B5EF4-FFF2-40B4-BE49-F238E27FC236}">
                  <a16:creationId xmlns:a16="http://schemas.microsoft.com/office/drawing/2014/main" id="{788C113F-2067-1042-BA68-90DEE3496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6472" y="2869325"/>
              <a:ext cx="1688434" cy="359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5718" rIns="54000" bIns="45718" anchor="ctr" anchorCtr="1"/>
            <a:lstStyle>
              <a:lvl1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742950" indent="-28575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ko-KR" altLang="en-US" sz="1400" b="1" i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안정성</a:t>
              </a:r>
            </a:p>
          </p:txBody>
        </p:sp>
        <p:sp>
          <p:nvSpPr>
            <p:cNvPr id="51" name="Rectangle 287">
              <a:extLst>
                <a:ext uri="{FF2B5EF4-FFF2-40B4-BE49-F238E27FC236}">
                  <a16:creationId xmlns:a16="http://schemas.microsoft.com/office/drawing/2014/main" id="{3EBFB2ED-F210-FE4D-BC01-DF90DB901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386" y="3302618"/>
              <a:ext cx="2057315" cy="2204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square" lIns="43200" tIns="36000" rIns="43200" bIns="36000" anchor="ctr" anchorCtr="0">
              <a:spAutoFit/>
            </a:bodyPr>
            <a:lstStyle>
              <a:lvl1pPr marL="92075" indent="-920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198438" indent="-1047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296863" indent="-96838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414463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네트워크 장애 대비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: 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자동 장애 조치 및 장애 복구를 위한 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ELB, Route 53 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등의 가용성 및 복원력 향상</a:t>
              </a:r>
              <a:endPara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연결성 백업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 : VPN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연결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AWS DX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를 통한 </a:t>
              </a:r>
              <a:r>
                <a:rPr lang="ko-KR" altLang="en-US" sz="1000" b="1" i="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온프레미스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 환경과 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AWS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간의 안정적인 네트워크 연결성</a:t>
              </a:r>
              <a:endPara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endParaRP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서비스 한계 모니터링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네트워크 트래픽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연결 수 등의 한계치 모니터링 및 스케일링 계획 수립</a:t>
              </a:r>
              <a:endPara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endParaRPr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5C8CAA0B-4C02-D44D-B41D-4743BE6C8B7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47159" y="2862756"/>
              <a:ext cx="360000" cy="360000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E2ED2F3-311A-7B15-1855-F933DF3D665B}"/>
              </a:ext>
            </a:extLst>
          </p:cNvPr>
          <p:cNvGrpSpPr/>
          <p:nvPr/>
        </p:nvGrpSpPr>
        <p:grpSpPr>
          <a:xfrm>
            <a:off x="6589499" y="2790439"/>
            <a:ext cx="2105918" cy="2726446"/>
            <a:chOff x="7331455" y="2790439"/>
            <a:chExt cx="2105918" cy="2726446"/>
          </a:xfrm>
        </p:grpSpPr>
        <p:sp>
          <p:nvSpPr>
            <p:cNvPr id="24" name="AutoShape 114">
              <a:extLst>
                <a:ext uri="{FF2B5EF4-FFF2-40B4-BE49-F238E27FC236}">
                  <a16:creationId xmlns:a16="http://schemas.microsoft.com/office/drawing/2014/main" id="{6AC3EC33-03E7-824C-A7BD-D5BBE28A5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1740" y="2792071"/>
              <a:ext cx="2085348" cy="2724814"/>
            </a:xfrm>
            <a:prstGeom prst="roundRect">
              <a:avLst>
                <a:gd name="adj" fmla="val 3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1270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44" name="AutoShape 7">
              <a:extLst>
                <a:ext uri="{FF2B5EF4-FFF2-40B4-BE49-F238E27FC236}">
                  <a16:creationId xmlns:a16="http://schemas.microsoft.com/office/drawing/2014/main" id="{9EFB152C-1FE0-6D40-86A2-06A1F7F1A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1455" y="2790439"/>
              <a:ext cx="2096161" cy="497905"/>
            </a:xfrm>
            <a:prstGeom prst="round2SameRect">
              <a:avLst/>
            </a:prstGeom>
            <a:solidFill>
              <a:srgbClr val="F53652"/>
            </a:soli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48" name="Text Box 288">
              <a:extLst>
                <a:ext uri="{FF2B5EF4-FFF2-40B4-BE49-F238E27FC236}">
                  <a16:creationId xmlns:a16="http://schemas.microsoft.com/office/drawing/2014/main" id="{8CC177F6-2AE6-7841-9E7F-EBA03B504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7174" y="2861218"/>
              <a:ext cx="1688434" cy="359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5718" rIns="54000" bIns="45718" anchor="ctr" anchorCtr="1"/>
            <a:lstStyle>
              <a:lvl1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742950" indent="-28575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ko-KR" altLang="en-US" sz="1400" b="1" i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성능 효율성</a:t>
              </a:r>
            </a:p>
          </p:txBody>
        </p:sp>
        <p:sp>
          <p:nvSpPr>
            <p:cNvPr id="52" name="Rectangle 287">
              <a:extLst>
                <a:ext uri="{FF2B5EF4-FFF2-40B4-BE49-F238E27FC236}">
                  <a16:creationId xmlns:a16="http://schemas.microsoft.com/office/drawing/2014/main" id="{7DF0DEE0-2B29-DE47-813A-E044A9C18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058" y="3302618"/>
              <a:ext cx="2057315" cy="2204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square" lIns="43200" tIns="36000" rIns="43200" bIns="36000" anchor="ctr" anchorCtr="0">
              <a:spAutoFit/>
            </a:bodyPr>
            <a:lstStyle>
              <a:lvl1pPr marL="92075" indent="-920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198438" indent="-1047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296863" indent="-96838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414463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0488" indent="-90488" eaLnBrk="1" latinLnBrk="0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네트워크 토폴로지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: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고가용성을 위한 다중 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AZ 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배포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, 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지역 간 최적화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, </a:t>
              </a:r>
              <a:r>
                <a:rPr lang="ko-KR" altLang="en-US" sz="1000" b="1" i="0" dirty="0" err="1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엣지</a:t>
              </a:r>
              <a:r>
                <a:rPr lang="ko-KR" altLang="en-US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 로케이션 활용 등의 전략</a:t>
              </a:r>
              <a:r>
                <a:rPr lang="en-US" altLang="ko-KR" sz="1000" b="1" i="0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.</a:t>
              </a: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대역폭 최적화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 Amazon CF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사용으로 데이터 전송 시간 단축 및 대역폭 비용 절감</a:t>
              </a:r>
              <a:endPara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endParaRP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네트워크 프로토콜 및 서비스 최적화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애플리케이션에 최적화된 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ELB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사용으로 부하 분산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.</a:t>
              </a: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C0FB0AE8-FC6D-9949-A00A-3FDD2ECBEF4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3433" y="2857017"/>
              <a:ext cx="360000" cy="36000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3431442-2272-9500-D77D-7092F8B7A5EC}"/>
              </a:ext>
            </a:extLst>
          </p:cNvPr>
          <p:cNvGrpSpPr/>
          <p:nvPr/>
        </p:nvGrpSpPr>
        <p:grpSpPr>
          <a:xfrm>
            <a:off x="9541240" y="2776814"/>
            <a:ext cx="2191283" cy="2739705"/>
            <a:chOff x="9541240" y="2776814"/>
            <a:chExt cx="2191283" cy="2739705"/>
          </a:xfrm>
        </p:grpSpPr>
        <p:sp>
          <p:nvSpPr>
            <p:cNvPr id="30" name="AutoShape 114">
              <a:extLst>
                <a:ext uri="{FF2B5EF4-FFF2-40B4-BE49-F238E27FC236}">
                  <a16:creationId xmlns:a16="http://schemas.microsoft.com/office/drawing/2014/main" id="{EB5E3F9B-4F97-DF42-A0EB-1E87FE2A3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1240" y="2784261"/>
              <a:ext cx="2096161" cy="2732258"/>
            </a:xfrm>
            <a:prstGeom prst="roundRect">
              <a:avLst>
                <a:gd name="adj" fmla="val 3458"/>
              </a:avLst>
            </a:prstGeom>
            <a:solidFill>
              <a:schemeClr val="bg1"/>
            </a:solidFill>
            <a:ln w="19050">
              <a:noFill/>
            </a:ln>
            <a:effectLst>
              <a:outerShdw blurRad="127000" dist="38100" dir="5400000" algn="t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ko-KR" altLang="ko-KR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31" name="AutoShape 7">
              <a:extLst>
                <a:ext uri="{FF2B5EF4-FFF2-40B4-BE49-F238E27FC236}">
                  <a16:creationId xmlns:a16="http://schemas.microsoft.com/office/drawing/2014/main" id="{D9613ED2-51DB-EB4A-8F49-CEC303418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1240" y="2776814"/>
              <a:ext cx="2096161" cy="497905"/>
            </a:xfrm>
            <a:prstGeom prst="round2SameRect">
              <a:avLst/>
            </a:prstGeom>
            <a:solidFill>
              <a:srgbClr val="F53652"/>
            </a:solidFill>
            <a:ln>
              <a:noFill/>
            </a:ln>
            <a:effectLst>
              <a:outerShdw blurRad="381000" dist="25400" dir="5400000" sx="98000" sy="98000" algn="t" rotWithShape="0">
                <a:prstClr val="black">
                  <a:alpha val="3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solidFill>
                  <a:schemeClr val="lt1"/>
                </a:solidFill>
                <a:latin typeface="+mn-lt"/>
                <a:ea typeface="NanumSquareOTF_ac" panose="020B0600000101010101" pitchFamily="34" charset="-127"/>
              </a:endParaRPr>
            </a:p>
          </p:txBody>
        </p:sp>
        <p:sp>
          <p:nvSpPr>
            <p:cNvPr id="49" name="Text Box 288">
              <a:extLst>
                <a:ext uri="{FF2B5EF4-FFF2-40B4-BE49-F238E27FC236}">
                  <a16:creationId xmlns:a16="http://schemas.microsoft.com/office/drawing/2014/main" id="{92302F47-00AD-BE4C-A78C-B8F86276A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7031" y="2857017"/>
              <a:ext cx="1688434" cy="359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45718" rIns="54000" bIns="45718" anchor="ctr" anchorCtr="1"/>
            <a:lstStyle>
              <a:lvl1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742950" indent="-28575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11430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6002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marL="2057400" indent="-228600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algn="ctr" eaLnBrk="1" hangingPunct="1">
                <a:lnSpc>
                  <a:spcPct val="90000"/>
                </a:lnSpc>
              </a:pPr>
              <a:r>
                <a:rPr lang="ko-KR" altLang="en-US" sz="1400" b="1" i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비용 최적화</a:t>
              </a:r>
            </a:p>
          </p:txBody>
        </p:sp>
        <p:sp>
          <p:nvSpPr>
            <p:cNvPr id="53" name="Rectangle 287">
              <a:extLst>
                <a:ext uri="{FF2B5EF4-FFF2-40B4-BE49-F238E27FC236}">
                  <a16:creationId xmlns:a16="http://schemas.microsoft.com/office/drawing/2014/main" id="{708FCCB4-0E2C-FF43-B647-F15499F04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800" y="3302618"/>
              <a:ext cx="2181723" cy="2204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38100" algn="ctr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17961" dir="2700000" algn="ctr" rotWithShape="0">
                      <a:schemeClr val="bg1"/>
                    </a:outerShdw>
                  </a:effectLst>
                </a14:hiddenEffects>
              </a:ext>
            </a:extLst>
          </p:spPr>
          <p:txBody>
            <a:bodyPr wrap="square" lIns="43200" tIns="36000" rIns="43200" bIns="36000" anchor="t" anchorCtr="0">
              <a:spAutoFit/>
            </a:bodyPr>
            <a:lstStyle>
              <a:lvl1pPr marL="92075" indent="-920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1pPr>
              <a:lvl2pPr marL="198438" indent="-104775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2pPr>
              <a:lvl3pPr marL="296863" indent="-96838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3pPr>
              <a:lvl4pPr marL="1414463"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4pPr>
              <a:lvl5pPr algn="l" eaLnBrk="0" hangingPunct="0"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kumimoji="1" sz="900" i="1">
                  <a:solidFill>
                    <a:srgbClr val="333333"/>
                  </a:solidFill>
                  <a:latin typeface="-윤명조330" pitchFamily="18" charset="-127"/>
                  <a:ea typeface="-윤명조330" pitchFamily="18" charset="-127"/>
                </a:defRPr>
              </a:lvl9pPr>
            </a:lstStyle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네트워크 비용 분석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데이터 전송 비용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ELB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사용량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CF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 사용을 통한 비용 분석 및 최적화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.</a:t>
              </a: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데이터 전송 전략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 AWS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내부 네트워크를 사용하는 데이터 전송 방법 선택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데이터 전송량 최소화 전략 구현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.</a:t>
              </a:r>
            </a:p>
            <a:p>
              <a:pPr marL="90488" indent="-90488" eaLnBrk="1" hangingPunct="1">
                <a:lnSpc>
                  <a:spcPct val="150000"/>
                </a:lnSpc>
                <a:spcAft>
                  <a:spcPts val="300"/>
                </a:spcAft>
                <a:buClr>
                  <a:srgbClr val="7B7B7B"/>
                </a:buClr>
                <a:buSzPct val="80000"/>
                <a:buFont typeface="Wingdings" pitchFamily="2" charset="2"/>
                <a:buChar char=""/>
                <a:defRPr/>
              </a:pP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리소스 </a:t>
              </a:r>
              <a:r>
                <a:rPr lang="ko-KR" altLang="en-US" sz="1000" b="1" i="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사이징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 및 선택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: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최적의 네트워크 리소스를 </a:t>
              </a:r>
              <a:r>
                <a:rPr lang="ko-KR" altLang="en-US" sz="1000" b="1" i="0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사이징</a:t>
              </a:r>
              <a:r>
                <a:rPr lang="en-US" altLang="ko-KR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, </a:t>
              </a:r>
              <a:r>
                <a:rPr lang="ko-KR" altLang="en-US" sz="1000" b="1" i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  <a:cs typeface="Times New Roman" pitchFamily="18" charset="0"/>
                </a:rPr>
                <a:t>비용 대비 효율적인 서비스 선택</a:t>
              </a:r>
              <a:endPara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endParaRPr>
            </a:p>
          </p:txBody>
        </p: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C6733B32-D698-3348-AFF7-9FF7128789D8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01042" y="2851354"/>
              <a:ext cx="360000" cy="360000"/>
            </a:xfrm>
            <a:prstGeom prst="rect">
              <a:avLst/>
            </a:prstGeom>
          </p:spPr>
        </p:pic>
      </p:grpSp>
      <p:sp>
        <p:nvSpPr>
          <p:cNvPr id="64" name="Rectangle 100">
            <a:extLst>
              <a:ext uri="{FF2B5EF4-FFF2-40B4-BE49-F238E27FC236}">
                <a16:creationId xmlns:a16="http://schemas.microsoft.com/office/drawing/2014/main" id="{F4DA0792-7ED0-7841-8C94-7B17B034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785470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defTabSz="914347">
              <a:buClr>
                <a:srgbClr val="808080"/>
              </a:buClr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설계와 운영을 최적화하기 위해  성능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신뢰성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최적화의 네 가지 핵심 영역에 항목 중심으로 진단 점검 및 개선안을 도출합니다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ko-KR" altLang="en-US" sz="700" b="1" kern="0" dirty="0">
              <a:ln>
                <a:solidFill>
                  <a:srgbClr val="BBE0E3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A38DCB1-7AB8-4742-3E02-B9DDD47C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5895763"/>
            <a:ext cx="11282105" cy="519387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EAEA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25400" dir="5400000" sy="50000" rotWithShape="0">
                    <a:srgbClr val="F8F8F8"/>
                  </a:outerShdw>
                </a:effectLst>
              </a14:hiddenEffects>
            </a:ext>
          </a:extLst>
        </p:spPr>
        <p:txBody>
          <a:bodyPr lIns="54000" tIns="36000" rIns="54000" bIns="36000"/>
          <a:lstStyle/>
          <a:p>
            <a:pPr marL="109538" indent="-109538" latinLnBrk="0">
              <a:spcAft>
                <a:spcPct val="20000"/>
              </a:spcAft>
              <a:buClr>
                <a:schemeClr val="bg2"/>
              </a:buClr>
              <a:buFont typeface="Wingdings" pitchFamily="2" charset="2"/>
              <a:buChar char="§"/>
            </a:pPr>
            <a:endParaRPr lang="ko-KR" altLang="en-US" sz="900" dirty="0">
              <a:ea typeface="NanumSquareOTF_ac" panose="020B0600000101010101" pitchFamily="34" charset="-127"/>
            </a:endParaRPr>
          </a:p>
        </p:txBody>
      </p:sp>
      <p:sp>
        <p:nvSpPr>
          <p:cNvPr id="10" name="Rectangle 440">
            <a:extLst>
              <a:ext uri="{FF2B5EF4-FFF2-40B4-BE49-F238E27FC236}">
                <a16:creationId xmlns:a16="http://schemas.microsoft.com/office/drawing/2014/main" id="{EB0720DC-7E1C-3418-265B-0AF5D220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72" y="6092955"/>
            <a:ext cx="10876247" cy="19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30175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1pPr>
            <a:lvl2pPr marL="266700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-윤고딕330" panose="02030504000101010101" pitchFamily="18" charset="-127"/>
              <a:buChar char="-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2pPr>
            <a:lvl3pPr marL="11430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808080"/>
              </a:buClr>
              <a:buSzPct val="100000"/>
              <a:buNone/>
            </a:pP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인프라의 전반적인 성능과 효율성을 높이는 동시에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</a:t>
            </a:r>
            <a:r>
              <a:rPr lang="ko-KR" altLang="en-US" sz="160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위협으로부터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시스템을 보호하고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비용을 효과적으로 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" name="사다리꼴 489">
            <a:extLst>
              <a:ext uri="{FF2B5EF4-FFF2-40B4-BE49-F238E27FC236}">
                <a16:creationId xmlns:a16="http://schemas.microsoft.com/office/drawing/2014/main" id="{BEB704A5-70A8-79C3-A9C4-B215594AE714}"/>
              </a:ext>
            </a:extLst>
          </p:cNvPr>
          <p:cNvSpPr/>
          <p:nvPr/>
        </p:nvSpPr>
        <p:spPr bwMode="auto">
          <a:xfrm>
            <a:off x="452104" y="5731233"/>
            <a:ext cx="11236313" cy="164530"/>
          </a:xfrm>
          <a:prstGeom prst="trapezoid">
            <a:avLst>
              <a:gd name="adj" fmla="val 38590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381125"/>
            <a:endParaRPr lang="ko-KR" altLang="en-US" sz="12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" name="Rectangle 382" descr="도형04">
            <a:extLst>
              <a:ext uri="{FF2B5EF4-FFF2-40B4-BE49-F238E27FC236}">
                <a16:creationId xmlns:a16="http://schemas.microsoft.com/office/drawing/2014/main" id="{BD3D4A81-73DB-9BD5-0978-6B89A916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82" y="5731233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기대효과</a:t>
            </a:r>
          </a:p>
        </p:txBody>
      </p:sp>
      <p:sp>
        <p:nvSpPr>
          <p:cNvPr id="22" name="Rectangle 382" descr="도형04">
            <a:extLst>
              <a:ext uri="{FF2B5EF4-FFF2-40B4-BE49-F238E27FC236}">
                <a16:creationId xmlns:a16="http://schemas.microsoft.com/office/drawing/2014/main" id="{8DF2BD92-534B-323D-6B57-27E305B9E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542" y="1522581"/>
            <a:ext cx="3181296" cy="290720"/>
          </a:xfrm>
          <a:prstGeom prst="roundRect">
            <a:avLst>
              <a:gd name="adj" fmla="val 50000"/>
            </a:avLst>
          </a:prstGeom>
          <a:solidFill>
            <a:srgbClr val="DF2B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Well Architected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플랫폼</a:t>
            </a:r>
          </a:p>
        </p:txBody>
      </p:sp>
    </p:spTree>
    <p:extLst>
      <p:ext uri="{BB962C8B-B14F-4D97-AF65-F5344CB8AC3E}">
        <p14:creationId xmlns:p14="http://schemas.microsoft.com/office/powerpoint/2010/main" val="232303913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제목 61">
            <a:extLst>
              <a:ext uri="{FF2B5EF4-FFF2-40B4-BE49-F238E27FC236}">
                <a16:creationId xmlns:a16="http://schemas.microsoft.com/office/drawing/2014/main" id="{7B109F54-C163-9C47-9699-68E4F26A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Architecture Review – Container</a:t>
            </a:r>
            <a:endParaRPr lang="ko-Kore-KR" altLang="en-US" dirty="0"/>
          </a:p>
        </p:txBody>
      </p:sp>
      <p:sp>
        <p:nvSpPr>
          <p:cNvPr id="4" name="AutoShape 112">
            <a:extLst>
              <a:ext uri="{FF2B5EF4-FFF2-40B4-BE49-F238E27FC236}">
                <a16:creationId xmlns:a16="http://schemas.microsoft.com/office/drawing/2014/main" id="{62A247E6-2B8E-1248-A853-45984EFB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2726182"/>
            <a:ext cx="11282105" cy="2873908"/>
          </a:xfrm>
          <a:prstGeom prst="roundRect">
            <a:avLst>
              <a:gd name="adj" fmla="val 2875"/>
            </a:avLst>
          </a:prstGeom>
          <a:solidFill>
            <a:srgbClr val="DADADE"/>
          </a:solidFill>
          <a:ln w="19050" algn="ctr">
            <a:solidFill>
              <a:srgbClr val="C0C0C0"/>
            </a:solidFill>
            <a:round/>
            <a:headEnd/>
            <a:tailEnd/>
          </a:ln>
        </p:spPr>
        <p:txBody>
          <a:bodyPr wrap="none" lIns="100785" tIns="50393" rIns="100785" bIns="50393" anchor="ctr"/>
          <a:lstStyle/>
          <a:p>
            <a:pPr algn="ctr"/>
            <a:endParaRPr lang="ko-KR" altLang="ko-KR" sz="1200" dirty="0">
              <a:latin typeface="Amazon Ember Medium" panose="020B0603020204020204" pitchFamily="34" charset="0"/>
              <a:ea typeface="Rix모던고딕 B" pitchFamily="18" charset="-127"/>
              <a:sym typeface="Wingdings" panose="05000000000000000000" pitchFamily="2" charset="2"/>
            </a:endParaRPr>
          </a:p>
        </p:txBody>
      </p:sp>
      <p:sp>
        <p:nvSpPr>
          <p:cNvPr id="11" name="AutoShape 114">
            <a:extLst>
              <a:ext uri="{FF2B5EF4-FFF2-40B4-BE49-F238E27FC236}">
                <a16:creationId xmlns:a16="http://schemas.microsoft.com/office/drawing/2014/main" id="{FBB23F41-B1A1-F941-B60C-0B61A05E2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82" y="2791274"/>
            <a:ext cx="2129086" cy="2725611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1ECA937D-E74E-7A4F-A42E-C46010E31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10" y="2787994"/>
            <a:ext cx="2126497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4301A542-1862-6E47-BD0B-892EB254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69" y="3262730"/>
            <a:ext cx="2143429" cy="220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자동화된 배포 및 관리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CI/CD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파이프라인을 통한 애플리케이션의 자동화된 배포 및 업데이트</a:t>
            </a:r>
            <a:endParaRPr lang="en-US" altLang="ko-KR" sz="10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로깅 및 모니터링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관측성 도구들을 활용한 로그 수집 및 모니터링으로 시스템 상태 및 애플리케이션 성능 파악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알람 및 알림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시스템 상태 변화에 대응하여 자동화된 알람 및 알림 설정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2AC04CC8-5821-644B-84F9-AB92BDA65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858" y="2857018"/>
            <a:ext cx="125510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운영 우수성</a:t>
            </a:r>
          </a:p>
        </p:txBody>
      </p:sp>
      <p:sp>
        <p:nvSpPr>
          <p:cNvPr id="16" name="AutoShape 114">
            <a:extLst>
              <a:ext uri="{FF2B5EF4-FFF2-40B4-BE49-F238E27FC236}">
                <a16:creationId xmlns:a16="http://schemas.microsoft.com/office/drawing/2014/main" id="{97316097-5547-CF4E-BC78-65FA4471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150" y="2792071"/>
            <a:ext cx="2119592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5C1672A1-A64D-AC47-ABC9-24525A775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150" y="2787994"/>
            <a:ext cx="2119592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114">
            <a:extLst>
              <a:ext uri="{FF2B5EF4-FFF2-40B4-BE49-F238E27FC236}">
                <a16:creationId xmlns:a16="http://schemas.microsoft.com/office/drawing/2014/main" id="{FAF6298E-C413-5C44-A96C-592AE231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259" y="2792071"/>
            <a:ext cx="2096275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D6EA42D1-786D-DA4E-9FDD-CA3C52DA1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260" y="2787994"/>
            <a:ext cx="2092702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AutoShape 114">
            <a:extLst>
              <a:ext uri="{FF2B5EF4-FFF2-40B4-BE49-F238E27FC236}">
                <a16:creationId xmlns:a16="http://schemas.microsoft.com/office/drawing/2014/main" id="{6AC3EC33-03E7-824C-A7BD-D5BBE28A5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740" y="2792071"/>
            <a:ext cx="2085348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0" name="AutoShape 114">
            <a:extLst>
              <a:ext uri="{FF2B5EF4-FFF2-40B4-BE49-F238E27FC236}">
                <a16:creationId xmlns:a16="http://schemas.microsoft.com/office/drawing/2014/main" id="{EB5E3F9B-4F97-DF42-A0EB-1E87FE2A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240" y="2784261"/>
            <a:ext cx="2096161" cy="2732258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D9613ED2-51DB-EB4A-8F49-CEC303418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240" y="2776814"/>
            <a:ext cx="2096161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50FC43A-4DEB-D449-BD45-C8161FF76990}"/>
              </a:ext>
            </a:extLst>
          </p:cNvPr>
          <p:cNvGrpSpPr>
            <a:grpSpLocks/>
          </p:cNvGrpSpPr>
          <p:nvPr/>
        </p:nvGrpSpPr>
        <p:grpSpPr bwMode="auto">
          <a:xfrm>
            <a:off x="2281357" y="1640612"/>
            <a:ext cx="8015242" cy="738071"/>
            <a:chOff x="656" y="1604"/>
            <a:chExt cx="1626" cy="378"/>
          </a:xfrm>
        </p:grpSpPr>
        <p:sp>
          <p:nvSpPr>
            <p:cNvPr id="37" name="Text Box 255">
              <a:extLst>
                <a:ext uri="{FF2B5EF4-FFF2-40B4-BE49-F238E27FC236}">
                  <a16:creationId xmlns:a16="http://schemas.microsoft.com/office/drawing/2014/main" id="{EDA86553-2132-EA47-90AF-D7E425719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77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[</a:t>
              </a:r>
            </a:p>
          </p:txBody>
        </p:sp>
        <p:sp>
          <p:nvSpPr>
            <p:cNvPr id="38" name="Text Box 256">
              <a:extLst>
                <a:ext uri="{FF2B5EF4-FFF2-40B4-BE49-F238E27FC236}">
                  <a16:creationId xmlns:a16="http://schemas.microsoft.com/office/drawing/2014/main" id="{C42E80F1-A92D-9241-843B-1C8D4EAE1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77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]</a:t>
              </a:r>
            </a:p>
          </p:txBody>
        </p:sp>
        <p:sp>
          <p:nvSpPr>
            <p:cNvPr id="41" name="Rectangle 82">
              <a:extLst>
                <a:ext uri="{FF2B5EF4-FFF2-40B4-BE49-F238E27FC236}">
                  <a16:creationId xmlns:a16="http://schemas.microsoft.com/office/drawing/2014/main" id="{8AAFA8BB-129C-FC4C-B86A-B1EF0B97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756"/>
              <a:ext cx="16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defRPr/>
              </a:pP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컨테이너 환경 모범사례 진단 및 개선안</a:t>
              </a:r>
            </a:p>
          </p:txBody>
        </p:sp>
      </p:grpSp>
      <p:sp>
        <p:nvSpPr>
          <p:cNvPr id="44" name="AutoShape 7">
            <a:extLst>
              <a:ext uri="{FF2B5EF4-FFF2-40B4-BE49-F238E27FC236}">
                <a16:creationId xmlns:a16="http://schemas.microsoft.com/office/drawing/2014/main" id="{9EFB152C-1FE0-6D40-86A2-06A1F7F1A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455" y="2790439"/>
            <a:ext cx="2096161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45" name="Text Box 288">
            <a:extLst>
              <a:ext uri="{FF2B5EF4-FFF2-40B4-BE49-F238E27FC236}">
                <a16:creationId xmlns:a16="http://schemas.microsoft.com/office/drawing/2014/main" id="{1A3BB711-3B78-B64B-BC1A-18EFB7BF8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5526" y="2859304"/>
            <a:ext cx="1515842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</a:p>
        </p:txBody>
      </p:sp>
      <p:sp>
        <p:nvSpPr>
          <p:cNvPr id="47" name="Text Box 288">
            <a:extLst>
              <a:ext uri="{FF2B5EF4-FFF2-40B4-BE49-F238E27FC236}">
                <a16:creationId xmlns:a16="http://schemas.microsoft.com/office/drawing/2014/main" id="{788C113F-2067-1042-BA68-90DEE3496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472" y="2869325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안정성</a:t>
            </a:r>
          </a:p>
        </p:txBody>
      </p:sp>
      <p:sp>
        <p:nvSpPr>
          <p:cNvPr id="48" name="Text Box 288">
            <a:extLst>
              <a:ext uri="{FF2B5EF4-FFF2-40B4-BE49-F238E27FC236}">
                <a16:creationId xmlns:a16="http://schemas.microsoft.com/office/drawing/2014/main" id="{8CC177F6-2AE6-7841-9E7F-EBA03B504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174" y="2861218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성능 효율성</a:t>
            </a:r>
          </a:p>
        </p:txBody>
      </p:sp>
      <p:sp>
        <p:nvSpPr>
          <p:cNvPr id="49" name="Text Box 288">
            <a:extLst>
              <a:ext uri="{FF2B5EF4-FFF2-40B4-BE49-F238E27FC236}">
                <a16:creationId xmlns:a16="http://schemas.microsoft.com/office/drawing/2014/main" id="{92302F47-00AD-BE4C-A78C-B8F86276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7031" y="2857017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최적화</a:t>
            </a:r>
          </a:p>
        </p:txBody>
      </p:sp>
      <p:sp>
        <p:nvSpPr>
          <p:cNvPr id="50" name="Rectangle 287">
            <a:extLst>
              <a:ext uri="{FF2B5EF4-FFF2-40B4-BE49-F238E27FC236}">
                <a16:creationId xmlns:a16="http://schemas.microsoft.com/office/drawing/2014/main" id="{CE9D599A-7775-1342-A16E-9AFFC271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451" y="3262730"/>
            <a:ext cx="2140082" cy="224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클러스터 및 리소스에 대한 접근 제어감지</a:t>
            </a:r>
            <a:endParaRPr lang="en-US" altLang="ko-KR" sz="10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정책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네트워크 액세스 제어를 위한 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ESK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정책 구현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컨테이너 이미지 보안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신뢰할 수 있는 컨테이너 이미지만 사용하도록 정책 설정 및 이미지 스캔을 통한 보안 취약점 관리</a:t>
            </a:r>
            <a:endParaRPr lang="en-US" altLang="ko-KR" sz="10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컨테이너 런타임 보안</a:t>
            </a:r>
            <a:endParaRPr lang="en-US" altLang="ko-KR" sz="10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1" name="Rectangle 287">
            <a:extLst>
              <a:ext uri="{FF2B5EF4-FFF2-40B4-BE49-F238E27FC236}">
                <a16:creationId xmlns:a16="http://schemas.microsoft.com/office/drawing/2014/main" id="{3EBFB2ED-F210-FE4D-BC01-DF90DB90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4493" y="3262730"/>
            <a:ext cx="2076835" cy="2042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고가용성 설계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다중 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구성 및 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Node, Pod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빠른 확장 구성</a:t>
            </a:r>
            <a:endParaRPr lang="en-US" altLang="ko-KR" sz="10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스케일링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:HPA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Cluster </a:t>
            </a:r>
            <a:r>
              <a:rPr lang="en-US" altLang="ko-KR" sz="10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Autoscaler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통한 자동 스케일링 설정 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0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Karpenter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구성 </a:t>
            </a:r>
            <a:endParaRPr lang="en-US" altLang="ko-KR" sz="10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백업 및 재해 복구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:K8s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리소스 및 데이터의 정기적인 백업 및 복구 계획 수립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52" name="Rectangle 287">
            <a:extLst>
              <a:ext uri="{FF2B5EF4-FFF2-40B4-BE49-F238E27FC236}">
                <a16:creationId xmlns:a16="http://schemas.microsoft.com/office/drawing/2014/main" id="{7DF0DEE0-2B29-DE47-813A-E044A9C18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455" y="3262730"/>
            <a:ext cx="2176157" cy="220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적절한 리소스 할당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애플리케이션 요구 사항에 맞게 컨테이너 및 노드 리소스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예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CPU,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메모리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할당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 메시 사용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Istio, AWS VPC Lattice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같은 서비스 메시 구현을 통한 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MSA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통신 최적화 및 모니터링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리소스 최적화 도구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:AWS Compute Optimizer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사용하여 클러스터 리소스 사용 효율성 평가 및 최적화</a:t>
            </a:r>
            <a:endParaRPr lang="en-US" altLang="ko-KR" sz="10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3" name="Rectangle 287">
            <a:extLst>
              <a:ext uri="{FF2B5EF4-FFF2-40B4-BE49-F238E27FC236}">
                <a16:creationId xmlns:a16="http://schemas.microsoft.com/office/drawing/2014/main" id="{708FCCB4-0E2C-FF43-B647-F15499F04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800" y="3262730"/>
            <a:ext cx="2181723" cy="220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latinLnBrk="0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효율적인 리소스 선택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애플리케이션의 성능 요구 사항과 비용 목표에 따라 적절한 인스턴스 유형 및 크기 선택</a:t>
            </a:r>
            <a:endParaRPr lang="en-US" altLang="ko-KR" sz="10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활용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절감을 위해 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ARM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활용</a:t>
            </a:r>
            <a:endParaRPr lang="en-US" altLang="ko-KR" sz="10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 모니터링 및 분석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0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Prometheus,Garfana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en-US" altLang="ko-KR" sz="10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Kubecost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</a:t>
            </a:r>
            <a:endParaRPr lang="en-US" altLang="ko-KR" sz="10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FBE1FBB-2B06-7249-9CA8-A0F05FC52E0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3" y="2851354"/>
            <a:ext cx="360000" cy="3600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32928CD7-77FE-AD4B-8AE0-CEA72933C3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7423" y="2862375"/>
            <a:ext cx="360000" cy="360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C8CAA0B-4C02-D44D-B41D-4743BE6C8B7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47159" y="2862756"/>
            <a:ext cx="360000" cy="360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FB0AE8-FC6D-9949-A00A-3FDD2ECBEF4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393433" y="2857017"/>
            <a:ext cx="360000" cy="360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6733B32-D698-3348-AFF7-9FF7128789D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601042" y="2851354"/>
            <a:ext cx="360000" cy="360000"/>
          </a:xfrm>
          <a:prstGeom prst="rect">
            <a:avLst/>
          </a:prstGeom>
        </p:spPr>
      </p:pic>
      <p:sp>
        <p:nvSpPr>
          <p:cNvPr id="64" name="Rectangle 100">
            <a:extLst>
              <a:ext uri="{FF2B5EF4-FFF2-40B4-BE49-F238E27FC236}">
                <a16:creationId xmlns:a16="http://schemas.microsoft.com/office/drawing/2014/main" id="{F4DA0792-7ED0-7841-8C94-7B17B034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785470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defTabSz="914347">
              <a:buClr>
                <a:srgbClr val="808080"/>
              </a:buClr>
            </a:pP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컨테이너 환경을 구축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관리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최적화하기 위한 모범 사례를 위해 운영 우수성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안정성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성능 효율성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그리고 부분적으로 보안과 비용 최적화 중심으로 진단 점검 및 개선안을 도출합니다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endParaRPr lang="ko-KR" altLang="en-US" sz="400" b="1" kern="0" dirty="0">
              <a:ln>
                <a:solidFill>
                  <a:srgbClr val="BBE0E3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" name="사다리꼴 489">
            <a:extLst>
              <a:ext uri="{FF2B5EF4-FFF2-40B4-BE49-F238E27FC236}">
                <a16:creationId xmlns:a16="http://schemas.microsoft.com/office/drawing/2014/main" id="{50EE4536-E483-F07C-58E4-7BE952FFF614}"/>
              </a:ext>
            </a:extLst>
          </p:cNvPr>
          <p:cNvSpPr/>
          <p:nvPr/>
        </p:nvSpPr>
        <p:spPr bwMode="auto">
          <a:xfrm>
            <a:off x="452104" y="5731233"/>
            <a:ext cx="11236313" cy="164530"/>
          </a:xfrm>
          <a:prstGeom prst="trapezoid">
            <a:avLst>
              <a:gd name="adj" fmla="val 38590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381125"/>
            <a:endParaRPr lang="ko-KR" altLang="en-US" sz="12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A38DCB1-7AB8-4742-3E02-B9DDD47C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5895763"/>
            <a:ext cx="11282105" cy="519387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EAEA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25400" dir="5400000" sy="50000" rotWithShape="0">
                    <a:srgbClr val="F8F8F8"/>
                  </a:outerShdw>
                </a:effectLst>
              </a14:hiddenEffects>
            </a:ext>
          </a:extLst>
        </p:spPr>
        <p:txBody>
          <a:bodyPr lIns="54000" tIns="36000" rIns="54000" bIns="36000"/>
          <a:lstStyle/>
          <a:p>
            <a:pPr marL="109538" indent="-109538" latinLnBrk="0">
              <a:spcAft>
                <a:spcPct val="20000"/>
              </a:spcAft>
              <a:buClr>
                <a:schemeClr val="bg2"/>
              </a:buClr>
              <a:buFont typeface="Wingdings" pitchFamily="2" charset="2"/>
              <a:buChar char="§"/>
            </a:pPr>
            <a:endParaRPr lang="ko-KR" altLang="en-US" sz="900" dirty="0">
              <a:ea typeface="NanumSquareOTF_ac" panose="020B0600000101010101" pitchFamily="34" charset="-127"/>
            </a:endParaRPr>
          </a:p>
        </p:txBody>
      </p:sp>
      <p:sp>
        <p:nvSpPr>
          <p:cNvPr id="10" name="Rectangle 440">
            <a:extLst>
              <a:ext uri="{FF2B5EF4-FFF2-40B4-BE49-F238E27FC236}">
                <a16:creationId xmlns:a16="http://schemas.microsoft.com/office/drawing/2014/main" id="{EB0720DC-7E1C-3418-265B-0AF5D220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72" y="6092955"/>
            <a:ext cx="10876247" cy="19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30175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1pPr>
            <a:lvl2pPr marL="266700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-윤고딕330" panose="02030504000101010101" pitchFamily="18" charset="-127"/>
              <a:buChar char="-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2pPr>
            <a:lvl3pPr marL="11430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808080"/>
              </a:buClr>
              <a:buSzPct val="100000"/>
              <a:buNone/>
            </a:pP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Kubernetes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환경에서의 최적의 모범사례를 적용함으로써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자원을 보다 효과적으로 관리하고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비즈니스 가치를 극대화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" name="Rectangle 382" descr="도형04">
            <a:extLst>
              <a:ext uri="{FF2B5EF4-FFF2-40B4-BE49-F238E27FC236}">
                <a16:creationId xmlns:a16="http://schemas.microsoft.com/office/drawing/2014/main" id="{BCB6C89D-81E9-6035-5A87-7D61F95DE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82" y="5731233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DE2B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기대효과</a:t>
            </a:r>
          </a:p>
        </p:txBody>
      </p:sp>
      <p:sp>
        <p:nvSpPr>
          <p:cNvPr id="22" name="Rectangle 382" descr="도형04">
            <a:extLst>
              <a:ext uri="{FF2B5EF4-FFF2-40B4-BE49-F238E27FC236}">
                <a16:creationId xmlns:a16="http://schemas.microsoft.com/office/drawing/2014/main" id="{E89C78A6-12D5-8B32-24B2-794B74BBC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542" y="1522581"/>
            <a:ext cx="3181296" cy="290720"/>
          </a:xfrm>
          <a:prstGeom prst="roundRect">
            <a:avLst>
              <a:gd name="adj" fmla="val 50000"/>
            </a:avLst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Well Architected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플랫폼</a:t>
            </a:r>
          </a:p>
        </p:txBody>
      </p:sp>
    </p:spTree>
    <p:extLst>
      <p:ext uri="{BB962C8B-B14F-4D97-AF65-F5344CB8AC3E}">
        <p14:creationId xmlns:p14="http://schemas.microsoft.com/office/powerpoint/2010/main" val="258232766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제목 61">
            <a:extLst>
              <a:ext uri="{FF2B5EF4-FFF2-40B4-BE49-F238E27FC236}">
                <a16:creationId xmlns:a16="http://schemas.microsoft.com/office/drawing/2014/main" id="{7B109F54-C163-9C47-9699-68E4F26A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en-US" altLang="ko-KR" dirty="0"/>
              <a:t>Architecture Review – Observability</a:t>
            </a:r>
            <a:endParaRPr lang="ko-Kore-KR" altLang="en-US" dirty="0"/>
          </a:p>
        </p:txBody>
      </p:sp>
      <p:sp>
        <p:nvSpPr>
          <p:cNvPr id="4" name="AutoShape 112">
            <a:extLst>
              <a:ext uri="{FF2B5EF4-FFF2-40B4-BE49-F238E27FC236}">
                <a16:creationId xmlns:a16="http://schemas.microsoft.com/office/drawing/2014/main" id="{62A247E6-2B8E-1248-A853-45984EFB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2726182"/>
            <a:ext cx="11282105" cy="2873908"/>
          </a:xfrm>
          <a:prstGeom prst="roundRect">
            <a:avLst>
              <a:gd name="adj" fmla="val 2875"/>
            </a:avLst>
          </a:prstGeom>
          <a:solidFill>
            <a:srgbClr val="DADADE"/>
          </a:solidFill>
          <a:ln w="19050" algn="ctr">
            <a:solidFill>
              <a:srgbClr val="C0C0C0"/>
            </a:solidFill>
            <a:round/>
            <a:headEnd/>
            <a:tailEnd/>
          </a:ln>
        </p:spPr>
        <p:txBody>
          <a:bodyPr wrap="none" lIns="100785" tIns="50393" rIns="100785" bIns="50393" anchor="ctr"/>
          <a:lstStyle/>
          <a:p>
            <a:pPr algn="ctr"/>
            <a:endParaRPr lang="ko-KR" altLang="ko-KR" sz="1200" dirty="0">
              <a:latin typeface="Amazon Ember Medium" panose="020B0603020204020204" pitchFamily="34" charset="0"/>
              <a:ea typeface="Rix모던고딕 B" pitchFamily="18" charset="-127"/>
              <a:sym typeface="Wingdings" panose="05000000000000000000" pitchFamily="2" charset="2"/>
            </a:endParaRPr>
          </a:p>
        </p:txBody>
      </p:sp>
      <p:sp>
        <p:nvSpPr>
          <p:cNvPr id="11" name="AutoShape 114">
            <a:extLst>
              <a:ext uri="{FF2B5EF4-FFF2-40B4-BE49-F238E27FC236}">
                <a16:creationId xmlns:a16="http://schemas.microsoft.com/office/drawing/2014/main" id="{FBB23F41-B1A1-F941-B60C-0B61A05E2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482" y="2791274"/>
            <a:ext cx="2129086" cy="2725611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1ECA937D-E74E-7A4F-A42E-C46010E31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10" y="2787994"/>
            <a:ext cx="2126497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4301A542-1862-6E47-BD0B-892EB254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566" y="3277698"/>
            <a:ext cx="2057315" cy="2435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중앙 </a:t>
            </a:r>
            <a:r>
              <a:rPr lang="ko-KR" altLang="en-US" sz="1000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집중화된</a:t>
            </a: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로깅</a:t>
            </a:r>
            <a:r>
              <a:rPr lang="en-US" altLang="ko-KR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모든 시스템 및 애플리케이션 로그를 한 곳에서 수집</a:t>
            </a:r>
            <a:r>
              <a:rPr lang="en-US" altLang="ko-KR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분석</a:t>
            </a:r>
            <a:r>
              <a:rPr lang="en-US" altLang="ko-KR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저장하는 능력</a:t>
            </a:r>
            <a:endParaRPr lang="en-US" altLang="ko-KR" sz="1000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실시간 모니터링</a:t>
            </a:r>
            <a:r>
              <a:rPr lang="en-US" altLang="ko-KR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:CW</a:t>
            </a:r>
            <a:r>
              <a:rPr lang="ko-KR" altLang="en-US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같은 도구를 사용하여 인프라와 애플리케이션의 실시간 모니터링을 통한 상태 확인과 성능 지표 분석</a:t>
            </a:r>
            <a:r>
              <a:rPr lang="en-US" altLang="ko-KR" sz="100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자동화된 대응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:CW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Alarm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통합하여 문제가 </a:t>
            </a:r>
            <a:r>
              <a:rPr lang="ko-KR" altLang="en-US" sz="10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발견시</a:t>
            </a:r>
            <a:r>
              <a:rPr lang="ko-KR" altLang="en-US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자동 대응 메커니즘 구현</a:t>
            </a:r>
            <a:r>
              <a:rPr lang="en-US" altLang="ko-KR" sz="10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2AC04CC8-5821-644B-84F9-AB92BDA65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858" y="2857018"/>
            <a:ext cx="125510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운영 우수성</a:t>
            </a:r>
          </a:p>
        </p:txBody>
      </p:sp>
      <p:sp>
        <p:nvSpPr>
          <p:cNvPr id="16" name="AutoShape 114">
            <a:extLst>
              <a:ext uri="{FF2B5EF4-FFF2-40B4-BE49-F238E27FC236}">
                <a16:creationId xmlns:a16="http://schemas.microsoft.com/office/drawing/2014/main" id="{97316097-5547-CF4E-BC78-65FA4471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150" y="2792071"/>
            <a:ext cx="2119592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5C1672A1-A64D-AC47-ABC9-24525A775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150" y="2787994"/>
            <a:ext cx="2119592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114">
            <a:extLst>
              <a:ext uri="{FF2B5EF4-FFF2-40B4-BE49-F238E27FC236}">
                <a16:creationId xmlns:a16="http://schemas.microsoft.com/office/drawing/2014/main" id="{FAF6298E-C413-5C44-A96C-592AE2312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259" y="2792071"/>
            <a:ext cx="2096275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D6EA42D1-786D-DA4E-9FDD-CA3C52DA1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260" y="2787994"/>
            <a:ext cx="2092702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AutoShape 114">
            <a:extLst>
              <a:ext uri="{FF2B5EF4-FFF2-40B4-BE49-F238E27FC236}">
                <a16:creationId xmlns:a16="http://schemas.microsoft.com/office/drawing/2014/main" id="{6AC3EC33-03E7-824C-A7BD-D5BBE28A5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740" y="2792071"/>
            <a:ext cx="2085348" cy="2724814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0" name="AutoShape 114">
            <a:extLst>
              <a:ext uri="{FF2B5EF4-FFF2-40B4-BE49-F238E27FC236}">
                <a16:creationId xmlns:a16="http://schemas.microsoft.com/office/drawing/2014/main" id="{EB5E3F9B-4F97-DF42-A0EB-1E87FE2A3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240" y="2784261"/>
            <a:ext cx="2096161" cy="2732258"/>
          </a:xfrm>
          <a:prstGeom prst="roundRect">
            <a:avLst>
              <a:gd name="adj" fmla="val 3458"/>
            </a:avLst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ko-KR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AutoShape 7">
            <a:extLst>
              <a:ext uri="{FF2B5EF4-FFF2-40B4-BE49-F238E27FC236}">
                <a16:creationId xmlns:a16="http://schemas.microsoft.com/office/drawing/2014/main" id="{D9613ED2-51DB-EB4A-8F49-CEC303418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240" y="2776814"/>
            <a:ext cx="2096161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50FC43A-4DEB-D449-BD45-C8161FF76990}"/>
              </a:ext>
            </a:extLst>
          </p:cNvPr>
          <p:cNvGrpSpPr>
            <a:grpSpLocks/>
          </p:cNvGrpSpPr>
          <p:nvPr/>
        </p:nvGrpSpPr>
        <p:grpSpPr bwMode="auto">
          <a:xfrm>
            <a:off x="2281357" y="1640612"/>
            <a:ext cx="8015242" cy="738071"/>
            <a:chOff x="656" y="1604"/>
            <a:chExt cx="1626" cy="378"/>
          </a:xfrm>
        </p:grpSpPr>
        <p:sp>
          <p:nvSpPr>
            <p:cNvPr id="37" name="Text Box 255">
              <a:extLst>
                <a:ext uri="{FF2B5EF4-FFF2-40B4-BE49-F238E27FC236}">
                  <a16:creationId xmlns:a16="http://schemas.microsoft.com/office/drawing/2014/main" id="{EDA86553-2132-EA47-90AF-D7E425719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77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[</a:t>
              </a:r>
            </a:p>
          </p:txBody>
        </p:sp>
        <p:sp>
          <p:nvSpPr>
            <p:cNvPr id="38" name="Text Box 256">
              <a:extLst>
                <a:ext uri="{FF2B5EF4-FFF2-40B4-BE49-F238E27FC236}">
                  <a16:creationId xmlns:a16="http://schemas.microsoft.com/office/drawing/2014/main" id="{C42E80F1-A92D-9241-843B-1C8D4EAE1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1604"/>
              <a:ext cx="200" cy="378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ko-KR" sz="4800" b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77"/>
                  </a:solidFill>
                  <a:latin typeface="Amazon Ember Medium" panose="020B0603020204020204" pitchFamily="34" charset="0"/>
                  <a:ea typeface="Amazon Ember Medium" panose="020B0603020204020204" pitchFamily="34" charset="0"/>
                </a:rPr>
                <a:t>]</a:t>
              </a:r>
            </a:p>
          </p:txBody>
        </p:sp>
        <p:sp>
          <p:nvSpPr>
            <p:cNvPr id="41" name="Rectangle 82">
              <a:extLst>
                <a:ext uri="{FF2B5EF4-FFF2-40B4-BE49-F238E27FC236}">
                  <a16:creationId xmlns:a16="http://schemas.microsoft.com/office/drawing/2014/main" id="{8AAFA8BB-129C-FC4C-B86A-B1EF0B97D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" y="1756"/>
              <a:ext cx="16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1pPr>
              <a:lvl2pPr marL="742950" indent="-28575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2pPr>
              <a:lvl3pPr marL="11430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3pPr>
              <a:lvl4pPr marL="16002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4pPr>
              <a:lvl5pPr marL="2057400" indent="-228600" defTabSz="893763" eaLnBrk="0" hangingPunct="0"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5pPr>
              <a:lvl6pPr marL="25146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6pPr>
              <a:lvl7pPr marL="29718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7pPr>
              <a:lvl8pPr marL="34290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8pPr>
              <a:lvl9pPr marL="3886200" indent="-228600" defTabSz="8937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tx1"/>
                  </a:solidFill>
                  <a:latin typeface="산돌고딕 L" pitchFamily="18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defRPr/>
              </a:pP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모니터링</a:t>
              </a:r>
              <a:r>
                <a:rPr lang="en-US" altLang="ko-KR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/</a:t>
              </a:r>
              <a:r>
                <a:rPr lang="ko-KR" altLang="en-US" sz="2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관측성 최적화 방안 진단 및 개선안</a:t>
              </a:r>
            </a:p>
          </p:txBody>
        </p:sp>
      </p:grpSp>
      <p:sp>
        <p:nvSpPr>
          <p:cNvPr id="44" name="AutoShape 7">
            <a:extLst>
              <a:ext uri="{FF2B5EF4-FFF2-40B4-BE49-F238E27FC236}">
                <a16:creationId xmlns:a16="http://schemas.microsoft.com/office/drawing/2014/main" id="{9EFB152C-1FE0-6D40-86A2-06A1F7F1A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455" y="2790439"/>
            <a:ext cx="2096161" cy="497905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45" name="Text Box 288">
            <a:extLst>
              <a:ext uri="{FF2B5EF4-FFF2-40B4-BE49-F238E27FC236}">
                <a16:creationId xmlns:a16="http://schemas.microsoft.com/office/drawing/2014/main" id="{1A3BB711-3B78-B64B-BC1A-18EFB7BF8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5526" y="2859304"/>
            <a:ext cx="1515842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</a:p>
        </p:txBody>
      </p:sp>
      <p:sp>
        <p:nvSpPr>
          <p:cNvPr id="47" name="Text Box 288">
            <a:extLst>
              <a:ext uri="{FF2B5EF4-FFF2-40B4-BE49-F238E27FC236}">
                <a16:creationId xmlns:a16="http://schemas.microsoft.com/office/drawing/2014/main" id="{788C113F-2067-1042-BA68-90DEE3496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472" y="2869325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안정성</a:t>
            </a:r>
          </a:p>
        </p:txBody>
      </p:sp>
      <p:sp>
        <p:nvSpPr>
          <p:cNvPr id="48" name="Text Box 288">
            <a:extLst>
              <a:ext uri="{FF2B5EF4-FFF2-40B4-BE49-F238E27FC236}">
                <a16:creationId xmlns:a16="http://schemas.microsoft.com/office/drawing/2014/main" id="{8CC177F6-2AE6-7841-9E7F-EBA03B504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174" y="2861218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성능 효율성</a:t>
            </a:r>
          </a:p>
        </p:txBody>
      </p:sp>
      <p:sp>
        <p:nvSpPr>
          <p:cNvPr id="49" name="Text Box 288">
            <a:extLst>
              <a:ext uri="{FF2B5EF4-FFF2-40B4-BE49-F238E27FC236}">
                <a16:creationId xmlns:a16="http://schemas.microsoft.com/office/drawing/2014/main" id="{92302F47-00AD-BE4C-A78C-B8F86276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7031" y="2857017"/>
            <a:ext cx="168843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최적화</a:t>
            </a:r>
          </a:p>
        </p:txBody>
      </p:sp>
      <p:sp>
        <p:nvSpPr>
          <p:cNvPr id="50" name="Rectangle 287">
            <a:extLst>
              <a:ext uri="{FF2B5EF4-FFF2-40B4-BE49-F238E27FC236}">
                <a16:creationId xmlns:a16="http://schemas.microsoft.com/office/drawing/2014/main" id="{CE9D599A-7775-1342-A16E-9AFFC271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451" y="3281240"/>
            <a:ext cx="2140082" cy="1980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액세스 및 이벤트 로깅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누가 언제 어떤 리소스에 접근했는지를 로깅하고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비정상적인 액세스 패턴이나 시도를 감지</a:t>
            </a:r>
            <a:endParaRPr lang="en-US" altLang="ko-KR" sz="10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보안 구성 변경 모니터링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:AWS Config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같은 도구를 사용하여 보안 구성 변경 사항을 추적하고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05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비허용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변경을 신속히 감지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51" name="Rectangle 287">
            <a:extLst>
              <a:ext uri="{FF2B5EF4-FFF2-40B4-BE49-F238E27FC236}">
                <a16:creationId xmlns:a16="http://schemas.microsoft.com/office/drawing/2014/main" id="{3EBFB2ED-F210-FE4D-BC01-DF90DB901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386" y="3288344"/>
            <a:ext cx="2076835" cy="1784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장애 감지 </a:t>
            </a:r>
            <a:r>
              <a:rPr lang="en-US" altLang="ko-KR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</a:t>
            </a:r>
            <a:r>
              <a:rPr lang="ko-KR" altLang="en-US" sz="105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시스템 장애 또는 성능 저하를 빠르게 감지하기 위한 효율적인 알람 및 대시보드 설정</a:t>
            </a:r>
            <a:endParaRPr lang="en-US" altLang="ko-KR" sz="105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복원력 테스트 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Chaos Engineering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방법을 사용하여 시스템의 복원력을 주기적으로 테스트하고 관측</a:t>
            </a:r>
            <a:endParaRPr lang="en-US" altLang="ko-KR" sz="105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2" name="Rectangle 287">
            <a:extLst>
              <a:ext uri="{FF2B5EF4-FFF2-40B4-BE49-F238E27FC236}">
                <a16:creationId xmlns:a16="http://schemas.microsoft.com/office/drawing/2014/main" id="{7DF0DEE0-2B29-DE47-813A-E044A9C18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56" y="3288344"/>
            <a:ext cx="2057315" cy="1784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ctr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성능 지표 모니터링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응답 시간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처리량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05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오류율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등의 성능 지표를 지속적으로 모니터링하고 분석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용량 계획 및 자동 스케일링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수요 변화에 따라 자동으로 리소스를 확장하거나 축소할 수 있는 능력을 모니터링하고 최적화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53" name="Rectangle 287">
            <a:extLst>
              <a:ext uri="{FF2B5EF4-FFF2-40B4-BE49-F238E27FC236}">
                <a16:creationId xmlns:a16="http://schemas.microsoft.com/office/drawing/2014/main" id="{708FCCB4-0E2C-FF43-B647-F15499F04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800" y="3302618"/>
            <a:ext cx="2181723" cy="1749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sp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90488" indent="-90488" eaLnBrk="1" latinLnBrk="0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관련 지표 모니터링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 AWS </a:t>
            </a:r>
            <a:r>
              <a:rPr lang="ko-KR" altLang="en-US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사용량 보고서를 활용하여 비용 효율성과 예산 초과를 감시</a:t>
            </a:r>
            <a:r>
              <a:rPr lang="en-US" altLang="ko-KR" sz="10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90488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리소스 최적화 및 사용률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사용되지 않는 리소스의 발견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오버 </a:t>
            </a:r>
            <a:r>
              <a:rPr lang="ko-KR" altLang="en-US" sz="105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프로비저닝된</a:t>
            </a:r>
            <a:r>
              <a:rPr lang="ko-KR" altLang="en-US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리소스의 조정을 통한 비용 최적화</a:t>
            </a:r>
            <a:r>
              <a:rPr lang="en-US" altLang="ko-KR" sz="105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FBE1FBB-2B06-7249-9CA8-A0F05FC52E0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3" y="2851354"/>
            <a:ext cx="360000" cy="3600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32928CD7-77FE-AD4B-8AE0-CEA72933C3B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47423" y="2862375"/>
            <a:ext cx="360000" cy="360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C8CAA0B-4C02-D44D-B41D-4743BE6C8B7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47159" y="2862756"/>
            <a:ext cx="360000" cy="360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FB0AE8-FC6D-9949-A00A-3FDD2ECBEF4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393433" y="2857017"/>
            <a:ext cx="360000" cy="360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6733B32-D698-3348-AFF7-9FF7128789D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601042" y="2851354"/>
            <a:ext cx="360000" cy="360000"/>
          </a:xfrm>
          <a:prstGeom prst="rect">
            <a:avLst/>
          </a:prstGeom>
        </p:spPr>
      </p:pic>
      <p:sp>
        <p:nvSpPr>
          <p:cNvPr id="64" name="Rectangle 100">
            <a:extLst>
              <a:ext uri="{FF2B5EF4-FFF2-40B4-BE49-F238E27FC236}">
                <a16:creationId xmlns:a16="http://schemas.microsoft.com/office/drawing/2014/main" id="{F4DA0792-7ED0-7841-8C94-7B17B034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785470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defTabSz="914347">
              <a:buClr>
                <a:srgbClr val="808080"/>
              </a:buClr>
            </a:pP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시스템의 상태를 이해하고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문제를 진단하며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성능을 최적화하기 위해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운영 우수성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안정성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성능 효율성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그리고 부분적으로 보안과 비용 최적화 중심으로 진단 점검 및 개선안을 도출합니다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endParaRPr lang="ko-KR" altLang="en-US" sz="400" b="1" kern="0" dirty="0">
              <a:ln>
                <a:solidFill>
                  <a:srgbClr val="BBE0E3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" name="사다리꼴 489">
            <a:extLst>
              <a:ext uri="{FF2B5EF4-FFF2-40B4-BE49-F238E27FC236}">
                <a16:creationId xmlns:a16="http://schemas.microsoft.com/office/drawing/2014/main" id="{50EE4536-E483-F07C-58E4-7BE952FFF614}"/>
              </a:ext>
            </a:extLst>
          </p:cNvPr>
          <p:cNvSpPr/>
          <p:nvPr/>
        </p:nvSpPr>
        <p:spPr bwMode="auto">
          <a:xfrm>
            <a:off x="452104" y="5731233"/>
            <a:ext cx="11236313" cy="164530"/>
          </a:xfrm>
          <a:prstGeom prst="trapezoid">
            <a:avLst>
              <a:gd name="adj" fmla="val 385907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1381125"/>
            <a:endParaRPr lang="ko-KR" altLang="en-US" sz="12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A38DCB1-7AB8-4742-3E02-B9DDD47C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91" y="5895763"/>
            <a:ext cx="11282105" cy="519387"/>
          </a:xfrm>
          <a:prstGeom prst="rect">
            <a:avLst/>
          </a:prstGeom>
          <a:solidFill>
            <a:schemeClr val="bg1"/>
          </a:solidFill>
          <a:ln w="19050" algn="ctr">
            <a:solidFill>
              <a:srgbClr val="EAEA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25400" dir="5400000" sy="50000" rotWithShape="0">
                    <a:srgbClr val="F8F8F8"/>
                  </a:outerShdw>
                </a:effectLst>
              </a14:hiddenEffects>
            </a:ext>
          </a:extLst>
        </p:spPr>
        <p:txBody>
          <a:bodyPr lIns="54000" tIns="36000" rIns="54000" bIns="36000"/>
          <a:lstStyle/>
          <a:p>
            <a:pPr marL="109538" indent="-109538" latinLnBrk="0">
              <a:spcAft>
                <a:spcPct val="20000"/>
              </a:spcAft>
              <a:buClr>
                <a:schemeClr val="bg2"/>
              </a:buClr>
              <a:buFont typeface="Wingdings" pitchFamily="2" charset="2"/>
              <a:buChar char="§"/>
            </a:pPr>
            <a:endParaRPr lang="ko-KR" altLang="en-US" sz="900" dirty="0">
              <a:ea typeface="NanumSquareOTF_ac" panose="020B0600000101010101" pitchFamily="34" charset="-127"/>
            </a:endParaRPr>
          </a:p>
        </p:txBody>
      </p:sp>
      <p:sp>
        <p:nvSpPr>
          <p:cNvPr id="10" name="Rectangle 440">
            <a:extLst>
              <a:ext uri="{FF2B5EF4-FFF2-40B4-BE49-F238E27FC236}">
                <a16:creationId xmlns:a16="http://schemas.microsoft.com/office/drawing/2014/main" id="{EB0720DC-7E1C-3418-265B-0AF5D2204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72" y="6092955"/>
            <a:ext cx="10876247" cy="199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30175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1pPr>
            <a:lvl2pPr marL="266700" indent="-130175" algn="just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-윤고딕330" panose="02030504000101010101" pitchFamily="18" charset="-127"/>
              <a:buChar char="-"/>
              <a:defRPr kumimoji="1" sz="900">
                <a:solidFill>
                  <a:schemeClr val="tx1"/>
                </a:solidFill>
                <a:latin typeface="-윤고딕320" panose="02030504000101010101" pitchFamily="18" charset="-127"/>
                <a:ea typeface="-윤고딕320" panose="02030504000101010101" pitchFamily="18" charset="-127"/>
              </a:defRPr>
            </a:lvl2pPr>
            <a:lvl3pPr marL="11430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lnSpc>
                <a:spcPct val="130000"/>
              </a:lnSpc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anose="02030600000101010101" pitchFamily="18" charset="-127"/>
              <a:buChar char="-"/>
              <a:defRPr kumimoji="1" sz="9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808080"/>
              </a:buClr>
              <a:buSzPct val="100000"/>
              <a:buNone/>
            </a:pP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관측 가능성을 통해 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리소스와 애플리케이션의 운영 상태를 투명하게 만들고</a:t>
            </a:r>
            <a:r>
              <a:rPr lang="en-US" altLang="ko-KR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6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시스템의 신뢰성과 성능을 지속적으로 개선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" name="Rectangle 382" descr="도형04">
            <a:extLst>
              <a:ext uri="{FF2B5EF4-FFF2-40B4-BE49-F238E27FC236}">
                <a16:creationId xmlns:a16="http://schemas.microsoft.com/office/drawing/2014/main" id="{BCB6C89D-81E9-6035-5A87-7D61F95DE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382" y="5731233"/>
            <a:ext cx="885141" cy="290720"/>
          </a:xfrm>
          <a:prstGeom prst="roundRect">
            <a:avLst>
              <a:gd name="adj" fmla="val 50000"/>
            </a:avLst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기대효과</a:t>
            </a:r>
          </a:p>
        </p:txBody>
      </p:sp>
      <p:sp>
        <p:nvSpPr>
          <p:cNvPr id="22" name="Rectangle 382" descr="도형04">
            <a:extLst>
              <a:ext uri="{FF2B5EF4-FFF2-40B4-BE49-F238E27FC236}">
                <a16:creationId xmlns:a16="http://schemas.microsoft.com/office/drawing/2014/main" id="{E89C78A6-12D5-8B32-24B2-794B74BBC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542" y="1522581"/>
            <a:ext cx="3181296" cy="290720"/>
          </a:xfrm>
          <a:prstGeom prst="roundRect">
            <a:avLst>
              <a:gd name="adj" fmla="val 50000"/>
            </a:avLst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Well Architected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플랫폼</a:t>
            </a:r>
          </a:p>
        </p:txBody>
      </p:sp>
    </p:spTree>
    <p:extLst>
      <p:ext uri="{BB962C8B-B14F-4D97-AF65-F5344CB8AC3E}">
        <p14:creationId xmlns:p14="http://schemas.microsoft.com/office/powerpoint/2010/main" val="2289358507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2"/>
            </a:pPr>
            <a:r>
              <a:rPr lang="ko-KR" altLang="en-US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자원에 대한 비용 기반 아키텍쳐 분석</a:t>
            </a:r>
            <a:endParaRPr lang="en-US" altLang="ko-KR" sz="36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62435B8E-1971-DC6D-D11F-C566D67618F5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B7346C1-A981-A9AC-3141-EA76001CF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49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BA3ED-3959-2843-33DC-4BB3B8B2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23E91-B809-AF33-EC9F-C384231F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전체 서비스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85CACF-D766-205A-B31E-6E7240B2F0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CCAB58F-6925-711A-E6EB-27482F02F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4F4141F3-6290-96C2-A2D7-2A40099DD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E221A74-3A07-191C-AF87-E92A546FA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CFBA9B56-0964-DFDE-983F-2FF72E038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AB5B4832-0991-D4E1-A1BF-21661DFF0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375975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전체 비용 및 서비스 주요 사용량 분석 지표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55F961D1-3EFA-4A99-5D78-D5FAF876E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15" name="Rectangle 287">
            <a:extLst>
              <a:ext uri="{FF2B5EF4-FFF2-40B4-BE49-F238E27FC236}">
                <a16:creationId xmlns:a16="http://schemas.microsoft.com/office/drawing/2014/main" id="{C0E5F906-9297-2F88-8381-E6C48930D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33" y="2028216"/>
            <a:ext cx="5539307" cy="4378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현황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2024.12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총 비용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$ 930,729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PaletteCo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893,983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ablyblack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: $ 32,787 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가장 빠르게 성장한 서비스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Amazon Simple Storage Service (S3)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성장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가장 많은 비용이 발생한 서비스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Amazon CloudFront ($386,713)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전체 비용의 약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41.5%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차지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가장 많은 감소한 서비스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ELB -14%, EC2 Other -11%, </a:t>
            </a:r>
            <a:endParaRPr lang="ko-KR" altLang="en-US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서비스별 비용 상세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4" name="Rectangle 100">
            <a:extLst>
              <a:ext uri="{FF2B5EF4-FFF2-40B4-BE49-F238E27FC236}">
                <a16:creationId xmlns:a16="http://schemas.microsoft.com/office/drawing/2014/main" id="{ADC2EA2B-9FFF-C462-7736-F0F5AFBC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총 비용은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$930,729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확인되었습니다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분석 결과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서비스에서 높은 비용 비중과 성장세가 확인되었으며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이는 최적화를 통해 절감 가능성이 있음을 나타냅니다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BBBAA50-F192-3EF6-AF0A-25682D93C9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7" name="Chart 1">
            <a:extLst>
              <a:ext uri="{FF2B5EF4-FFF2-40B4-BE49-F238E27FC236}">
                <a16:creationId xmlns:a16="http://schemas.microsoft.com/office/drawing/2014/main" id="{706406AC-72AD-EAAD-92FB-F7B8E308F3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5752786"/>
              </p:ext>
            </p:extLst>
          </p:nvPr>
        </p:nvGraphicFramePr>
        <p:xfrm>
          <a:off x="498379" y="2105514"/>
          <a:ext cx="5462567" cy="1877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">
            <a:extLst>
              <a:ext uri="{FF2B5EF4-FFF2-40B4-BE49-F238E27FC236}">
                <a16:creationId xmlns:a16="http://schemas.microsoft.com/office/drawing/2014/main" id="{E76E8A59-6950-52D5-5499-6D0A77B4E88D}"/>
              </a:ext>
            </a:extLst>
          </p:cNvPr>
          <p:cNvGraphicFramePr>
            <a:graphicFrameLocks/>
          </p:cNvGraphicFramePr>
          <p:nvPr/>
        </p:nvGraphicFramePr>
        <p:xfrm>
          <a:off x="447860" y="4099050"/>
          <a:ext cx="5537963" cy="730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35DE9F4-3B44-BD3F-101E-3AB1C1659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407979"/>
              </p:ext>
            </p:extLst>
          </p:nvPr>
        </p:nvGraphicFramePr>
        <p:xfrm>
          <a:off x="354254" y="4989688"/>
          <a:ext cx="5606693" cy="1601578"/>
        </p:xfrm>
        <a:graphic>
          <a:graphicData uri="http://schemas.openxmlformats.org/drawingml/2006/table">
            <a:tbl>
              <a:tblPr/>
              <a:tblGrid>
                <a:gridCol w="394441">
                  <a:extLst>
                    <a:ext uri="{9D8B030D-6E8A-4147-A177-3AD203B41FA5}">
                      <a16:colId xmlns:a16="http://schemas.microsoft.com/office/drawing/2014/main" val="4133084283"/>
                    </a:ext>
                  </a:extLst>
                </a:gridCol>
                <a:gridCol w="1549588">
                  <a:extLst>
                    <a:ext uri="{9D8B030D-6E8A-4147-A177-3AD203B41FA5}">
                      <a16:colId xmlns:a16="http://schemas.microsoft.com/office/drawing/2014/main" val="1314031189"/>
                    </a:ext>
                  </a:extLst>
                </a:gridCol>
                <a:gridCol w="619835">
                  <a:extLst>
                    <a:ext uri="{9D8B030D-6E8A-4147-A177-3AD203B41FA5}">
                      <a16:colId xmlns:a16="http://schemas.microsoft.com/office/drawing/2014/main" val="235915461"/>
                    </a:ext>
                  </a:extLst>
                </a:gridCol>
                <a:gridCol w="619835">
                  <a:extLst>
                    <a:ext uri="{9D8B030D-6E8A-4147-A177-3AD203B41FA5}">
                      <a16:colId xmlns:a16="http://schemas.microsoft.com/office/drawing/2014/main" val="2598354891"/>
                    </a:ext>
                  </a:extLst>
                </a:gridCol>
                <a:gridCol w="1211497">
                  <a:extLst>
                    <a:ext uri="{9D8B030D-6E8A-4147-A177-3AD203B41FA5}">
                      <a16:colId xmlns:a16="http://schemas.microsoft.com/office/drawing/2014/main" val="321977420"/>
                    </a:ext>
                  </a:extLst>
                </a:gridCol>
                <a:gridCol w="1211497">
                  <a:extLst>
                    <a:ext uri="{9D8B030D-6E8A-4147-A177-3AD203B41FA5}">
                      <a16:colId xmlns:a16="http://schemas.microsoft.com/office/drawing/2014/main" val="4270753469"/>
                    </a:ext>
                  </a:extLst>
                </a:gridCol>
              </a:tblGrid>
              <a:tr h="189922"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rgbClr val="FFFFFF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서비스</a:t>
                      </a:r>
                      <a:endParaRPr lang="en-US" sz="1000" b="1" i="0" u="none" strike="noStrike" dirty="0">
                        <a:solidFill>
                          <a:srgbClr val="232F3E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82875" marR="82875" marT="41438" marB="41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</a:t>
                      </a:r>
                      <a:r>
                        <a:rPr lang="ko-KR" altLang="en-US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월 사용비용</a:t>
                      </a:r>
                      <a:endParaRPr lang="en-US" altLang="ko-KR" sz="1000" b="1" i="0" u="none" strike="noStrike" dirty="0">
                        <a:solidFill>
                          <a:srgbClr val="232F3E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</a:t>
                      </a:r>
                      <a:r>
                        <a:rPr lang="ko-KR" altLang="en-US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개월 성장률</a:t>
                      </a:r>
                      <a:endParaRPr lang="en-US" altLang="ko-KR" sz="1000" b="1" i="0" u="none" strike="noStrike" dirty="0">
                        <a:solidFill>
                          <a:srgbClr val="232F3E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415354"/>
                  </a:ext>
                </a:extLst>
              </a:tr>
              <a:tr h="18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3E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Amazon CloudFront</a:t>
                      </a:r>
                    </a:p>
                  </a:txBody>
                  <a:tcPr marL="82875" marR="82875" marT="41438" marB="414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$386,713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6%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58919"/>
                  </a:ext>
                </a:extLst>
              </a:tr>
              <a:tr h="18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300E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Amazon Elastic Compute Cloud - Compute</a:t>
                      </a:r>
                    </a:p>
                  </a:txBody>
                  <a:tcPr marL="82875" marR="82875" marT="41438" marB="414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$193,812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-4%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250211"/>
                  </a:ext>
                </a:extLst>
              </a:tr>
              <a:tr h="18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Amazon Relational Database Service</a:t>
                      </a:r>
                    </a:p>
                  </a:txBody>
                  <a:tcPr marL="82875" marR="82875" marT="41438" marB="414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$101,493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-7%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053071"/>
                  </a:ext>
                </a:extLst>
              </a:tr>
              <a:tr h="18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1A9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EC2 - Other</a:t>
                      </a:r>
                    </a:p>
                  </a:txBody>
                  <a:tcPr marL="82875" marR="82875" marT="41438" marB="414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$74,341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-10%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742606"/>
                  </a:ext>
                </a:extLst>
              </a:tr>
              <a:tr h="18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6A3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Amazon Simple Storage Service</a:t>
                      </a:r>
                    </a:p>
                  </a:txBody>
                  <a:tcPr marL="82875" marR="82875" marT="41438" marB="41438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$67,059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7%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463653"/>
                  </a:ext>
                </a:extLst>
              </a:tr>
              <a:tr h="1899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6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00B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Other Services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　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　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$107,310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232F3E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0%</a:t>
                      </a:r>
                    </a:p>
                  </a:txBody>
                  <a:tcPr marL="8633" marR="8633" marT="863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4791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94B08AD-6911-D72D-EBA3-813CD39B6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520227"/>
              </p:ext>
            </p:extLst>
          </p:nvPr>
        </p:nvGraphicFramePr>
        <p:xfrm>
          <a:off x="6430080" y="4532653"/>
          <a:ext cx="5263541" cy="1818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3000">
                  <a:extLst>
                    <a:ext uri="{9D8B030D-6E8A-4147-A177-3AD203B41FA5}">
                      <a16:colId xmlns:a16="http://schemas.microsoft.com/office/drawing/2014/main" val="1719505550"/>
                    </a:ext>
                  </a:extLst>
                </a:gridCol>
                <a:gridCol w="1362485">
                  <a:extLst>
                    <a:ext uri="{9D8B030D-6E8A-4147-A177-3AD203B41FA5}">
                      <a16:colId xmlns:a16="http://schemas.microsoft.com/office/drawing/2014/main" val="2155384745"/>
                    </a:ext>
                  </a:extLst>
                </a:gridCol>
                <a:gridCol w="1299028">
                  <a:extLst>
                    <a:ext uri="{9D8B030D-6E8A-4147-A177-3AD203B41FA5}">
                      <a16:colId xmlns:a16="http://schemas.microsoft.com/office/drawing/2014/main" val="555851552"/>
                    </a:ext>
                  </a:extLst>
                </a:gridCol>
                <a:gridCol w="1299028">
                  <a:extLst>
                    <a:ext uri="{9D8B030D-6E8A-4147-A177-3AD203B41FA5}">
                      <a16:colId xmlns:a16="http://schemas.microsoft.com/office/drawing/2014/main" val="907745210"/>
                    </a:ext>
                  </a:extLst>
                </a:gridCol>
              </a:tblGrid>
              <a:tr h="16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서비스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2024.12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</a:t>
                      </a: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AWS 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비용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지출 비중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개월 성장률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08112"/>
                  </a:ext>
                </a:extLst>
              </a:tr>
              <a:tr h="2391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CloudFront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$386,713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41.5%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0452"/>
                  </a:ext>
                </a:extLst>
              </a:tr>
              <a:tr h="2391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EC2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$193,812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20.8%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-4%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40708"/>
                  </a:ext>
                </a:extLst>
              </a:tr>
              <a:tr h="2391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RDS</a:t>
                      </a:r>
                      <a:endParaRPr lang="ko-KR" altLang="en-US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$101,493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10.9%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-7%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92649"/>
                  </a:ext>
                </a:extLst>
              </a:tr>
              <a:tr h="2391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EC2 Other</a:t>
                      </a:r>
                      <a:endParaRPr lang="ko-KR" altLang="en-US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$74,341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8.0%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-10%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9807"/>
                  </a:ext>
                </a:extLst>
              </a:tr>
              <a:tr h="2391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S3</a:t>
                      </a:r>
                      <a:endParaRPr lang="ko-KR" altLang="en-US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$67,059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7.2%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7%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190069"/>
                  </a:ext>
                </a:extLst>
              </a:tr>
              <a:tr h="2391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기타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$107,310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11.5%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881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83856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12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42167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375975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및 서비스 주요 사용량 분석 지표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 주요 사용량 분석 요약</a:t>
            </a:r>
          </a:p>
        </p:txBody>
      </p:sp>
      <p:sp>
        <p:nvSpPr>
          <p:cNvPr id="15" name="Rectangle 287">
            <a:extLst>
              <a:ext uri="{FF2B5EF4-FFF2-40B4-BE49-F238E27FC236}">
                <a16:creationId xmlns:a16="http://schemas.microsoft.com/office/drawing/2014/main" id="{78130493-2B8C-E618-E866-4E0F105C1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32" y="2026200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주요 서비스의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 패턴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타입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99%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으로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구성되어 있으며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구매옵션은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66%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예약 인스턴스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(Reserved Instance)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활용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타입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79%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최신 세대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16%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22%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으로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구성되어 있으며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구매옵션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56%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통해 운영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lang="ko-KR" altLang="en-US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최신 세대 인스턴스 사용 비중이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79%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높은 반면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이전 세대 사용도 일부 확인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(5%)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Unit Cost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RDS: vCPU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단가가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$0.15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$0.13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하락했으며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이는 예약 인스턴스의 활용 증가로 인한 영향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lang="ko-KR" altLang="en-US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: vCPU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단가는 일관되게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$0.04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수준으로 유지되고 있으며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RI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Savings Plans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 영향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FF8F1-C855-0FB7-9FD2-94448C2DA14C}"/>
              </a:ext>
            </a:extLst>
          </p:cNvPr>
          <p:cNvSpPr txBox="1"/>
          <p:nvPr/>
        </p:nvSpPr>
        <p:spPr>
          <a:xfrm>
            <a:off x="595222" y="3631343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세대별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DCEAD8-2C79-EF02-FEF8-E1659979AC04}"/>
              </a:ext>
            </a:extLst>
          </p:cNvPr>
          <p:cNvSpPr txBox="1"/>
          <p:nvPr/>
        </p:nvSpPr>
        <p:spPr>
          <a:xfrm>
            <a:off x="3283695" y="3631343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CDD78D-B4F1-D412-4085-50A27483B639}"/>
              </a:ext>
            </a:extLst>
          </p:cNvPr>
          <p:cNvSpPr txBox="1"/>
          <p:nvPr/>
        </p:nvSpPr>
        <p:spPr>
          <a:xfrm>
            <a:off x="1009168" y="5995012"/>
            <a:ext cx="4322638" cy="42319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Unit Cost</a:t>
            </a: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8" name="Rectangle 100">
            <a:extLst>
              <a:ext uri="{FF2B5EF4-FFF2-40B4-BE49-F238E27FC236}">
                <a16:creationId xmlns:a16="http://schemas.microsoft.com/office/drawing/2014/main" id="{41883103-C1CE-44FF-B474-5B92C0968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defTabSz="914347">
              <a:buClr>
                <a:srgbClr val="808080"/>
              </a:buClr>
            </a:pP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전체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시간의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99%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최신 세대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(Graviton)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구성되며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66%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예약 인스턴스로 활용되어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단가가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$0.15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$0.13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하락했습니다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반면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EC2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최신 세대 인스턴스 사용 비중이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79%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높고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56%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예약 인스턴스로 운영되고 있으나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22%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온디맨드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방식으로 사용 중이며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단가는 일관되게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$0.04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수준을 유지하고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defTabSz="914347">
              <a:buClr>
                <a:srgbClr val="808080"/>
              </a:buClr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ko-KR" altLang="en-US" sz="600" b="1" kern="0" dirty="0">
              <a:ln>
                <a:solidFill>
                  <a:srgbClr val="BBE0E3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9635DEC3-8364-4EA8-B3C5-D85B14BE97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07715"/>
              </p:ext>
            </p:extLst>
          </p:nvPr>
        </p:nvGraphicFramePr>
        <p:xfrm>
          <a:off x="338734" y="2143605"/>
          <a:ext cx="3082695" cy="1398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5">
            <a:extLst>
              <a:ext uri="{FF2B5EF4-FFF2-40B4-BE49-F238E27FC236}">
                <a16:creationId xmlns:a16="http://schemas.microsoft.com/office/drawing/2014/main" id="{00000000-0008-0000-03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7608224"/>
              </p:ext>
            </p:extLst>
          </p:nvPr>
        </p:nvGraphicFramePr>
        <p:xfrm>
          <a:off x="3338422" y="2132482"/>
          <a:ext cx="2743200" cy="1439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4">
            <a:extLst>
              <a:ext uri="{FF2B5EF4-FFF2-40B4-BE49-F238E27FC236}">
                <a16:creationId xmlns:a16="http://schemas.microsoft.com/office/drawing/2014/main" id="{00000000-0008-0000-03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3162758"/>
              </p:ext>
            </p:extLst>
          </p:nvPr>
        </p:nvGraphicFramePr>
        <p:xfrm>
          <a:off x="447860" y="4520889"/>
          <a:ext cx="5461219" cy="1484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15AA3E4-B319-047E-146B-3230BEE8B500}"/>
              </a:ext>
            </a:extLst>
          </p:cNvPr>
          <p:cNvSpPr txBox="1"/>
          <p:nvPr/>
        </p:nvSpPr>
        <p:spPr>
          <a:xfrm>
            <a:off x="3110200" y="5061757"/>
            <a:ext cx="77916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56A578-F4EF-E397-C0E0-3C83B068C56E}"/>
              </a:ext>
            </a:extLst>
          </p:cNvPr>
          <p:cNvSpPr txBox="1"/>
          <p:nvPr/>
        </p:nvSpPr>
        <p:spPr>
          <a:xfrm>
            <a:off x="3110200" y="4620944"/>
            <a:ext cx="77916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</a:p>
        </p:txBody>
      </p:sp>
    </p:spTree>
    <p:extLst>
      <p:ext uri="{BB962C8B-B14F-4D97-AF65-F5344CB8AC3E}">
        <p14:creationId xmlns:p14="http://schemas.microsoft.com/office/powerpoint/2010/main" val="222970366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13</a:t>
            </a:fld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6" y="1681048"/>
            <a:ext cx="5632017" cy="4782865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66430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컴퓨팅 자원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1M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00">
            <a:extLst>
              <a:ext uri="{FF2B5EF4-FFF2-40B4-BE49-F238E27FC236}">
                <a16:creationId xmlns:a16="http://schemas.microsoft.com/office/drawing/2014/main" id="{E3361110-71F6-8E7B-9616-261D99227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안정성 중심 전략과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유연성 중심 전략을 벤치마킹하여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Graviton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확대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RI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Spot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극대화라는 세 가지 축을 중심으로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최적화를 달성할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68BD4828-FF89-E5C4-78C4-21D946413AF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223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34119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컴퓨팅 자원 사용 현황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5F33DCA0-FDA3-088F-7580-7B1968C45A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1479921"/>
              </p:ext>
            </p:extLst>
          </p:nvPr>
        </p:nvGraphicFramePr>
        <p:xfrm>
          <a:off x="6204384" y="2136412"/>
          <a:ext cx="3082695" cy="1596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833AC85D-B1D6-04CA-BA6F-3F88FCD77C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853480"/>
              </p:ext>
            </p:extLst>
          </p:nvPr>
        </p:nvGraphicFramePr>
        <p:xfrm>
          <a:off x="9204072" y="2119447"/>
          <a:ext cx="2743200" cy="1643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710410"/>
              </p:ext>
            </p:extLst>
          </p:nvPr>
        </p:nvGraphicFramePr>
        <p:xfrm>
          <a:off x="137786" y="2139900"/>
          <a:ext cx="3263462" cy="1592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5">
            <a:extLst>
              <a:ext uri="{FF2B5EF4-FFF2-40B4-BE49-F238E27FC236}">
                <a16:creationId xmlns:a16="http://schemas.microsoft.com/office/drawing/2014/main" id="{00000000-0008-0000-03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847457"/>
              </p:ext>
            </p:extLst>
          </p:nvPr>
        </p:nvGraphicFramePr>
        <p:xfrm>
          <a:off x="3244241" y="2147554"/>
          <a:ext cx="2957602" cy="1585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0" name="Chart 4">
            <a:extLst>
              <a:ext uri="{FF2B5EF4-FFF2-40B4-BE49-F238E27FC236}">
                <a16:creationId xmlns:a16="http://schemas.microsoft.com/office/drawing/2014/main" id="{D734DC17-39C5-BB45-974A-B9F1AA306B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7051286"/>
              </p:ext>
            </p:extLst>
          </p:nvPr>
        </p:nvGraphicFramePr>
        <p:xfrm>
          <a:off x="6201843" y="4286389"/>
          <a:ext cx="5461219" cy="1484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2D157A4-7CFE-F332-C4F7-25311D098891}"/>
              </a:ext>
            </a:extLst>
          </p:cNvPr>
          <p:cNvSpPr txBox="1"/>
          <p:nvPr/>
        </p:nvSpPr>
        <p:spPr>
          <a:xfrm>
            <a:off x="6376916" y="349362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세대별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36FEF9-4A12-5B9A-8579-0BF4815AA6E8}"/>
              </a:ext>
            </a:extLst>
          </p:cNvPr>
          <p:cNvSpPr txBox="1"/>
          <p:nvPr/>
        </p:nvSpPr>
        <p:spPr>
          <a:xfrm>
            <a:off x="9065389" y="349362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A497E-56DC-1D22-3A88-869761A65F9C}"/>
              </a:ext>
            </a:extLst>
          </p:cNvPr>
          <p:cNvSpPr txBox="1"/>
          <p:nvPr/>
        </p:nvSpPr>
        <p:spPr>
          <a:xfrm>
            <a:off x="542306" y="351524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세대별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792E28-929A-C8BC-FBC7-55C4B98F1025}"/>
              </a:ext>
            </a:extLst>
          </p:cNvPr>
          <p:cNvSpPr txBox="1"/>
          <p:nvPr/>
        </p:nvSpPr>
        <p:spPr>
          <a:xfrm>
            <a:off x="3230779" y="351524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28" name="Chart 4">
            <a:extLst>
              <a:ext uri="{FF2B5EF4-FFF2-40B4-BE49-F238E27FC236}">
                <a16:creationId xmlns:a16="http://schemas.microsoft.com/office/drawing/2014/main" id="{00000000-0008-0000-03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1092348"/>
              </p:ext>
            </p:extLst>
          </p:nvPr>
        </p:nvGraphicFramePr>
        <p:xfrm>
          <a:off x="521167" y="4227268"/>
          <a:ext cx="5419224" cy="1532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8806529-DBAA-43BE-C3AD-D403218F1A22}"/>
              </a:ext>
            </a:extLst>
          </p:cNvPr>
          <p:cNvSpPr txBox="1"/>
          <p:nvPr/>
        </p:nvSpPr>
        <p:spPr>
          <a:xfrm>
            <a:off x="1008495" y="5770454"/>
            <a:ext cx="4322638" cy="42319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Unit Cost</a:t>
            </a: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3EB0A4-D4A9-6F0F-73C6-00BC317F9BFF}"/>
              </a:ext>
            </a:extLst>
          </p:cNvPr>
          <p:cNvSpPr txBox="1"/>
          <p:nvPr/>
        </p:nvSpPr>
        <p:spPr>
          <a:xfrm>
            <a:off x="7125760" y="5706890"/>
            <a:ext cx="4322638" cy="42319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Unit Cost</a:t>
            </a: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848071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111EF-AF1F-CF8F-37A2-FD072873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16AA1-A48B-AD9D-7C18-A5E7F7CD6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DFF9C88-4D8C-10B2-95FD-6F542A69CE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14</a:t>
            </a:fld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5F895E-153B-9F71-A21F-8BA6F5631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6" y="1681048"/>
            <a:ext cx="5632017" cy="4782865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74F44E7F-7410-FFC5-1B3B-DD0379A58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EB2BDFC2-8C6A-1B89-EFAD-FCE1F5231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66430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컴퓨팅 자원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2M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00">
            <a:extLst>
              <a:ext uri="{FF2B5EF4-FFF2-40B4-BE49-F238E27FC236}">
                <a16:creationId xmlns:a16="http://schemas.microsoft.com/office/drawing/2014/main" id="{AEA96BA5-1B1C-A7E8-26C3-9F3F228C8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안정성 중심 전략과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유연성 중심 전략을 벤치마킹하여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Graviton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확대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RI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Spot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극대화라는 세 가지 축을 중심으로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최적화를 달성할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2E6FE460-70B8-CB08-0E70-914A444AF6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27D3F91-BDD5-64EB-C133-916B5EAA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223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930BBFF-8621-6D27-D4CC-51044517F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6FC52A76-7890-626E-889E-1518C7AC7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34119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컴퓨팅 자원 사용 현황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FD7F1B7D-6330-CDD4-BFBA-63A652ED40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1751070"/>
              </p:ext>
            </p:extLst>
          </p:nvPr>
        </p:nvGraphicFramePr>
        <p:xfrm>
          <a:off x="6204384" y="2136412"/>
          <a:ext cx="3082695" cy="1596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5">
            <a:extLst>
              <a:ext uri="{FF2B5EF4-FFF2-40B4-BE49-F238E27FC236}">
                <a16:creationId xmlns:a16="http://schemas.microsoft.com/office/drawing/2014/main" id="{841BE523-BB0D-1535-CD47-6A7CF031C9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8952254"/>
              </p:ext>
            </p:extLst>
          </p:nvPr>
        </p:nvGraphicFramePr>
        <p:xfrm>
          <a:off x="9204072" y="2119447"/>
          <a:ext cx="2743200" cy="1643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4">
            <a:extLst>
              <a:ext uri="{FF2B5EF4-FFF2-40B4-BE49-F238E27FC236}">
                <a16:creationId xmlns:a16="http://schemas.microsoft.com/office/drawing/2014/main" id="{21C479F6-0BC3-1E1E-50F5-FA49192D2C9F}"/>
              </a:ext>
            </a:extLst>
          </p:cNvPr>
          <p:cNvGraphicFramePr>
            <a:graphicFrameLocks/>
          </p:cNvGraphicFramePr>
          <p:nvPr/>
        </p:nvGraphicFramePr>
        <p:xfrm>
          <a:off x="6201843" y="4286389"/>
          <a:ext cx="5461219" cy="1484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8B4EF99-AA5D-200B-F102-A6C53833BCBE}"/>
              </a:ext>
            </a:extLst>
          </p:cNvPr>
          <p:cNvSpPr txBox="1"/>
          <p:nvPr/>
        </p:nvSpPr>
        <p:spPr>
          <a:xfrm>
            <a:off x="1008495" y="5770454"/>
            <a:ext cx="4322638" cy="42319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Unit Cost</a:t>
            </a: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75F9FD-02F5-244D-EAA3-AC7BF4AFB62E}"/>
              </a:ext>
            </a:extLst>
          </p:cNvPr>
          <p:cNvSpPr txBox="1"/>
          <p:nvPr/>
        </p:nvSpPr>
        <p:spPr>
          <a:xfrm>
            <a:off x="7125760" y="5706890"/>
            <a:ext cx="4322638" cy="42319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Unit Cost</a:t>
            </a: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8099908"/>
              </p:ext>
            </p:extLst>
          </p:nvPr>
        </p:nvGraphicFramePr>
        <p:xfrm>
          <a:off x="187292" y="2161273"/>
          <a:ext cx="3098214" cy="149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5">
            <a:extLst>
              <a:ext uri="{FF2B5EF4-FFF2-40B4-BE49-F238E27FC236}">
                <a16:creationId xmlns:a16="http://schemas.microsoft.com/office/drawing/2014/main" id="{00000000-0008-0000-03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669059"/>
              </p:ext>
            </p:extLst>
          </p:nvPr>
        </p:nvGraphicFramePr>
        <p:xfrm>
          <a:off x="3249285" y="2136412"/>
          <a:ext cx="2760916" cy="1562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9CCB167-4204-CCCF-2FF0-D75B15512211}"/>
              </a:ext>
            </a:extLst>
          </p:cNvPr>
          <p:cNvSpPr txBox="1"/>
          <p:nvPr/>
        </p:nvSpPr>
        <p:spPr>
          <a:xfrm>
            <a:off x="6376916" y="349362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세대별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DAEC0-4ABC-7136-3DA8-5C00CE44B6A2}"/>
              </a:ext>
            </a:extLst>
          </p:cNvPr>
          <p:cNvSpPr txBox="1"/>
          <p:nvPr/>
        </p:nvSpPr>
        <p:spPr>
          <a:xfrm>
            <a:off x="9065389" y="349362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7036DE-5286-0D2B-132E-68254D99A0CE}"/>
              </a:ext>
            </a:extLst>
          </p:cNvPr>
          <p:cNvSpPr txBox="1"/>
          <p:nvPr/>
        </p:nvSpPr>
        <p:spPr>
          <a:xfrm>
            <a:off x="542306" y="351524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세대별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C6DBD3-DFE0-8E43-6F7B-E8D9BECC2C6E}"/>
              </a:ext>
            </a:extLst>
          </p:cNvPr>
          <p:cNvSpPr txBox="1"/>
          <p:nvPr/>
        </p:nvSpPr>
        <p:spPr>
          <a:xfrm>
            <a:off x="3230779" y="3515248"/>
            <a:ext cx="2743200" cy="4154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옵션별</a:t>
            </a:r>
            <a:endParaRPr kumimoji="1" lang="en-US" altLang="ko-KR" sz="11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algn="ctr"/>
            <a:r>
              <a:rPr kumimoji="1" lang="en-US" altLang="ko-KR" sz="10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Hours : $/hr/vCPU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33" name="Chart 4">
            <a:extLst>
              <a:ext uri="{FF2B5EF4-FFF2-40B4-BE49-F238E27FC236}">
                <a16:creationId xmlns:a16="http://schemas.microsoft.com/office/drawing/2014/main" id="{00000000-0008-0000-03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537814"/>
              </p:ext>
            </p:extLst>
          </p:nvPr>
        </p:nvGraphicFramePr>
        <p:xfrm>
          <a:off x="552361" y="4146183"/>
          <a:ext cx="5304184" cy="1628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409053180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E5CE-0FF4-378D-2438-5704E00D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F7EE2-EBA1-24EB-06BD-FD582F27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FBB8FA-E69D-D8EC-6943-EBBCDBEED2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15</a:t>
            </a:fld>
            <a:endParaRPr lang="en-US" altLang="ko-KR"/>
          </a:p>
        </p:txBody>
      </p:sp>
      <p:sp>
        <p:nvSpPr>
          <p:cNvPr id="4" name="Rectangle 100">
            <a:extLst>
              <a:ext uri="{FF2B5EF4-FFF2-40B4-BE49-F238E27FC236}">
                <a16:creationId xmlns:a16="http://schemas.microsoft.com/office/drawing/2014/main" id="{ABABEE1E-B77B-F05C-24D0-3B33973DA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안정성 중심 전략과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유연성 중심 전략을 벤치마킹하여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Graviton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확대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RI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Spot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극대화라는 세 가지 축을 중심으로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최적화를 달성할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7BA4169-5BF6-DB35-6E37-0E0E64CD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1148125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19E1659B-A7B1-AD26-4280-07B21A5CD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0" y="1656119"/>
            <a:ext cx="11481249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9" name="Text Box 288">
            <a:extLst>
              <a:ext uri="{FF2B5EF4-FFF2-40B4-BE49-F238E27FC236}">
                <a16:creationId xmlns:a16="http://schemas.microsoft.com/office/drawing/2014/main" id="{57456BC2-2624-FBE7-F51F-D0DB9EA9F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542" y="1675649"/>
            <a:ext cx="3994151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A,B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사와 </a:t>
            </a: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에이블리의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비교 및 </a:t>
            </a: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시사점굑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0" name="Text Box 288">
            <a:extLst>
              <a:ext uri="{FF2B5EF4-FFF2-40B4-BE49-F238E27FC236}">
                <a16:creationId xmlns:a16="http://schemas.microsoft.com/office/drawing/2014/main" id="{84B0F3CA-1D6A-8853-08E0-47A0B62E5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635BE4DD-08F0-120A-2BBA-5944403EC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028216"/>
            <a:ext cx="8722198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분포 및 주요 서비스 비중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 시사점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도입을 확대 및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비중 확대 고려 및 기존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활용 유지 지속 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altLang="ko-KR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 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 시사점</a:t>
            </a:r>
            <a:r>
              <a:rPr kumimoji="0" lang="en-US" altLang="ko-KR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: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비중이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66%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이에 대한 확대 고려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kumimoji="0" lang="en-US" altLang="ko-KR" sz="11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kumimoji="0" lang="ko-KR" altLang="en-US" sz="11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비중이 </a:t>
            </a:r>
            <a:r>
              <a:rPr kumimoji="0" lang="en-US" altLang="ko-KR" sz="11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99%</a:t>
            </a:r>
            <a:r>
              <a:rPr kumimoji="0" lang="ko-KR" altLang="en-US" sz="11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활용도가 매우 우수</a:t>
            </a:r>
            <a:endParaRPr kumimoji="0" lang="en-US" altLang="ko-KR" sz="1100" b="1" i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에이블리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전략 시사점</a:t>
            </a:r>
            <a:endParaRPr kumimoji="0" lang="en-US" altLang="ko-KR" sz="1200" b="1" i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확대 전략을 통한 비용 절감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신규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배포 우선 전략</a:t>
            </a:r>
            <a:endParaRPr kumimoji="0" lang="en-US" altLang="ko-KR" sz="1200" b="1" i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 옵션 전략 변화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OnDemand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구매옵션 변화 및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 유지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 RI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전략 변화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비중을 확대하여 비용 절감 고려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kumimoji="0" lang="en-US" altLang="ko-KR" sz="11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712B743-445D-D418-B4DB-7AC1C3FDA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992323"/>
              </p:ext>
            </p:extLst>
          </p:nvPr>
        </p:nvGraphicFramePr>
        <p:xfrm>
          <a:off x="627848" y="2378361"/>
          <a:ext cx="5263541" cy="20838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3000">
                  <a:extLst>
                    <a:ext uri="{9D8B030D-6E8A-4147-A177-3AD203B41FA5}">
                      <a16:colId xmlns:a16="http://schemas.microsoft.com/office/drawing/2014/main" val="1719505550"/>
                    </a:ext>
                  </a:extLst>
                </a:gridCol>
                <a:gridCol w="1362485">
                  <a:extLst>
                    <a:ext uri="{9D8B030D-6E8A-4147-A177-3AD203B41FA5}">
                      <a16:colId xmlns:a16="http://schemas.microsoft.com/office/drawing/2014/main" val="2155384745"/>
                    </a:ext>
                  </a:extLst>
                </a:gridCol>
                <a:gridCol w="1299028">
                  <a:extLst>
                    <a:ext uri="{9D8B030D-6E8A-4147-A177-3AD203B41FA5}">
                      <a16:colId xmlns:a16="http://schemas.microsoft.com/office/drawing/2014/main" val="555851552"/>
                    </a:ext>
                  </a:extLst>
                </a:gridCol>
                <a:gridCol w="1299028">
                  <a:extLst>
                    <a:ext uri="{9D8B030D-6E8A-4147-A177-3AD203B41FA5}">
                      <a16:colId xmlns:a16="http://schemas.microsoft.com/office/drawing/2014/main" val="90774521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EC2 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항목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B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 err="1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에이블리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0811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Graviton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활용비중</a:t>
                      </a:r>
                      <a:endParaRPr lang="en-US" altLang="ko-KR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045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최신 세대 비중</a:t>
                      </a:r>
                      <a:endParaRPr lang="en-US" altLang="ko-KR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88%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79%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4070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이전 세대 비중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5%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9264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구매옵션 </a:t>
                      </a: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SP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비중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76%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66%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56%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9807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구매옵션 </a:t>
                      </a: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OnDemand</a:t>
                      </a:r>
                      <a:endParaRPr lang="ko-KR" altLang="en-US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34%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22%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19006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구매옵션 </a:t>
                      </a: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Spot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비중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22%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88117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vCPU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단가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$0.02/hr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$0.04/hr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$0.04/hr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88305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A132B90-4E0A-6E53-B287-2D3FF3E73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553424"/>
              </p:ext>
            </p:extLst>
          </p:nvPr>
        </p:nvGraphicFramePr>
        <p:xfrm>
          <a:off x="6167155" y="2378361"/>
          <a:ext cx="5263541" cy="18184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3000">
                  <a:extLst>
                    <a:ext uri="{9D8B030D-6E8A-4147-A177-3AD203B41FA5}">
                      <a16:colId xmlns:a16="http://schemas.microsoft.com/office/drawing/2014/main" val="1719505550"/>
                    </a:ext>
                  </a:extLst>
                </a:gridCol>
                <a:gridCol w="1362485">
                  <a:extLst>
                    <a:ext uri="{9D8B030D-6E8A-4147-A177-3AD203B41FA5}">
                      <a16:colId xmlns:a16="http://schemas.microsoft.com/office/drawing/2014/main" val="2155384745"/>
                    </a:ext>
                  </a:extLst>
                </a:gridCol>
                <a:gridCol w="1299028">
                  <a:extLst>
                    <a:ext uri="{9D8B030D-6E8A-4147-A177-3AD203B41FA5}">
                      <a16:colId xmlns:a16="http://schemas.microsoft.com/office/drawing/2014/main" val="555851552"/>
                    </a:ext>
                  </a:extLst>
                </a:gridCol>
                <a:gridCol w="1299028">
                  <a:extLst>
                    <a:ext uri="{9D8B030D-6E8A-4147-A177-3AD203B41FA5}">
                      <a16:colId xmlns:a16="http://schemas.microsoft.com/office/drawing/2014/main" val="90774521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RDS 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인스턴스 항목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B</a:t>
                      </a:r>
                      <a:r>
                        <a:rPr lang="ko-KR" altLang="en-US" sz="10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 err="1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에이블리</a:t>
                      </a:r>
                      <a:endParaRPr lang="en-US" altLang="ko-KR" sz="10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0811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Graviton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활용비중</a:t>
                      </a:r>
                      <a:endParaRPr lang="en-US" altLang="ko-KR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75%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99%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045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최신 세대 비중</a:t>
                      </a:r>
                      <a:endParaRPr lang="en-US" altLang="ko-KR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11%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4070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이전 세대 비중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14%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9264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구매옵션 </a:t>
                      </a: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RI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비중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79%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66%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9807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구매옵션 </a:t>
                      </a: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OnDemand</a:t>
                      </a:r>
                      <a:endParaRPr lang="ko-KR" altLang="en-US" sz="10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21%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34%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19006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vCPU </a:t>
                      </a:r>
                      <a:r>
                        <a:rPr lang="ko-KR" altLang="en-US" sz="10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단가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$0.11/hr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$0.09/hr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$0.13/hr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883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74555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59908-8143-979F-0CFA-7606424F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67E8F1-01F1-C89E-72CA-B6B48A824A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16</a:t>
            </a:fld>
            <a:endParaRPr lang="en-US" altLang="ko-KR"/>
          </a:p>
        </p:txBody>
      </p:sp>
      <p:sp>
        <p:nvSpPr>
          <p:cNvPr id="4" name="Rectangle 100">
            <a:extLst>
              <a:ext uri="{FF2B5EF4-FFF2-40B4-BE49-F238E27FC236}">
                <a16:creationId xmlns:a16="http://schemas.microsoft.com/office/drawing/2014/main" id="{5C73887D-BB85-ACB9-581D-A95F745DA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defTabSz="914347">
              <a:buClr>
                <a:srgbClr val="808080"/>
              </a:buClr>
            </a:pP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최신 세대와 예약 인스턴스를 활용해 비용 효율성이 높은 반면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EC2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온디맨드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사용 비중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(22%)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과 이전 세대 인스턴스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(5%)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추가 최적화 가능성이 있습니다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 전략으로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온디맨드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인스턴스를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RI,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Plans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전환하고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Graviton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활용률을 높이고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CloudFront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비용을 최적화하며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이전 세대 인스턴스를 최신 세대로 교체해야 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또한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AWS Cost Explorer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Trusted Advisor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통해 비용과 사용량을 정기적으로 모니터링해야 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8FAF108-CB50-3EB4-E3B4-051A663FD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AutoShape 51">
            <a:extLst>
              <a:ext uri="{FF2B5EF4-FFF2-40B4-BE49-F238E27FC236}">
                <a16:creationId xmlns:a16="http://schemas.microsoft.com/office/drawing/2014/main" id="{EC7C18F4-69CE-5928-4802-D7F25B113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B29C29F-0CD9-5505-5534-91B9CEED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B85570DB-0120-0056-6314-83191884D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9" name="Text Box 288">
            <a:extLst>
              <a:ext uri="{FF2B5EF4-FFF2-40B4-BE49-F238E27FC236}">
                <a16:creationId xmlns:a16="http://schemas.microsoft.com/office/drawing/2014/main" id="{94A76F1E-96C4-C265-F258-558E6824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375975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분석 시사점</a:t>
            </a:r>
          </a:p>
        </p:txBody>
      </p:sp>
      <p:sp>
        <p:nvSpPr>
          <p:cNvPr id="10" name="Text Box 288">
            <a:extLst>
              <a:ext uri="{FF2B5EF4-FFF2-40B4-BE49-F238E27FC236}">
                <a16:creationId xmlns:a16="http://schemas.microsoft.com/office/drawing/2014/main" id="{281EC08F-F2A7-0823-4824-967BB9995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D37D70CB-60BE-4691-D5CF-81D894ABB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02821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분포 및 주요 서비스 비중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Amazon CloudFront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전체 비용의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41.5%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차지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가장 높은 비용이 발생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Amazon S3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성장률을 기록하며 빠르게 비용이 증가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모니터링과 최적화가 필요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컴퓨팅 리소스에서 핵심적인 역할을 하며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vCPU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단가와 사용 비중에 따라 추가 최적화 가능성이 존재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컴퓨팅 자원 분석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최신 세대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(Graviton)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구매타입을 적극 활용하여 비용 효율성이 높은 상태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최신 세대 사용 비율이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79%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높은 반면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22%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lang="ko-KR" altLang="en-US" sz="11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온디맨드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사용으로 인해 불필요한 비용이 발생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이전 세대 인스턴스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(5%)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활용이 일부 확인되어 성능 및 비용 효율성 개선의 기회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 옵션 및 비용 분석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예약 인스턴스 활용 증가 및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활용으로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단가가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$0.15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$0.13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감소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단가가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$0.04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유지되고 있으나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kumimoji="0" lang="ko-KR" altLang="en-US" sz="1100" b="1" i="0" u="none" strike="noStrike" kern="1200" cap="none" spc="0" normalizeH="0" baseline="0" noProof="0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온디맨드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비중 감소를 통해 추가 절감 가능성이 확인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D79D6001-CF2F-7E63-CFDD-BF403021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177" y="2028216"/>
            <a:ext cx="5629776" cy="4520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온디맨드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인스턴스 최적화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lang="ko-KR" altLang="en-US" sz="11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온디맨드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사용 비중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(22%)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을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Savings Plans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또는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전환하여 비용 절감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CloudFront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lang="ko-KR" altLang="en-US" sz="11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데이터전송량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최적화 및 캐시 전략 개선을 통해 데이터 전송 비용개선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이전 세대 인스턴스 교체와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전환확대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확인된 이전 세대 인스턴스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(5%)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최신 세대로 교체함으로써 성능 향상과 비용 절감을 달성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최신 세대를 대부분 사용 중이나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 비율 확대 필요성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altLang="ko-KR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Savings Plan 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도입 확대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r>
              <a:rPr lang="ko-KR" altLang="en-US" sz="11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Plans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도입하여 고정된 사용량에 대해 낮은 </a:t>
            </a:r>
            <a:r>
              <a:rPr lang="ko-KR" altLang="en-US" sz="11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요율을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1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적용받아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비용 절감 효과를 극대화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계층화 및 최적화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Amazon S3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데이터를 분석하여 장기적으로 사용되지 않는 데이터를 </a:t>
            </a: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Glacier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이동</a:t>
            </a: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삭제</a:t>
            </a:r>
            <a:endParaRPr lang="en-US" altLang="ko-KR" sz="11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빠른 성장률</a:t>
            </a:r>
            <a:r>
              <a:rPr lang="en-US" altLang="ko-KR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(7%)</a:t>
            </a:r>
            <a:r>
              <a:rPr lang="ko-KR" altLang="en-US" sz="11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을 고려하여 데이터 저장소 비용 관리 전략을 강화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정기적인 비용 및 사용량 모니터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>
              <a:buClr>
                <a:srgbClr val="7B7B7B"/>
              </a:buClr>
              <a:buFont typeface="Arial" panose="020B0604020202020204" pitchFamily="34" charset="0"/>
              <a:buChar char="•"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Cost Explorer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Trusted Advisor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활용하여 서비스별 비용과 리소스 사용량을 정기적으로 분석하고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최적화 작업의 효과를 측정 및 조정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lang="ko-KR" altLang="en-US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7911F094-45E9-2DED-74A3-EB81E4D76F3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65288338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네트워크 전송 비용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17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42167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7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대한 주요 지표 분석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대한 분석</a:t>
            </a:r>
          </a:p>
        </p:txBody>
      </p:sp>
      <p:sp>
        <p:nvSpPr>
          <p:cNvPr id="15" name="Rectangle 287">
            <a:extLst>
              <a:ext uri="{FF2B5EF4-FFF2-40B4-BE49-F238E27FC236}">
                <a16:creationId xmlns:a16="http://schemas.microsoft.com/office/drawing/2014/main" id="{78130493-2B8C-E618-E866-4E0F105C1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32" y="2027199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네트워크 전송량 분석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전체 데이터 전송량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5,704TB,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 중 서울 리전 내 전송량이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5,063TB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약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88.8%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차지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2024.12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월 기준 전체 데이터 전송량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5,704,400GB / GB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평균 비용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$0.011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2024.12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월 기준 전송비용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$60,626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3,543,696GB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7,494,071GB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증가 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5,109,947GB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감소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연중 변동폭이 크며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아키텍처의 트래픽 분포 최적화 필요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인터넷 전송량 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CloudFront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DTI/DTO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꾸준한 증가 확인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주요 전송 패턴 및 증가율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0" name="Rectangle 100">
            <a:extLst>
              <a:ext uri="{FF2B5EF4-FFF2-40B4-BE49-F238E27FC236}">
                <a16:creationId xmlns:a16="http://schemas.microsoft.com/office/drawing/2014/main" id="{8F2F73E1-2AD7-DB43-8856-8F1F99984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algn="l"/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전송량은 총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5,704TB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서울 리전 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5,063TB(88.8%)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차지했습니다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Inter 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44%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CloudFront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38%, DTI/DTO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각각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66%, 30%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 전략으로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트래픽 분산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CloudFront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캐시 최적화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DTI/DTO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절감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트래픽 모니터링 강화가 필요합니다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algn="l"/>
            <a:b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</a:br>
            <a:endParaRPr lang="en-US" altLang="ko-KR" sz="1400" b="1" dirty="0">
              <a:effectLst/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105D8A68-77B6-E9C5-EE35-1602DD15DD6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2" name="Chart 2">
            <a:extLst>
              <a:ext uri="{FF2B5EF4-FFF2-40B4-BE49-F238E27FC236}">
                <a16:creationId xmlns:a16="http://schemas.microsoft.com/office/drawing/2014/main" id="{00000000-0008-0000-0E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5082644"/>
              </p:ext>
            </p:extLst>
          </p:nvPr>
        </p:nvGraphicFramePr>
        <p:xfrm>
          <a:off x="354702" y="2160241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A6EB621F-8217-C641-DD84-6D89FF36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48441"/>
              </p:ext>
            </p:extLst>
          </p:nvPr>
        </p:nvGraphicFramePr>
        <p:xfrm>
          <a:off x="6480598" y="4829785"/>
          <a:ext cx="5263541" cy="1197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77">
                  <a:extLst>
                    <a:ext uri="{9D8B030D-6E8A-4147-A177-3AD203B41FA5}">
                      <a16:colId xmlns:a16="http://schemas.microsoft.com/office/drawing/2014/main" val="1719505550"/>
                    </a:ext>
                  </a:extLst>
                </a:gridCol>
                <a:gridCol w="1092788">
                  <a:extLst>
                    <a:ext uri="{9D8B030D-6E8A-4147-A177-3AD203B41FA5}">
                      <a16:colId xmlns:a16="http://schemas.microsoft.com/office/drawing/2014/main" val="2155384745"/>
                    </a:ext>
                  </a:extLst>
                </a:gridCol>
                <a:gridCol w="1041892">
                  <a:extLst>
                    <a:ext uri="{9D8B030D-6E8A-4147-A177-3AD203B41FA5}">
                      <a16:colId xmlns:a16="http://schemas.microsoft.com/office/drawing/2014/main" val="555851552"/>
                    </a:ext>
                  </a:extLst>
                </a:gridCol>
                <a:gridCol w="1041892">
                  <a:extLst>
                    <a:ext uri="{9D8B030D-6E8A-4147-A177-3AD203B41FA5}">
                      <a16:colId xmlns:a16="http://schemas.microsoft.com/office/drawing/2014/main" val="3642845679"/>
                    </a:ext>
                  </a:extLst>
                </a:gridCol>
                <a:gridCol w="1041892">
                  <a:extLst>
                    <a:ext uri="{9D8B030D-6E8A-4147-A177-3AD203B41FA5}">
                      <a16:colId xmlns:a16="http://schemas.microsoft.com/office/drawing/2014/main" val="950110236"/>
                    </a:ext>
                  </a:extLst>
                </a:gridCol>
              </a:tblGrid>
              <a:tr h="1745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항목</a:t>
                      </a:r>
                      <a:endParaRPr lang="en-US" altLang="ko-KR" sz="900" b="0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</a:t>
                      </a:r>
                      <a:r>
                        <a:rPr lang="ko-KR" altLang="en-US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월 </a:t>
                      </a: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7</a:t>
                      </a:r>
                      <a:r>
                        <a:rPr lang="ko-KR" altLang="en-US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월 </a:t>
                      </a: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</a:t>
                      </a:r>
                      <a:r>
                        <a:rPr lang="ko-KR" altLang="en-US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월 </a:t>
                      </a: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GB</a:t>
                      </a: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증가율 </a:t>
                      </a: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(1</a:t>
                      </a:r>
                      <a:r>
                        <a:rPr lang="ko-KR" altLang="en-US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월 대비</a:t>
                      </a:r>
                      <a:r>
                        <a:rPr lang="en-US" altLang="ko-KR" sz="900" b="0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)</a:t>
                      </a: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08112"/>
                  </a:ext>
                </a:extLst>
              </a:tr>
              <a:tr h="246613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Inter AZ </a:t>
                      </a:r>
                      <a:r>
                        <a:rPr lang="ko-KR" altLang="en-US" sz="900" b="1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전송량</a:t>
                      </a:r>
                      <a:endParaRPr lang="en-US" altLang="ko-KR" sz="900" b="1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3,543,696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7,494,071</a:t>
                      </a:r>
                      <a:endParaRPr lang="en-US" altLang="ko-KR" sz="900" b="1" i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Times New Roman" pitchFamily="18" charset="0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5,109,947</a:t>
                      </a:r>
                      <a:endParaRPr lang="en-US" altLang="ko-KR" sz="900" b="1" i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Times New Roman" pitchFamily="18" charset="0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+44%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0452"/>
                  </a:ext>
                </a:extLst>
              </a:tr>
              <a:tr h="246613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CloudFront </a:t>
                      </a:r>
                      <a:r>
                        <a:rPr lang="ko-KR" altLang="en-US" sz="9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전송량</a:t>
                      </a:r>
                      <a:endParaRPr lang="en-US" altLang="ko-KR" sz="9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221,076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281,168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304,836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+38%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40708"/>
                  </a:ext>
                </a:extLst>
              </a:tr>
              <a:tr h="246613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DTI (Data In)</a:t>
                      </a:r>
                      <a:endParaRPr lang="ko-KR" altLang="en-US" sz="9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115,478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225,507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191,759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+66%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92649"/>
                  </a:ext>
                </a:extLst>
              </a:tr>
              <a:tr h="246613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DTO (Data Out)</a:t>
                      </a:r>
                      <a:endParaRPr lang="ko-KR" altLang="en-US" sz="900" b="0" i="0" dirty="0"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44,260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80,071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algn="r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57,586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lvl="1" indent="0" eaLnBrk="1" hangingPunct="1">
                        <a:lnSpc>
                          <a:spcPct val="150000"/>
                        </a:lnSpc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900" b="1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Times New Roman" pitchFamily="18" charset="0"/>
                        </a:rPr>
                        <a:t>+30%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9807"/>
                  </a:ext>
                </a:extLst>
              </a:tr>
            </a:tbl>
          </a:graphicData>
        </a:graphic>
      </p:graphicFrame>
      <p:graphicFrame>
        <p:nvGraphicFramePr>
          <p:cNvPr id="23" name="Chart 2">
            <a:extLst>
              <a:ext uri="{FF2B5EF4-FFF2-40B4-BE49-F238E27FC236}">
                <a16:creationId xmlns:a16="http://schemas.microsoft.com/office/drawing/2014/main" id="{4BE61E6B-4C2C-F375-37C6-5D302F31A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725663"/>
              </p:ext>
            </p:extLst>
          </p:nvPr>
        </p:nvGraphicFramePr>
        <p:xfrm>
          <a:off x="353357" y="4277420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5107207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AFEF-6E20-03B9-D966-B885374F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E524C-7B81-327B-F7F7-CF3328CBD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네트워크 전송 비용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A4153F8-8579-4D0F-F3B9-425BA875A3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18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95FD4E-D9B7-6658-0A0C-148CD3932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93152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3D061629-43ED-3C88-8475-61CF7A337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F93579-3510-9033-B25E-F8273C0D9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55286"/>
            <a:ext cx="5630672" cy="4693152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ABE434E5-091F-85A6-C439-7565C9B3B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28067A45-BFC5-38B0-F335-A281FCD5B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7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대한 주요 지표 분석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9AD51B54-D86A-9A35-FD15-D5B3ADD52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대한 분석</a:t>
            </a:r>
          </a:p>
        </p:txBody>
      </p:sp>
      <p:sp>
        <p:nvSpPr>
          <p:cNvPr id="15" name="Rectangle 287">
            <a:extLst>
              <a:ext uri="{FF2B5EF4-FFF2-40B4-BE49-F238E27FC236}">
                <a16:creationId xmlns:a16="http://schemas.microsoft.com/office/drawing/2014/main" id="{A038FA4A-2436-DB65-D6E6-954721245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32" y="2027199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3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전송량 세부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전체 </a:t>
            </a:r>
            <a:r>
              <a:rPr lang="ko-KR" altLang="en-US" sz="11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전송량의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88.8%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가 서울리전 내에서 발생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44%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증가했으나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7~8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정점에서 감소 추이 </a:t>
            </a:r>
            <a:b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특정 자원 재배치나 운영 방식의 변경등에 대한 분석 필요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비용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USD 35K , 8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USD 79K, 12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USD 51K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3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CloudFront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세부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38%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증가한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304TB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꾸준하게 증가세를 유지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CloudFront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최적화를 통해 전송 비용 절감 가능성 존재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3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세부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80TB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57TB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전송량 감소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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증가율 둔화 추이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3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DTI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세부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66%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증가한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191,759GB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전송량 증가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0" name="Rectangle 100">
            <a:extLst>
              <a:ext uri="{FF2B5EF4-FFF2-40B4-BE49-F238E27FC236}">
                <a16:creationId xmlns:a16="http://schemas.microsoft.com/office/drawing/2014/main" id="{C8D91F16-B8B6-42F8-A6A9-B399F06C1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서울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리전의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네트워크 전송량이 지속적으로 증가하고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전체 데이터 전송량이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120%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 중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85.7%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서울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리전의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전송량이 차지하고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특히 인터넷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234%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증가하는 등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월부터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전송량이 크게 늘어난 것으로 나타났습니다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월과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월에는 인터넷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비용도 크게 증가한 것으로 보입니다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b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</a:br>
            <a:endParaRPr lang="en-US" altLang="ko-KR" sz="1400" b="1" dirty="0">
              <a:effectLst/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AB8A830E-A2F2-FC61-17BC-9ABBB12668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86B0161-6772-CEB4-D107-BA6F9FB0D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58" y="2103379"/>
            <a:ext cx="4705948" cy="2481026"/>
          </a:xfrm>
          <a:prstGeom prst="rect">
            <a:avLst/>
          </a:prstGeom>
        </p:spPr>
      </p:pic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00000000-0008-0000-0E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761528"/>
              </p:ext>
            </p:extLst>
          </p:nvPr>
        </p:nvGraphicFramePr>
        <p:xfrm>
          <a:off x="447861" y="4727848"/>
          <a:ext cx="5528149" cy="1722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3868944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네트워크 전송 비용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19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42167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7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대한 주요 지표 분석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비용 대한 분석</a:t>
            </a: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3308CAE4-E46B-0E9D-AB9D-35DD12FD2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32" y="202722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전송요금에 대한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과금이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전 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111%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USD 4.1K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8.8KDTO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과금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DTO(Data Transfer Out)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과금이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전 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226%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USD 3.2K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10.7K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전송요금 및 전송량에 대한 향후 개선과제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과금 구조 개선 필요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별 및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구조 검토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인터넷 과금 구간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(Cross AZ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과금 증가에 대한 원인 분석 필요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인터넷 과금 구간 비용 절감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: VPC </a:t>
            </a:r>
            <a:r>
              <a:rPr kumimoji="0" lang="en-US" altLang="ko-KR" sz="1200" b="1" i="0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EndPoint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활용 방안 고려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.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인터넷 과금 증가에 대한 원인 분석 필요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)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71450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u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6" name="Rectangle 100">
            <a:extLst>
              <a:ext uri="{FF2B5EF4-FFF2-40B4-BE49-F238E27FC236}">
                <a16:creationId xmlns:a16="http://schemas.microsoft.com/office/drawing/2014/main" id="{F996F328-D476-DDD6-E28E-164379D3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 비용에 대한 분석 결과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AZ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전송 과금이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전 대비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111%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DTO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과금도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226%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급증한 것으로 나타났습니다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이는 서울 리전 내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전송량과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인터넷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전송량이 크게 늘어난 데 따른 것으로 보입니다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향후 비용 절감을 위해서는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과금 구조 개선과 인터넷 과금 구간 최적화가 필요할 것으로 보입니다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구체적으로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 검토와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Endpoint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 등을 통해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Cross AZ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인터넷 과금 등을 해결할 수 있는 방안을 모색해야 할 것입니다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en-US" altLang="ko-KR" sz="1400" b="1" dirty="0">
              <a:effectLst/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6D78DA1-B403-2136-1E8A-5294B6A9EC6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510E037-2827-90BA-03D8-AE8E8C4D9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57537"/>
              </p:ext>
            </p:extLst>
          </p:nvPr>
        </p:nvGraphicFramePr>
        <p:xfrm>
          <a:off x="415726" y="4159599"/>
          <a:ext cx="5508624" cy="2203448"/>
        </p:xfrm>
        <a:graphic>
          <a:graphicData uri="http://schemas.openxmlformats.org/drawingml/2006/table">
            <a:tbl>
              <a:tblPr/>
              <a:tblGrid>
                <a:gridCol w="688578">
                  <a:extLst>
                    <a:ext uri="{9D8B030D-6E8A-4147-A177-3AD203B41FA5}">
                      <a16:colId xmlns:a16="http://schemas.microsoft.com/office/drawing/2014/main" val="1081001765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859684415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1477185584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3185888719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865238338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1440044063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1583856718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4201105647"/>
                    </a:ext>
                  </a:extLst>
                </a:gridCol>
              </a:tblGrid>
              <a:tr h="275431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2D43"/>
                        </a:solidFill>
                        <a:effectLst/>
                        <a:latin typeface="Amazon Ember Light" panose="020B0403020204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(Seoul)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Internet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(Singapore)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US West</a:t>
                      </a:r>
                      <a:br>
                        <a:rPr lang="en-US" sz="8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(Oregon)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US East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(N. Virginia)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Other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045087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(Seoul)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9900"/>
                          </a:highlight>
                          <a:latin typeface="Amazon Ember Light" panose="020B0403020204020204" pitchFamily="34" charset="0"/>
                        </a:rPr>
                        <a:t>882,095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BC58"/>
                          </a:highlight>
                          <a:latin typeface="Amazon Ember Light" panose="020B0403020204020204" pitchFamily="34" charset="0"/>
                        </a:rPr>
                        <a:t>121,128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C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2,037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569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554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966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1,007,350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486080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Internet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064"/>
                          </a:highlight>
                          <a:latin typeface="Amazon Ember Light" panose="020B0403020204020204" pitchFamily="34" charset="0"/>
                        </a:rPr>
                        <a:t>22,448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F"/>
                          </a:highlight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F"/>
                          </a:highlight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F"/>
                          </a:highlight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F"/>
                          </a:highlight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22,448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77001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US East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(N. Virginia)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3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103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BF5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105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7063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US East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(Ohio)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EFB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EFD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D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773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5E7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115066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(Tokyo)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EFC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EFC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E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D9A2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8EC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10126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Other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3E1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FFF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FAF3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FC166"/>
                          </a:highlight>
                          <a:latin typeface="Amazon Ember Light" panose="020B04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160887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2D43"/>
                          </a:highlight>
                          <a:latin typeface="Amazon Ember" panose="020B0603020204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904,546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121,231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2,037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569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554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966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2D43"/>
                          </a:solidFill>
                          <a:effectLst/>
                          <a:highlight>
                            <a:srgbClr val="F2F2F2"/>
                          </a:highlight>
                          <a:latin typeface="Amazon Ember" panose="020B0603020204020204" pitchFamily="34" charset="0"/>
                        </a:rPr>
                        <a:t>1,029,903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603212"/>
                  </a:ext>
                </a:extLst>
              </a:tr>
            </a:tbl>
          </a:graphicData>
        </a:graphic>
      </p:graphicFrame>
      <p:graphicFrame>
        <p:nvGraphicFramePr>
          <p:cNvPr id="18" name="Chart 1">
            <a:extLst>
              <a:ext uri="{FF2B5EF4-FFF2-40B4-BE49-F238E27FC236}">
                <a16:creationId xmlns:a16="http://schemas.microsoft.com/office/drawing/2014/main" id="{616CB64C-DED7-C041-9F43-4AF644CCBF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9516130"/>
              </p:ext>
            </p:extLst>
          </p:nvPr>
        </p:nvGraphicFramePr>
        <p:xfrm>
          <a:off x="415726" y="2133992"/>
          <a:ext cx="5493354" cy="2018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1367177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4B02-1674-6BAC-F275-E70619F3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05E86-52CB-32C7-FA0C-A175F978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데이터전송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417094-EEAD-CE92-CC76-E7FA1B3319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20</a:t>
            </a:fld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A5EAF61-52ED-A328-5311-68A1ED973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6" y="1681048"/>
            <a:ext cx="5632017" cy="4782865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731668B3-32A5-4CB4-995C-93AA846C9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54D367EB-1DCA-AD5C-C919-6451ECE11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66430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네트워크 전송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1M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00">
            <a:extLst>
              <a:ext uri="{FF2B5EF4-FFF2-40B4-BE49-F238E27FC236}">
                <a16:creationId xmlns:a16="http://schemas.microsoft.com/office/drawing/2014/main" id="{BEE71056-3726-9036-858E-0D0611F2F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현재 데이터 전송 비용 면에서 경쟁력이 있지만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Inter-AZ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비율 최적화와 추가적인 비용 절감 노력을 통해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비용 관리의 모범 사례가 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71FCCCA8-1251-94B6-A3C7-60015DB1D79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2897405-6C66-8A9D-01CD-B3E4479FF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223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A68451D8-1C24-E628-D701-2275A41CF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FC1C371A-7A03-FC2D-4F0D-565AAAB6C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34119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네트워크 전송 사용현황</a:t>
            </a:r>
          </a:p>
        </p:txBody>
      </p:sp>
      <p:graphicFrame>
        <p:nvGraphicFramePr>
          <p:cNvPr id="11" name="Chart 2">
            <a:extLst>
              <a:ext uri="{FF2B5EF4-FFF2-40B4-BE49-F238E27FC236}">
                <a16:creationId xmlns:a16="http://schemas.microsoft.com/office/drawing/2014/main" id="{3B8E4812-C001-5CFE-4AA9-89BD63D59F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3500798"/>
              </p:ext>
            </p:extLst>
          </p:nvPr>
        </p:nvGraphicFramePr>
        <p:xfrm>
          <a:off x="6234169" y="2160241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2">
            <a:extLst>
              <a:ext uri="{FF2B5EF4-FFF2-40B4-BE49-F238E27FC236}">
                <a16:creationId xmlns:a16="http://schemas.microsoft.com/office/drawing/2014/main" id="{35106536-C671-21B6-3338-2DFC2E5F74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3425622"/>
              </p:ext>
            </p:extLst>
          </p:nvPr>
        </p:nvGraphicFramePr>
        <p:xfrm>
          <a:off x="6232824" y="4277420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2">
            <a:extLst>
              <a:ext uri="{FF2B5EF4-FFF2-40B4-BE49-F238E27FC236}">
                <a16:creationId xmlns:a16="http://schemas.microsoft.com/office/drawing/2014/main" id="{00000000-0008-0000-0E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677817"/>
              </p:ext>
            </p:extLst>
          </p:nvPr>
        </p:nvGraphicFramePr>
        <p:xfrm>
          <a:off x="352461" y="2184272"/>
          <a:ext cx="5648797" cy="2093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">
            <a:extLst>
              <a:ext uri="{FF2B5EF4-FFF2-40B4-BE49-F238E27FC236}">
                <a16:creationId xmlns:a16="http://schemas.microsoft.com/office/drawing/2014/main" id="{C5FBCB59-FF85-730D-0BBB-091BBCFD57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413551"/>
              </p:ext>
            </p:extLst>
          </p:nvPr>
        </p:nvGraphicFramePr>
        <p:xfrm>
          <a:off x="345415" y="4324092"/>
          <a:ext cx="5648797" cy="2093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EED11D2-FFA6-1DBD-D7F9-E03AC35BF819}"/>
              </a:ext>
            </a:extLst>
          </p:cNvPr>
          <p:cNvSpPr/>
          <p:nvPr/>
        </p:nvSpPr>
        <p:spPr>
          <a:xfrm>
            <a:off x="2224332" y="2749536"/>
            <a:ext cx="631367" cy="210065"/>
          </a:xfrm>
          <a:prstGeom prst="round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E620605F-F085-EC29-9D96-BC9826020CC0}"/>
              </a:ext>
            </a:extLst>
          </p:cNvPr>
          <p:cNvSpPr/>
          <p:nvPr/>
        </p:nvSpPr>
        <p:spPr>
          <a:xfrm>
            <a:off x="8704930" y="2875731"/>
            <a:ext cx="631367" cy="210065"/>
          </a:xfrm>
          <a:prstGeom prst="round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2CD7BDD7-A3F1-4703-0284-FD95C99F65F8}"/>
              </a:ext>
            </a:extLst>
          </p:cNvPr>
          <p:cNvSpPr/>
          <p:nvPr/>
        </p:nvSpPr>
        <p:spPr>
          <a:xfrm>
            <a:off x="2224333" y="4754971"/>
            <a:ext cx="631367" cy="2100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B267AFCD-C7E4-3CEA-E085-ED57109B6DC0}"/>
              </a:ext>
            </a:extLst>
          </p:cNvPr>
          <p:cNvSpPr/>
          <p:nvPr/>
        </p:nvSpPr>
        <p:spPr>
          <a:xfrm>
            <a:off x="8704933" y="5370666"/>
            <a:ext cx="631367" cy="2100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E54A34C-492C-A1AF-A506-D6145618E059}"/>
              </a:ext>
            </a:extLst>
          </p:cNvPr>
          <p:cNvSpPr/>
          <p:nvPr/>
        </p:nvSpPr>
        <p:spPr>
          <a:xfrm>
            <a:off x="2224333" y="5265633"/>
            <a:ext cx="631367" cy="21006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9954F8CA-6292-E2D3-E38A-004D7A02F0E8}"/>
              </a:ext>
            </a:extLst>
          </p:cNvPr>
          <p:cNvSpPr/>
          <p:nvPr/>
        </p:nvSpPr>
        <p:spPr>
          <a:xfrm>
            <a:off x="8704932" y="5035281"/>
            <a:ext cx="631367" cy="21006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B5A320EE-D545-F5AA-79F3-DA5693A1CF61}"/>
              </a:ext>
            </a:extLst>
          </p:cNvPr>
          <p:cNvSpPr/>
          <p:nvPr/>
        </p:nvSpPr>
        <p:spPr>
          <a:xfrm>
            <a:off x="8704931" y="4673506"/>
            <a:ext cx="631367" cy="2100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CF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34CF4FBE-7884-0CDF-C141-0AE19539C2BE}"/>
              </a:ext>
            </a:extLst>
          </p:cNvPr>
          <p:cNvSpPr/>
          <p:nvPr/>
        </p:nvSpPr>
        <p:spPr>
          <a:xfrm>
            <a:off x="2106296" y="5566920"/>
            <a:ext cx="867437" cy="2093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InterRegion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1EFCF205-CC84-CFAD-AF7D-B850743635EC}"/>
              </a:ext>
            </a:extLst>
          </p:cNvPr>
          <p:cNvSpPr/>
          <p:nvPr/>
        </p:nvSpPr>
        <p:spPr>
          <a:xfrm>
            <a:off x="4607568" y="5679660"/>
            <a:ext cx="631367" cy="2100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CF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A4933785-2D6C-3502-6946-681023FD6858}"/>
              </a:ext>
            </a:extLst>
          </p:cNvPr>
          <p:cNvSpPr/>
          <p:nvPr/>
        </p:nvSpPr>
        <p:spPr>
          <a:xfrm>
            <a:off x="8599996" y="5597323"/>
            <a:ext cx="867437" cy="2093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InterRegion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455174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D1A51-C819-F358-2E18-B9A22CF5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48B57-E9F3-94A6-2E5D-9DE181AA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데이터전송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2CE0236-2BA8-83BB-9481-27DF3BE877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21</a:t>
            </a:fld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B7349EE-3BF6-F853-13CA-78689D6B1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6" y="1681048"/>
            <a:ext cx="5632017" cy="4782865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D9D568E4-85FB-FDE0-947F-17392159C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8859B8CB-0C69-D1E3-F483-B54B09A60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66430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네트워크 전송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2M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00">
            <a:extLst>
              <a:ext uri="{FF2B5EF4-FFF2-40B4-BE49-F238E27FC236}">
                <a16:creationId xmlns:a16="http://schemas.microsoft.com/office/drawing/2014/main" id="{E46718EC-7C32-C274-7675-4DA0B4FB1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현재 데이터 전송 비용 면에서 경쟁력이 있지만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Inter-AZ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비율 최적화와 추가적인 비용 절감 노력을 통해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비용 관리의 모범 사례가 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3DB27D0C-1D59-EF28-EBA8-3333B241853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0" name="Chart 2">
            <a:extLst>
              <a:ext uri="{FF2B5EF4-FFF2-40B4-BE49-F238E27FC236}">
                <a16:creationId xmlns:a16="http://schemas.microsoft.com/office/drawing/2014/main" id="{00000000-0008-0000-0E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0015837"/>
              </p:ext>
            </p:extLst>
          </p:nvPr>
        </p:nvGraphicFramePr>
        <p:xfrm>
          <a:off x="414613" y="2160241"/>
          <a:ext cx="5584431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2">
            <a:extLst>
              <a:ext uri="{FF2B5EF4-FFF2-40B4-BE49-F238E27FC236}">
                <a16:creationId xmlns:a16="http://schemas.microsoft.com/office/drawing/2014/main" id="{4305CC5E-D605-9E8E-BAAC-D6E4DCD8A9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3616241"/>
              </p:ext>
            </p:extLst>
          </p:nvPr>
        </p:nvGraphicFramePr>
        <p:xfrm>
          <a:off x="352461" y="4312077"/>
          <a:ext cx="5584431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ectangle 12">
            <a:extLst>
              <a:ext uri="{FF2B5EF4-FFF2-40B4-BE49-F238E27FC236}">
                <a16:creationId xmlns:a16="http://schemas.microsoft.com/office/drawing/2014/main" id="{63FA35A1-C942-0F19-EEEB-8095CFF7D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223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9" name="AutoShape 51">
            <a:extLst>
              <a:ext uri="{FF2B5EF4-FFF2-40B4-BE49-F238E27FC236}">
                <a16:creationId xmlns:a16="http://schemas.microsoft.com/office/drawing/2014/main" id="{988EE208-6D7C-8386-15C6-BE95E2213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Text Box 288">
            <a:extLst>
              <a:ext uri="{FF2B5EF4-FFF2-40B4-BE49-F238E27FC236}">
                <a16:creationId xmlns:a16="http://schemas.microsoft.com/office/drawing/2014/main" id="{0106971F-7095-0E8B-8980-FC28E61DF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34119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네트워크 전송 사용현황</a:t>
            </a:r>
          </a:p>
        </p:txBody>
      </p:sp>
      <p:graphicFrame>
        <p:nvGraphicFramePr>
          <p:cNvPr id="21" name="Chart 2">
            <a:extLst>
              <a:ext uri="{FF2B5EF4-FFF2-40B4-BE49-F238E27FC236}">
                <a16:creationId xmlns:a16="http://schemas.microsoft.com/office/drawing/2014/main" id="{F13C524D-329E-1E9F-BE87-9859035810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5099456"/>
              </p:ext>
            </p:extLst>
          </p:nvPr>
        </p:nvGraphicFramePr>
        <p:xfrm>
          <a:off x="6234169" y="2160241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">
            <a:extLst>
              <a:ext uri="{FF2B5EF4-FFF2-40B4-BE49-F238E27FC236}">
                <a16:creationId xmlns:a16="http://schemas.microsoft.com/office/drawing/2014/main" id="{3CACA09B-3682-DB79-3ECE-BC6AF74B1C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759068"/>
              </p:ext>
            </p:extLst>
          </p:nvPr>
        </p:nvGraphicFramePr>
        <p:xfrm>
          <a:off x="6232824" y="4277420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754CB42-B6C6-840D-F8CC-603340A87D0C}"/>
              </a:ext>
            </a:extLst>
          </p:cNvPr>
          <p:cNvSpPr/>
          <p:nvPr/>
        </p:nvSpPr>
        <p:spPr>
          <a:xfrm>
            <a:off x="8704930" y="2875731"/>
            <a:ext cx="631367" cy="210065"/>
          </a:xfrm>
          <a:prstGeom prst="round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AF059B7D-DFCA-1BE2-429D-D87666F64D22}"/>
              </a:ext>
            </a:extLst>
          </p:cNvPr>
          <p:cNvSpPr/>
          <p:nvPr/>
        </p:nvSpPr>
        <p:spPr>
          <a:xfrm>
            <a:off x="8704933" y="5370666"/>
            <a:ext cx="631367" cy="2100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8281485-29A4-0328-41B9-F7888553B6AD}"/>
              </a:ext>
            </a:extLst>
          </p:cNvPr>
          <p:cNvSpPr/>
          <p:nvPr/>
        </p:nvSpPr>
        <p:spPr>
          <a:xfrm>
            <a:off x="8704932" y="5035281"/>
            <a:ext cx="631367" cy="21006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6BEB7667-96EC-37E0-22E9-EF3F61DC8A3E}"/>
              </a:ext>
            </a:extLst>
          </p:cNvPr>
          <p:cNvSpPr/>
          <p:nvPr/>
        </p:nvSpPr>
        <p:spPr>
          <a:xfrm>
            <a:off x="8704931" y="4673506"/>
            <a:ext cx="631367" cy="2100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CF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67C5365F-FFB5-B86B-DBD3-857D38A075B7}"/>
              </a:ext>
            </a:extLst>
          </p:cNvPr>
          <p:cNvSpPr/>
          <p:nvPr/>
        </p:nvSpPr>
        <p:spPr>
          <a:xfrm>
            <a:off x="8599996" y="5597323"/>
            <a:ext cx="867437" cy="2093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InterRegion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EC9CFDA8-49B3-030B-CA33-69D3638549B6}"/>
              </a:ext>
            </a:extLst>
          </p:cNvPr>
          <p:cNvSpPr/>
          <p:nvPr/>
        </p:nvSpPr>
        <p:spPr>
          <a:xfrm>
            <a:off x="2224332" y="2749536"/>
            <a:ext cx="631367" cy="210065"/>
          </a:xfrm>
          <a:prstGeom prst="round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34674C87-1FE1-232C-A802-D5739A514C49}"/>
              </a:ext>
            </a:extLst>
          </p:cNvPr>
          <p:cNvSpPr/>
          <p:nvPr/>
        </p:nvSpPr>
        <p:spPr>
          <a:xfrm>
            <a:off x="2224333" y="5124717"/>
            <a:ext cx="631367" cy="2100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E25428A9-DACE-10B4-DF90-703349FBC6A0}"/>
              </a:ext>
            </a:extLst>
          </p:cNvPr>
          <p:cNvSpPr/>
          <p:nvPr/>
        </p:nvSpPr>
        <p:spPr>
          <a:xfrm>
            <a:off x="2224333" y="5337482"/>
            <a:ext cx="631367" cy="21006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DB18347D-8408-C26D-1EB4-6B2508C46D04}"/>
              </a:ext>
            </a:extLst>
          </p:cNvPr>
          <p:cNvSpPr/>
          <p:nvPr/>
        </p:nvSpPr>
        <p:spPr>
          <a:xfrm>
            <a:off x="2106294" y="4656804"/>
            <a:ext cx="867437" cy="2093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InterRegion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651FBB60-B19C-8148-543E-BE8061D00B9B}"/>
              </a:ext>
            </a:extLst>
          </p:cNvPr>
          <p:cNvSpPr/>
          <p:nvPr/>
        </p:nvSpPr>
        <p:spPr>
          <a:xfrm>
            <a:off x="2224330" y="4895279"/>
            <a:ext cx="631367" cy="2100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CF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621424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A00A-9802-893B-00E0-3E8A507C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112FB-C1AE-73A9-A8B3-5E20EA6E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데이터전송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307968-1FE0-D886-00E2-5CE74DEEF1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22</a:t>
            </a:fld>
            <a:endParaRPr lang="en-US" altLang="ko-KR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EE64F39-AC23-59AC-4D83-6B42BFB80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06" y="1681048"/>
            <a:ext cx="5632017" cy="4782865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40D60C80-D64E-F676-4031-56F544618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2D5A0E25-72E1-B84F-22B6-B12D2CAE9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168" y="1675649"/>
            <a:ext cx="3870583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네트워크 전송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1.2M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Rectangle 100">
            <a:extLst>
              <a:ext uri="{FF2B5EF4-FFF2-40B4-BE49-F238E27FC236}">
                <a16:creationId xmlns:a16="http://schemas.microsoft.com/office/drawing/2014/main" id="{18E09BA7-6025-F956-9320-D1B618861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현재 데이터 전송 비용 면에서 경쟁력이 있지만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Inter-AZ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비율 최적화와 추가적인 비용 절감 노력을 통해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비용 관리의 모범 사례가 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127BEDB6-173A-28F4-D9D2-8C86E7BB87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7804F5A0-3213-47A4-0736-965B51D22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223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9" name="AutoShape 51">
            <a:extLst>
              <a:ext uri="{FF2B5EF4-FFF2-40B4-BE49-F238E27FC236}">
                <a16:creationId xmlns:a16="http://schemas.microsoft.com/office/drawing/2014/main" id="{CDE772D6-ECF5-552E-1DC3-3502F5438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Text Box 288">
            <a:extLst>
              <a:ext uri="{FF2B5EF4-FFF2-40B4-BE49-F238E27FC236}">
                <a16:creationId xmlns:a16="http://schemas.microsoft.com/office/drawing/2014/main" id="{0DA498F3-2FCB-2289-BBB1-4210D61FB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34119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네트워크 전송 사용현황</a:t>
            </a:r>
          </a:p>
        </p:txBody>
      </p:sp>
      <p:graphicFrame>
        <p:nvGraphicFramePr>
          <p:cNvPr id="21" name="Chart 2">
            <a:extLst>
              <a:ext uri="{FF2B5EF4-FFF2-40B4-BE49-F238E27FC236}">
                <a16:creationId xmlns:a16="http://schemas.microsoft.com/office/drawing/2014/main" id="{4A2CC9E2-8582-48D9-03B4-10D7C0EE06E3}"/>
              </a:ext>
            </a:extLst>
          </p:cNvPr>
          <p:cNvGraphicFramePr>
            <a:graphicFrameLocks/>
          </p:cNvGraphicFramePr>
          <p:nvPr/>
        </p:nvGraphicFramePr>
        <p:xfrm>
          <a:off x="6234169" y="2160241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Chart 2">
            <a:extLst>
              <a:ext uri="{FF2B5EF4-FFF2-40B4-BE49-F238E27FC236}">
                <a16:creationId xmlns:a16="http://schemas.microsoft.com/office/drawing/2014/main" id="{B23F8D13-4E70-09B9-292E-6750B7A7E3B0}"/>
              </a:ext>
            </a:extLst>
          </p:cNvPr>
          <p:cNvGraphicFramePr>
            <a:graphicFrameLocks/>
          </p:cNvGraphicFramePr>
          <p:nvPr/>
        </p:nvGraphicFramePr>
        <p:xfrm>
          <a:off x="6232824" y="4277420"/>
          <a:ext cx="5601783" cy="199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24F116C-04EF-1F53-02D1-45CAA72025D9}"/>
              </a:ext>
            </a:extLst>
          </p:cNvPr>
          <p:cNvSpPr/>
          <p:nvPr/>
        </p:nvSpPr>
        <p:spPr>
          <a:xfrm>
            <a:off x="8704930" y="2875731"/>
            <a:ext cx="631367" cy="210065"/>
          </a:xfrm>
          <a:prstGeom prst="round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4B07CDA8-35D0-82DA-DFAA-4BBB764056D4}"/>
              </a:ext>
            </a:extLst>
          </p:cNvPr>
          <p:cNvSpPr/>
          <p:nvPr/>
        </p:nvSpPr>
        <p:spPr>
          <a:xfrm>
            <a:off x="8704933" y="5370666"/>
            <a:ext cx="631367" cy="2100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7DA969D7-31F1-1EFC-CC22-5948FF516669}"/>
              </a:ext>
            </a:extLst>
          </p:cNvPr>
          <p:cNvSpPr/>
          <p:nvPr/>
        </p:nvSpPr>
        <p:spPr>
          <a:xfrm>
            <a:off x="8704932" y="5035281"/>
            <a:ext cx="631367" cy="21006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6E0F7CFD-4F0F-FB67-67B9-FD00C8FA8F1F}"/>
              </a:ext>
            </a:extLst>
          </p:cNvPr>
          <p:cNvSpPr/>
          <p:nvPr/>
        </p:nvSpPr>
        <p:spPr>
          <a:xfrm>
            <a:off x="8704931" y="4673506"/>
            <a:ext cx="631367" cy="2100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CF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372F23CB-9A21-AECA-93BA-44AA57C13B6F}"/>
              </a:ext>
            </a:extLst>
          </p:cNvPr>
          <p:cNvSpPr/>
          <p:nvPr/>
        </p:nvSpPr>
        <p:spPr>
          <a:xfrm>
            <a:off x="8599996" y="5597323"/>
            <a:ext cx="867437" cy="2093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InterRegion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5" name="Chart 2">
            <a:extLst>
              <a:ext uri="{FF2B5EF4-FFF2-40B4-BE49-F238E27FC236}">
                <a16:creationId xmlns:a16="http://schemas.microsoft.com/office/drawing/2014/main" id="{00000000-0008-0000-0E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9251497"/>
              </p:ext>
            </p:extLst>
          </p:nvPr>
        </p:nvGraphicFramePr>
        <p:xfrm>
          <a:off x="352461" y="2071091"/>
          <a:ext cx="5630672" cy="2193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EADCD745-CB19-3D05-17A4-2979CB2499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809648"/>
              </p:ext>
            </p:extLst>
          </p:nvPr>
        </p:nvGraphicFramePr>
        <p:xfrm>
          <a:off x="338287" y="4264337"/>
          <a:ext cx="5630672" cy="21939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A0AE237-6188-FE4B-E757-D53071238705}"/>
              </a:ext>
            </a:extLst>
          </p:cNvPr>
          <p:cNvSpPr/>
          <p:nvPr/>
        </p:nvSpPr>
        <p:spPr>
          <a:xfrm>
            <a:off x="3296789" y="2409996"/>
            <a:ext cx="631367" cy="210065"/>
          </a:xfrm>
          <a:prstGeom prst="roundRect">
            <a:avLst/>
          </a:prstGeom>
          <a:solidFill>
            <a:srgbClr val="F536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CB9E4E96-C9EB-FE3F-DEE9-8FFCC468FA83}"/>
              </a:ext>
            </a:extLst>
          </p:cNvPr>
          <p:cNvSpPr/>
          <p:nvPr/>
        </p:nvSpPr>
        <p:spPr>
          <a:xfrm>
            <a:off x="3318483" y="5229570"/>
            <a:ext cx="631367" cy="21006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500E7A1-7304-D232-9C45-6C31818DBF36}"/>
              </a:ext>
            </a:extLst>
          </p:cNvPr>
          <p:cNvSpPr/>
          <p:nvPr/>
        </p:nvSpPr>
        <p:spPr>
          <a:xfrm>
            <a:off x="3296789" y="4856182"/>
            <a:ext cx="631367" cy="210065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D51CCBBE-06C8-3CFF-3AE9-AB0255C18D6E}"/>
              </a:ext>
            </a:extLst>
          </p:cNvPr>
          <p:cNvSpPr/>
          <p:nvPr/>
        </p:nvSpPr>
        <p:spPr>
          <a:xfrm>
            <a:off x="3309889" y="5505972"/>
            <a:ext cx="631367" cy="2100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CF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2A36F62-DCBD-C2DE-8B0F-E79DFF78736E}"/>
              </a:ext>
            </a:extLst>
          </p:cNvPr>
          <p:cNvSpPr/>
          <p:nvPr/>
        </p:nvSpPr>
        <p:spPr>
          <a:xfrm>
            <a:off x="3200449" y="5772796"/>
            <a:ext cx="867437" cy="20937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10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InterRegion</a:t>
            </a:r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635063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FEF9E-BA06-B1A1-8356-5A5F5809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18AB3-1E42-ABB4-3D91-A7F54B4E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데이터전송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3A835A8-AC7C-2025-9ADC-CA0D1F00BE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23</a:t>
            </a:fld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241FFC6-08F3-F8B3-AB7A-2723FBF31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AutoShape 51">
            <a:extLst>
              <a:ext uri="{FF2B5EF4-FFF2-40B4-BE49-F238E27FC236}">
                <a16:creationId xmlns:a16="http://schemas.microsoft.com/office/drawing/2014/main" id="{E6E0724C-EC5C-8BE9-570A-64DCF016F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54667863-C4F1-13DC-28BD-629337D3F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F85E1EF3-9ED5-5742-88DD-4922DD850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6DFB7A18-FE14-0C79-8445-DAB97D824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3" y="2025661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전송량 분석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InterAZ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전송비율이 타사 대비 높은 수준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–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워크로드가 다수의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AZ</a:t>
            </a:r>
            <a:r>
              <a:rPr lang="ko-KR" altLang="en-US" sz="12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강하게 분산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전송비용 절감 전략이 우수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(CF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활용도가 높음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비율로 향후 최적화에 대한 기회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99CA0DD9-DCC6-F4B6-DE2A-FC6163C4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177" y="201998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최적화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접근 구조 최적화 및 워크로드 분산 조정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환경의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전략 재구성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Kubernetes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(EKS)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접근 전략 재구성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Istio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환경에서의 전략 재구성 고려</a:t>
            </a: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70B6643C-5E69-9DE2-B3CB-FFC5D5A90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현재 데이터 전송 비용 면에서 경쟁력이 있지만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Inter-AZ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비율 최적화와 추가적인 비용 절감 노력을 통해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비용 관리의 모범 사례가 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4" name="Text Box 288">
            <a:extLst>
              <a:ext uri="{FF2B5EF4-FFF2-40B4-BE49-F238E27FC236}">
                <a16:creationId xmlns:a16="http://schemas.microsoft.com/office/drawing/2014/main" id="{66B09A49-0740-D948-0706-764337761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512" y="1675649"/>
            <a:ext cx="435254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타사와 네트워크 전송량에 대한 분석 시사점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79F9219D-C067-EEEB-EB26-F6FBBD652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383" y="1675649"/>
            <a:ext cx="390046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 대비 아키텍쳐 최적화 전략 고려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778696C2-7125-30E3-DB19-A72816E05D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7E9E2F5-7B4E-DDE9-1F15-BA490072C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546549"/>
              </p:ext>
            </p:extLst>
          </p:nvPr>
        </p:nvGraphicFramePr>
        <p:xfrm>
          <a:off x="436979" y="2404464"/>
          <a:ext cx="5548844" cy="1385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0380">
                  <a:extLst>
                    <a:ext uri="{9D8B030D-6E8A-4147-A177-3AD203B41FA5}">
                      <a16:colId xmlns:a16="http://schemas.microsoft.com/office/drawing/2014/main" val="1719505550"/>
                    </a:ext>
                  </a:extLst>
                </a:gridCol>
                <a:gridCol w="1092788">
                  <a:extLst>
                    <a:ext uri="{9D8B030D-6E8A-4147-A177-3AD203B41FA5}">
                      <a16:colId xmlns:a16="http://schemas.microsoft.com/office/drawing/2014/main" val="2155384745"/>
                    </a:ext>
                  </a:extLst>
                </a:gridCol>
                <a:gridCol w="1041892">
                  <a:extLst>
                    <a:ext uri="{9D8B030D-6E8A-4147-A177-3AD203B41FA5}">
                      <a16:colId xmlns:a16="http://schemas.microsoft.com/office/drawing/2014/main" val="555851552"/>
                    </a:ext>
                  </a:extLst>
                </a:gridCol>
                <a:gridCol w="1041892">
                  <a:extLst>
                    <a:ext uri="{9D8B030D-6E8A-4147-A177-3AD203B41FA5}">
                      <a16:colId xmlns:a16="http://schemas.microsoft.com/office/drawing/2014/main" val="2741579609"/>
                    </a:ext>
                  </a:extLst>
                </a:gridCol>
                <a:gridCol w="1041892">
                  <a:extLst>
                    <a:ext uri="{9D8B030D-6E8A-4147-A177-3AD203B41FA5}">
                      <a16:colId xmlns:a16="http://schemas.microsoft.com/office/drawing/2014/main" val="90774521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항목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</a:t>
                      </a: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B</a:t>
                      </a: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</a:t>
                      </a: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dirty="0" err="1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에이블리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0811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총 데이터 전송량</a:t>
                      </a:r>
                      <a:r>
                        <a:rPr lang="en-US" altLang="ko-KR" sz="1100" b="1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(GB)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8,482,336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23,500,620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5,980,440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5,704,400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045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Inter-AZ (GB)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6,975,142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20,679,081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4,563,813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5,109,947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4070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Inter-AZ </a:t>
                      </a:r>
                      <a:r>
                        <a:rPr lang="ko-KR" altLang="en-US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비율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82.2%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88.0%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76.3%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89.5%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9264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GB</a:t>
                      </a:r>
                      <a:r>
                        <a:rPr lang="ko-KR" altLang="en-US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당 평균 가격 </a:t>
                      </a: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($)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$0.017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$0.014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06363" marR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7B7B7B"/>
                        </a:buClr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$0.013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$0.013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9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240303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59908-8143-979F-0CFA-7606424F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네트워크 전송 비용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67E8F1-01F1-C89E-72CA-B6B48A824A5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24</a:t>
            </a:fld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8FAF108-CB50-3EB4-E3B4-051A663FD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AutoShape 51">
            <a:extLst>
              <a:ext uri="{FF2B5EF4-FFF2-40B4-BE49-F238E27FC236}">
                <a16:creationId xmlns:a16="http://schemas.microsoft.com/office/drawing/2014/main" id="{EC7C18F4-69CE-5928-4802-D7F25B113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B29C29F-0CD9-5505-5534-91B9CEEDD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B85570DB-0120-0056-6314-83191884D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D37D70CB-60BE-4691-D5CF-81D894ABB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3" y="2025661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서울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리전내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88.8%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로 집중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44%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증가했으나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정점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(7,494TB)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월에 감소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(5,109TB).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리소스 배치와 트래픽 분포 최적화가 필요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CloudFront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38%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12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전송량은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304TB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꾸준히 증가세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캐싱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최적화를 통한 비용 절감 가능성이 존재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DTO/DTI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DTI (Data Transfer In): 1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66%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12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191TB.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 (Data Transfer Out): 1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30%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12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57TB.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인터넷 </a:t>
            </a:r>
            <a:r>
              <a:rPr lang="ko-KR" altLang="en-US" sz="12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전송량의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증가는 비용 상승의 주요 원인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D79D6001-CF2F-7E63-CFDD-BF403021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177" y="201998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최적화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서울 리전 내 트래픽 분포를 재구성하고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리소스 배치를 최적화하여 불필요한 데이터 전송을 제거 전략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트래픽 집중 구간에 대해 아키텍처 재설계 검토</a:t>
            </a:r>
            <a:endParaRPr lang="en-US" altLang="ko-KR" sz="11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CloudFront </a:t>
            </a:r>
            <a:r>
              <a:rPr lang="ko-KR" altLang="en-US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캐싱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최적화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캐시 히트율을 높이고 불필요한 데이터 전송을 줄이는 최적화 작업 수행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트래픽 발생 지역별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CloudFront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배포를 조정해 전송 비용 절감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DTI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관리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DTI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 추세를 감안하여 데이터 전송 비용 효율성을 확보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CDN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 확대와 데이터 압축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트래픽 라우팅 최적화 전략을 적용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 모니터링 및 예측 강화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Cost Explorer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CloudWatch</a:t>
            </a: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활용하여 트래픽 변화를 실시간으로 모니터링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특정 이벤트로 인한 트래픽 증가를 예측하고 선제적으로 대응</a:t>
            </a:r>
            <a:r>
              <a:rPr lang="en-US" altLang="ko-KR" sz="11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261E58C5-1935-575B-CD6F-0091BB24A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 분석 결과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서울 리전 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전송량이 전체 데이터 </a:t>
            </a:r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전송량의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88.8%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가장 큰 비중을 차지하며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1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44%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CloudFront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304TB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38%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DTO/DTI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전송량은 각각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30%, 66%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최적화 전략으로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트래픽 분산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CloudFront </a:t>
            </a:r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캐싱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최적화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DTO/DTI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압축 및 라우팅 최적화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실시간 모니터링을 통해 비용 절감을 추진해야 합니다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4" name="Text Box 288">
            <a:extLst>
              <a:ext uri="{FF2B5EF4-FFF2-40B4-BE49-F238E27FC236}">
                <a16:creationId xmlns:a16="http://schemas.microsoft.com/office/drawing/2014/main" id="{26EFFEBB-A05D-8C37-4EC4-0F2C7DBCD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512" y="1675649"/>
            <a:ext cx="435254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전송량에 대한 분석 시사점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B15BFC0E-3869-DD5A-2DC5-19F590E9F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0FD45DDD-0D24-6C52-EC3B-749BC445CA2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7355189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25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42167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274163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지표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28" name="Rectangle 287">
            <a:extLst>
              <a:ext uri="{FF2B5EF4-FFF2-40B4-BE49-F238E27FC236}">
                <a16:creationId xmlns:a16="http://schemas.microsoft.com/office/drawing/2014/main" id="{57181D91-376E-1A0A-C851-D630044F2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추이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278,396TB(7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241,126TB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약간 감소하였으나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꾸준히 높은 수치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 사용 계층은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스토리지 비용 추이 분석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중심 사용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$ 6,733 (7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5,839(12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소폭 감소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비용은 대부분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발생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9" name="Rectangle 100">
            <a:extLst>
              <a:ext uri="{FF2B5EF4-FFF2-40B4-BE49-F238E27FC236}">
                <a16:creationId xmlns:a16="http://schemas.microsoft.com/office/drawing/2014/main" id="{0B37538F-CE21-787E-63CB-4DF8CD106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사용량은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169,245TB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162,699TB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약간 감소했지만 여전히 높은 수준을 유지하고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사용 계층은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Standard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비용은 같은 기간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$4,090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$3,939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소폭 감소했으며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대부분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Standard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발생하고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algn="l"/>
            <a:endParaRPr lang="ko-KR" altLang="en-US" sz="1400" b="1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0B2ADBBE-1BA1-EA80-EE85-F94579BBDEA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AEE348-73F9-893C-38E0-7BE495B9D09C}"/>
              </a:ext>
            </a:extLst>
          </p:cNvPr>
          <p:cNvSpPr txBox="1"/>
          <p:nvPr/>
        </p:nvSpPr>
        <p:spPr>
          <a:xfrm>
            <a:off x="1798438" y="4041398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Usage by Tier (Only GB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97E159-5224-F19F-9EAA-63282281F5A3}"/>
              </a:ext>
            </a:extLst>
          </p:cNvPr>
          <p:cNvSpPr txBox="1"/>
          <p:nvPr/>
        </p:nvSpPr>
        <p:spPr>
          <a:xfrm>
            <a:off x="1798438" y="6080746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Spend by Tier (Only GB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20" name="Chart 2">
            <a:extLst>
              <a:ext uri="{FF2B5EF4-FFF2-40B4-BE49-F238E27FC236}">
                <a16:creationId xmlns:a16="http://schemas.microsoft.com/office/drawing/2014/main" id="{00000000-0008-0000-0D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0036464"/>
              </p:ext>
            </p:extLst>
          </p:nvPr>
        </p:nvGraphicFramePr>
        <p:xfrm>
          <a:off x="370670" y="2135962"/>
          <a:ext cx="5614704" cy="1796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Chart 1">
            <a:extLst>
              <a:ext uri="{FF2B5EF4-FFF2-40B4-BE49-F238E27FC236}">
                <a16:creationId xmlns:a16="http://schemas.microsoft.com/office/drawing/2014/main" id="{00000000-0008-0000-0D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718908"/>
              </p:ext>
            </p:extLst>
          </p:nvPr>
        </p:nvGraphicFramePr>
        <p:xfrm>
          <a:off x="370670" y="4319103"/>
          <a:ext cx="5614704" cy="1715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332298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26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42167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6" y="1675649"/>
            <a:ext cx="3274163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지표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15" name="Rectangle 287">
            <a:extLst>
              <a:ext uri="{FF2B5EF4-FFF2-40B4-BE49-F238E27FC236}">
                <a16:creationId xmlns:a16="http://schemas.microsoft.com/office/drawing/2014/main" id="{78130493-2B8C-E618-E866-4E0F105C1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32" y="202821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 추이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93,980TB (7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124,160TB(12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32%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주요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Type.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비용 추이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$ 8,550 (7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$11,318 (12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 / 32%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GP3 Volume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IOPS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증가에 따른 비용 상승이 주요 원인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0" name="Rectangle 100">
            <a:extLst>
              <a:ext uri="{FF2B5EF4-FFF2-40B4-BE49-F238E27FC236}">
                <a16:creationId xmlns:a16="http://schemas.microsoft.com/office/drawing/2014/main" id="{8B16426D-2609-83B2-F760-A4175CB9A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843250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사용량은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78,942TB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107,060TB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35%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타입은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GP3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비용도 같은 기간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$7,179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$9,759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35%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GP3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볼륨과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IOPS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증가에 따른 비용 상승이 주요 원인입니다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495031F8-965B-58B6-9E08-00547E82967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F891AF-BE7B-53B4-5412-BDA305450705}"/>
              </a:ext>
            </a:extLst>
          </p:cNvPr>
          <p:cNvSpPr txBox="1"/>
          <p:nvPr/>
        </p:nvSpPr>
        <p:spPr>
          <a:xfrm>
            <a:off x="1798438" y="3816822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Usage by Type (GB+IOPS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677271-B186-5589-BE4C-5961D9D6448D}"/>
              </a:ext>
            </a:extLst>
          </p:cNvPr>
          <p:cNvSpPr txBox="1"/>
          <p:nvPr/>
        </p:nvSpPr>
        <p:spPr>
          <a:xfrm>
            <a:off x="1798438" y="5838754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Spend by Type (GB + IOPS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24" name="Chart 6">
            <a:extLst>
              <a:ext uri="{FF2B5EF4-FFF2-40B4-BE49-F238E27FC236}">
                <a16:creationId xmlns:a16="http://schemas.microsoft.com/office/drawing/2014/main" id="{00000000-0008-0000-0D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768117"/>
              </p:ext>
            </p:extLst>
          </p:nvPr>
        </p:nvGraphicFramePr>
        <p:xfrm>
          <a:off x="354702" y="2040142"/>
          <a:ext cx="5645295" cy="2038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5">
            <a:extLst>
              <a:ext uri="{FF2B5EF4-FFF2-40B4-BE49-F238E27FC236}">
                <a16:creationId xmlns:a16="http://schemas.microsoft.com/office/drawing/2014/main" id="{00000000-0008-0000-0D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8277294"/>
              </p:ext>
            </p:extLst>
          </p:nvPr>
        </p:nvGraphicFramePr>
        <p:xfrm>
          <a:off x="380481" y="4086242"/>
          <a:ext cx="5619516" cy="1863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80405657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4C71-0963-3C2C-A979-27A5F915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CBCC5-B8E1-B954-DB9B-FAED3EC95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57F037-A2FF-3ED2-D35A-CD62A27D14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27</a:t>
            </a:fld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86E700D-0199-C1B1-3A54-A414D5B83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AutoShape 51">
            <a:extLst>
              <a:ext uri="{FF2B5EF4-FFF2-40B4-BE49-F238E27FC236}">
                <a16:creationId xmlns:a16="http://schemas.microsoft.com/office/drawing/2014/main" id="{B1420534-C33F-2C7B-F2D5-B280954CC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729A991-981C-34FD-EC1E-C564091C1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DC975FF6-8AC9-5759-1D30-4797A546F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8B06CDEA-942C-CB95-459F-0FD8EE8C6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현재 데이터 전송 비용 면에서 경쟁력이 있지만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Inter-AZ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비율 최적화와 추가적인 비용 절감 노력을 통해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비용 관리의 모범 사례가 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4" name="Text Box 288">
            <a:extLst>
              <a:ext uri="{FF2B5EF4-FFF2-40B4-BE49-F238E27FC236}">
                <a16:creationId xmlns:a16="http://schemas.microsoft.com/office/drawing/2014/main" id="{A1BF82E4-E30A-95C3-CB31-EDD2A3B5D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512" y="1675649"/>
            <a:ext cx="435254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</a:t>
            </a: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스토지리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1M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C85245F9-A787-FB20-8CF3-2DAF0C49C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383" y="1675649"/>
            <a:ext cx="390046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스토리지 사용현황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095EF29E-DB36-974A-2026-7DB83E2540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7" name="Chart 2">
            <a:extLst>
              <a:ext uri="{FF2B5EF4-FFF2-40B4-BE49-F238E27FC236}">
                <a16:creationId xmlns:a16="http://schemas.microsoft.com/office/drawing/2014/main" id="{4F71E565-67E9-4B17-82FC-E3664C0256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980283"/>
              </p:ext>
            </p:extLst>
          </p:nvPr>
        </p:nvGraphicFramePr>
        <p:xfrm>
          <a:off x="6204384" y="2135962"/>
          <a:ext cx="5614704" cy="1796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6">
            <a:extLst>
              <a:ext uri="{FF2B5EF4-FFF2-40B4-BE49-F238E27FC236}">
                <a16:creationId xmlns:a16="http://schemas.microsoft.com/office/drawing/2014/main" id="{731E3BE3-4172-762D-97BC-D85C4A1E4D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678938"/>
              </p:ext>
            </p:extLst>
          </p:nvPr>
        </p:nvGraphicFramePr>
        <p:xfrm>
          <a:off x="6294507" y="4220547"/>
          <a:ext cx="5645295" cy="2038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46EED22-E721-F859-93C0-2CDDBA33958B}"/>
              </a:ext>
            </a:extLst>
          </p:cNvPr>
          <p:cNvSpPr txBox="1"/>
          <p:nvPr/>
        </p:nvSpPr>
        <p:spPr>
          <a:xfrm>
            <a:off x="7745554" y="4041398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Usage by Tier (Only GB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CE5DD2-196B-48CA-71C4-CF90A0AB03E0}"/>
              </a:ext>
            </a:extLst>
          </p:cNvPr>
          <p:cNvSpPr txBox="1"/>
          <p:nvPr/>
        </p:nvSpPr>
        <p:spPr>
          <a:xfrm>
            <a:off x="7876703" y="6099765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Usage by Type (GB+IOPS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22" name="Chart 2">
            <a:extLst>
              <a:ext uri="{FF2B5EF4-FFF2-40B4-BE49-F238E27FC236}">
                <a16:creationId xmlns:a16="http://schemas.microsoft.com/office/drawing/2014/main" id="{00000000-0008-0000-0D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805427"/>
              </p:ext>
            </p:extLst>
          </p:nvPr>
        </p:nvGraphicFramePr>
        <p:xfrm>
          <a:off x="372912" y="2135289"/>
          <a:ext cx="5525029" cy="1797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FBB30C1-6E21-DC27-17F9-B753F5452FED}"/>
              </a:ext>
            </a:extLst>
          </p:cNvPr>
          <p:cNvSpPr txBox="1"/>
          <p:nvPr/>
        </p:nvSpPr>
        <p:spPr>
          <a:xfrm>
            <a:off x="1776279" y="4041398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Usage by Tier (Only GB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E4D02D-CEAD-D3C3-9483-464EAC00B468}"/>
              </a:ext>
            </a:extLst>
          </p:cNvPr>
          <p:cNvSpPr txBox="1"/>
          <p:nvPr/>
        </p:nvSpPr>
        <p:spPr>
          <a:xfrm>
            <a:off x="1907428" y="6099765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Usage by Type (GB+IOPS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26" name="Chart 6">
            <a:extLst>
              <a:ext uri="{FF2B5EF4-FFF2-40B4-BE49-F238E27FC236}">
                <a16:creationId xmlns:a16="http://schemas.microsoft.com/office/drawing/2014/main" id="{00000000-0008-0000-0D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7775091"/>
              </p:ext>
            </p:extLst>
          </p:nvPr>
        </p:nvGraphicFramePr>
        <p:xfrm>
          <a:off x="355151" y="4312758"/>
          <a:ext cx="5630672" cy="1684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81363904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D804C-78B5-F04D-B9BA-F7440293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AD8FD-A793-044D-71B1-3EEA30FD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0B05E21-1A59-6566-2D0C-7E3BC9DDF2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28</a:t>
            </a:fld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00CFB56-A15A-1C33-1E0E-8B93D832A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AutoShape 51">
            <a:extLst>
              <a:ext uri="{FF2B5EF4-FFF2-40B4-BE49-F238E27FC236}">
                <a16:creationId xmlns:a16="http://schemas.microsoft.com/office/drawing/2014/main" id="{9A23DC93-8E99-B382-933D-03C60127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7618883-5BC5-06D7-6E8C-781058A13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E53B37E7-BF1F-7199-1F11-61E484B7F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F0BA0DC6-811E-069B-ADCC-2A743CE61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현재 데이터 전송 비용 면에서 경쟁력이 있지만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높은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Inter-AZ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비율 최적화와 추가적인 비용 절감 노력을 통해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비용 관리의 모범 사례가 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4" name="Text Box 288">
            <a:extLst>
              <a:ext uri="{FF2B5EF4-FFF2-40B4-BE49-F238E27FC236}">
                <a16:creationId xmlns:a16="http://schemas.microsoft.com/office/drawing/2014/main" id="{CA9F8B5C-E724-B054-86DE-CAA711FF2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512" y="1675649"/>
            <a:ext cx="435254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사의 </a:t>
            </a: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스토지리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사용현황 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(MRR : 2M 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규모</a:t>
            </a:r>
            <a:r>
              <a:rPr lang="en-US" altLang="ko-KR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endParaRPr lang="ko-KR" altLang="en-US" sz="14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E7ED518-FCD7-040B-A0AA-B17C3CD66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383" y="1675649"/>
            <a:ext cx="390046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</a:t>
            </a: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스토리지 사용현황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529265B2-5E67-7C38-8E6B-2362965CBDB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7" name="Chart 2">
            <a:extLst>
              <a:ext uri="{FF2B5EF4-FFF2-40B4-BE49-F238E27FC236}">
                <a16:creationId xmlns:a16="http://schemas.microsoft.com/office/drawing/2014/main" id="{5F995608-A0EF-B3A5-792E-42659709ACDC}"/>
              </a:ext>
            </a:extLst>
          </p:cNvPr>
          <p:cNvGraphicFramePr>
            <a:graphicFrameLocks/>
          </p:cNvGraphicFramePr>
          <p:nvPr/>
        </p:nvGraphicFramePr>
        <p:xfrm>
          <a:off x="6204384" y="2135962"/>
          <a:ext cx="5614704" cy="1796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6">
            <a:extLst>
              <a:ext uri="{FF2B5EF4-FFF2-40B4-BE49-F238E27FC236}">
                <a16:creationId xmlns:a16="http://schemas.microsoft.com/office/drawing/2014/main" id="{943F9DF6-B00F-4DB1-9590-0C3E26C16973}"/>
              </a:ext>
            </a:extLst>
          </p:cNvPr>
          <p:cNvGraphicFramePr>
            <a:graphicFrameLocks/>
          </p:cNvGraphicFramePr>
          <p:nvPr/>
        </p:nvGraphicFramePr>
        <p:xfrm>
          <a:off x="6294507" y="4220547"/>
          <a:ext cx="5645295" cy="2038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C593604-F20E-2215-A598-0FEDE840FD01}"/>
              </a:ext>
            </a:extLst>
          </p:cNvPr>
          <p:cNvSpPr txBox="1"/>
          <p:nvPr/>
        </p:nvSpPr>
        <p:spPr>
          <a:xfrm>
            <a:off x="7745554" y="4041398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Usage by Tier (Only GB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73CBF9-35DE-691C-261E-130B4B286051}"/>
              </a:ext>
            </a:extLst>
          </p:cNvPr>
          <p:cNvSpPr txBox="1"/>
          <p:nvPr/>
        </p:nvSpPr>
        <p:spPr>
          <a:xfrm>
            <a:off x="7876703" y="6099765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Usage by Type (GB+IOPS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C306B5-B7AC-2FDB-CB1D-87668167AF09}"/>
              </a:ext>
            </a:extLst>
          </p:cNvPr>
          <p:cNvSpPr txBox="1"/>
          <p:nvPr/>
        </p:nvSpPr>
        <p:spPr>
          <a:xfrm>
            <a:off x="1776279" y="4041398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Usage by Tier (Only GB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7F1D16-FC23-A605-7CA5-787D367DCB52}"/>
              </a:ext>
            </a:extLst>
          </p:cNvPr>
          <p:cNvSpPr txBox="1"/>
          <p:nvPr/>
        </p:nvSpPr>
        <p:spPr>
          <a:xfrm>
            <a:off x="1907428" y="6099765"/>
            <a:ext cx="27432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10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Usage by Type (GB+IOPS Spend)</a:t>
            </a:r>
            <a:endParaRPr kumimoji="1" lang="ko-KR" altLang="en-US" sz="100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12" name="Chart 2">
            <a:extLst>
              <a:ext uri="{FF2B5EF4-FFF2-40B4-BE49-F238E27FC236}">
                <a16:creationId xmlns:a16="http://schemas.microsoft.com/office/drawing/2014/main" id="{00000000-0008-0000-0D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3885397"/>
              </p:ext>
            </p:extLst>
          </p:nvPr>
        </p:nvGraphicFramePr>
        <p:xfrm>
          <a:off x="372912" y="2137460"/>
          <a:ext cx="5611117" cy="17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6">
            <a:extLst>
              <a:ext uri="{FF2B5EF4-FFF2-40B4-BE49-F238E27FC236}">
                <a16:creationId xmlns:a16="http://schemas.microsoft.com/office/drawing/2014/main" id="{00000000-0008-0000-0D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2265430"/>
              </p:ext>
            </p:extLst>
          </p:nvPr>
        </p:nvGraphicFramePr>
        <p:xfrm>
          <a:off x="372912" y="4286195"/>
          <a:ext cx="5723088" cy="1813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96277321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53A20-1923-3494-272A-6B984083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9F1E6-8B1E-5EE7-D254-92BF23664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 </a:t>
            </a:r>
            <a:r>
              <a:rPr kumimoji="1" lang="en-US" altLang="ko-KR" dirty="0"/>
              <a:t>/</a:t>
            </a:r>
            <a:r>
              <a:rPr kumimoji="1" lang="ko-KR" altLang="en-US" dirty="0"/>
              <a:t> 타사와 비교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CC0E4F-5844-1A1B-153A-9891A29487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29</a:t>
            </a:fld>
            <a:endParaRPr lang="en-US" altLang="ko-KR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FC0B3B1-D9CB-2A35-8EB0-062F3236C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AutoShape 51">
            <a:extLst>
              <a:ext uri="{FF2B5EF4-FFF2-40B4-BE49-F238E27FC236}">
                <a16:creationId xmlns:a16="http://schemas.microsoft.com/office/drawing/2014/main" id="{1A678578-E29D-DC21-2651-E0713D5C5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3E2F52C2-F59F-DB1C-49D0-B4E38E804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9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8" name="AutoShape 51">
            <a:extLst>
              <a:ext uri="{FF2B5EF4-FFF2-40B4-BE49-F238E27FC236}">
                <a16:creationId xmlns:a16="http://schemas.microsoft.com/office/drawing/2014/main" id="{17542170-47E9-9E3E-BB2D-37F13D4DF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2" name="Rectangle 287">
            <a:extLst>
              <a:ext uri="{FF2B5EF4-FFF2-40B4-BE49-F238E27FC236}">
                <a16:creationId xmlns:a16="http://schemas.microsoft.com/office/drawing/2014/main" id="{82D8DC4B-893B-78F6-6AE3-0DF7CA158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3" y="2025661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사용량 비교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사용량 분석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총 스토리지 사용량이 타사 대비 낮음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Infrequent Access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사용이 없으며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모든 데이터를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Standard Tier</a:t>
            </a:r>
            <a:r>
              <a:rPr lang="ko-KR" altLang="en-US" sz="12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저장하고 있어 비용 최적화 가능성이 있음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GP3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타입으로 일원화되어 있음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ko-KR" altLang="en-US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3" name="Rectangle 287">
            <a:extLst>
              <a:ext uri="{FF2B5EF4-FFF2-40B4-BE49-F238E27FC236}">
                <a16:creationId xmlns:a16="http://schemas.microsoft.com/office/drawing/2014/main" id="{08BEA880-9993-8A96-0C99-AAF9412F3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177" y="201998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최적화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Lifecycle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정책을 도입해 오래된 데이터를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Infrequent Access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계층으로 자동 전환하며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자주 사용하지 않는 데이터를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Glacier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계층이로 이전 고려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최적화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읽기 빈도가 낮은 데이터는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SC1(Cold HDD)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계층으로 이전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주기적으로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Snapshot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을 생성하여 정적 데이터는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Snapshot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으로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저장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EADEC411-CE2B-250E-AB02-4EF74467C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701582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r>
              <a:rPr lang="ko-KR" altLang="en-US" sz="1400" b="1" dirty="0" err="1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에이블리는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계층화를 통해 비용 효율성을 극대화하고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관리 최적화를 실현하는 전략을 채택할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S3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경우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Lifecycle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정책을 도입해 오래된 데이터를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Infrequent Access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계층으로 자동 전환하고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자주 사용하지 않는 데이터를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Glacier 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계층으로 이전하여 스토리지 비용을 절감합니다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EBS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에서는 읽기 빈도가 낮은 데이터를 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SC1(Cold HDD)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이전하고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Snapshot</a:t>
            </a:r>
            <a:r>
              <a:rPr lang="ko-KR" altLang="en-US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을 주기적으로 생성하여 정적 데이터를 저비용 저장소로 관리할 수 있습니다</a:t>
            </a:r>
            <a:r>
              <a:rPr lang="en-US" altLang="ko-KR" sz="1400" b="1" dirty="0">
                <a:solidFill>
                  <a:srgbClr val="0E0E0E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4" name="Text Box 288">
            <a:extLst>
              <a:ext uri="{FF2B5EF4-FFF2-40B4-BE49-F238E27FC236}">
                <a16:creationId xmlns:a16="http://schemas.microsoft.com/office/drawing/2014/main" id="{A85D5B58-6199-03BA-26AC-7C6C426F0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512" y="1675649"/>
            <a:ext cx="4352544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타사와 네트워크 전송량에 대한 분석 시사점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20130CF5-0269-6ADC-A5C5-0C12AC074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383" y="1675649"/>
            <a:ext cx="3900468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 대비 아키텍쳐 최적화 전략 고려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86A111C9-0E27-8FFB-D0E7-FC1988D972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20DED83-5371-D40A-4914-1A5F5829E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43309"/>
              </p:ext>
            </p:extLst>
          </p:nvPr>
        </p:nvGraphicFramePr>
        <p:xfrm>
          <a:off x="436978" y="2404464"/>
          <a:ext cx="5457031" cy="2449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0828">
                  <a:extLst>
                    <a:ext uri="{9D8B030D-6E8A-4147-A177-3AD203B41FA5}">
                      <a16:colId xmlns:a16="http://schemas.microsoft.com/office/drawing/2014/main" val="1719505550"/>
                    </a:ext>
                  </a:extLst>
                </a:gridCol>
                <a:gridCol w="1323151">
                  <a:extLst>
                    <a:ext uri="{9D8B030D-6E8A-4147-A177-3AD203B41FA5}">
                      <a16:colId xmlns:a16="http://schemas.microsoft.com/office/drawing/2014/main" val="2155384745"/>
                    </a:ext>
                  </a:extLst>
                </a:gridCol>
                <a:gridCol w="1261526">
                  <a:extLst>
                    <a:ext uri="{9D8B030D-6E8A-4147-A177-3AD203B41FA5}">
                      <a16:colId xmlns:a16="http://schemas.microsoft.com/office/drawing/2014/main" val="555851552"/>
                    </a:ext>
                  </a:extLst>
                </a:gridCol>
                <a:gridCol w="1261526">
                  <a:extLst>
                    <a:ext uri="{9D8B030D-6E8A-4147-A177-3AD203B41FA5}">
                      <a16:colId xmlns:a16="http://schemas.microsoft.com/office/drawing/2014/main" val="907745210"/>
                    </a:ext>
                  </a:extLst>
                </a:gridCol>
              </a:tblGrid>
              <a:tr h="1930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항목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</a:t>
                      </a: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B</a:t>
                      </a:r>
                      <a:r>
                        <a:rPr lang="ko-KR" altLang="en-US" sz="1100" b="1" i="0" dirty="0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dirty="0" err="1">
                          <a:solidFill>
                            <a:schemeClr val="bg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에이블리</a:t>
                      </a:r>
                      <a:endParaRPr lang="en-US" altLang="ko-KR" sz="1100" b="1" i="0" dirty="0">
                        <a:solidFill>
                          <a:schemeClr val="bg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29396" marR="29396" marT="36744" marB="36744" anchor="ctr">
                    <a:solidFill>
                      <a:srgbClr val="9E93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0811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1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총 스토리지 사용량 </a:t>
                      </a:r>
                      <a:r>
                        <a:rPr lang="en-US" altLang="ko-KR" sz="1100" b="1" i="0" dirty="0"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(GB)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925,393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1,811,080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372,211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70452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S3 Standard Tier (GB)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292,039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1,298,338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241,126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4070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S3 Infrequent Access (GB)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291,569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19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19264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S3 Unit Cost (GB-Mo)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$ 0.019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$0.023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$0.024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29807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EBS GP3 (GB)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214,744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366,716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124,160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44918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EBS GP2 (GB)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47,739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100" b="1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084280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EBS SC1 (GB)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28,633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100" b="1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170521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Snapshot (GB)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83,264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100" b="1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888549"/>
                  </a:ext>
                </a:extLst>
              </a:tr>
              <a:tr h="226824">
                <a:tc>
                  <a:txBody>
                    <a:bodyPr/>
                    <a:lstStyle/>
                    <a:p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EBS Unit Cost (GB-Mo)</a:t>
                      </a:r>
                      <a:endParaRPr lang="ko-KR" altLang="en-US" sz="1100" b="1" i="0" kern="1200" dirty="0">
                        <a:solidFill>
                          <a:schemeClr val="tx1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  <a:cs typeface="+mn-cs"/>
                      </a:endParaRP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$0.078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$0.093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  <a:cs typeface="+mn-cs"/>
                        </a:rPr>
                        <a:t>$0.091</a:t>
                      </a:r>
                    </a:p>
                  </a:txBody>
                  <a:tcPr marL="29396" marR="29396" marT="29396" marB="2939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5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788046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36D4-7EF9-9F0D-D460-1FC3F57E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38D4714-ABD6-D563-B001-12F16B3BC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48438"/>
            <a:ext cx="2743200" cy="365125"/>
          </a:xfrm>
        </p:spPr>
        <p:txBody>
          <a:bodyPr/>
          <a:lstStyle/>
          <a:p>
            <a:fld id="{FCE3D07C-C609-5F4C-A74A-B90C9508442B}" type="slidenum">
              <a:rPr lang="en-US" altLang="ko-KR" smtClean="0"/>
              <a:pPr/>
              <a:t>30</a:t>
            </a:fld>
            <a:endParaRPr lang="en-US" altLang="ko-KR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BF1F1F5-96B9-7D7A-59B1-E515A334F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729" y="1855286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5" name="AutoShape 51">
            <a:extLst>
              <a:ext uri="{FF2B5EF4-FFF2-40B4-BE49-F238E27FC236}">
                <a16:creationId xmlns:a16="http://schemas.microsoft.com/office/drawing/2014/main" id="{281578B4-0B42-7AD3-96E0-4DF7A6716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28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9A2CDD7-52CE-5058-69D4-BD8656CC1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02" y="1842167"/>
            <a:ext cx="5630672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7" name="AutoShape 51">
            <a:extLst>
              <a:ext uri="{FF2B5EF4-FFF2-40B4-BE49-F238E27FC236}">
                <a16:creationId xmlns:a16="http://schemas.microsoft.com/office/drawing/2014/main" id="{288451C1-587E-6DB8-75C2-FB703227F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1" y="1656119"/>
            <a:ext cx="5630672" cy="372097"/>
          </a:xfrm>
          <a:prstGeom prst="round2SameRect">
            <a:avLst/>
          </a:prstGeom>
          <a:solidFill>
            <a:srgbClr val="F53652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3" name="Text Box 288">
            <a:extLst>
              <a:ext uri="{FF2B5EF4-FFF2-40B4-BE49-F238E27FC236}">
                <a16:creationId xmlns:a16="http://schemas.microsoft.com/office/drawing/2014/main" id="{FF1120A3-12FA-7617-205A-6C87E5342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77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스토리지에 대한 주요 지표 분석</a:t>
            </a:r>
          </a:p>
        </p:txBody>
      </p:sp>
      <p:sp>
        <p:nvSpPr>
          <p:cNvPr id="14" name="Text Box 288">
            <a:extLst>
              <a:ext uri="{FF2B5EF4-FFF2-40B4-BE49-F238E27FC236}">
                <a16:creationId xmlns:a16="http://schemas.microsoft.com/office/drawing/2014/main" id="{846D9846-EF6A-4DEE-EF62-68D26240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2462" y="1675649"/>
            <a:ext cx="3056310" cy="359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4000" tIns="45718" rIns="54000" bIns="45718" anchor="ctr" anchorCtr="1"/>
          <a:lstStyle>
            <a:lvl1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742950" indent="-28575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11430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6002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marL="2057400" indent="-228600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14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8" name="Rectangle 287">
            <a:extLst>
              <a:ext uri="{FF2B5EF4-FFF2-40B4-BE49-F238E27FC236}">
                <a16:creationId xmlns:a16="http://schemas.microsoft.com/office/drawing/2014/main" id="{FF32D66B-6F8D-BC33-E378-0949977A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53" y="2026688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중심 사용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계층이 대부분의 사용량과 비용을 차지 하기 때문에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비용 최적화를 위한 데이터 계층화 필요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Glacier Flexible Retrieval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Deep Archive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계층 사용량이 낮아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저빈도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접근 데이터에 대한 계층 이동 기회가 존재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 증가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스토리지 볼륨 자동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프로비저닝으로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인해 불필요한 볼륨 생성 및 과다한 사용 가능성 존재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워크로드 성격에 따라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과도한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IOPS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또는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Throughput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설정으로 비용 상승 가능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9" name="Rectangle 287">
            <a:extLst>
              <a:ext uri="{FF2B5EF4-FFF2-40B4-BE49-F238E27FC236}">
                <a16:creationId xmlns:a16="http://schemas.microsoft.com/office/drawing/2014/main" id="{0BB920D0-CBA9-B7D6-7049-C8D72D743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6177" y="202821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최적화에 대한 고려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계층화 최적화 전략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자주 사용되지 않는 데이터를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Glacier Flexible Retrieval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또는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Deep Archive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이동하여 비용 절감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주기적인 데이터 정리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불필요하거나 만료된 데이터를 삭제하여 저장소 사용량 감소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최적화에 대한 고려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자동으로 생성되는 볼륨 중 비활성화된 볼륨을 주기적으로 식별 및 삭제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워크로드 실제 요구사항에 맞게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볼륨의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IOPS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Throghput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설정을 조정하여 불필요한 비용 절감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대한 자원 식별을 위한 가시성 도구 도입 고려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10" name="Rectangle 100">
            <a:extLst>
              <a:ext uri="{FF2B5EF4-FFF2-40B4-BE49-F238E27FC236}">
                <a16:creationId xmlns:a16="http://schemas.microsoft.com/office/drawing/2014/main" id="{04D657F3-F643-A14A-EF8D-20D11733F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06" y="625213"/>
            <a:ext cx="11843250" cy="68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Font typeface="Wingdings" pitchFamily="2" charset="2"/>
              <a:defRPr kumimoji="1" sz="90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  <a:cs typeface="+mn-cs"/>
              </a:defRPr>
            </a:lvl1pPr>
            <a:lvl2pPr marL="190500" indent="-111125" algn="just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-윤고딕330" pitchFamily="18" charset="-127"/>
              <a:buChar char="-"/>
              <a:defRPr kumimoji="1" sz="9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2pPr>
            <a:lvl3pPr marL="253324" indent="-6828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3pPr>
            <a:lvl4pPr marL="356856" indent="-75997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4pPr>
            <a:lvl5pPr marL="452679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5pPr>
            <a:lvl6pPr marL="769884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6pPr>
            <a:lvl7pPr marL="108709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7pPr>
            <a:lvl8pPr marL="1404295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8pPr>
            <a:lvl9pPr marL="1721500" indent="-82606" algn="l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30000"/>
              </a:spcAft>
              <a:buClr>
                <a:schemeClr val="bg2"/>
              </a:buClr>
              <a:buSzPct val="90000"/>
              <a:buFont typeface="HY헤드라인M" pitchFamily="18" charset="-127"/>
              <a:buChar char="-"/>
              <a:defRPr kumimoji="1" sz="600">
                <a:solidFill>
                  <a:schemeClr val="tx1"/>
                </a:solidFill>
                <a:latin typeface="-윤고딕110" pitchFamily="18" charset="-127"/>
                <a:ea typeface="-윤고딕110" pitchFamily="18" charset="-127"/>
              </a:defRPr>
            </a:lvl9pPr>
          </a:lstStyle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 비용 및 아키텍처 최적화를 위해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S3 IA/INT IA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등 저렴한 스토리지 옵션 활용과 데이터 라이프사이클 관리가 필요합니다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현재 사용 중인 스토리지 유형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(GP2, GP3, S3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등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대한 정기적인 분석을 통해 보다 비용 효율적인 솔루션으로 마이그레이션을 고려해야 합니다</a:t>
            </a:r>
            <a:r>
              <a:rPr lang="en-US" altLang="ko-KR" sz="1400" b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Snapshot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백업 전략의 최적화를 위해 데이터 변경 패턴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보관 정책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백업 주기 등을 면밀히 검토하여 전사적인 가이드라인을 수립함으로써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전반적인 스토리지 아키텍처와 비용 구조를 개선할 수 있을 것입니다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endParaRPr lang="ko-KR" altLang="en-US" sz="1400" b="1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1" name="AutoShape 7">
            <a:extLst>
              <a:ext uri="{FF2B5EF4-FFF2-40B4-BE49-F238E27FC236}">
                <a16:creationId xmlns:a16="http://schemas.microsoft.com/office/drawing/2014/main" id="{514E8010-E57B-F191-105E-C32DBAE1B9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00511" y="3960040"/>
            <a:ext cx="4804704" cy="203042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99 w 21600"/>
              <a:gd name="T13" fmla="*/ 3399 h 21600"/>
              <a:gd name="T14" fmla="*/ 18201 w 21600"/>
              <a:gd name="T15" fmla="*/ 182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97" y="21600"/>
                </a:lnTo>
                <a:lnTo>
                  <a:pt x="1840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100000">
                <a:schemeClr val="bg1"/>
              </a:gs>
              <a:gs pos="0">
                <a:schemeClr val="bg1">
                  <a:gamma/>
                  <a:shade val="76078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43200" tIns="36000" rIns="43200" bIns="36000"/>
          <a:lstStyle/>
          <a:p>
            <a:pPr algn="ctr"/>
            <a:endParaRPr lang="ko-KR" altLang="en-US" sz="21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6335032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3"/>
            </a:pPr>
            <a:r>
              <a:rPr lang="ko-KR" altLang="en-US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클라우드 인프라 아키텍쳐</a:t>
            </a:r>
            <a:endParaRPr lang="en-US" altLang="ko-KR" sz="3600" b="1" dirty="0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62435B8E-1971-DC6D-D11F-C566D67618F5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A5B4EFB-139E-2200-3291-12A16497F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833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4"/>
            </a:pPr>
            <a:r>
              <a:rPr lang="en-US" altLang="ko-KR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DB</a:t>
            </a: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62435B8E-1971-DC6D-D11F-C566D67618F5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DACCD6C9-8B81-B566-94BA-FB08FB112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13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5"/>
            </a:pPr>
            <a:r>
              <a:rPr lang="en-US" altLang="ko-KR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Container</a:t>
            </a: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62435B8E-1971-DC6D-D11F-C566D67618F5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FFF1C304-054C-65F3-7F8A-3923F679A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53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5C126F-E083-3FE3-FF6A-10BB5A3EA90C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6"/>
            </a:pPr>
            <a:r>
              <a:rPr lang="en-US" altLang="ko-KR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Observability</a:t>
            </a:r>
          </a:p>
        </p:txBody>
      </p:sp>
      <p:cxnSp>
        <p:nvCxnSpPr>
          <p:cNvPr id="5" name="직선 연결선[R] 1">
            <a:extLst>
              <a:ext uri="{FF2B5EF4-FFF2-40B4-BE49-F238E27FC236}">
                <a16:creationId xmlns:a16="http://schemas.microsoft.com/office/drawing/2014/main" id="{167E8912-EF75-AF59-D1D0-3A338E29C777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6F5CD01E-FCFE-11B9-369C-20C8AD7AF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924219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5C126F-E083-3FE3-FF6A-10BB5A3EA90C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7"/>
            </a:pPr>
            <a:r>
              <a:rPr lang="ko-KR" altLang="en-US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개선안 및 실행도출 계획</a:t>
            </a:r>
          </a:p>
        </p:txBody>
      </p:sp>
      <p:cxnSp>
        <p:nvCxnSpPr>
          <p:cNvPr id="5" name="직선 연결선[R] 1">
            <a:extLst>
              <a:ext uri="{FF2B5EF4-FFF2-40B4-BE49-F238E27FC236}">
                <a16:creationId xmlns:a16="http://schemas.microsoft.com/office/drawing/2014/main" id="{167E8912-EF75-AF59-D1D0-3A338E29C777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87D924D7-DA65-8556-DA03-2D9FAA84C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57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5C126F-E083-3FE3-FF6A-10BB5A3EA90C}"/>
              </a:ext>
            </a:extLst>
          </p:cNvPr>
          <p:cNvSpPr txBox="1"/>
          <p:nvPr/>
        </p:nvSpPr>
        <p:spPr>
          <a:xfrm>
            <a:off x="832477" y="1834588"/>
            <a:ext cx="10431098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 defTabSz="1042996">
              <a:lnSpc>
                <a:spcPct val="150000"/>
              </a:lnSpc>
              <a:buFont typeface="+mj-lt"/>
              <a:buAutoNum type="romanUcPeriod" startAt="8"/>
            </a:pPr>
            <a:r>
              <a:rPr lang="ko-KR" altLang="en-US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기타</a:t>
            </a:r>
          </a:p>
        </p:txBody>
      </p:sp>
      <p:cxnSp>
        <p:nvCxnSpPr>
          <p:cNvPr id="5" name="직선 연결선[R] 1">
            <a:extLst>
              <a:ext uri="{FF2B5EF4-FFF2-40B4-BE49-F238E27FC236}">
                <a16:creationId xmlns:a16="http://schemas.microsoft.com/office/drawing/2014/main" id="{167E8912-EF75-AF59-D1D0-3A338E29C777}"/>
              </a:ext>
            </a:extLst>
          </p:cNvPr>
          <p:cNvCxnSpPr>
            <a:cxnSpLocks/>
          </p:cNvCxnSpPr>
          <p:nvPr/>
        </p:nvCxnSpPr>
        <p:spPr>
          <a:xfrm>
            <a:off x="928425" y="2969399"/>
            <a:ext cx="89349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1474E8EC-983A-1C60-FA30-3DD1783E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987" y="203133"/>
            <a:ext cx="1276130" cy="505203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70846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B5A350C-D7D0-1DA7-BEE4-DA0C660AA603}"/>
              </a:ext>
            </a:extLst>
          </p:cNvPr>
          <p:cNvSpPr txBox="1"/>
          <p:nvPr/>
        </p:nvSpPr>
        <p:spPr>
          <a:xfrm>
            <a:off x="832477" y="3267462"/>
            <a:ext cx="7957955" cy="843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42996">
              <a:lnSpc>
                <a:spcPct val="150000"/>
              </a:lnSpc>
            </a:pPr>
            <a:r>
              <a:rPr lang="ko-KR" altLang="en-US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감사합니다</a:t>
            </a:r>
            <a:r>
              <a:rPr lang="en-US" altLang="ko-KR" sz="3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4820358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Display all the way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Light_2023" id="{93FF1746-BE97-EE49-9858-E7BB473D73F0}" vid="{568B5085-DCCD-8A4E-85F4-42A6F00FA79C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2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3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4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6.xml><?xml version="1.0" encoding="utf-8"?>
<a:themeOverride xmlns:a="http://schemas.openxmlformats.org/drawingml/2006/main">
  <a:clrScheme name="AWS 2024 Design Colors">
    <a:dk1>
      <a:srgbClr val="161E2D"/>
    </a:dk1>
    <a:lt1>
      <a:srgbClr val="FFFFFF"/>
    </a:lt1>
    <a:dk2>
      <a:srgbClr val="00193D"/>
    </a:dk2>
    <a:lt2>
      <a:srgbClr val="F5F7FF"/>
    </a:lt2>
    <a:accent1>
      <a:srgbClr val="0073E5"/>
    </a:accent1>
    <a:accent2>
      <a:srgbClr val="FF6A3D"/>
    </a:accent2>
    <a:accent3>
      <a:srgbClr val="5900B2"/>
    </a:accent3>
    <a:accent4>
      <a:srgbClr val="001A99"/>
    </a:accent4>
    <a:accent5>
      <a:srgbClr val="C300E0"/>
    </a:accent5>
    <a:accent6>
      <a:srgbClr val="00E500"/>
    </a:accent6>
    <a:hlink>
      <a:srgbClr val="42B4FF"/>
    </a:hlink>
    <a:folHlink>
      <a:srgbClr val="B2A8FF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52266</TotalTime>
  <Words>5950</Words>
  <Application>Microsoft Macintosh PowerPoint</Application>
  <PresentationFormat>와이드스크린</PresentationFormat>
  <Paragraphs>974</Paragraphs>
  <Slides>37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52" baseType="lpstr">
      <vt:lpstr>Amazon Ember Display</vt:lpstr>
      <vt:lpstr>NanumSquareOTF_ac</vt:lpstr>
      <vt:lpstr>NanumSquareOTF ExtraBold</vt:lpstr>
      <vt:lpstr>Wingdings</vt:lpstr>
      <vt:lpstr>NanumSquareOTF</vt:lpstr>
      <vt:lpstr>Amazon Ember Light</vt:lpstr>
      <vt:lpstr>Arial</vt:lpstr>
      <vt:lpstr>Wingdings 2</vt:lpstr>
      <vt:lpstr>Amazon Ember</vt:lpstr>
      <vt:lpstr>NanumSquareOTF Bold</vt:lpstr>
      <vt:lpstr>Malgun Gothic</vt:lpstr>
      <vt:lpstr>NanumGothicOTF</vt:lpstr>
      <vt:lpstr>Amazon Ember Medium</vt:lpstr>
      <vt:lpstr>Lato Light</vt:lpstr>
      <vt:lpstr>AWS Confidential Light</vt:lpstr>
      <vt:lpstr>PowerPoint 프레젠테이션</vt:lpstr>
      <vt:lpstr>PowerPoint 프레젠테이션</vt:lpstr>
      <vt:lpstr>PowerPoint 프레젠테이션</vt:lpstr>
      <vt:lpstr>1. 프로젝트 소개 및 목표 설정</vt:lpstr>
      <vt:lpstr>2. Review Process 및 방법론</vt:lpstr>
      <vt:lpstr>3. Architecture Review – 컴퓨팅</vt:lpstr>
      <vt:lpstr>3. Architecture Review – 네트워킹</vt:lpstr>
      <vt:lpstr>3. Architecture Review – Container</vt:lpstr>
      <vt:lpstr>3. Architecture Review – Observability</vt:lpstr>
      <vt:lpstr>PowerPoint 프레젠테이션</vt:lpstr>
      <vt:lpstr>1. AWS 사용량에 대한 분석 – 전체 서비스</vt:lpstr>
      <vt:lpstr>1. AWS 사용량에 대한 분석 – 컴퓨팅</vt:lpstr>
      <vt:lpstr>2. AWS 사용량에 대한 분석 – 컴퓨팅 / 타사와 비교</vt:lpstr>
      <vt:lpstr>2. AWS 사용량에 대한 분석 – 컴퓨팅 / 타사와 비교</vt:lpstr>
      <vt:lpstr>2. AWS 사용량에 대한 분석 – 컴퓨팅 / 타사와 비교</vt:lpstr>
      <vt:lpstr>2. AWS 사용량에 대한 분석 – 컴퓨팅</vt:lpstr>
      <vt:lpstr>3. AWS 사용량에 대한 분석 – 네트워크 전송 비용</vt:lpstr>
      <vt:lpstr>3. AWS 사용량에 대한 분석 – 네트워크 전송 비용</vt:lpstr>
      <vt:lpstr>3. AWS 사용량에 대한 분석 – 네트워크 전송 비용</vt:lpstr>
      <vt:lpstr>3. AWS 사용량에 대한 분석 – 데이터전송 / 타사와 비교</vt:lpstr>
      <vt:lpstr>3. AWS 사용량에 대한 분석 – 데이터전송 / 타사와 비교</vt:lpstr>
      <vt:lpstr>3. AWS 사용량에 대한 분석 – 데이터전송 / 타사와 비교</vt:lpstr>
      <vt:lpstr>3. AWS 사용량에 대한 분석 – 데이터전송 / 타사와 비교</vt:lpstr>
      <vt:lpstr>3. AWS 사용량에 대한 분석 – 네트워크 전송 비용</vt:lpstr>
      <vt:lpstr>4. AWS 사용량에 대한 분석 – 스토리지</vt:lpstr>
      <vt:lpstr>4. AWS 사용량에 대한 분석 – 스토리지</vt:lpstr>
      <vt:lpstr>4. AWS 사용량에 대한 분석 – 스토리지 / 타사와 비교</vt:lpstr>
      <vt:lpstr>4. AWS 사용량에 대한 분석 – 스토리지 / 타사와 비교</vt:lpstr>
      <vt:lpstr>4. AWS 사용량에 대한 분석 – 스토리지 / 타사와 비교</vt:lpstr>
      <vt:lpstr>4. AWS 사용량에 대한 분석 – 스토리지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Choi, WooHyung</cp:lastModifiedBy>
  <cp:revision>226</cp:revision>
  <dcterms:created xsi:type="dcterms:W3CDTF">2024-02-17T04:18:00Z</dcterms:created>
  <dcterms:modified xsi:type="dcterms:W3CDTF">2025-01-05T05:36:28Z</dcterms:modified>
</cp:coreProperties>
</file>